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Liter" charset="-122" pitchFamily="34"/>
      <p:regular r:id="rId25"/>
    </p:embeddedFont>
    <p:embeddedFont>
      <p:font typeface="Oranienbaum" charset="-122" pitchFamily="34"/>
      <p:regular r:id="rId26"/>
    </p:embeddedFont>
    <p:embeddedFont>
      <p:font typeface="MiSans" charset="-122" pitchFamily="34"/>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 Id="rId27"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pic>
        <p:nvPicPr>
          <p:cNvPr id="2" name="Image 0" descr="https://kimi-web-img.moonshot.cn/img/www.opsweb.org/7c995dfb7211767c766be56192df3b57de3f839f.jpg">    </p:cNvPr>
          <p:cNvPicPr>
            <a:picLocks noChangeAspect="1"/>
          </p:cNvPicPr>
          <p:nvPr/>
        </p:nvPicPr>
        <p:blipFill>
          <a:blip r:embed="rId1">
            <a:alphaModFix amt="30000"/>
          </a:blip>
          <a:srcRect l="0" r="0" t="824" b="824"/>
          <a:stretch/>
        </p:blipFill>
        <p:spPr>
          <a:xfrm>
            <a:off x="0" y="0"/>
            <a:ext cx="12192000" cy="6858000"/>
          </a:xfrm>
          <a:prstGeom prst="roundRect">
            <a:avLst>
              <a:gd name="adj" fmla="val 0"/>
            </a:avLst>
          </a:prstGeom>
        </p:spPr>
      </p:pic>
      <p:sp>
        <p:nvSpPr>
          <p:cNvPr id="3" name="Shape 0"/>
          <p:cNvSpPr/>
          <p:nvPr/>
        </p:nvSpPr>
        <p:spPr>
          <a:xfrm>
            <a:off x="0" y="0"/>
            <a:ext cx="12192000" cy="6858000"/>
          </a:xfrm>
          <a:prstGeom prst="roundRect">
            <a:avLst>
              <a:gd name="adj" fmla="val 0"/>
            </a:avLst>
          </a:prstGeom>
          <a:gradFill rotWithShape="1" flip="none">
            <a:gsLst>
              <a:gs pos="0">
                <a:srgbClr val="0A192F">
                  <a:alpha val="95000"/>
                </a:srgbClr>
              </a:gs>
              <a:gs pos="50000">
                <a:srgbClr val="0A192F">
                  <a:alpha val="85000"/>
                </a:srgbClr>
              </a:gs>
              <a:gs pos="100000">
                <a:srgbClr val="3A86FF">
                  <a:alpha val="40000"/>
                </a:srgbClr>
              </a:gs>
            </a:gsLst>
            <a:lin ang="2700000" scaled="1"/>
          </a:gradFill>
          <a:ln/>
        </p:spPr>
      </p:sp>
      <p:sp>
        <p:nvSpPr>
          <p:cNvPr id="4" name="Shape 1"/>
          <p:cNvSpPr/>
          <p:nvPr/>
        </p:nvSpPr>
        <p:spPr>
          <a:xfrm>
            <a:off x="3869174" y="506730"/>
            <a:ext cx="4455795" cy="426720"/>
          </a:xfrm>
          <a:prstGeom prst="roundRect">
            <a:avLst>
              <a:gd name="adj" fmla="val 50000"/>
            </a:avLst>
          </a:prstGeom>
          <a:solidFill>
            <a:srgbClr val="3A86FF">
              <a:alpha val="20000"/>
            </a:srgbClr>
          </a:solidFill>
          <a:ln w="10160">
            <a:solidFill>
              <a:srgbClr val="3A86FF">
                <a:alpha val="40000"/>
              </a:srgbClr>
            </a:solidFill>
            <a:prstDash val="solid"/>
          </a:ln>
        </p:spPr>
      </p:sp>
      <p:sp>
        <p:nvSpPr>
          <p:cNvPr id="5" name="Text 2"/>
          <p:cNvSpPr/>
          <p:nvPr/>
        </p:nvSpPr>
        <p:spPr>
          <a:xfrm>
            <a:off x="4058722" y="594360"/>
            <a:ext cx="4074557" cy="243840"/>
          </a:xfrm>
          <a:prstGeom prst="rect">
            <a:avLst/>
          </a:prstGeom>
          <a:noFill/>
          <a:ln/>
        </p:spPr>
        <p:txBody>
          <a:bodyPr wrap="square" lIns="0" tIns="0" rIns="0" bIns="0" rtlCol="0" anchor="ctr"/>
          <a:lstStyle/>
          <a:p>
            <a:pPr algn="ctr">
              <a:lnSpc>
                <a:spcPct val="130000"/>
              </a:lnSpc>
            </a:pPr>
            <a:r>
              <a:rPr lang="en-US" sz="1350" b="1" spc="135" kern="0" dirty="0">
                <a:solidFill>
                  <a:srgbClr val="00B4D8"/>
                </a:solidFill>
                <a:latin typeface="Liter" pitchFamily="34" charset="0"/>
                <a:ea typeface="Liter" pitchFamily="34" charset="-122"/>
                <a:cs typeface="Liter" pitchFamily="34" charset="-120"/>
              </a:rPr>
              <a:t>Research Dissertation Presentation</a:t>
            </a:r>
            <a:endParaRPr lang="en-US" sz="1600" dirty="0"/>
          </a:p>
        </p:txBody>
      </p:sp>
      <p:sp>
        <p:nvSpPr>
          <p:cNvPr id="6" name="Text 3"/>
          <p:cNvSpPr/>
          <p:nvPr/>
        </p:nvSpPr>
        <p:spPr>
          <a:xfrm>
            <a:off x="1104900" y="1242060"/>
            <a:ext cx="9982200" cy="1714500"/>
          </a:xfrm>
          <a:prstGeom prst="rect">
            <a:avLst/>
          </a:prstGeom>
          <a:noFill/>
          <a:ln/>
        </p:spPr>
        <p:txBody>
          <a:bodyPr wrap="square" lIns="0" tIns="0" rIns="0" bIns="0" rtlCol="0" anchor="ctr"/>
          <a:lstStyle/>
          <a:p>
            <a:pPr algn="ctr">
              <a:lnSpc>
                <a:spcPct val="100000"/>
              </a:lnSpc>
            </a:pPr>
            <a:r>
              <a:rPr lang="en-US" sz="3600" b="1" dirty="0">
                <a:solidFill>
                  <a:srgbClr val="F1FAEE"/>
                </a:solidFill>
                <a:latin typeface="Oranienbaum" pitchFamily="34" charset="0"/>
                <a:ea typeface="Oranienbaum" pitchFamily="34" charset="-122"/>
                <a:cs typeface="Oranienbaum" pitchFamily="34" charset="-120"/>
              </a:rPr>
              <a:t>Adaptive Multi-Layer Fused Grad-CAM Architecture for Confident Retinal Disease Classification with Per-Scan Adaptive Explainability</a:t>
            </a:r>
            <a:endParaRPr lang="en-US" sz="1600" dirty="0"/>
          </a:p>
        </p:txBody>
      </p:sp>
      <p:sp>
        <p:nvSpPr>
          <p:cNvPr id="7" name="Shape 4"/>
          <p:cNvSpPr/>
          <p:nvPr/>
        </p:nvSpPr>
        <p:spPr>
          <a:xfrm>
            <a:off x="5486400" y="3185160"/>
            <a:ext cx="1219200" cy="38100"/>
          </a:xfrm>
          <a:prstGeom prst="roundRect">
            <a:avLst>
              <a:gd name="adj" fmla="val 0"/>
            </a:avLst>
          </a:prstGeom>
          <a:gradFill rotWithShape="1" flip="none">
            <a:gsLst>
              <a:gs pos="0">
                <a:srgbClr val="3A86FF"/>
              </a:gs>
              <a:gs pos="100000">
                <a:srgbClr val="00B4D8"/>
              </a:gs>
            </a:gsLst>
            <a:lin ang="0" scaled="1"/>
          </a:gradFill>
          <a:ln/>
        </p:spPr>
      </p:sp>
      <p:sp>
        <p:nvSpPr>
          <p:cNvPr id="8" name="Text 5"/>
          <p:cNvSpPr/>
          <p:nvPr/>
        </p:nvSpPr>
        <p:spPr>
          <a:xfrm>
            <a:off x="3242667" y="3451860"/>
            <a:ext cx="5705475" cy="304800"/>
          </a:xfrm>
          <a:prstGeom prst="rect">
            <a:avLst/>
          </a:prstGeom>
          <a:noFill/>
          <a:ln/>
        </p:spPr>
        <p:txBody>
          <a:bodyPr wrap="square" lIns="0" tIns="0" rIns="0" bIns="0" rtlCol="0" anchor="ctr"/>
          <a:lstStyle/>
          <a:p>
            <a:pPr algn="ctr">
              <a:lnSpc>
                <a:spcPct val="110000"/>
              </a:lnSpc>
            </a:pPr>
            <a:r>
              <a:rPr lang="en-US" sz="1800" dirty="0">
                <a:solidFill>
                  <a:srgbClr val="F1FAEE"/>
                </a:solidFill>
                <a:latin typeface="Liter" pitchFamily="34" charset="0"/>
                <a:ea typeface="Liter" pitchFamily="34" charset="-122"/>
                <a:cs typeface="Liter" pitchFamily="34" charset="-120"/>
              </a:rPr>
              <a:t>Explainable AI for OCT-Based Retinal Disease Diagnosis</a:t>
            </a:r>
            <a:endParaRPr lang="en-US" sz="1600" dirty="0"/>
          </a:p>
        </p:txBody>
      </p:sp>
      <p:sp>
        <p:nvSpPr>
          <p:cNvPr id="9" name="Text 6"/>
          <p:cNvSpPr/>
          <p:nvPr/>
        </p:nvSpPr>
        <p:spPr>
          <a:xfrm>
            <a:off x="3054668" y="4213741"/>
            <a:ext cx="2800350" cy="190500"/>
          </a:xfrm>
          <a:prstGeom prst="rect">
            <a:avLst/>
          </a:prstGeom>
          <a:noFill/>
          <a:ln/>
        </p:spPr>
        <p:txBody>
          <a:bodyPr wrap="square" lIns="0" tIns="0" rIns="0" bIns="0" rtlCol="0" anchor="ctr"/>
          <a:lstStyle/>
          <a:p>
            <a:pPr>
              <a:lnSpc>
                <a:spcPct val="120000"/>
              </a:lnSpc>
            </a:pPr>
            <a:r>
              <a:rPr lang="en-US" sz="1050" spc="53" kern="0" dirty="0">
                <a:solidFill>
                  <a:srgbClr val="5C677D"/>
                </a:solidFill>
                <a:latin typeface="Liter" pitchFamily="34" charset="0"/>
                <a:ea typeface="Liter" pitchFamily="34" charset="-122"/>
                <a:cs typeface="Liter" pitchFamily="34" charset="-120"/>
              </a:rPr>
              <a:t>Student Names</a:t>
            </a:r>
            <a:endParaRPr lang="en-US" sz="1600" dirty="0"/>
          </a:p>
        </p:txBody>
      </p:sp>
      <p:sp>
        <p:nvSpPr>
          <p:cNvPr id="10" name="Text 7"/>
          <p:cNvSpPr/>
          <p:nvPr/>
        </p:nvSpPr>
        <p:spPr>
          <a:xfrm>
            <a:off x="3054668" y="4442341"/>
            <a:ext cx="281940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[Student Name 1], [Student Name 2]</a:t>
            </a:r>
            <a:endParaRPr lang="en-US" sz="1600" dirty="0"/>
          </a:p>
        </p:txBody>
      </p:sp>
      <p:sp>
        <p:nvSpPr>
          <p:cNvPr id="11" name="Text 8"/>
          <p:cNvSpPr/>
          <p:nvPr/>
        </p:nvSpPr>
        <p:spPr>
          <a:xfrm>
            <a:off x="6400800" y="4213741"/>
            <a:ext cx="2800350" cy="190500"/>
          </a:xfrm>
          <a:prstGeom prst="rect">
            <a:avLst/>
          </a:prstGeom>
          <a:noFill/>
          <a:ln/>
        </p:spPr>
        <p:txBody>
          <a:bodyPr wrap="square" lIns="0" tIns="0" rIns="0" bIns="0" rtlCol="0" anchor="ctr"/>
          <a:lstStyle/>
          <a:p>
            <a:pPr>
              <a:lnSpc>
                <a:spcPct val="120000"/>
              </a:lnSpc>
            </a:pPr>
            <a:r>
              <a:rPr lang="en-US" sz="1050" spc="53" kern="0" dirty="0">
                <a:solidFill>
                  <a:srgbClr val="5C677D"/>
                </a:solidFill>
                <a:latin typeface="Liter" pitchFamily="34" charset="0"/>
                <a:ea typeface="Liter" pitchFamily="34" charset="-122"/>
                <a:cs typeface="Liter" pitchFamily="34" charset="-120"/>
              </a:rPr>
              <a:t>Roll Numbers</a:t>
            </a:r>
            <a:endParaRPr lang="en-US" sz="1600" dirty="0"/>
          </a:p>
        </p:txBody>
      </p:sp>
      <p:sp>
        <p:nvSpPr>
          <p:cNvPr id="12" name="Text 9"/>
          <p:cNvSpPr/>
          <p:nvPr/>
        </p:nvSpPr>
        <p:spPr>
          <a:xfrm>
            <a:off x="6400800" y="4442341"/>
            <a:ext cx="281940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[Roll Number 1], [Roll Number 2]</a:t>
            </a:r>
            <a:endParaRPr lang="en-US" sz="1600" dirty="0"/>
          </a:p>
        </p:txBody>
      </p:sp>
      <p:sp>
        <p:nvSpPr>
          <p:cNvPr id="13" name="Text 10"/>
          <p:cNvSpPr/>
          <p:nvPr/>
        </p:nvSpPr>
        <p:spPr>
          <a:xfrm>
            <a:off x="3054668" y="4861441"/>
            <a:ext cx="2800350" cy="190500"/>
          </a:xfrm>
          <a:prstGeom prst="rect">
            <a:avLst/>
          </a:prstGeom>
          <a:noFill/>
          <a:ln/>
        </p:spPr>
        <p:txBody>
          <a:bodyPr wrap="square" lIns="0" tIns="0" rIns="0" bIns="0" rtlCol="0" anchor="ctr"/>
          <a:lstStyle/>
          <a:p>
            <a:pPr>
              <a:lnSpc>
                <a:spcPct val="120000"/>
              </a:lnSpc>
            </a:pPr>
            <a:r>
              <a:rPr lang="en-US" sz="1050" spc="53" kern="0" dirty="0">
                <a:solidFill>
                  <a:srgbClr val="5C677D"/>
                </a:solidFill>
                <a:latin typeface="Liter" pitchFamily="34" charset="0"/>
                <a:ea typeface="Liter" pitchFamily="34" charset="-122"/>
                <a:cs typeface="Liter" pitchFamily="34" charset="-120"/>
              </a:rPr>
              <a:t>Department</a:t>
            </a:r>
            <a:endParaRPr lang="en-US" sz="1600" dirty="0"/>
          </a:p>
        </p:txBody>
      </p:sp>
      <p:sp>
        <p:nvSpPr>
          <p:cNvPr id="14" name="Text 11"/>
          <p:cNvSpPr/>
          <p:nvPr/>
        </p:nvSpPr>
        <p:spPr>
          <a:xfrm>
            <a:off x="3054668" y="5090041"/>
            <a:ext cx="281940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[Department Name]</a:t>
            </a:r>
            <a:endParaRPr lang="en-US" sz="1600" dirty="0"/>
          </a:p>
        </p:txBody>
      </p:sp>
      <p:sp>
        <p:nvSpPr>
          <p:cNvPr id="15" name="Text 12"/>
          <p:cNvSpPr/>
          <p:nvPr/>
        </p:nvSpPr>
        <p:spPr>
          <a:xfrm>
            <a:off x="6400800" y="4861441"/>
            <a:ext cx="2800350" cy="190500"/>
          </a:xfrm>
          <a:prstGeom prst="rect">
            <a:avLst/>
          </a:prstGeom>
          <a:noFill/>
          <a:ln/>
        </p:spPr>
        <p:txBody>
          <a:bodyPr wrap="square" lIns="0" tIns="0" rIns="0" bIns="0" rtlCol="0" anchor="ctr"/>
          <a:lstStyle/>
          <a:p>
            <a:pPr>
              <a:lnSpc>
                <a:spcPct val="120000"/>
              </a:lnSpc>
            </a:pPr>
            <a:r>
              <a:rPr lang="en-US" sz="1050" spc="53" kern="0" dirty="0">
                <a:solidFill>
                  <a:srgbClr val="5C677D"/>
                </a:solidFill>
                <a:latin typeface="Liter" pitchFamily="34" charset="0"/>
                <a:ea typeface="Liter" pitchFamily="34" charset="-122"/>
                <a:cs typeface="Liter" pitchFamily="34" charset="-120"/>
              </a:rPr>
              <a:t>University</a:t>
            </a:r>
            <a:endParaRPr lang="en-US" sz="1600" dirty="0"/>
          </a:p>
        </p:txBody>
      </p:sp>
      <p:sp>
        <p:nvSpPr>
          <p:cNvPr id="16" name="Text 13"/>
          <p:cNvSpPr/>
          <p:nvPr/>
        </p:nvSpPr>
        <p:spPr>
          <a:xfrm>
            <a:off x="6400800" y="5090041"/>
            <a:ext cx="281940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[University Name]</a:t>
            </a:r>
            <a:endParaRPr lang="en-US" sz="1600" dirty="0"/>
          </a:p>
        </p:txBody>
      </p:sp>
      <p:sp>
        <p:nvSpPr>
          <p:cNvPr id="17" name="Text 14"/>
          <p:cNvSpPr/>
          <p:nvPr/>
        </p:nvSpPr>
        <p:spPr>
          <a:xfrm>
            <a:off x="3054668" y="5509141"/>
            <a:ext cx="6153150" cy="190500"/>
          </a:xfrm>
          <a:prstGeom prst="rect">
            <a:avLst/>
          </a:prstGeom>
          <a:noFill/>
          <a:ln/>
        </p:spPr>
        <p:txBody>
          <a:bodyPr wrap="square" lIns="0" tIns="0" rIns="0" bIns="0" rtlCol="0" anchor="ctr"/>
          <a:lstStyle/>
          <a:p>
            <a:pPr>
              <a:lnSpc>
                <a:spcPct val="120000"/>
              </a:lnSpc>
            </a:pPr>
            <a:r>
              <a:rPr lang="en-US" sz="1050" spc="53" kern="0" dirty="0">
                <a:solidFill>
                  <a:srgbClr val="5C677D"/>
                </a:solidFill>
                <a:latin typeface="Liter" pitchFamily="34" charset="0"/>
                <a:ea typeface="Liter" pitchFamily="34" charset="-122"/>
                <a:cs typeface="Liter" pitchFamily="34" charset="-120"/>
              </a:rPr>
              <a:t>Supervisor</a:t>
            </a:r>
            <a:endParaRPr lang="en-US" sz="1600" dirty="0"/>
          </a:p>
        </p:txBody>
      </p:sp>
      <p:sp>
        <p:nvSpPr>
          <p:cNvPr id="18" name="Text 15"/>
          <p:cNvSpPr/>
          <p:nvPr/>
        </p:nvSpPr>
        <p:spPr>
          <a:xfrm>
            <a:off x="3054668" y="5737741"/>
            <a:ext cx="617220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[Supervisor Name]</a:t>
            </a:r>
            <a:endParaRPr lang="en-US" sz="1600" dirty="0"/>
          </a:p>
        </p:txBody>
      </p:sp>
      <p:sp>
        <p:nvSpPr>
          <p:cNvPr id="19" name="Shape 16"/>
          <p:cNvSpPr/>
          <p:nvPr/>
        </p:nvSpPr>
        <p:spPr>
          <a:xfrm>
            <a:off x="381000" y="6130290"/>
            <a:ext cx="11430000" cy="7620"/>
          </a:xfrm>
          <a:prstGeom prst="roundRect">
            <a:avLst>
              <a:gd name="adj" fmla="val 0"/>
            </a:avLst>
          </a:prstGeom>
          <a:solidFill>
            <a:srgbClr val="5C677D"/>
          </a:solidFill>
          <a:ln/>
        </p:spPr>
      </p:sp>
      <p:sp>
        <p:nvSpPr>
          <p:cNvPr id="20" name="Text 17"/>
          <p:cNvSpPr/>
          <p:nvPr/>
        </p:nvSpPr>
        <p:spPr>
          <a:xfrm>
            <a:off x="381000" y="6286500"/>
            <a:ext cx="666750"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May 2026</a:t>
            </a:r>
            <a:endParaRPr lang="en-US" sz="1600" dirty="0"/>
          </a:p>
        </p:txBody>
      </p:sp>
      <p:sp>
        <p:nvSpPr>
          <p:cNvPr id="21" name="Text 18"/>
          <p:cNvSpPr/>
          <p:nvPr/>
        </p:nvSpPr>
        <p:spPr>
          <a:xfrm>
            <a:off x="8627388" y="6286500"/>
            <a:ext cx="3248025"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Domain: Medical Image Analysis, Explainable AI, CNNs</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73701" y="373701"/>
            <a:ext cx="11519338" cy="224221"/>
          </a:xfrm>
          <a:prstGeom prst="rect">
            <a:avLst/>
          </a:prstGeom>
          <a:noFill/>
          <a:ln/>
        </p:spPr>
        <p:txBody>
          <a:bodyPr wrap="square" lIns="0" tIns="0" rIns="0" bIns="0" rtlCol="0" anchor="ctr"/>
          <a:lstStyle/>
          <a:p>
            <a:pPr>
              <a:lnSpc>
                <a:spcPct val="130000"/>
              </a:lnSpc>
            </a:pPr>
            <a:r>
              <a:rPr lang="en-US" sz="1177" b="1" spc="59" kern="0" dirty="0">
                <a:solidFill>
                  <a:srgbClr val="00B4D8"/>
                </a:solidFill>
                <a:latin typeface="Liter" pitchFamily="34" charset="0"/>
                <a:ea typeface="Liter" pitchFamily="34" charset="-122"/>
                <a:cs typeface="Liter" pitchFamily="34" charset="-120"/>
              </a:rPr>
              <a:t>Navigation</a:t>
            </a:r>
            <a:endParaRPr lang="en-US" sz="1600" dirty="0"/>
          </a:p>
        </p:txBody>
      </p:sp>
      <p:sp>
        <p:nvSpPr>
          <p:cNvPr id="3" name="Text 1"/>
          <p:cNvSpPr/>
          <p:nvPr/>
        </p:nvSpPr>
        <p:spPr>
          <a:xfrm>
            <a:off x="373701" y="672662"/>
            <a:ext cx="11668818" cy="448441"/>
          </a:xfrm>
          <a:prstGeom prst="rect">
            <a:avLst/>
          </a:prstGeom>
          <a:noFill/>
          <a:ln/>
        </p:spPr>
        <p:txBody>
          <a:bodyPr wrap="square" lIns="0" tIns="0" rIns="0" bIns="0" rtlCol="0" anchor="ctr"/>
          <a:lstStyle/>
          <a:p>
            <a:pPr>
              <a:lnSpc>
                <a:spcPct val="80000"/>
              </a:lnSpc>
            </a:pPr>
            <a:r>
              <a:rPr lang="en-US" sz="3531" b="1" dirty="0">
                <a:solidFill>
                  <a:srgbClr val="F1FAEE"/>
                </a:solidFill>
                <a:latin typeface="Oranienbaum" pitchFamily="34" charset="0"/>
                <a:ea typeface="Oranienbaum" pitchFamily="34" charset="-122"/>
                <a:cs typeface="Oranienbaum" pitchFamily="34" charset="-120"/>
              </a:rPr>
              <a:t>Presentation Outline</a:t>
            </a:r>
            <a:endParaRPr lang="en-US" sz="1600" dirty="0"/>
          </a:p>
        </p:txBody>
      </p:sp>
      <p:sp>
        <p:nvSpPr>
          <p:cNvPr id="4" name="Shape 2"/>
          <p:cNvSpPr/>
          <p:nvPr/>
        </p:nvSpPr>
        <p:spPr>
          <a:xfrm>
            <a:off x="373701" y="1233214"/>
            <a:ext cx="896883" cy="3737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77438" y="1498542"/>
            <a:ext cx="5566279" cy="680136"/>
          </a:xfrm>
          <a:prstGeom prst="roundRect">
            <a:avLst>
              <a:gd name="adj" fmla="val 10989"/>
            </a:avLst>
          </a:prstGeom>
          <a:solidFill>
            <a:srgbClr val="3A86FF">
              <a:alpha val="10196"/>
            </a:srgbClr>
          </a:solidFill>
          <a:ln w="10160">
            <a:solidFill>
              <a:srgbClr val="3A86FF">
                <a:alpha val="30196"/>
              </a:srgbClr>
            </a:solidFill>
            <a:prstDash val="solid"/>
          </a:ln>
        </p:spPr>
      </p:sp>
      <p:sp>
        <p:nvSpPr>
          <p:cNvPr id="6" name="Shape 4"/>
          <p:cNvSpPr/>
          <p:nvPr/>
        </p:nvSpPr>
        <p:spPr>
          <a:xfrm>
            <a:off x="493286" y="1614389"/>
            <a:ext cx="373701" cy="373701"/>
          </a:xfrm>
          <a:prstGeom prst="roundRect">
            <a:avLst>
              <a:gd name="adj" fmla="val 50000"/>
            </a:avLst>
          </a:prstGeom>
          <a:solidFill>
            <a:srgbClr val="3A86FF"/>
          </a:solidFill>
          <a:ln/>
        </p:spPr>
      </p:sp>
      <p:sp>
        <p:nvSpPr>
          <p:cNvPr id="7" name="Text 5"/>
          <p:cNvSpPr/>
          <p:nvPr/>
        </p:nvSpPr>
        <p:spPr>
          <a:xfrm>
            <a:off x="451244" y="1614389"/>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979097" y="1614389"/>
            <a:ext cx="2485113"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Retinal Diseases</a:t>
            </a:r>
            <a:endParaRPr lang="en-US" sz="1600" dirty="0"/>
          </a:p>
        </p:txBody>
      </p:sp>
      <p:sp>
        <p:nvSpPr>
          <p:cNvPr id="9" name="Text 7"/>
          <p:cNvSpPr/>
          <p:nvPr/>
        </p:nvSpPr>
        <p:spPr>
          <a:xfrm>
            <a:off x="979097" y="1875980"/>
            <a:ext cx="2466428"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Overview of major pathological conditions</a:t>
            </a:r>
            <a:endParaRPr lang="en-US" sz="1600" dirty="0"/>
          </a:p>
        </p:txBody>
      </p:sp>
      <p:sp>
        <p:nvSpPr>
          <p:cNvPr id="10" name="Shape 8"/>
          <p:cNvSpPr/>
          <p:nvPr/>
        </p:nvSpPr>
        <p:spPr>
          <a:xfrm>
            <a:off x="6248634" y="1498542"/>
            <a:ext cx="5566279" cy="680136"/>
          </a:xfrm>
          <a:prstGeom prst="roundRect">
            <a:avLst>
              <a:gd name="adj" fmla="val 10989"/>
            </a:avLst>
          </a:prstGeom>
          <a:solidFill>
            <a:srgbClr val="3A86FF">
              <a:alpha val="10196"/>
            </a:srgbClr>
          </a:solidFill>
          <a:ln w="10160">
            <a:solidFill>
              <a:srgbClr val="3A86FF">
                <a:alpha val="30196"/>
              </a:srgbClr>
            </a:solidFill>
            <a:prstDash val="solid"/>
          </a:ln>
        </p:spPr>
      </p:sp>
      <p:sp>
        <p:nvSpPr>
          <p:cNvPr id="11" name="Shape 9"/>
          <p:cNvSpPr/>
          <p:nvPr/>
        </p:nvSpPr>
        <p:spPr>
          <a:xfrm>
            <a:off x="6364481" y="1614389"/>
            <a:ext cx="373701" cy="373701"/>
          </a:xfrm>
          <a:prstGeom prst="roundRect">
            <a:avLst>
              <a:gd name="adj" fmla="val 50000"/>
            </a:avLst>
          </a:prstGeom>
          <a:solidFill>
            <a:srgbClr val="3A86FF"/>
          </a:solidFill>
          <a:ln/>
        </p:spPr>
      </p:sp>
      <p:sp>
        <p:nvSpPr>
          <p:cNvPr id="12" name="Text 10"/>
          <p:cNvSpPr/>
          <p:nvPr/>
        </p:nvSpPr>
        <p:spPr>
          <a:xfrm>
            <a:off x="6322439" y="1614389"/>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6850292" y="1614389"/>
            <a:ext cx="2316947"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OCT Imaging</a:t>
            </a:r>
            <a:endParaRPr lang="en-US" sz="1600" dirty="0"/>
          </a:p>
        </p:txBody>
      </p:sp>
      <p:sp>
        <p:nvSpPr>
          <p:cNvPr id="14" name="Text 12"/>
          <p:cNvSpPr/>
          <p:nvPr/>
        </p:nvSpPr>
        <p:spPr>
          <a:xfrm>
            <a:off x="6850292" y="1875980"/>
            <a:ext cx="2298262"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Gold-standard retinal imaging modality</a:t>
            </a:r>
            <a:endParaRPr lang="en-US" sz="1600" dirty="0"/>
          </a:p>
        </p:txBody>
      </p:sp>
      <p:sp>
        <p:nvSpPr>
          <p:cNvPr id="15" name="Shape 13"/>
          <p:cNvSpPr/>
          <p:nvPr/>
        </p:nvSpPr>
        <p:spPr>
          <a:xfrm>
            <a:off x="377438" y="2298262"/>
            <a:ext cx="5566279" cy="680136"/>
          </a:xfrm>
          <a:prstGeom prst="roundRect">
            <a:avLst>
              <a:gd name="adj" fmla="val 10989"/>
            </a:avLst>
          </a:prstGeom>
          <a:solidFill>
            <a:srgbClr val="3A86FF">
              <a:alpha val="10196"/>
            </a:srgbClr>
          </a:solidFill>
          <a:ln w="10160">
            <a:solidFill>
              <a:srgbClr val="3A86FF">
                <a:alpha val="30196"/>
              </a:srgbClr>
            </a:solidFill>
            <a:prstDash val="solid"/>
          </a:ln>
        </p:spPr>
      </p:sp>
      <p:sp>
        <p:nvSpPr>
          <p:cNvPr id="16" name="Shape 14"/>
          <p:cNvSpPr/>
          <p:nvPr/>
        </p:nvSpPr>
        <p:spPr>
          <a:xfrm>
            <a:off x="493286" y="2414110"/>
            <a:ext cx="373701" cy="373701"/>
          </a:xfrm>
          <a:prstGeom prst="roundRect">
            <a:avLst>
              <a:gd name="adj" fmla="val 50000"/>
            </a:avLst>
          </a:prstGeom>
          <a:solidFill>
            <a:srgbClr val="3A86FF"/>
          </a:solidFill>
          <a:ln/>
        </p:spPr>
      </p:sp>
      <p:sp>
        <p:nvSpPr>
          <p:cNvPr id="17" name="Text 15"/>
          <p:cNvSpPr/>
          <p:nvPr/>
        </p:nvSpPr>
        <p:spPr>
          <a:xfrm>
            <a:off x="451244" y="2414110"/>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979097" y="2414110"/>
            <a:ext cx="2204837"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Deep Learning in OCT</a:t>
            </a:r>
            <a:endParaRPr lang="en-US" sz="1600" dirty="0"/>
          </a:p>
        </p:txBody>
      </p:sp>
      <p:sp>
        <p:nvSpPr>
          <p:cNvPr id="19" name="Text 17"/>
          <p:cNvSpPr/>
          <p:nvPr/>
        </p:nvSpPr>
        <p:spPr>
          <a:xfrm>
            <a:off x="979097" y="2675700"/>
            <a:ext cx="2186152"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CNN-based automated classification</a:t>
            </a:r>
            <a:endParaRPr lang="en-US" sz="1600" dirty="0"/>
          </a:p>
        </p:txBody>
      </p:sp>
      <p:sp>
        <p:nvSpPr>
          <p:cNvPr id="20" name="Shape 18"/>
          <p:cNvSpPr/>
          <p:nvPr/>
        </p:nvSpPr>
        <p:spPr>
          <a:xfrm>
            <a:off x="6248634" y="2298262"/>
            <a:ext cx="5566279" cy="680136"/>
          </a:xfrm>
          <a:prstGeom prst="roundRect">
            <a:avLst>
              <a:gd name="adj" fmla="val 10989"/>
            </a:avLst>
          </a:prstGeom>
          <a:solidFill>
            <a:srgbClr val="3A86FF">
              <a:alpha val="10196"/>
            </a:srgbClr>
          </a:solidFill>
          <a:ln w="10160">
            <a:solidFill>
              <a:srgbClr val="3A86FF">
                <a:alpha val="30196"/>
              </a:srgbClr>
            </a:solidFill>
            <a:prstDash val="solid"/>
          </a:ln>
        </p:spPr>
      </p:sp>
      <p:sp>
        <p:nvSpPr>
          <p:cNvPr id="21" name="Shape 19"/>
          <p:cNvSpPr/>
          <p:nvPr/>
        </p:nvSpPr>
        <p:spPr>
          <a:xfrm>
            <a:off x="6364481" y="2414110"/>
            <a:ext cx="373701" cy="373701"/>
          </a:xfrm>
          <a:prstGeom prst="roundRect">
            <a:avLst>
              <a:gd name="adj" fmla="val 50000"/>
            </a:avLst>
          </a:prstGeom>
          <a:solidFill>
            <a:srgbClr val="3A86FF"/>
          </a:solidFill>
          <a:ln/>
        </p:spPr>
      </p:sp>
      <p:sp>
        <p:nvSpPr>
          <p:cNvPr id="22" name="Text 20"/>
          <p:cNvSpPr/>
          <p:nvPr/>
        </p:nvSpPr>
        <p:spPr>
          <a:xfrm>
            <a:off x="6322439" y="2414110"/>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6850292" y="2414110"/>
            <a:ext cx="2270234"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Existing CNN Models</a:t>
            </a:r>
            <a:endParaRPr lang="en-US" sz="1600" dirty="0"/>
          </a:p>
        </p:txBody>
      </p:sp>
      <p:sp>
        <p:nvSpPr>
          <p:cNvPr id="24" name="Text 22"/>
          <p:cNvSpPr/>
          <p:nvPr/>
        </p:nvSpPr>
        <p:spPr>
          <a:xfrm>
            <a:off x="6850292" y="2675700"/>
            <a:ext cx="2251549"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Performance comparison and analysis</a:t>
            </a:r>
            <a:endParaRPr lang="en-US" sz="1600" dirty="0"/>
          </a:p>
        </p:txBody>
      </p:sp>
      <p:sp>
        <p:nvSpPr>
          <p:cNvPr id="25" name="Shape 23"/>
          <p:cNvSpPr/>
          <p:nvPr/>
        </p:nvSpPr>
        <p:spPr>
          <a:xfrm>
            <a:off x="377438" y="3097983"/>
            <a:ext cx="5566279" cy="680136"/>
          </a:xfrm>
          <a:prstGeom prst="roundRect">
            <a:avLst>
              <a:gd name="adj" fmla="val 10989"/>
            </a:avLst>
          </a:prstGeom>
          <a:solidFill>
            <a:srgbClr val="00B4D8">
              <a:alpha val="10196"/>
            </a:srgbClr>
          </a:solidFill>
          <a:ln w="10160">
            <a:solidFill>
              <a:srgbClr val="00B4D8">
                <a:alpha val="30196"/>
              </a:srgbClr>
            </a:solidFill>
            <a:prstDash val="solid"/>
          </a:ln>
        </p:spPr>
      </p:sp>
      <p:sp>
        <p:nvSpPr>
          <p:cNvPr id="26" name="Shape 24"/>
          <p:cNvSpPr/>
          <p:nvPr/>
        </p:nvSpPr>
        <p:spPr>
          <a:xfrm>
            <a:off x="493286" y="3213830"/>
            <a:ext cx="373701" cy="373701"/>
          </a:xfrm>
          <a:prstGeom prst="roundRect">
            <a:avLst>
              <a:gd name="adj" fmla="val 50000"/>
            </a:avLst>
          </a:prstGeom>
          <a:solidFill>
            <a:srgbClr val="00B4D8"/>
          </a:solidFill>
          <a:ln/>
        </p:spPr>
      </p:sp>
      <p:sp>
        <p:nvSpPr>
          <p:cNvPr id="27" name="Text 25"/>
          <p:cNvSpPr/>
          <p:nvPr/>
        </p:nvSpPr>
        <p:spPr>
          <a:xfrm>
            <a:off x="451244" y="3213830"/>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5</a:t>
            </a:r>
            <a:endParaRPr lang="en-US" sz="1600" dirty="0"/>
          </a:p>
        </p:txBody>
      </p:sp>
      <p:sp>
        <p:nvSpPr>
          <p:cNvPr id="28" name="Text 26"/>
          <p:cNvSpPr/>
          <p:nvPr/>
        </p:nvSpPr>
        <p:spPr>
          <a:xfrm>
            <a:off x="979097" y="3213830"/>
            <a:ext cx="1859163"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Can CNNs Be Trusted?</a:t>
            </a:r>
            <a:endParaRPr lang="en-US" sz="1600" dirty="0"/>
          </a:p>
        </p:txBody>
      </p:sp>
      <p:sp>
        <p:nvSpPr>
          <p:cNvPr id="29" name="Text 27"/>
          <p:cNvSpPr/>
          <p:nvPr/>
        </p:nvSpPr>
        <p:spPr>
          <a:xfrm>
            <a:off x="979097" y="3475421"/>
            <a:ext cx="1840478"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The trust vs. accuracy dilemma</a:t>
            </a:r>
            <a:endParaRPr lang="en-US" sz="1600" dirty="0"/>
          </a:p>
        </p:txBody>
      </p:sp>
      <p:sp>
        <p:nvSpPr>
          <p:cNvPr id="30" name="Shape 28"/>
          <p:cNvSpPr/>
          <p:nvPr/>
        </p:nvSpPr>
        <p:spPr>
          <a:xfrm>
            <a:off x="6248634" y="3097983"/>
            <a:ext cx="5566279" cy="680136"/>
          </a:xfrm>
          <a:prstGeom prst="roundRect">
            <a:avLst>
              <a:gd name="adj" fmla="val 10989"/>
            </a:avLst>
          </a:prstGeom>
          <a:solidFill>
            <a:srgbClr val="00B4D8">
              <a:alpha val="10196"/>
            </a:srgbClr>
          </a:solidFill>
          <a:ln w="10160">
            <a:solidFill>
              <a:srgbClr val="00B4D8">
                <a:alpha val="30196"/>
              </a:srgbClr>
            </a:solidFill>
            <a:prstDash val="solid"/>
          </a:ln>
        </p:spPr>
      </p:sp>
      <p:sp>
        <p:nvSpPr>
          <p:cNvPr id="31" name="Shape 29"/>
          <p:cNvSpPr/>
          <p:nvPr/>
        </p:nvSpPr>
        <p:spPr>
          <a:xfrm>
            <a:off x="6364481" y="3213830"/>
            <a:ext cx="373701" cy="373701"/>
          </a:xfrm>
          <a:prstGeom prst="roundRect">
            <a:avLst>
              <a:gd name="adj" fmla="val 50000"/>
            </a:avLst>
          </a:prstGeom>
          <a:solidFill>
            <a:srgbClr val="00B4D8"/>
          </a:solidFill>
          <a:ln/>
        </p:spPr>
      </p:sp>
      <p:sp>
        <p:nvSpPr>
          <p:cNvPr id="32" name="Text 30"/>
          <p:cNvSpPr/>
          <p:nvPr/>
        </p:nvSpPr>
        <p:spPr>
          <a:xfrm>
            <a:off x="6322439" y="3213830"/>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6</a:t>
            </a:r>
            <a:endParaRPr lang="en-US" sz="1600" dirty="0"/>
          </a:p>
        </p:txBody>
      </p:sp>
      <p:sp>
        <p:nvSpPr>
          <p:cNvPr id="33" name="Text 31"/>
          <p:cNvSpPr/>
          <p:nvPr/>
        </p:nvSpPr>
        <p:spPr>
          <a:xfrm>
            <a:off x="6850292" y="3213830"/>
            <a:ext cx="2307605"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Black Box Problem</a:t>
            </a:r>
            <a:endParaRPr lang="en-US" sz="1600" dirty="0"/>
          </a:p>
        </p:txBody>
      </p:sp>
      <p:sp>
        <p:nvSpPr>
          <p:cNvPr id="34" name="Text 32"/>
          <p:cNvSpPr/>
          <p:nvPr/>
        </p:nvSpPr>
        <p:spPr>
          <a:xfrm>
            <a:off x="6850292" y="3475421"/>
            <a:ext cx="2288920"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Lack of interpretability in deep learning</a:t>
            </a:r>
            <a:endParaRPr lang="en-US" sz="1600" dirty="0"/>
          </a:p>
        </p:txBody>
      </p:sp>
      <p:sp>
        <p:nvSpPr>
          <p:cNvPr id="35" name="Shape 33"/>
          <p:cNvSpPr/>
          <p:nvPr/>
        </p:nvSpPr>
        <p:spPr>
          <a:xfrm>
            <a:off x="377438" y="3897703"/>
            <a:ext cx="5566279" cy="680136"/>
          </a:xfrm>
          <a:prstGeom prst="roundRect">
            <a:avLst>
              <a:gd name="adj" fmla="val 10989"/>
            </a:avLst>
          </a:prstGeom>
          <a:solidFill>
            <a:srgbClr val="00B4D8">
              <a:alpha val="10196"/>
            </a:srgbClr>
          </a:solidFill>
          <a:ln w="10160">
            <a:solidFill>
              <a:srgbClr val="00B4D8">
                <a:alpha val="30196"/>
              </a:srgbClr>
            </a:solidFill>
            <a:prstDash val="solid"/>
          </a:ln>
        </p:spPr>
      </p:sp>
      <p:sp>
        <p:nvSpPr>
          <p:cNvPr id="36" name="Shape 34"/>
          <p:cNvSpPr/>
          <p:nvPr/>
        </p:nvSpPr>
        <p:spPr>
          <a:xfrm>
            <a:off x="493286" y="4013550"/>
            <a:ext cx="373701" cy="373701"/>
          </a:xfrm>
          <a:prstGeom prst="roundRect">
            <a:avLst>
              <a:gd name="adj" fmla="val 50000"/>
            </a:avLst>
          </a:prstGeom>
          <a:solidFill>
            <a:srgbClr val="00B4D8"/>
          </a:solidFill>
          <a:ln/>
        </p:spPr>
      </p:sp>
      <p:sp>
        <p:nvSpPr>
          <p:cNvPr id="37" name="Text 35"/>
          <p:cNvSpPr/>
          <p:nvPr/>
        </p:nvSpPr>
        <p:spPr>
          <a:xfrm>
            <a:off x="451244" y="4013550"/>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7</a:t>
            </a:r>
            <a:endParaRPr lang="en-US" sz="1600" dirty="0"/>
          </a:p>
        </p:txBody>
      </p:sp>
      <p:sp>
        <p:nvSpPr>
          <p:cNvPr id="38" name="Text 36"/>
          <p:cNvSpPr/>
          <p:nvPr/>
        </p:nvSpPr>
        <p:spPr>
          <a:xfrm>
            <a:off x="979097" y="4013550"/>
            <a:ext cx="2354317"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Explainable AI (XAI)</a:t>
            </a:r>
            <a:endParaRPr lang="en-US" sz="1600" dirty="0"/>
          </a:p>
        </p:txBody>
      </p:sp>
      <p:sp>
        <p:nvSpPr>
          <p:cNvPr id="39" name="Text 37"/>
          <p:cNvSpPr/>
          <p:nvPr/>
        </p:nvSpPr>
        <p:spPr>
          <a:xfrm>
            <a:off x="979097" y="4275141"/>
            <a:ext cx="2335632"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Making AI transparent and interpretable</a:t>
            </a:r>
            <a:endParaRPr lang="en-US" sz="1600" dirty="0"/>
          </a:p>
        </p:txBody>
      </p:sp>
      <p:sp>
        <p:nvSpPr>
          <p:cNvPr id="40" name="Shape 38"/>
          <p:cNvSpPr/>
          <p:nvPr/>
        </p:nvSpPr>
        <p:spPr>
          <a:xfrm>
            <a:off x="6248634" y="3897703"/>
            <a:ext cx="5566279" cy="680136"/>
          </a:xfrm>
          <a:prstGeom prst="roundRect">
            <a:avLst>
              <a:gd name="adj" fmla="val 10989"/>
            </a:avLst>
          </a:prstGeom>
          <a:solidFill>
            <a:srgbClr val="00B4D8">
              <a:alpha val="10196"/>
            </a:srgbClr>
          </a:solidFill>
          <a:ln w="10160">
            <a:solidFill>
              <a:srgbClr val="00B4D8">
                <a:alpha val="30196"/>
              </a:srgbClr>
            </a:solidFill>
            <a:prstDash val="solid"/>
          </a:ln>
        </p:spPr>
      </p:sp>
      <p:sp>
        <p:nvSpPr>
          <p:cNvPr id="41" name="Shape 39"/>
          <p:cNvSpPr/>
          <p:nvPr/>
        </p:nvSpPr>
        <p:spPr>
          <a:xfrm>
            <a:off x="6364481" y="4013550"/>
            <a:ext cx="373701" cy="373701"/>
          </a:xfrm>
          <a:prstGeom prst="roundRect">
            <a:avLst>
              <a:gd name="adj" fmla="val 50000"/>
            </a:avLst>
          </a:prstGeom>
          <a:solidFill>
            <a:srgbClr val="00B4D8"/>
          </a:solidFill>
          <a:ln/>
        </p:spPr>
      </p:sp>
      <p:sp>
        <p:nvSpPr>
          <p:cNvPr id="42" name="Text 40"/>
          <p:cNvSpPr/>
          <p:nvPr/>
        </p:nvSpPr>
        <p:spPr>
          <a:xfrm>
            <a:off x="6322439" y="4013550"/>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8</a:t>
            </a:r>
            <a:endParaRPr lang="en-US" sz="1600" dirty="0"/>
          </a:p>
        </p:txBody>
      </p:sp>
      <p:sp>
        <p:nvSpPr>
          <p:cNvPr id="43" name="Text 41"/>
          <p:cNvSpPr/>
          <p:nvPr/>
        </p:nvSpPr>
        <p:spPr>
          <a:xfrm>
            <a:off x="6850292" y="4013550"/>
            <a:ext cx="2008644"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Why Grad-CAM?</a:t>
            </a:r>
            <a:endParaRPr lang="en-US" sz="1600" dirty="0"/>
          </a:p>
        </p:txBody>
      </p:sp>
      <p:sp>
        <p:nvSpPr>
          <p:cNvPr id="44" name="Text 42"/>
          <p:cNvSpPr/>
          <p:nvPr/>
        </p:nvSpPr>
        <p:spPr>
          <a:xfrm>
            <a:off x="6850292" y="4275141"/>
            <a:ext cx="1989959"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CAM-based explanation methods</a:t>
            </a:r>
            <a:endParaRPr lang="en-US" sz="1600" dirty="0"/>
          </a:p>
        </p:txBody>
      </p:sp>
      <p:sp>
        <p:nvSpPr>
          <p:cNvPr id="45" name="Shape 43"/>
          <p:cNvSpPr/>
          <p:nvPr/>
        </p:nvSpPr>
        <p:spPr>
          <a:xfrm>
            <a:off x="377438" y="4697424"/>
            <a:ext cx="5566279" cy="680136"/>
          </a:xfrm>
          <a:prstGeom prst="roundRect">
            <a:avLst>
              <a:gd name="adj" fmla="val 10989"/>
            </a:avLst>
          </a:prstGeom>
          <a:solidFill>
            <a:srgbClr val="3A86FF">
              <a:alpha val="10196"/>
            </a:srgbClr>
          </a:solidFill>
          <a:ln w="10160">
            <a:solidFill>
              <a:srgbClr val="3A86FF">
                <a:alpha val="30196"/>
              </a:srgbClr>
            </a:solidFill>
            <a:prstDash val="solid"/>
          </a:ln>
        </p:spPr>
      </p:sp>
      <p:sp>
        <p:nvSpPr>
          <p:cNvPr id="46" name="Shape 44"/>
          <p:cNvSpPr/>
          <p:nvPr/>
        </p:nvSpPr>
        <p:spPr>
          <a:xfrm>
            <a:off x="493286" y="4813271"/>
            <a:ext cx="373701" cy="373701"/>
          </a:xfrm>
          <a:prstGeom prst="roundRect">
            <a:avLst>
              <a:gd name="adj" fmla="val 50000"/>
            </a:avLst>
          </a:prstGeom>
          <a:solidFill>
            <a:srgbClr val="3A86FF"/>
          </a:solidFill>
          <a:ln/>
        </p:spPr>
      </p:sp>
      <p:sp>
        <p:nvSpPr>
          <p:cNvPr id="47" name="Text 45"/>
          <p:cNvSpPr/>
          <p:nvPr/>
        </p:nvSpPr>
        <p:spPr>
          <a:xfrm>
            <a:off x="451244" y="4813271"/>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9</a:t>
            </a:r>
            <a:endParaRPr lang="en-US" sz="1600" dirty="0"/>
          </a:p>
        </p:txBody>
      </p:sp>
      <p:sp>
        <p:nvSpPr>
          <p:cNvPr id="48" name="Text 46"/>
          <p:cNvSpPr/>
          <p:nvPr/>
        </p:nvSpPr>
        <p:spPr>
          <a:xfrm>
            <a:off x="979097" y="4813271"/>
            <a:ext cx="2102069"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Limitations of Grad-CAM</a:t>
            </a:r>
            <a:endParaRPr lang="en-US" sz="1600" dirty="0"/>
          </a:p>
        </p:txBody>
      </p:sp>
      <p:sp>
        <p:nvSpPr>
          <p:cNvPr id="49" name="Text 47"/>
          <p:cNvSpPr/>
          <p:nvPr/>
        </p:nvSpPr>
        <p:spPr>
          <a:xfrm>
            <a:off x="979097" y="5074862"/>
            <a:ext cx="2083384"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Critical shortcomings in clinical use</a:t>
            </a:r>
            <a:endParaRPr lang="en-US" sz="1600" dirty="0"/>
          </a:p>
        </p:txBody>
      </p:sp>
      <p:sp>
        <p:nvSpPr>
          <p:cNvPr id="50" name="Shape 48"/>
          <p:cNvSpPr/>
          <p:nvPr/>
        </p:nvSpPr>
        <p:spPr>
          <a:xfrm>
            <a:off x="6248634" y="4697424"/>
            <a:ext cx="5566279" cy="680136"/>
          </a:xfrm>
          <a:prstGeom prst="roundRect">
            <a:avLst>
              <a:gd name="adj" fmla="val 10989"/>
            </a:avLst>
          </a:prstGeom>
          <a:solidFill>
            <a:srgbClr val="3A86FF">
              <a:alpha val="10196"/>
            </a:srgbClr>
          </a:solidFill>
          <a:ln w="10160">
            <a:solidFill>
              <a:srgbClr val="3A86FF">
                <a:alpha val="30196"/>
              </a:srgbClr>
            </a:solidFill>
            <a:prstDash val="solid"/>
          </a:ln>
        </p:spPr>
      </p:sp>
      <p:sp>
        <p:nvSpPr>
          <p:cNvPr id="51" name="Shape 49"/>
          <p:cNvSpPr/>
          <p:nvPr/>
        </p:nvSpPr>
        <p:spPr>
          <a:xfrm>
            <a:off x="6364481" y="4813271"/>
            <a:ext cx="373701" cy="373701"/>
          </a:xfrm>
          <a:prstGeom prst="roundRect">
            <a:avLst>
              <a:gd name="adj" fmla="val 50000"/>
            </a:avLst>
          </a:prstGeom>
          <a:solidFill>
            <a:srgbClr val="3A86FF"/>
          </a:solidFill>
          <a:ln/>
        </p:spPr>
      </p:sp>
      <p:sp>
        <p:nvSpPr>
          <p:cNvPr id="52" name="Text 50"/>
          <p:cNvSpPr/>
          <p:nvPr/>
        </p:nvSpPr>
        <p:spPr>
          <a:xfrm>
            <a:off x="6322439" y="4813271"/>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10</a:t>
            </a:r>
            <a:endParaRPr lang="en-US" sz="1600" dirty="0"/>
          </a:p>
        </p:txBody>
      </p:sp>
      <p:sp>
        <p:nvSpPr>
          <p:cNvPr id="53" name="Text 51"/>
          <p:cNvSpPr/>
          <p:nvPr/>
        </p:nvSpPr>
        <p:spPr>
          <a:xfrm>
            <a:off x="6850292" y="4813271"/>
            <a:ext cx="2326290"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Proposed Solution</a:t>
            </a:r>
            <a:endParaRPr lang="en-US" sz="1600" dirty="0"/>
          </a:p>
        </p:txBody>
      </p:sp>
      <p:sp>
        <p:nvSpPr>
          <p:cNvPr id="54" name="Text 52"/>
          <p:cNvSpPr/>
          <p:nvPr/>
        </p:nvSpPr>
        <p:spPr>
          <a:xfrm>
            <a:off x="6850292" y="5074862"/>
            <a:ext cx="2307605"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Adaptive Multi-Layer Fused Grad-CAM</a:t>
            </a:r>
            <a:endParaRPr lang="en-US" sz="1600" dirty="0"/>
          </a:p>
        </p:txBody>
      </p:sp>
      <p:sp>
        <p:nvSpPr>
          <p:cNvPr id="55" name="Shape 53"/>
          <p:cNvSpPr/>
          <p:nvPr/>
        </p:nvSpPr>
        <p:spPr>
          <a:xfrm>
            <a:off x="377438" y="5497144"/>
            <a:ext cx="5566279" cy="680136"/>
          </a:xfrm>
          <a:prstGeom prst="roundRect">
            <a:avLst>
              <a:gd name="adj" fmla="val 10989"/>
            </a:avLst>
          </a:prstGeom>
          <a:solidFill>
            <a:srgbClr val="3A86FF">
              <a:alpha val="10196"/>
            </a:srgbClr>
          </a:solidFill>
          <a:ln w="10160">
            <a:solidFill>
              <a:srgbClr val="3A86FF">
                <a:alpha val="30196"/>
              </a:srgbClr>
            </a:solidFill>
            <a:prstDash val="solid"/>
          </a:ln>
        </p:spPr>
      </p:sp>
      <p:sp>
        <p:nvSpPr>
          <p:cNvPr id="56" name="Shape 54"/>
          <p:cNvSpPr/>
          <p:nvPr/>
        </p:nvSpPr>
        <p:spPr>
          <a:xfrm>
            <a:off x="493286" y="5612992"/>
            <a:ext cx="373701" cy="373701"/>
          </a:xfrm>
          <a:prstGeom prst="roundRect">
            <a:avLst>
              <a:gd name="adj" fmla="val 50000"/>
            </a:avLst>
          </a:prstGeom>
          <a:solidFill>
            <a:srgbClr val="3A86FF"/>
          </a:solidFill>
          <a:ln/>
        </p:spPr>
      </p:sp>
      <p:sp>
        <p:nvSpPr>
          <p:cNvPr id="57" name="Text 55"/>
          <p:cNvSpPr/>
          <p:nvPr/>
        </p:nvSpPr>
        <p:spPr>
          <a:xfrm>
            <a:off x="451244" y="5612992"/>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11</a:t>
            </a:r>
            <a:endParaRPr lang="en-US" sz="1600" dirty="0"/>
          </a:p>
        </p:txBody>
      </p:sp>
      <p:sp>
        <p:nvSpPr>
          <p:cNvPr id="58" name="Text 56"/>
          <p:cNvSpPr/>
          <p:nvPr/>
        </p:nvSpPr>
        <p:spPr>
          <a:xfrm>
            <a:off x="979097" y="5612992"/>
            <a:ext cx="2186152"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Validation Mechanism</a:t>
            </a:r>
            <a:endParaRPr lang="en-US" sz="1600" dirty="0"/>
          </a:p>
        </p:txBody>
      </p:sp>
      <p:sp>
        <p:nvSpPr>
          <p:cNvPr id="59" name="Text 57"/>
          <p:cNvSpPr/>
          <p:nvPr/>
        </p:nvSpPr>
        <p:spPr>
          <a:xfrm>
            <a:off x="979097" y="5874583"/>
            <a:ext cx="2167467"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Confidence-retention validation loop</a:t>
            </a:r>
            <a:endParaRPr lang="en-US" sz="1600" dirty="0"/>
          </a:p>
        </p:txBody>
      </p:sp>
      <p:sp>
        <p:nvSpPr>
          <p:cNvPr id="60" name="Shape 58"/>
          <p:cNvSpPr/>
          <p:nvPr/>
        </p:nvSpPr>
        <p:spPr>
          <a:xfrm>
            <a:off x="6248634" y="5497144"/>
            <a:ext cx="5566279" cy="680136"/>
          </a:xfrm>
          <a:prstGeom prst="roundRect">
            <a:avLst>
              <a:gd name="adj" fmla="val 10989"/>
            </a:avLst>
          </a:prstGeom>
          <a:solidFill>
            <a:srgbClr val="3A86FF">
              <a:alpha val="10196"/>
            </a:srgbClr>
          </a:solidFill>
          <a:ln w="10160">
            <a:solidFill>
              <a:srgbClr val="3A86FF">
                <a:alpha val="30196"/>
              </a:srgbClr>
            </a:solidFill>
            <a:prstDash val="solid"/>
          </a:ln>
        </p:spPr>
      </p:sp>
      <p:sp>
        <p:nvSpPr>
          <p:cNvPr id="61" name="Shape 59"/>
          <p:cNvSpPr/>
          <p:nvPr/>
        </p:nvSpPr>
        <p:spPr>
          <a:xfrm>
            <a:off x="6364481" y="5612992"/>
            <a:ext cx="373701" cy="373701"/>
          </a:xfrm>
          <a:prstGeom prst="roundRect">
            <a:avLst>
              <a:gd name="adj" fmla="val 50000"/>
            </a:avLst>
          </a:prstGeom>
          <a:solidFill>
            <a:srgbClr val="3A86FF"/>
          </a:solidFill>
          <a:ln/>
        </p:spPr>
      </p:sp>
      <p:sp>
        <p:nvSpPr>
          <p:cNvPr id="62" name="Text 60"/>
          <p:cNvSpPr/>
          <p:nvPr/>
        </p:nvSpPr>
        <p:spPr>
          <a:xfrm>
            <a:off x="6322439" y="5612992"/>
            <a:ext cx="457784" cy="373701"/>
          </a:xfrm>
          <a:prstGeom prst="rect">
            <a:avLst/>
          </a:prstGeom>
          <a:noFill/>
          <a:ln/>
        </p:spPr>
        <p:txBody>
          <a:bodyPr wrap="square" lIns="0" tIns="0" rIns="0" bIns="0" rtlCol="0" anchor="ctr"/>
          <a:lstStyle/>
          <a:p>
            <a:pPr algn="ctr">
              <a:lnSpc>
                <a:spcPct val="130000"/>
              </a:lnSpc>
            </a:pPr>
            <a:r>
              <a:rPr lang="en-US" sz="1324" b="1" dirty="0">
                <a:solidFill>
                  <a:srgbClr val="FFFFFF"/>
                </a:solidFill>
                <a:latin typeface="Liter" pitchFamily="34" charset="0"/>
                <a:ea typeface="Liter" pitchFamily="34" charset="-122"/>
                <a:cs typeface="Liter" pitchFamily="34" charset="-120"/>
              </a:rPr>
              <a:t>12</a:t>
            </a:r>
            <a:endParaRPr lang="en-US" sz="1600" dirty="0"/>
          </a:p>
        </p:txBody>
      </p:sp>
      <p:sp>
        <p:nvSpPr>
          <p:cNvPr id="63" name="Text 61"/>
          <p:cNvSpPr/>
          <p:nvPr/>
        </p:nvSpPr>
        <p:spPr>
          <a:xfrm>
            <a:off x="6850292" y="5612992"/>
            <a:ext cx="1831136" cy="261591"/>
          </a:xfrm>
          <a:prstGeom prst="rect">
            <a:avLst/>
          </a:prstGeom>
          <a:noFill/>
          <a:ln/>
        </p:spPr>
        <p:txBody>
          <a:bodyPr wrap="square" lIns="0" tIns="0" rIns="0" bIns="0" rtlCol="0" anchor="ctr"/>
          <a:lstStyle/>
          <a:p>
            <a:pPr>
              <a:lnSpc>
                <a:spcPct val="130000"/>
              </a:lnSpc>
            </a:pPr>
            <a:r>
              <a:rPr lang="en-US" sz="1324" b="1" dirty="0">
                <a:solidFill>
                  <a:srgbClr val="F1FAEE"/>
                </a:solidFill>
                <a:latin typeface="Liter" pitchFamily="34" charset="0"/>
                <a:ea typeface="Liter" pitchFamily="34" charset="-122"/>
                <a:cs typeface="Liter" pitchFamily="34" charset="-120"/>
              </a:rPr>
              <a:t>Adaptive Fusion</a:t>
            </a:r>
            <a:endParaRPr lang="en-US" sz="1600" dirty="0"/>
          </a:p>
        </p:txBody>
      </p:sp>
      <p:sp>
        <p:nvSpPr>
          <p:cNvPr id="64" name="Text 62"/>
          <p:cNvSpPr/>
          <p:nvPr/>
        </p:nvSpPr>
        <p:spPr>
          <a:xfrm>
            <a:off x="6850292" y="5874583"/>
            <a:ext cx="1812451"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Multi-layer dynamic weighting</a:t>
            </a:r>
            <a:endParaRPr lang="en-US" sz="1600" dirty="0"/>
          </a:p>
        </p:txBody>
      </p:sp>
      <p:sp>
        <p:nvSpPr>
          <p:cNvPr id="65" name="Shape 63"/>
          <p:cNvSpPr/>
          <p:nvPr/>
        </p:nvSpPr>
        <p:spPr>
          <a:xfrm>
            <a:off x="392386" y="6330497"/>
            <a:ext cx="11425913" cy="523182"/>
          </a:xfrm>
          <a:custGeom>
            <a:avLst/>
            <a:gdLst/>
            <a:ahLst/>
            <a:cxnLst/>
            <a:rect l="l" t="t" r="r" b="b"/>
            <a:pathLst>
              <a:path w="11425913" h="523182">
                <a:moveTo>
                  <a:pt x="37338" y="0"/>
                </a:moveTo>
                <a:lnTo>
                  <a:pt x="11351133" y="0"/>
                </a:lnTo>
                <a:cubicBezTo>
                  <a:pt x="11392446" y="0"/>
                  <a:pt x="11425936" y="33490"/>
                  <a:pt x="11425936" y="74803"/>
                </a:cubicBezTo>
                <a:lnTo>
                  <a:pt x="11425936" y="448437"/>
                </a:lnTo>
                <a:cubicBezTo>
                  <a:pt x="11425936" y="489750"/>
                  <a:pt x="11392446" y="523240"/>
                  <a:pt x="11351133" y="523240"/>
                </a:cubicBezTo>
                <a:lnTo>
                  <a:pt x="37338" y="523240"/>
                </a:lnTo>
                <a:cubicBezTo>
                  <a:pt x="27413" y="523240"/>
                  <a:pt x="17897" y="519289"/>
                  <a:pt x="10891" y="512259"/>
                </a:cubicBezTo>
                <a:cubicBezTo>
                  <a:pt x="3885" y="505229"/>
                  <a:pt x="-34" y="495700"/>
                  <a:pt x="0" y="485775"/>
                </a:cubicBezTo>
                <a:lnTo>
                  <a:pt x="0" y="37338"/>
                </a:lnTo>
                <a:cubicBezTo>
                  <a:pt x="0" y="16731"/>
                  <a:pt x="16731" y="0"/>
                  <a:pt x="37338" y="0"/>
                </a:cubicBezTo>
                <a:close/>
              </a:path>
            </a:pathLst>
          </a:custGeom>
          <a:solidFill>
            <a:srgbClr val="00B4D8">
              <a:alpha val="10196"/>
            </a:srgbClr>
          </a:solidFill>
          <a:ln/>
        </p:spPr>
      </p:sp>
      <p:sp>
        <p:nvSpPr>
          <p:cNvPr id="66" name="Shape 64"/>
          <p:cNvSpPr/>
          <p:nvPr/>
        </p:nvSpPr>
        <p:spPr>
          <a:xfrm>
            <a:off x="392386" y="6330497"/>
            <a:ext cx="37370" cy="523182"/>
          </a:xfrm>
          <a:custGeom>
            <a:avLst/>
            <a:gdLst/>
            <a:ahLst/>
            <a:cxnLst/>
            <a:rect l="l" t="t" r="r" b="b"/>
            <a:pathLst>
              <a:path w="37370" h="523182">
                <a:moveTo>
                  <a:pt x="37338" y="0"/>
                </a:moveTo>
                <a:lnTo>
                  <a:pt x="37338" y="0"/>
                </a:lnTo>
                <a:lnTo>
                  <a:pt x="37338" y="523240"/>
                </a:lnTo>
                <a:lnTo>
                  <a:pt x="37338" y="523240"/>
                </a:lnTo>
                <a:cubicBezTo>
                  <a:pt x="27413" y="523240"/>
                  <a:pt x="17897" y="519289"/>
                  <a:pt x="10891" y="512259"/>
                </a:cubicBezTo>
                <a:cubicBezTo>
                  <a:pt x="3885" y="505229"/>
                  <a:pt x="-34" y="495700"/>
                  <a:pt x="0" y="485775"/>
                </a:cubicBezTo>
                <a:lnTo>
                  <a:pt x="0" y="37338"/>
                </a:lnTo>
                <a:cubicBezTo>
                  <a:pt x="0" y="16731"/>
                  <a:pt x="16731" y="0"/>
                  <a:pt x="37338" y="0"/>
                </a:cubicBezTo>
                <a:close/>
              </a:path>
            </a:pathLst>
          </a:custGeom>
          <a:solidFill>
            <a:srgbClr val="00B4D8"/>
          </a:solidFill>
          <a:ln/>
        </p:spPr>
      </p:sp>
      <p:sp>
        <p:nvSpPr>
          <p:cNvPr id="67" name="Shape 65"/>
          <p:cNvSpPr/>
          <p:nvPr/>
        </p:nvSpPr>
        <p:spPr>
          <a:xfrm>
            <a:off x="579237" y="6509874"/>
            <a:ext cx="149480" cy="149480"/>
          </a:xfrm>
          <a:custGeom>
            <a:avLst/>
            <a:gdLst/>
            <a:ahLst/>
            <a:cxnLst/>
            <a:rect l="l" t="t" r="r" b="b"/>
            <a:pathLst>
              <a:path w="149480" h="149480">
                <a:moveTo>
                  <a:pt x="74740" y="149480"/>
                </a:moveTo>
                <a:cubicBezTo>
                  <a:pt x="115990" y="149480"/>
                  <a:pt x="149480" y="115990"/>
                  <a:pt x="149480" y="74740"/>
                </a:cubicBezTo>
                <a:cubicBezTo>
                  <a:pt x="149480" y="33490"/>
                  <a:pt x="115990" y="0"/>
                  <a:pt x="74740" y="0"/>
                </a:cubicBezTo>
                <a:cubicBezTo>
                  <a:pt x="33490" y="0"/>
                  <a:pt x="0" y="33490"/>
                  <a:pt x="0" y="74740"/>
                </a:cubicBezTo>
                <a:cubicBezTo>
                  <a:pt x="0" y="115990"/>
                  <a:pt x="33490" y="149480"/>
                  <a:pt x="74740" y="149480"/>
                </a:cubicBezTo>
                <a:close/>
                <a:moveTo>
                  <a:pt x="74740" y="51384"/>
                </a:moveTo>
                <a:cubicBezTo>
                  <a:pt x="69573" y="51384"/>
                  <a:pt x="65398" y="55559"/>
                  <a:pt x="65398" y="60726"/>
                </a:cubicBezTo>
                <a:cubicBezTo>
                  <a:pt x="65398" y="64609"/>
                  <a:pt x="62274" y="67733"/>
                  <a:pt x="58391" y="67733"/>
                </a:cubicBezTo>
                <a:cubicBezTo>
                  <a:pt x="54508" y="67733"/>
                  <a:pt x="51384" y="64609"/>
                  <a:pt x="51384" y="60726"/>
                </a:cubicBezTo>
                <a:cubicBezTo>
                  <a:pt x="51384" y="47822"/>
                  <a:pt x="61836" y="37370"/>
                  <a:pt x="74740" y="37370"/>
                </a:cubicBezTo>
                <a:cubicBezTo>
                  <a:pt x="87645" y="37370"/>
                  <a:pt x="98097" y="47822"/>
                  <a:pt x="98097" y="60726"/>
                </a:cubicBezTo>
                <a:cubicBezTo>
                  <a:pt x="98097" y="74507"/>
                  <a:pt x="87586" y="80346"/>
                  <a:pt x="81747" y="82477"/>
                </a:cubicBezTo>
                <a:lnTo>
                  <a:pt x="81747" y="83586"/>
                </a:lnTo>
                <a:cubicBezTo>
                  <a:pt x="81747" y="87469"/>
                  <a:pt x="78623" y="90593"/>
                  <a:pt x="74740" y="90593"/>
                </a:cubicBezTo>
                <a:cubicBezTo>
                  <a:pt x="70857" y="90593"/>
                  <a:pt x="67733" y="87469"/>
                  <a:pt x="67733" y="83586"/>
                </a:cubicBezTo>
                <a:lnTo>
                  <a:pt x="67733" y="81222"/>
                </a:lnTo>
                <a:cubicBezTo>
                  <a:pt x="67733" y="75237"/>
                  <a:pt x="72054" y="70945"/>
                  <a:pt x="76521" y="69485"/>
                </a:cubicBezTo>
                <a:cubicBezTo>
                  <a:pt x="78390" y="68872"/>
                  <a:pt x="80375" y="67879"/>
                  <a:pt x="81835" y="66478"/>
                </a:cubicBezTo>
                <a:cubicBezTo>
                  <a:pt x="83090" y="65252"/>
                  <a:pt x="84083" y="63558"/>
                  <a:pt x="84083" y="60756"/>
                </a:cubicBezTo>
                <a:cubicBezTo>
                  <a:pt x="84083" y="55588"/>
                  <a:pt x="79908" y="51413"/>
                  <a:pt x="74740" y="51413"/>
                </a:cubicBezTo>
                <a:close/>
                <a:moveTo>
                  <a:pt x="65398" y="107439"/>
                </a:moveTo>
                <a:cubicBezTo>
                  <a:pt x="65398" y="102283"/>
                  <a:pt x="69584" y="98097"/>
                  <a:pt x="74740" y="98097"/>
                </a:cubicBezTo>
                <a:cubicBezTo>
                  <a:pt x="79897" y="98097"/>
                  <a:pt x="84083" y="102283"/>
                  <a:pt x="84083" y="107439"/>
                </a:cubicBezTo>
                <a:cubicBezTo>
                  <a:pt x="84083" y="112595"/>
                  <a:pt x="79897" y="116782"/>
                  <a:pt x="74740" y="116782"/>
                </a:cubicBezTo>
                <a:cubicBezTo>
                  <a:pt x="69584" y="116782"/>
                  <a:pt x="65398" y="112595"/>
                  <a:pt x="65398" y="107439"/>
                </a:cubicBezTo>
                <a:close/>
              </a:path>
            </a:pathLst>
          </a:custGeom>
          <a:solidFill>
            <a:srgbClr val="00B4D8"/>
          </a:solidFill>
          <a:ln/>
        </p:spPr>
      </p:sp>
      <p:sp>
        <p:nvSpPr>
          <p:cNvPr id="68" name="Text 66"/>
          <p:cNvSpPr/>
          <p:nvPr/>
        </p:nvSpPr>
        <p:spPr>
          <a:xfrm>
            <a:off x="802384" y="6479978"/>
            <a:ext cx="10941175" cy="224221"/>
          </a:xfrm>
          <a:prstGeom prst="rect">
            <a:avLst/>
          </a:prstGeom>
          <a:noFill/>
          <a:ln/>
        </p:spPr>
        <p:txBody>
          <a:bodyPr wrap="square" lIns="0" tIns="0" rIns="0" bIns="0" rtlCol="0" anchor="ctr"/>
          <a:lstStyle/>
          <a:p>
            <a:pPr>
              <a:lnSpc>
                <a:spcPct val="130000"/>
              </a:lnSpc>
            </a:pPr>
            <a:r>
              <a:rPr lang="en-US" sz="1177" b="1" dirty="0">
                <a:solidFill>
                  <a:srgbClr val="00B4D8"/>
                </a:solidFill>
                <a:latin typeface="Liter" pitchFamily="34" charset="0"/>
                <a:ea typeface="Liter" pitchFamily="34" charset="-122"/>
                <a:cs typeface="Liter" pitchFamily="34" charset="-120"/>
              </a:rPr>
              <a:t>Can AI become clinically trustworthy enough for real-world diagnosis?</a:t>
            </a:r>
            <a:endParaRPr lang="en-US" sz="1600" dirty="0"/>
          </a:p>
        </p:txBody>
      </p:sp>
      <p:sp>
        <p:nvSpPr>
          <p:cNvPr id="69" name="Text 67"/>
          <p:cNvSpPr/>
          <p:nvPr/>
        </p:nvSpPr>
        <p:spPr>
          <a:xfrm>
            <a:off x="8628643" y="6296864"/>
            <a:ext cx="3251200" cy="186851"/>
          </a:xfrm>
          <a:prstGeom prst="rect">
            <a:avLst/>
          </a:prstGeom>
          <a:noFill/>
          <a:ln/>
        </p:spPr>
        <p:txBody>
          <a:bodyPr wrap="square" lIns="0" tIns="0" rIns="0" bIns="0" rtlCol="0" anchor="ctr"/>
          <a:lstStyle/>
          <a:p>
            <a:pPr>
              <a:lnSpc>
                <a:spcPct val="120000"/>
              </a:lnSpc>
            </a:pPr>
            <a:r>
              <a:rPr lang="en-US" sz="1030" dirty="0">
                <a:solidFill>
                  <a:srgbClr val="5C677D"/>
                </a:solidFill>
                <a:latin typeface="Liter" pitchFamily="34" charset="0"/>
                <a:ea typeface="Liter" pitchFamily="34" charset="-122"/>
                <a:cs typeface="Liter" pitchFamily="34" charset="-120"/>
              </a:rPr>
              <a:t>Slides 13-18: Advantages, Conclusion, References, Q&amp;A</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0B4D8"/>
                </a:solidFill>
                <a:latin typeface="Liter" pitchFamily="34" charset="0"/>
                <a:ea typeface="Liter" pitchFamily="34" charset="-122"/>
                <a:cs typeface="Liter" pitchFamily="34" charset="-120"/>
              </a:rPr>
              <a:t>Clinical Background</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F1FAEE"/>
                </a:solidFill>
                <a:latin typeface="Oranienbaum" pitchFamily="34" charset="0"/>
                <a:ea typeface="Oranienbaum" pitchFamily="34" charset="-122"/>
                <a:cs typeface="Oranienbaum" pitchFamily="34" charset="-120"/>
              </a:rPr>
              <a:t>Retinal Diseases Overview</a:t>
            </a:r>
            <a:endParaRPr lang="en-US" sz="1600" dirty="0"/>
          </a:p>
        </p:txBody>
      </p:sp>
      <p:sp>
        <p:nvSpPr>
          <p:cNvPr id="4" name="Shape 2"/>
          <p:cNvSpPr/>
          <p:nvPr/>
        </p:nvSpPr>
        <p:spPr>
          <a:xfrm>
            <a:off x="381000" y="1181100"/>
            <a:ext cx="914400" cy="3810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92906" y="1447800"/>
            <a:ext cx="214313" cy="190500"/>
          </a:xfrm>
          <a:custGeom>
            <a:avLst/>
            <a:gdLst/>
            <a:ahLst/>
            <a:cxnLst/>
            <a:rect l="l" t="t" r="r" b="b"/>
            <a:pathLst>
              <a:path w="214313" h="190500">
                <a:moveTo>
                  <a:pt x="107156" y="11906"/>
                </a:moveTo>
                <a:cubicBezTo>
                  <a:pt x="77093" y="11906"/>
                  <a:pt x="53020" y="25598"/>
                  <a:pt x="35496" y="41895"/>
                </a:cubicBezTo>
                <a:cubicBezTo>
                  <a:pt x="18083" y="58080"/>
                  <a:pt x="6437" y="77391"/>
                  <a:pt x="893" y="90674"/>
                </a:cubicBezTo>
                <a:cubicBezTo>
                  <a:pt x="-335" y="93613"/>
                  <a:pt x="-335" y="96887"/>
                  <a:pt x="893" y="99826"/>
                </a:cubicBezTo>
                <a:cubicBezTo>
                  <a:pt x="6437" y="113109"/>
                  <a:pt x="18083" y="132457"/>
                  <a:pt x="35496" y="148605"/>
                </a:cubicBezTo>
                <a:cubicBezTo>
                  <a:pt x="53020" y="164864"/>
                  <a:pt x="77093" y="178594"/>
                  <a:pt x="107156" y="178594"/>
                </a:cubicBezTo>
                <a:cubicBezTo>
                  <a:pt x="137220" y="178594"/>
                  <a:pt x="161292" y="164902"/>
                  <a:pt x="178817" y="148605"/>
                </a:cubicBezTo>
                <a:cubicBezTo>
                  <a:pt x="196230" y="132420"/>
                  <a:pt x="207876" y="113109"/>
                  <a:pt x="213420" y="99826"/>
                </a:cubicBezTo>
                <a:cubicBezTo>
                  <a:pt x="214647" y="96887"/>
                  <a:pt x="214647" y="93613"/>
                  <a:pt x="213420" y="90674"/>
                </a:cubicBezTo>
                <a:cubicBezTo>
                  <a:pt x="207876" y="77391"/>
                  <a:pt x="196230" y="58043"/>
                  <a:pt x="178817" y="41895"/>
                </a:cubicBezTo>
                <a:cubicBezTo>
                  <a:pt x="161292" y="25636"/>
                  <a:pt x="137220" y="11906"/>
                  <a:pt x="107156" y="11906"/>
                </a:cubicBezTo>
                <a:close/>
                <a:moveTo>
                  <a:pt x="53578" y="95250"/>
                </a:moveTo>
                <a:cubicBezTo>
                  <a:pt x="53578" y="65679"/>
                  <a:pt x="77586" y="41672"/>
                  <a:pt x="107156" y="41672"/>
                </a:cubicBezTo>
                <a:cubicBezTo>
                  <a:pt x="136727" y="41672"/>
                  <a:pt x="160734" y="65679"/>
                  <a:pt x="160734" y="95250"/>
                </a:cubicBezTo>
                <a:cubicBezTo>
                  <a:pt x="160734" y="124821"/>
                  <a:pt x="136727" y="148828"/>
                  <a:pt x="107156" y="148828"/>
                </a:cubicBezTo>
                <a:cubicBezTo>
                  <a:pt x="77586" y="148828"/>
                  <a:pt x="53578" y="124821"/>
                  <a:pt x="53578" y="95250"/>
                </a:cubicBezTo>
                <a:close/>
                <a:moveTo>
                  <a:pt x="107156" y="71438"/>
                </a:moveTo>
                <a:cubicBezTo>
                  <a:pt x="107156" y="84572"/>
                  <a:pt x="96478" y="95250"/>
                  <a:pt x="83344" y="95250"/>
                </a:cubicBezTo>
                <a:cubicBezTo>
                  <a:pt x="79065" y="95250"/>
                  <a:pt x="75047" y="94134"/>
                  <a:pt x="71549" y="92125"/>
                </a:cubicBezTo>
                <a:cubicBezTo>
                  <a:pt x="71177" y="96180"/>
                  <a:pt x="71512" y="100347"/>
                  <a:pt x="72628" y="104477"/>
                </a:cubicBezTo>
                <a:cubicBezTo>
                  <a:pt x="77725" y="123527"/>
                  <a:pt x="97334" y="134838"/>
                  <a:pt x="116384" y="129741"/>
                </a:cubicBezTo>
                <a:cubicBezTo>
                  <a:pt x="135434" y="124644"/>
                  <a:pt x="146745" y="105035"/>
                  <a:pt x="141647" y="85985"/>
                </a:cubicBezTo>
                <a:cubicBezTo>
                  <a:pt x="137108" y="68982"/>
                  <a:pt x="120997" y="58155"/>
                  <a:pt x="104031" y="59643"/>
                </a:cubicBezTo>
                <a:cubicBezTo>
                  <a:pt x="106003" y="63103"/>
                  <a:pt x="107156" y="67121"/>
                  <a:pt x="107156" y="71438"/>
                </a:cubicBezTo>
                <a:close/>
              </a:path>
            </a:pathLst>
          </a:custGeom>
          <a:solidFill>
            <a:srgbClr val="3A86FF"/>
          </a:solidFill>
          <a:ln/>
        </p:spPr>
      </p:sp>
      <p:sp>
        <p:nvSpPr>
          <p:cNvPr id="6" name="Text 4"/>
          <p:cNvSpPr/>
          <p:nvPr/>
        </p:nvSpPr>
        <p:spPr>
          <a:xfrm>
            <a:off x="619125" y="1409700"/>
            <a:ext cx="6619875" cy="266700"/>
          </a:xfrm>
          <a:prstGeom prst="rect">
            <a:avLst/>
          </a:prstGeom>
          <a:noFill/>
          <a:ln/>
        </p:spPr>
        <p:txBody>
          <a:bodyPr wrap="square" lIns="0" tIns="0" rIns="0" bIns="0" rtlCol="0" anchor="ctr"/>
          <a:lstStyle/>
          <a:p>
            <a:pPr>
              <a:lnSpc>
                <a:spcPct val="120000"/>
              </a:lnSpc>
            </a:pPr>
            <a:r>
              <a:rPr lang="en-US" sz="1500" b="1" dirty="0">
                <a:solidFill>
                  <a:srgbClr val="3A86FF"/>
                </a:solidFill>
                <a:latin typeface="Liter" pitchFamily="34" charset="0"/>
                <a:ea typeface="Liter" pitchFamily="34" charset="-122"/>
                <a:cs typeface="Liter" pitchFamily="34" charset="-120"/>
              </a:rPr>
              <a:t>The Retina: Light-Sensitive Neural Tissue</a:t>
            </a:r>
            <a:endParaRPr lang="en-US" sz="1600" dirty="0"/>
          </a:p>
        </p:txBody>
      </p:sp>
      <p:sp>
        <p:nvSpPr>
          <p:cNvPr id="7" name="Text 5"/>
          <p:cNvSpPr/>
          <p:nvPr/>
        </p:nvSpPr>
        <p:spPr>
          <a:xfrm>
            <a:off x="381000" y="1790700"/>
            <a:ext cx="6838950" cy="990600"/>
          </a:xfrm>
          <a:prstGeom prst="rect">
            <a:avLst/>
          </a:prstGeom>
          <a:noFill/>
          <a:ln/>
        </p:spPr>
        <p:txBody>
          <a:bodyPr wrap="square" lIns="0" tIns="0" rIns="0" bIns="0" rtlCol="0" anchor="ctr"/>
          <a:lstStyle/>
          <a:p>
            <a:pPr>
              <a:lnSpc>
                <a:spcPct val="140000"/>
              </a:lnSpc>
            </a:pPr>
            <a:r>
              <a:rPr lang="en-US" sz="1200" dirty="0">
                <a:solidFill>
                  <a:srgbClr val="F1FAEE"/>
                </a:solidFill>
                <a:latin typeface="Liter" pitchFamily="34" charset="0"/>
                <a:ea typeface="Liter" pitchFamily="34" charset="-122"/>
                <a:cs typeface="Liter" pitchFamily="34" charset="-120"/>
              </a:rPr>
              <a:t>The retina is a </a:t>
            </a:r>
            <a:pPr>
              <a:lnSpc>
                <a:spcPct val="140000"/>
              </a:lnSpc>
            </a:pPr>
            <a:r>
              <a:rPr lang="en-US" sz="1200" b="1" dirty="0">
                <a:solidFill>
                  <a:srgbClr val="F1FAEE"/>
                </a:solidFill>
                <a:latin typeface="Liter" pitchFamily="34" charset="0"/>
                <a:ea typeface="Liter" pitchFamily="34" charset="-122"/>
                <a:cs typeface="Liter" pitchFamily="34" charset="-120"/>
              </a:rPr>
              <a:t>light-sensitive neural tissue layer</a:t>
            </a:r>
            <a:pPr>
              <a:lnSpc>
                <a:spcPct val="140000"/>
              </a:lnSpc>
            </a:pPr>
            <a:r>
              <a:rPr lang="en-US" sz="1200" dirty="0">
                <a:solidFill>
                  <a:srgbClr val="F1FAEE"/>
                </a:solidFill>
                <a:latin typeface="Liter" pitchFamily="34" charset="0"/>
                <a:ea typeface="Liter" pitchFamily="34" charset="-122"/>
                <a:cs typeface="Liter" pitchFamily="34" charset="-120"/>
              </a:rPr>
              <a:t> at the back of the eye, consisting of photoreceptor cells (rods and cones) responsible for converting incoming light into neural signals. These signals travel through the optic nerve to the brain, enabling vision. Early detection of retinal diseases is critical to prevent </a:t>
            </a:r>
            <a:pPr>
              <a:lnSpc>
                <a:spcPct val="140000"/>
              </a:lnSpc>
            </a:pPr>
            <a:r>
              <a:rPr lang="en-US" sz="1200" b="1" dirty="0">
                <a:solidFill>
                  <a:srgbClr val="00B4D8"/>
                </a:solidFill>
                <a:latin typeface="Liter" pitchFamily="34" charset="0"/>
                <a:ea typeface="Liter" pitchFamily="34" charset="-122"/>
                <a:cs typeface="Liter" pitchFamily="34" charset="-120"/>
              </a:rPr>
              <a:t>irreversible blindness</a:t>
            </a:r>
            <a:pPr>
              <a:lnSpc>
                <a:spcPct val="140000"/>
              </a:lnSpc>
            </a:pPr>
            <a:r>
              <a:rPr lang="en-US" sz="1200" dirty="0">
                <a:solidFill>
                  <a:srgbClr val="F1FAEE"/>
                </a:solidFill>
                <a:latin typeface="Liter" pitchFamily="34" charset="0"/>
                <a:ea typeface="Liter" pitchFamily="34" charset="-122"/>
                <a:cs typeface="Liter" pitchFamily="34" charset="-120"/>
              </a:rPr>
              <a:t>.</a:t>
            </a:r>
            <a:endParaRPr lang="en-US" sz="1600" dirty="0"/>
          </a:p>
        </p:txBody>
      </p:sp>
      <p:sp>
        <p:nvSpPr>
          <p:cNvPr id="8" name="Shape 6"/>
          <p:cNvSpPr/>
          <p:nvPr/>
        </p:nvSpPr>
        <p:spPr>
          <a:xfrm>
            <a:off x="400050" y="3572232"/>
            <a:ext cx="3286125" cy="1200150"/>
          </a:xfrm>
          <a:custGeom>
            <a:avLst/>
            <a:gdLst/>
            <a:ahLst/>
            <a:cxnLst/>
            <a:rect l="l" t="t" r="r" b="b"/>
            <a:pathLst>
              <a:path w="3286125" h="1200150">
                <a:moveTo>
                  <a:pt x="38100" y="0"/>
                </a:moveTo>
                <a:lnTo>
                  <a:pt x="3209925" y="0"/>
                </a:lnTo>
                <a:cubicBezTo>
                  <a:pt x="3251981" y="0"/>
                  <a:pt x="3286125" y="34144"/>
                  <a:pt x="3286125" y="76200"/>
                </a:cubicBezTo>
                <a:lnTo>
                  <a:pt x="3286125" y="1123950"/>
                </a:lnTo>
                <a:cubicBezTo>
                  <a:pt x="3286125" y="1166006"/>
                  <a:pt x="3251981" y="1200150"/>
                  <a:pt x="3209925" y="1200150"/>
                </a:cubicBezTo>
                <a:lnTo>
                  <a:pt x="38100" y="1200150"/>
                </a:lnTo>
                <a:cubicBezTo>
                  <a:pt x="17072" y="1200150"/>
                  <a:pt x="0" y="1183078"/>
                  <a:pt x="0" y="1162050"/>
                </a:cubicBezTo>
                <a:lnTo>
                  <a:pt x="0" y="38100"/>
                </a:lnTo>
                <a:cubicBezTo>
                  <a:pt x="0" y="17072"/>
                  <a:pt x="17072" y="0"/>
                  <a:pt x="38100" y="0"/>
                </a:cubicBezTo>
                <a:close/>
              </a:path>
            </a:pathLst>
          </a:custGeom>
          <a:solidFill>
            <a:srgbClr val="3A86FF">
              <a:alpha val="10196"/>
            </a:srgbClr>
          </a:solidFill>
          <a:ln/>
        </p:spPr>
      </p:sp>
      <p:sp>
        <p:nvSpPr>
          <p:cNvPr id="9" name="Shape 7"/>
          <p:cNvSpPr/>
          <p:nvPr/>
        </p:nvSpPr>
        <p:spPr>
          <a:xfrm>
            <a:off x="400050" y="3572232"/>
            <a:ext cx="38100" cy="1200150"/>
          </a:xfrm>
          <a:custGeom>
            <a:avLst/>
            <a:gdLst/>
            <a:ahLst/>
            <a:cxnLst/>
            <a:rect l="l" t="t" r="r" b="b"/>
            <a:pathLst>
              <a:path w="38100" h="1200150">
                <a:moveTo>
                  <a:pt x="38100" y="0"/>
                </a:moveTo>
                <a:lnTo>
                  <a:pt x="38100" y="0"/>
                </a:lnTo>
                <a:lnTo>
                  <a:pt x="38100" y="1200150"/>
                </a:lnTo>
                <a:lnTo>
                  <a:pt x="38100" y="1200150"/>
                </a:lnTo>
                <a:cubicBezTo>
                  <a:pt x="17072" y="1200150"/>
                  <a:pt x="0" y="1183078"/>
                  <a:pt x="0" y="1162050"/>
                </a:cubicBezTo>
                <a:lnTo>
                  <a:pt x="0" y="38100"/>
                </a:lnTo>
                <a:cubicBezTo>
                  <a:pt x="0" y="17072"/>
                  <a:pt x="17072" y="0"/>
                  <a:pt x="38100" y="0"/>
                </a:cubicBezTo>
                <a:close/>
              </a:path>
            </a:pathLst>
          </a:custGeom>
          <a:solidFill>
            <a:srgbClr val="3A86FF"/>
          </a:solidFill>
          <a:ln/>
        </p:spPr>
      </p:sp>
      <p:sp>
        <p:nvSpPr>
          <p:cNvPr id="10" name="Shape 8"/>
          <p:cNvSpPr/>
          <p:nvPr/>
        </p:nvSpPr>
        <p:spPr>
          <a:xfrm>
            <a:off x="571500" y="3800832"/>
            <a:ext cx="114300" cy="114300"/>
          </a:xfrm>
          <a:prstGeom prst="roundRect">
            <a:avLst>
              <a:gd name="adj" fmla="val 50000"/>
            </a:avLst>
          </a:prstGeom>
          <a:solidFill>
            <a:srgbClr val="3A86FF"/>
          </a:solidFill>
          <a:ln/>
        </p:spPr>
      </p:sp>
      <p:sp>
        <p:nvSpPr>
          <p:cNvPr id="11" name="Text 9"/>
          <p:cNvSpPr/>
          <p:nvPr/>
        </p:nvSpPr>
        <p:spPr>
          <a:xfrm>
            <a:off x="762000" y="3724632"/>
            <a:ext cx="447675"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CNV</a:t>
            </a:r>
            <a:endParaRPr lang="en-US" sz="1600" dirty="0"/>
          </a:p>
        </p:txBody>
      </p:sp>
      <p:sp>
        <p:nvSpPr>
          <p:cNvPr id="12" name="Text 10"/>
          <p:cNvSpPr/>
          <p:nvPr/>
        </p:nvSpPr>
        <p:spPr>
          <a:xfrm>
            <a:off x="571500" y="4067532"/>
            <a:ext cx="3028950" cy="552450"/>
          </a:xfrm>
          <a:prstGeom prst="rect">
            <a:avLst/>
          </a:prstGeom>
          <a:noFill/>
          <a:ln/>
        </p:spPr>
        <p:txBody>
          <a:bodyPr wrap="square" lIns="0" tIns="0" rIns="0" bIns="0" rtlCol="0" anchor="ctr"/>
          <a:lstStyle/>
          <a:p>
            <a:pPr>
              <a:lnSpc>
                <a:spcPct val="110000"/>
              </a:lnSpc>
            </a:pPr>
            <a:r>
              <a:rPr lang="en-US" sz="1050" b="1" dirty="0">
                <a:solidFill>
                  <a:srgbClr val="F1FAEE"/>
                </a:solidFill>
                <a:latin typeface="Liter" pitchFamily="34" charset="0"/>
                <a:ea typeface="Liter" pitchFamily="34" charset="-122"/>
                <a:cs typeface="Liter" pitchFamily="34" charset="-120"/>
              </a:rPr>
              <a:t>Choroidal Neovascularization:</a:t>
            </a:r>
            <a:pPr>
              <a:lnSpc>
                <a:spcPct val="110000"/>
              </a:lnSpc>
            </a:pPr>
            <a:r>
              <a:rPr lang="en-US" sz="1050" dirty="0">
                <a:solidFill>
                  <a:srgbClr val="F1FAEE"/>
                </a:solidFill>
                <a:latin typeface="Liter" pitchFamily="34" charset="0"/>
                <a:ea typeface="Liter" pitchFamily="34" charset="-122"/>
                <a:cs typeface="Liter" pitchFamily="34" charset="-120"/>
              </a:rPr>
              <a:t> Abnormal blood vessel growth beneath the retina causing leakage and vision distortion [1][2].</a:t>
            </a:r>
            <a:endParaRPr lang="en-US" sz="1600" dirty="0"/>
          </a:p>
        </p:txBody>
      </p:sp>
      <p:sp>
        <p:nvSpPr>
          <p:cNvPr id="13" name="Shape 11"/>
          <p:cNvSpPr/>
          <p:nvPr/>
        </p:nvSpPr>
        <p:spPr>
          <a:xfrm>
            <a:off x="3859530" y="3572232"/>
            <a:ext cx="3286125" cy="1200150"/>
          </a:xfrm>
          <a:custGeom>
            <a:avLst/>
            <a:gdLst/>
            <a:ahLst/>
            <a:cxnLst/>
            <a:rect l="l" t="t" r="r" b="b"/>
            <a:pathLst>
              <a:path w="3286125" h="1200150">
                <a:moveTo>
                  <a:pt x="38100" y="0"/>
                </a:moveTo>
                <a:lnTo>
                  <a:pt x="3209925" y="0"/>
                </a:lnTo>
                <a:cubicBezTo>
                  <a:pt x="3251981" y="0"/>
                  <a:pt x="3286125" y="34144"/>
                  <a:pt x="3286125" y="76200"/>
                </a:cubicBezTo>
                <a:lnTo>
                  <a:pt x="3286125" y="1123950"/>
                </a:lnTo>
                <a:cubicBezTo>
                  <a:pt x="3286125" y="1166006"/>
                  <a:pt x="3251981" y="1200150"/>
                  <a:pt x="3209925" y="1200150"/>
                </a:cubicBezTo>
                <a:lnTo>
                  <a:pt x="38100" y="1200150"/>
                </a:lnTo>
                <a:cubicBezTo>
                  <a:pt x="17072" y="1200150"/>
                  <a:pt x="0" y="1183078"/>
                  <a:pt x="0" y="1162050"/>
                </a:cubicBezTo>
                <a:lnTo>
                  <a:pt x="0" y="38100"/>
                </a:lnTo>
                <a:cubicBezTo>
                  <a:pt x="0" y="17072"/>
                  <a:pt x="17072" y="0"/>
                  <a:pt x="38100" y="0"/>
                </a:cubicBezTo>
                <a:close/>
              </a:path>
            </a:pathLst>
          </a:custGeom>
          <a:solidFill>
            <a:srgbClr val="00B4D8">
              <a:alpha val="10196"/>
            </a:srgbClr>
          </a:solidFill>
          <a:ln/>
        </p:spPr>
      </p:sp>
      <p:sp>
        <p:nvSpPr>
          <p:cNvPr id="14" name="Shape 12"/>
          <p:cNvSpPr/>
          <p:nvPr/>
        </p:nvSpPr>
        <p:spPr>
          <a:xfrm>
            <a:off x="3859530" y="3572232"/>
            <a:ext cx="38100" cy="1200150"/>
          </a:xfrm>
          <a:custGeom>
            <a:avLst/>
            <a:gdLst/>
            <a:ahLst/>
            <a:cxnLst/>
            <a:rect l="l" t="t" r="r" b="b"/>
            <a:pathLst>
              <a:path w="38100" h="1200150">
                <a:moveTo>
                  <a:pt x="38100" y="0"/>
                </a:moveTo>
                <a:lnTo>
                  <a:pt x="38100" y="0"/>
                </a:lnTo>
                <a:lnTo>
                  <a:pt x="38100" y="1200150"/>
                </a:lnTo>
                <a:lnTo>
                  <a:pt x="38100" y="1200150"/>
                </a:lnTo>
                <a:cubicBezTo>
                  <a:pt x="17072" y="1200150"/>
                  <a:pt x="0" y="1183078"/>
                  <a:pt x="0" y="1162050"/>
                </a:cubicBezTo>
                <a:lnTo>
                  <a:pt x="0" y="38100"/>
                </a:lnTo>
                <a:cubicBezTo>
                  <a:pt x="0" y="17072"/>
                  <a:pt x="17072" y="0"/>
                  <a:pt x="38100" y="0"/>
                </a:cubicBezTo>
                <a:close/>
              </a:path>
            </a:pathLst>
          </a:custGeom>
          <a:solidFill>
            <a:srgbClr val="00B4D8"/>
          </a:solidFill>
          <a:ln/>
        </p:spPr>
      </p:sp>
      <p:sp>
        <p:nvSpPr>
          <p:cNvPr id="15" name="Shape 13"/>
          <p:cNvSpPr/>
          <p:nvPr/>
        </p:nvSpPr>
        <p:spPr>
          <a:xfrm>
            <a:off x="4030980" y="3800832"/>
            <a:ext cx="114300" cy="114300"/>
          </a:xfrm>
          <a:prstGeom prst="roundRect">
            <a:avLst>
              <a:gd name="adj" fmla="val 50000"/>
            </a:avLst>
          </a:prstGeom>
          <a:solidFill>
            <a:srgbClr val="00B4D8"/>
          </a:solidFill>
          <a:ln/>
        </p:spPr>
      </p:sp>
      <p:sp>
        <p:nvSpPr>
          <p:cNvPr id="16" name="Text 14"/>
          <p:cNvSpPr/>
          <p:nvPr/>
        </p:nvSpPr>
        <p:spPr>
          <a:xfrm>
            <a:off x="4221480" y="3724632"/>
            <a:ext cx="45720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DME</a:t>
            </a:r>
            <a:endParaRPr lang="en-US" sz="1600" dirty="0"/>
          </a:p>
        </p:txBody>
      </p:sp>
      <p:sp>
        <p:nvSpPr>
          <p:cNvPr id="17" name="Text 15"/>
          <p:cNvSpPr/>
          <p:nvPr/>
        </p:nvSpPr>
        <p:spPr>
          <a:xfrm>
            <a:off x="4030980" y="4067532"/>
            <a:ext cx="3028950" cy="552450"/>
          </a:xfrm>
          <a:prstGeom prst="rect">
            <a:avLst/>
          </a:prstGeom>
          <a:noFill/>
          <a:ln/>
        </p:spPr>
        <p:txBody>
          <a:bodyPr wrap="square" lIns="0" tIns="0" rIns="0" bIns="0" rtlCol="0" anchor="ctr"/>
          <a:lstStyle/>
          <a:p>
            <a:pPr>
              <a:lnSpc>
                <a:spcPct val="110000"/>
              </a:lnSpc>
            </a:pPr>
            <a:r>
              <a:rPr lang="en-US" sz="1050" b="1" dirty="0">
                <a:solidFill>
                  <a:srgbClr val="F1FAEE"/>
                </a:solidFill>
                <a:latin typeface="Liter" pitchFamily="34" charset="0"/>
                <a:ea typeface="Liter" pitchFamily="34" charset="-122"/>
                <a:cs typeface="Liter" pitchFamily="34" charset="-120"/>
              </a:rPr>
              <a:t>Diabetic Macular Edema:</a:t>
            </a:r>
            <a:pPr>
              <a:lnSpc>
                <a:spcPct val="110000"/>
              </a:lnSpc>
            </a:pPr>
            <a:r>
              <a:rPr lang="en-US" sz="1050" dirty="0">
                <a:solidFill>
                  <a:srgbClr val="F1FAEE"/>
                </a:solidFill>
                <a:latin typeface="Liter" pitchFamily="34" charset="0"/>
                <a:ea typeface="Liter" pitchFamily="34" charset="-122"/>
                <a:cs typeface="Liter" pitchFamily="34" charset="-120"/>
              </a:rPr>
              <a:t> Fluid accumulation in the macula due to diabetes damaging retinal blood vessels [2].</a:t>
            </a:r>
            <a:endParaRPr lang="en-US" sz="1600" dirty="0"/>
          </a:p>
        </p:txBody>
      </p:sp>
      <p:sp>
        <p:nvSpPr>
          <p:cNvPr id="18" name="Shape 16"/>
          <p:cNvSpPr/>
          <p:nvPr/>
        </p:nvSpPr>
        <p:spPr>
          <a:xfrm>
            <a:off x="400050" y="4922402"/>
            <a:ext cx="3286125" cy="1200150"/>
          </a:xfrm>
          <a:custGeom>
            <a:avLst/>
            <a:gdLst/>
            <a:ahLst/>
            <a:cxnLst/>
            <a:rect l="l" t="t" r="r" b="b"/>
            <a:pathLst>
              <a:path w="3286125" h="1200150">
                <a:moveTo>
                  <a:pt x="38100" y="0"/>
                </a:moveTo>
                <a:lnTo>
                  <a:pt x="3209925" y="0"/>
                </a:lnTo>
                <a:cubicBezTo>
                  <a:pt x="3251981" y="0"/>
                  <a:pt x="3286125" y="34144"/>
                  <a:pt x="3286125" y="76200"/>
                </a:cubicBezTo>
                <a:lnTo>
                  <a:pt x="3286125" y="1123950"/>
                </a:lnTo>
                <a:cubicBezTo>
                  <a:pt x="3286125" y="1166006"/>
                  <a:pt x="3251981" y="1200150"/>
                  <a:pt x="3209925" y="1200150"/>
                </a:cubicBezTo>
                <a:lnTo>
                  <a:pt x="38100" y="1200150"/>
                </a:lnTo>
                <a:cubicBezTo>
                  <a:pt x="17072" y="1200150"/>
                  <a:pt x="0" y="1183078"/>
                  <a:pt x="0" y="1162050"/>
                </a:cubicBezTo>
                <a:lnTo>
                  <a:pt x="0" y="38100"/>
                </a:lnTo>
                <a:cubicBezTo>
                  <a:pt x="0" y="17072"/>
                  <a:pt x="17072" y="0"/>
                  <a:pt x="38100" y="0"/>
                </a:cubicBezTo>
                <a:close/>
              </a:path>
            </a:pathLst>
          </a:custGeom>
          <a:solidFill>
            <a:srgbClr val="5C677D">
              <a:alpha val="10196"/>
            </a:srgbClr>
          </a:solidFill>
          <a:ln/>
        </p:spPr>
      </p:sp>
      <p:sp>
        <p:nvSpPr>
          <p:cNvPr id="19" name="Shape 17"/>
          <p:cNvSpPr/>
          <p:nvPr/>
        </p:nvSpPr>
        <p:spPr>
          <a:xfrm>
            <a:off x="400050" y="4922402"/>
            <a:ext cx="38100" cy="1200150"/>
          </a:xfrm>
          <a:custGeom>
            <a:avLst/>
            <a:gdLst/>
            <a:ahLst/>
            <a:cxnLst/>
            <a:rect l="l" t="t" r="r" b="b"/>
            <a:pathLst>
              <a:path w="38100" h="1200150">
                <a:moveTo>
                  <a:pt x="38100" y="0"/>
                </a:moveTo>
                <a:lnTo>
                  <a:pt x="38100" y="0"/>
                </a:lnTo>
                <a:lnTo>
                  <a:pt x="38100" y="1200150"/>
                </a:lnTo>
                <a:lnTo>
                  <a:pt x="38100" y="1200150"/>
                </a:lnTo>
                <a:cubicBezTo>
                  <a:pt x="17072" y="1200150"/>
                  <a:pt x="0" y="1183078"/>
                  <a:pt x="0" y="1162050"/>
                </a:cubicBezTo>
                <a:lnTo>
                  <a:pt x="0" y="38100"/>
                </a:lnTo>
                <a:cubicBezTo>
                  <a:pt x="0" y="17072"/>
                  <a:pt x="17072" y="0"/>
                  <a:pt x="38100" y="0"/>
                </a:cubicBezTo>
                <a:close/>
              </a:path>
            </a:pathLst>
          </a:custGeom>
          <a:solidFill>
            <a:srgbClr val="5C677D"/>
          </a:solidFill>
          <a:ln/>
        </p:spPr>
      </p:sp>
      <p:sp>
        <p:nvSpPr>
          <p:cNvPr id="20" name="Shape 18"/>
          <p:cNvSpPr/>
          <p:nvPr/>
        </p:nvSpPr>
        <p:spPr>
          <a:xfrm>
            <a:off x="571500" y="5151002"/>
            <a:ext cx="114300" cy="114300"/>
          </a:xfrm>
          <a:prstGeom prst="roundRect">
            <a:avLst>
              <a:gd name="adj" fmla="val 50000"/>
            </a:avLst>
          </a:prstGeom>
          <a:solidFill>
            <a:srgbClr val="5C677D"/>
          </a:solidFill>
          <a:ln/>
        </p:spPr>
      </p:sp>
      <p:sp>
        <p:nvSpPr>
          <p:cNvPr id="21" name="Text 19"/>
          <p:cNvSpPr/>
          <p:nvPr/>
        </p:nvSpPr>
        <p:spPr>
          <a:xfrm>
            <a:off x="762000" y="5074802"/>
            <a:ext cx="62865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Drusen</a:t>
            </a:r>
            <a:endParaRPr lang="en-US" sz="1600" dirty="0"/>
          </a:p>
        </p:txBody>
      </p:sp>
      <p:sp>
        <p:nvSpPr>
          <p:cNvPr id="22" name="Text 20"/>
          <p:cNvSpPr/>
          <p:nvPr/>
        </p:nvSpPr>
        <p:spPr>
          <a:xfrm>
            <a:off x="571500" y="5417702"/>
            <a:ext cx="3028950" cy="552450"/>
          </a:xfrm>
          <a:prstGeom prst="rect">
            <a:avLst/>
          </a:prstGeom>
          <a:noFill/>
          <a:ln/>
        </p:spPr>
        <p:txBody>
          <a:bodyPr wrap="square" lIns="0" tIns="0" rIns="0" bIns="0" rtlCol="0" anchor="ctr"/>
          <a:lstStyle/>
          <a:p>
            <a:pPr>
              <a:lnSpc>
                <a:spcPct val="110000"/>
              </a:lnSpc>
            </a:pPr>
            <a:r>
              <a:rPr lang="en-US" sz="1050" b="1" dirty="0">
                <a:solidFill>
                  <a:srgbClr val="F1FAEE"/>
                </a:solidFill>
                <a:latin typeface="Liter" pitchFamily="34" charset="0"/>
                <a:ea typeface="Liter" pitchFamily="34" charset="-122"/>
                <a:cs typeface="Liter" pitchFamily="34" charset="-120"/>
              </a:rPr>
              <a:t>Yellow deposits:</a:t>
            </a:r>
            <a:pPr>
              <a:lnSpc>
                <a:spcPct val="110000"/>
              </a:lnSpc>
            </a:pPr>
            <a:r>
              <a:rPr lang="en-US" sz="1050" dirty="0">
                <a:solidFill>
                  <a:srgbClr val="F1FAEE"/>
                </a:solidFill>
                <a:latin typeface="Liter" pitchFamily="34" charset="0"/>
                <a:ea typeface="Liter" pitchFamily="34" charset="-122"/>
                <a:cs typeface="Liter" pitchFamily="34" charset="-120"/>
              </a:rPr>
              <a:t> Lipid/protein accumulation between Bruch's membrane and RPE, associated with AMD [3].</a:t>
            </a:r>
            <a:endParaRPr lang="en-US" sz="1600" dirty="0"/>
          </a:p>
        </p:txBody>
      </p:sp>
      <p:sp>
        <p:nvSpPr>
          <p:cNvPr id="23" name="Shape 21"/>
          <p:cNvSpPr/>
          <p:nvPr/>
        </p:nvSpPr>
        <p:spPr>
          <a:xfrm>
            <a:off x="3859530" y="4922402"/>
            <a:ext cx="3286125" cy="1200150"/>
          </a:xfrm>
          <a:custGeom>
            <a:avLst/>
            <a:gdLst/>
            <a:ahLst/>
            <a:cxnLst/>
            <a:rect l="l" t="t" r="r" b="b"/>
            <a:pathLst>
              <a:path w="3286125" h="1200150">
                <a:moveTo>
                  <a:pt x="38100" y="0"/>
                </a:moveTo>
                <a:lnTo>
                  <a:pt x="3209925" y="0"/>
                </a:lnTo>
                <a:cubicBezTo>
                  <a:pt x="3251981" y="0"/>
                  <a:pt x="3286125" y="34144"/>
                  <a:pt x="3286125" y="76200"/>
                </a:cubicBezTo>
                <a:lnTo>
                  <a:pt x="3286125" y="1123950"/>
                </a:lnTo>
                <a:cubicBezTo>
                  <a:pt x="3286125" y="1166006"/>
                  <a:pt x="3251981" y="1200150"/>
                  <a:pt x="3209925" y="1200150"/>
                </a:cubicBezTo>
                <a:lnTo>
                  <a:pt x="38100" y="1200150"/>
                </a:lnTo>
                <a:cubicBezTo>
                  <a:pt x="17072" y="1200150"/>
                  <a:pt x="0" y="1183078"/>
                  <a:pt x="0" y="1162050"/>
                </a:cubicBezTo>
                <a:lnTo>
                  <a:pt x="0" y="38100"/>
                </a:lnTo>
                <a:cubicBezTo>
                  <a:pt x="0" y="17072"/>
                  <a:pt x="17072" y="0"/>
                  <a:pt x="38100" y="0"/>
                </a:cubicBezTo>
                <a:close/>
              </a:path>
            </a:pathLst>
          </a:custGeom>
          <a:solidFill>
            <a:srgbClr val="00C950">
              <a:alpha val="10196"/>
            </a:srgbClr>
          </a:solidFill>
          <a:ln/>
        </p:spPr>
      </p:sp>
      <p:sp>
        <p:nvSpPr>
          <p:cNvPr id="24" name="Shape 22"/>
          <p:cNvSpPr/>
          <p:nvPr/>
        </p:nvSpPr>
        <p:spPr>
          <a:xfrm>
            <a:off x="3859530" y="4922402"/>
            <a:ext cx="38100" cy="1200150"/>
          </a:xfrm>
          <a:custGeom>
            <a:avLst/>
            <a:gdLst/>
            <a:ahLst/>
            <a:cxnLst/>
            <a:rect l="l" t="t" r="r" b="b"/>
            <a:pathLst>
              <a:path w="38100" h="1200150">
                <a:moveTo>
                  <a:pt x="38100" y="0"/>
                </a:moveTo>
                <a:lnTo>
                  <a:pt x="38100" y="0"/>
                </a:lnTo>
                <a:lnTo>
                  <a:pt x="38100" y="1200150"/>
                </a:lnTo>
                <a:lnTo>
                  <a:pt x="38100" y="1200150"/>
                </a:lnTo>
                <a:cubicBezTo>
                  <a:pt x="17072" y="1200150"/>
                  <a:pt x="0" y="1183078"/>
                  <a:pt x="0" y="1162050"/>
                </a:cubicBezTo>
                <a:lnTo>
                  <a:pt x="0" y="38100"/>
                </a:lnTo>
                <a:cubicBezTo>
                  <a:pt x="0" y="17072"/>
                  <a:pt x="17072" y="0"/>
                  <a:pt x="38100" y="0"/>
                </a:cubicBezTo>
                <a:close/>
              </a:path>
            </a:pathLst>
          </a:custGeom>
          <a:solidFill>
            <a:srgbClr val="10B981"/>
          </a:solidFill>
          <a:ln/>
        </p:spPr>
      </p:sp>
      <p:sp>
        <p:nvSpPr>
          <p:cNvPr id="25" name="Shape 23"/>
          <p:cNvSpPr/>
          <p:nvPr/>
        </p:nvSpPr>
        <p:spPr>
          <a:xfrm>
            <a:off x="4030980" y="5151002"/>
            <a:ext cx="114300" cy="114300"/>
          </a:xfrm>
          <a:prstGeom prst="roundRect">
            <a:avLst>
              <a:gd name="adj" fmla="val 50000"/>
            </a:avLst>
          </a:prstGeom>
          <a:solidFill>
            <a:srgbClr val="10B981"/>
          </a:solidFill>
          <a:ln/>
        </p:spPr>
      </p:sp>
      <p:sp>
        <p:nvSpPr>
          <p:cNvPr id="26" name="Text 24"/>
          <p:cNvSpPr/>
          <p:nvPr/>
        </p:nvSpPr>
        <p:spPr>
          <a:xfrm>
            <a:off x="4221480" y="5074802"/>
            <a:ext cx="638175"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Normal</a:t>
            </a:r>
            <a:endParaRPr lang="en-US" sz="1600" dirty="0"/>
          </a:p>
        </p:txBody>
      </p:sp>
      <p:sp>
        <p:nvSpPr>
          <p:cNvPr id="27" name="Text 25"/>
          <p:cNvSpPr/>
          <p:nvPr/>
        </p:nvSpPr>
        <p:spPr>
          <a:xfrm>
            <a:off x="4030980" y="5417702"/>
            <a:ext cx="3028950" cy="552450"/>
          </a:xfrm>
          <a:prstGeom prst="rect">
            <a:avLst/>
          </a:prstGeom>
          <a:noFill/>
          <a:ln/>
        </p:spPr>
        <p:txBody>
          <a:bodyPr wrap="square" lIns="0" tIns="0" rIns="0" bIns="0" rtlCol="0" anchor="ctr"/>
          <a:lstStyle/>
          <a:p>
            <a:pPr>
              <a:lnSpc>
                <a:spcPct val="110000"/>
              </a:lnSpc>
            </a:pPr>
            <a:r>
              <a:rPr lang="en-US" sz="1050" b="1" dirty="0">
                <a:solidFill>
                  <a:srgbClr val="F1FAEE"/>
                </a:solidFill>
                <a:latin typeface="Liter" pitchFamily="34" charset="0"/>
                <a:ea typeface="Liter" pitchFamily="34" charset="-122"/>
                <a:cs typeface="Liter" pitchFamily="34" charset="-120"/>
              </a:rPr>
              <a:t>Healthy retina:</a:t>
            </a:r>
            <a:pPr>
              <a:lnSpc>
                <a:spcPct val="110000"/>
              </a:lnSpc>
            </a:pPr>
            <a:r>
              <a:rPr lang="en-US" sz="1050" dirty="0">
                <a:solidFill>
                  <a:srgbClr val="F1FAEE"/>
                </a:solidFill>
                <a:latin typeface="Liter" pitchFamily="34" charset="0"/>
                <a:ea typeface="Liter" pitchFamily="34" charset="-122"/>
                <a:cs typeface="Liter" pitchFamily="34" charset="-120"/>
              </a:rPr>
              <a:t> Normal retinal layers without pathological abnormalities or structural distortions.</a:t>
            </a:r>
            <a:endParaRPr lang="en-US" sz="1600" dirty="0"/>
          </a:p>
        </p:txBody>
      </p:sp>
      <p:sp>
        <p:nvSpPr>
          <p:cNvPr id="28" name="Shape 26"/>
          <p:cNvSpPr/>
          <p:nvPr/>
        </p:nvSpPr>
        <p:spPr>
          <a:xfrm>
            <a:off x="7383780" y="1417320"/>
            <a:ext cx="4415790" cy="2910840"/>
          </a:xfrm>
          <a:prstGeom prst="roundRect">
            <a:avLst>
              <a:gd name="adj" fmla="val 2618"/>
            </a:avLst>
          </a:prstGeom>
          <a:solidFill>
            <a:srgbClr val="000000">
              <a:alpha val="0"/>
            </a:srgbClr>
          </a:solidFill>
          <a:ln w="20320">
            <a:solidFill>
              <a:srgbClr val="3A86FF"/>
            </a:solidFill>
            <a:prstDash val="solid"/>
          </a:ln>
        </p:spPr>
      </p:sp>
      <p:pic>
        <p:nvPicPr>
          <p:cNvPr id="29" name="Image 0" descr="https://kimi-web-img.moonshot.cn/img/media.allaboutvision.com/804c2bdfbb150bc09af46f09b7163026326382b6.jpg">    </p:cNvPr>
          <p:cNvPicPr>
            <a:picLocks noChangeAspect="1"/>
          </p:cNvPicPr>
          <p:nvPr/>
        </p:nvPicPr>
        <p:blipFill>
          <a:blip r:embed="rId1"/>
          <a:srcRect l="15" r="15" t="0" b="0"/>
          <a:stretch/>
        </p:blipFill>
        <p:spPr>
          <a:xfrm>
            <a:off x="7391400" y="1424940"/>
            <a:ext cx="4400550" cy="2895600"/>
          </a:xfrm>
          <a:prstGeom prst="roundRect">
            <a:avLst>
              <a:gd name="adj" fmla="val 2632"/>
            </a:avLst>
          </a:prstGeom>
        </p:spPr>
      </p:pic>
      <p:sp>
        <p:nvSpPr>
          <p:cNvPr id="30" name="Shape 27"/>
          <p:cNvSpPr/>
          <p:nvPr/>
        </p:nvSpPr>
        <p:spPr>
          <a:xfrm>
            <a:off x="7379970" y="4493538"/>
            <a:ext cx="4427220" cy="731520"/>
          </a:xfrm>
          <a:prstGeom prst="roundRect">
            <a:avLst>
              <a:gd name="adj" fmla="val 10417"/>
            </a:avLst>
          </a:prstGeom>
          <a:solidFill>
            <a:srgbClr val="3A86FF">
              <a:alpha val="10196"/>
            </a:srgbClr>
          </a:solidFill>
          <a:ln w="10160">
            <a:solidFill>
              <a:srgbClr val="3A86FF"/>
            </a:solidFill>
            <a:prstDash val="solid"/>
          </a:ln>
        </p:spPr>
      </p:sp>
      <p:sp>
        <p:nvSpPr>
          <p:cNvPr id="31" name="Text 28"/>
          <p:cNvSpPr/>
          <p:nvPr/>
        </p:nvSpPr>
        <p:spPr>
          <a:xfrm>
            <a:off x="7536180" y="4649749"/>
            <a:ext cx="4181475" cy="190500"/>
          </a:xfrm>
          <a:prstGeom prst="rect">
            <a:avLst/>
          </a:prstGeom>
          <a:noFill/>
          <a:ln/>
        </p:spPr>
        <p:txBody>
          <a:bodyPr wrap="square" lIns="0" tIns="0" rIns="0" bIns="0" rtlCol="0" anchor="ctr"/>
          <a:lstStyle/>
          <a:p>
            <a:pPr>
              <a:lnSpc>
                <a:spcPct val="120000"/>
              </a:lnSpc>
            </a:pPr>
            <a:r>
              <a:rPr lang="en-US" sz="1050" b="1" dirty="0">
                <a:solidFill>
                  <a:srgbClr val="3A86FF"/>
                </a:solidFill>
                <a:latin typeface="Liter" pitchFamily="34" charset="0"/>
                <a:ea typeface="Liter" pitchFamily="34" charset="-122"/>
                <a:cs typeface="Liter" pitchFamily="34" charset="-120"/>
              </a:rPr>
              <a:t>Retina Anatomy</a:t>
            </a:r>
            <a:endParaRPr lang="en-US" sz="1600" dirty="0"/>
          </a:p>
        </p:txBody>
      </p:sp>
      <p:sp>
        <p:nvSpPr>
          <p:cNvPr id="32" name="Text 29"/>
          <p:cNvSpPr/>
          <p:nvPr/>
        </p:nvSpPr>
        <p:spPr>
          <a:xfrm>
            <a:off x="7536180" y="4916449"/>
            <a:ext cx="4171950" cy="152400"/>
          </a:xfrm>
          <a:prstGeom prst="rect">
            <a:avLst/>
          </a:prstGeom>
          <a:noFill/>
          <a:ln/>
        </p:spPr>
        <p:txBody>
          <a:bodyPr wrap="square" lIns="0" tIns="0" rIns="0" bIns="0" rtlCol="0" anchor="ctr"/>
          <a:lstStyle/>
          <a:p>
            <a:pPr>
              <a:lnSpc>
                <a:spcPct val="110000"/>
              </a:lnSpc>
            </a:pPr>
            <a:r>
              <a:rPr lang="en-US" sz="900" dirty="0">
                <a:solidFill>
                  <a:srgbClr val="F1FAEE"/>
                </a:solidFill>
                <a:latin typeface="Liter" pitchFamily="34" charset="0"/>
                <a:ea typeface="Liter" pitchFamily="34" charset="-122"/>
                <a:cs typeface="Liter" pitchFamily="34" charset="-120"/>
              </a:rPr>
              <a:t>Photoreceptors, ganglion cells, bipolar cells, and RPE layers</a:t>
            </a:r>
            <a:endParaRPr lang="en-US" sz="1600" dirty="0"/>
          </a:p>
        </p:txBody>
      </p:sp>
      <p:sp>
        <p:nvSpPr>
          <p:cNvPr id="33" name="Shape 30"/>
          <p:cNvSpPr/>
          <p:nvPr/>
        </p:nvSpPr>
        <p:spPr>
          <a:xfrm>
            <a:off x="7379970" y="5384958"/>
            <a:ext cx="4427220" cy="731520"/>
          </a:xfrm>
          <a:prstGeom prst="roundRect">
            <a:avLst>
              <a:gd name="adj" fmla="val 10417"/>
            </a:avLst>
          </a:prstGeom>
          <a:solidFill>
            <a:srgbClr val="00B4D8">
              <a:alpha val="10196"/>
            </a:srgbClr>
          </a:solidFill>
          <a:ln w="10160">
            <a:solidFill>
              <a:srgbClr val="00B4D8"/>
            </a:solidFill>
            <a:prstDash val="solid"/>
          </a:ln>
        </p:spPr>
      </p:sp>
      <p:sp>
        <p:nvSpPr>
          <p:cNvPr id="34" name="Text 31"/>
          <p:cNvSpPr/>
          <p:nvPr/>
        </p:nvSpPr>
        <p:spPr>
          <a:xfrm>
            <a:off x="7536180" y="5541169"/>
            <a:ext cx="4181475" cy="190500"/>
          </a:xfrm>
          <a:prstGeom prst="rect">
            <a:avLst/>
          </a:prstGeom>
          <a:noFill/>
          <a:ln/>
        </p:spPr>
        <p:txBody>
          <a:bodyPr wrap="square" lIns="0" tIns="0" rIns="0" bIns="0" rtlCol="0" anchor="ctr"/>
          <a:lstStyle/>
          <a:p>
            <a:pPr>
              <a:lnSpc>
                <a:spcPct val="120000"/>
              </a:lnSpc>
            </a:pPr>
            <a:r>
              <a:rPr lang="en-US" sz="1050" b="1" dirty="0">
                <a:solidFill>
                  <a:srgbClr val="00B4D8"/>
                </a:solidFill>
                <a:latin typeface="Liter" pitchFamily="34" charset="0"/>
                <a:ea typeface="Liter" pitchFamily="34" charset="-122"/>
                <a:cs typeface="Liter" pitchFamily="34" charset="-120"/>
              </a:rPr>
              <a:t>OCT Disease Scans</a:t>
            </a:r>
            <a:endParaRPr lang="en-US" sz="1600" dirty="0"/>
          </a:p>
        </p:txBody>
      </p:sp>
      <p:sp>
        <p:nvSpPr>
          <p:cNvPr id="35" name="Text 32"/>
          <p:cNvSpPr/>
          <p:nvPr/>
        </p:nvSpPr>
        <p:spPr>
          <a:xfrm>
            <a:off x="7536180" y="5807869"/>
            <a:ext cx="4171950" cy="152400"/>
          </a:xfrm>
          <a:prstGeom prst="rect">
            <a:avLst/>
          </a:prstGeom>
          <a:noFill/>
          <a:ln/>
        </p:spPr>
        <p:txBody>
          <a:bodyPr wrap="square" lIns="0" tIns="0" rIns="0" bIns="0" rtlCol="0" anchor="ctr"/>
          <a:lstStyle/>
          <a:p>
            <a:pPr>
              <a:lnSpc>
                <a:spcPct val="110000"/>
              </a:lnSpc>
            </a:pPr>
            <a:r>
              <a:rPr lang="en-US" sz="900" dirty="0">
                <a:solidFill>
                  <a:srgbClr val="F1FAEE"/>
                </a:solidFill>
                <a:latin typeface="Liter" pitchFamily="34" charset="0"/>
                <a:ea typeface="Liter" pitchFamily="34" charset="-122"/>
                <a:cs typeface="Liter" pitchFamily="34" charset="-120"/>
              </a:rPr>
              <a:t>Cross-sectional visualization of pathological features</a:t>
            </a:r>
            <a:endParaRPr lang="en-US" sz="1600" dirty="0"/>
          </a:p>
        </p:txBody>
      </p:sp>
      <p:sp>
        <p:nvSpPr>
          <p:cNvPr id="36" name="Shape 33"/>
          <p:cNvSpPr/>
          <p:nvPr/>
        </p:nvSpPr>
        <p:spPr>
          <a:xfrm>
            <a:off x="400050" y="6272571"/>
            <a:ext cx="11410950" cy="533400"/>
          </a:xfrm>
          <a:custGeom>
            <a:avLst/>
            <a:gdLst/>
            <a:ahLst/>
            <a:cxnLst/>
            <a:rect l="l" t="t" r="r" b="b"/>
            <a:pathLst>
              <a:path w="11410950" h="533400">
                <a:moveTo>
                  <a:pt x="38100" y="0"/>
                </a:moveTo>
                <a:lnTo>
                  <a:pt x="11334750" y="0"/>
                </a:lnTo>
                <a:cubicBezTo>
                  <a:pt x="11376806" y="0"/>
                  <a:pt x="11410950" y="34144"/>
                  <a:pt x="11410950" y="76200"/>
                </a:cubicBezTo>
                <a:lnTo>
                  <a:pt x="11410950" y="457200"/>
                </a:lnTo>
                <a:cubicBezTo>
                  <a:pt x="11410950" y="499256"/>
                  <a:pt x="11376806" y="533400"/>
                  <a:pt x="11334750" y="533400"/>
                </a:cubicBezTo>
                <a:lnTo>
                  <a:pt x="38100" y="533400"/>
                </a:lnTo>
                <a:cubicBezTo>
                  <a:pt x="17072" y="533400"/>
                  <a:pt x="0" y="516328"/>
                  <a:pt x="0" y="495300"/>
                </a:cubicBezTo>
                <a:lnTo>
                  <a:pt x="0" y="38100"/>
                </a:lnTo>
                <a:cubicBezTo>
                  <a:pt x="0" y="17072"/>
                  <a:pt x="17072" y="0"/>
                  <a:pt x="38100" y="0"/>
                </a:cubicBezTo>
                <a:close/>
              </a:path>
            </a:pathLst>
          </a:custGeom>
          <a:solidFill>
            <a:srgbClr val="00B4D8">
              <a:alpha val="10196"/>
            </a:srgbClr>
          </a:solidFill>
          <a:ln/>
        </p:spPr>
      </p:sp>
      <p:sp>
        <p:nvSpPr>
          <p:cNvPr id="37" name="Shape 34"/>
          <p:cNvSpPr/>
          <p:nvPr/>
        </p:nvSpPr>
        <p:spPr>
          <a:xfrm>
            <a:off x="400050" y="6272571"/>
            <a:ext cx="38100" cy="533400"/>
          </a:xfrm>
          <a:custGeom>
            <a:avLst/>
            <a:gdLst/>
            <a:ahLst/>
            <a:cxnLst/>
            <a:rect l="l" t="t" r="r" b="b"/>
            <a:pathLst>
              <a:path w="38100" h="533400">
                <a:moveTo>
                  <a:pt x="38100" y="0"/>
                </a:moveTo>
                <a:lnTo>
                  <a:pt x="38100" y="0"/>
                </a:lnTo>
                <a:lnTo>
                  <a:pt x="38100" y="533400"/>
                </a:lnTo>
                <a:lnTo>
                  <a:pt x="38100" y="533400"/>
                </a:lnTo>
                <a:cubicBezTo>
                  <a:pt x="17072" y="533400"/>
                  <a:pt x="0" y="516328"/>
                  <a:pt x="0" y="495300"/>
                </a:cubicBezTo>
                <a:lnTo>
                  <a:pt x="0" y="38100"/>
                </a:lnTo>
                <a:cubicBezTo>
                  <a:pt x="0" y="17072"/>
                  <a:pt x="17072" y="0"/>
                  <a:pt x="38100" y="0"/>
                </a:cubicBezTo>
                <a:close/>
              </a:path>
            </a:pathLst>
          </a:custGeom>
          <a:solidFill>
            <a:srgbClr val="00B4D8"/>
          </a:solidFill>
          <a:ln/>
        </p:spPr>
      </p:sp>
      <p:sp>
        <p:nvSpPr>
          <p:cNvPr id="38" name="Shape 35"/>
          <p:cNvSpPr/>
          <p:nvPr/>
        </p:nvSpPr>
        <p:spPr>
          <a:xfrm>
            <a:off x="590550" y="64554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52388"/>
                </a:moveTo>
                <a:cubicBezTo>
                  <a:pt x="70931" y="52388"/>
                  <a:pt x="66675" y="56644"/>
                  <a:pt x="66675" y="61912"/>
                </a:cubicBezTo>
                <a:cubicBezTo>
                  <a:pt x="66675" y="65871"/>
                  <a:pt x="63490" y="69056"/>
                  <a:pt x="59531" y="69056"/>
                </a:cubicBezTo>
                <a:cubicBezTo>
                  <a:pt x="55572" y="69056"/>
                  <a:pt x="52388" y="65871"/>
                  <a:pt x="52388" y="61912"/>
                </a:cubicBezTo>
                <a:cubicBezTo>
                  <a:pt x="52388" y="48756"/>
                  <a:pt x="63044" y="38100"/>
                  <a:pt x="76200" y="38100"/>
                </a:cubicBezTo>
                <a:cubicBezTo>
                  <a:pt x="89356" y="38100"/>
                  <a:pt x="100013" y="48756"/>
                  <a:pt x="100013" y="61912"/>
                </a:cubicBezTo>
                <a:cubicBezTo>
                  <a:pt x="100013" y="75962"/>
                  <a:pt x="89297" y="81915"/>
                  <a:pt x="83344" y="84088"/>
                </a:cubicBezTo>
                <a:lnTo>
                  <a:pt x="83344" y="85219"/>
                </a:lnTo>
                <a:cubicBezTo>
                  <a:pt x="83344" y="89178"/>
                  <a:pt x="80159" y="92363"/>
                  <a:pt x="76200" y="92363"/>
                </a:cubicBezTo>
                <a:cubicBezTo>
                  <a:pt x="72241" y="92363"/>
                  <a:pt x="69056" y="89178"/>
                  <a:pt x="69056" y="85219"/>
                </a:cubicBezTo>
                <a:lnTo>
                  <a:pt x="69056" y="82808"/>
                </a:lnTo>
                <a:cubicBezTo>
                  <a:pt x="69056" y="76706"/>
                  <a:pt x="73462" y="72330"/>
                  <a:pt x="78016" y="70842"/>
                </a:cubicBezTo>
                <a:cubicBezTo>
                  <a:pt x="79921" y="70217"/>
                  <a:pt x="81945" y="69205"/>
                  <a:pt x="83433" y="67776"/>
                </a:cubicBezTo>
                <a:cubicBezTo>
                  <a:pt x="84713" y="66526"/>
                  <a:pt x="85725" y="64800"/>
                  <a:pt x="85725" y="61942"/>
                </a:cubicBezTo>
                <a:cubicBezTo>
                  <a:pt x="85725" y="56674"/>
                  <a:pt x="81469" y="52417"/>
                  <a:pt x="76200" y="52417"/>
                </a:cubicBezTo>
                <a:close/>
                <a:moveTo>
                  <a:pt x="66675" y="109537"/>
                </a:moveTo>
                <a:cubicBezTo>
                  <a:pt x="66675" y="104281"/>
                  <a:pt x="70943" y="100013"/>
                  <a:pt x="76200" y="100013"/>
                </a:cubicBezTo>
                <a:cubicBezTo>
                  <a:pt x="81457" y="100013"/>
                  <a:pt x="85725" y="104281"/>
                  <a:pt x="85725" y="109537"/>
                </a:cubicBezTo>
                <a:cubicBezTo>
                  <a:pt x="85725" y="114794"/>
                  <a:pt x="81457" y="119062"/>
                  <a:pt x="76200" y="119062"/>
                </a:cubicBezTo>
                <a:cubicBezTo>
                  <a:pt x="70943" y="119062"/>
                  <a:pt x="66675" y="114794"/>
                  <a:pt x="66675" y="109537"/>
                </a:cubicBezTo>
                <a:close/>
              </a:path>
            </a:pathLst>
          </a:custGeom>
          <a:solidFill>
            <a:srgbClr val="00B4D8"/>
          </a:solidFill>
          <a:ln/>
        </p:spPr>
      </p:sp>
      <p:sp>
        <p:nvSpPr>
          <p:cNvPr id="39" name="Text 36"/>
          <p:cNvSpPr/>
          <p:nvPr/>
        </p:nvSpPr>
        <p:spPr>
          <a:xfrm>
            <a:off x="819150" y="6424971"/>
            <a:ext cx="10915650" cy="228600"/>
          </a:xfrm>
          <a:prstGeom prst="rect">
            <a:avLst/>
          </a:prstGeom>
          <a:noFill/>
          <a:ln/>
        </p:spPr>
        <p:txBody>
          <a:bodyPr wrap="square" lIns="0" tIns="0" rIns="0" bIns="0" rtlCol="0" anchor="ctr"/>
          <a:lstStyle/>
          <a:p>
            <a:pPr>
              <a:lnSpc>
                <a:spcPct val="130000"/>
              </a:lnSpc>
            </a:pPr>
            <a:r>
              <a:rPr lang="en-US" sz="1200" b="1" dirty="0">
                <a:solidFill>
                  <a:srgbClr val="00B4D8"/>
                </a:solidFill>
                <a:latin typeface="Liter" pitchFamily="34" charset="0"/>
                <a:ea typeface="Liter" pitchFamily="34" charset="-122"/>
                <a:cs typeface="Liter" pitchFamily="34" charset="-120"/>
              </a:rPr>
              <a:t>Audience Question: What happens if tiny retinal abnormalities are missed during diagnosis?</a:t>
            </a:r>
            <a:endParaRPr lang="en-US" sz="1600" dirty="0"/>
          </a:p>
        </p:txBody>
      </p:sp>
      <p:sp>
        <p:nvSpPr>
          <p:cNvPr id="40" name="Text 37"/>
          <p:cNvSpPr/>
          <p:nvPr/>
        </p:nvSpPr>
        <p:spPr>
          <a:xfrm>
            <a:off x="381000" y="6553319"/>
            <a:ext cx="26479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41" name="Text 38"/>
          <p:cNvSpPr/>
          <p:nvPr/>
        </p:nvSpPr>
        <p:spPr>
          <a:xfrm>
            <a:off x="11469410" y="6553319"/>
            <a:ext cx="4000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Slide 3</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0B4D8"/>
                </a:solidFill>
                <a:latin typeface="Liter" pitchFamily="34" charset="0"/>
                <a:ea typeface="Liter" pitchFamily="34" charset="-122"/>
                <a:cs typeface="Liter" pitchFamily="34" charset="-120"/>
              </a:rPr>
              <a:t>Medical Imaging Technology</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F1FAEE"/>
                </a:solidFill>
                <a:latin typeface="Oranienbaum" pitchFamily="34" charset="0"/>
                <a:ea typeface="Oranienbaum" pitchFamily="34" charset="-122"/>
                <a:cs typeface="Oranienbaum" pitchFamily="34" charset="-120"/>
              </a:rPr>
              <a:t>OCT Imaging and Medical Diagnosis</a:t>
            </a:r>
            <a:endParaRPr lang="en-US" sz="1600" dirty="0"/>
          </a:p>
        </p:txBody>
      </p:sp>
      <p:sp>
        <p:nvSpPr>
          <p:cNvPr id="4" name="Shape 2"/>
          <p:cNvSpPr/>
          <p:nvPr/>
        </p:nvSpPr>
        <p:spPr>
          <a:xfrm>
            <a:off x="381000" y="1104900"/>
            <a:ext cx="914400" cy="3810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404813" y="1257300"/>
            <a:ext cx="190500" cy="190500"/>
          </a:xfrm>
          <a:custGeom>
            <a:avLst/>
            <a:gdLst/>
            <a:ahLst/>
            <a:cxnLst/>
            <a:rect l="l" t="t" r="r" b="b"/>
            <a:pathLst>
              <a:path w="190500" h="190500">
                <a:moveTo>
                  <a:pt x="65484" y="0"/>
                </a:moveTo>
                <a:cubicBezTo>
                  <a:pt x="55625" y="0"/>
                  <a:pt x="47625" y="8000"/>
                  <a:pt x="47625" y="17859"/>
                </a:cubicBezTo>
                <a:lnTo>
                  <a:pt x="47625" y="95250"/>
                </a:lnTo>
                <a:cubicBezTo>
                  <a:pt x="47625" y="105110"/>
                  <a:pt x="55625" y="113109"/>
                  <a:pt x="65484" y="113109"/>
                </a:cubicBezTo>
                <a:lnTo>
                  <a:pt x="89297" y="113109"/>
                </a:lnTo>
                <a:cubicBezTo>
                  <a:pt x="99157" y="113109"/>
                  <a:pt x="107156" y="105110"/>
                  <a:pt x="107156" y="95250"/>
                </a:cubicBezTo>
                <a:lnTo>
                  <a:pt x="107156" y="71438"/>
                </a:lnTo>
                <a:lnTo>
                  <a:pt x="119063" y="71438"/>
                </a:lnTo>
                <a:cubicBezTo>
                  <a:pt x="145368" y="71438"/>
                  <a:pt x="166688" y="92757"/>
                  <a:pt x="166688" y="119063"/>
                </a:cubicBezTo>
                <a:cubicBezTo>
                  <a:pt x="166688" y="145368"/>
                  <a:pt x="145368" y="166688"/>
                  <a:pt x="119063" y="166688"/>
                </a:cubicBezTo>
                <a:lnTo>
                  <a:pt x="11906" y="166688"/>
                </a:lnTo>
                <a:cubicBezTo>
                  <a:pt x="5321" y="166688"/>
                  <a:pt x="0" y="172008"/>
                  <a:pt x="0" y="178594"/>
                </a:cubicBezTo>
                <a:cubicBezTo>
                  <a:pt x="0" y="185179"/>
                  <a:pt x="5321" y="190500"/>
                  <a:pt x="11906" y="190500"/>
                </a:cubicBezTo>
                <a:lnTo>
                  <a:pt x="178594" y="190500"/>
                </a:lnTo>
                <a:cubicBezTo>
                  <a:pt x="185179" y="190500"/>
                  <a:pt x="190500" y="185179"/>
                  <a:pt x="190500" y="178594"/>
                </a:cubicBezTo>
                <a:cubicBezTo>
                  <a:pt x="190500" y="172008"/>
                  <a:pt x="185179" y="166688"/>
                  <a:pt x="178594" y="166688"/>
                </a:cubicBezTo>
                <a:lnTo>
                  <a:pt x="172306" y="166688"/>
                </a:lnTo>
                <a:cubicBezTo>
                  <a:pt x="183617" y="154037"/>
                  <a:pt x="190500" y="137368"/>
                  <a:pt x="190500" y="119063"/>
                </a:cubicBezTo>
                <a:cubicBezTo>
                  <a:pt x="190500" y="79623"/>
                  <a:pt x="158502" y="47625"/>
                  <a:pt x="119063" y="47625"/>
                </a:cubicBezTo>
                <a:lnTo>
                  <a:pt x="107156" y="47625"/>
                </a:lnTo>
                <a:lnTo>
                  <a:pt x="107156" y="17859"/>
                </a:lnTo>
                <a:cubicBezTo>
                  <a:pt x="107156" y="8000"/>
                  <a:pt x="99157" y="0"/>
                  <a:pt x="89297" y="0"/>
                </a:cubicBezTo>
                <a:lnTo>
                  <a:pt x="65484" y="0"/>
                </a:lnTo>
                <a:close/>
                <a:moveTo>
                  <a:pt x="44648" y="130969"/>
                </a:moveTo>
                <a:cubicBezTo>
                  <a:pt x="39700" y="130969"/>
                  <a:pt x="35719" y="134950"/>
                  <a:pt x="35719" y="139898"/>
                </a:cubicBezTo>
                <a:cubicBezTo>
                  <a:pt x="35719" y="144847"/>
                  <a:pt x="39700" y="148828"/>
                  <a:pt x="44648" y="148828"/>
                </a:cubicBezTo>
                <a:lnTo>
                  <a:pt x="110133" y="148828"/>
                </a:lnTo>
                <a:cubicBezTo>
                  <a:pt x="115081" y="148828"/>
                  <a:pt x="119063" y="144847"/>
                  <a:pt x="119063" y="139898"/>
                </a:cubicBezTo>
                <a:cubicBezTo>
                  <a:pt x="119063" y="134950"/>
                  <a:pt x="115081" y="130969"/>
                  <a:pt x="110133" y="130969"/>
                </a:cubicBezTo>
                <a:lnTo>
                  <a:pt x="44648" y="130969"/>
                </a:lnTo>
                <a:close/>
              </a:path>
            </a:pathLst>
          </a:custGeom>
          <a:solidFill>
            <a:srgbClr val="3A86FF"/>
          </a:solidFill>
          <a:ln/>
        </p:spPr>
      </p:sp>
      <p:sp>
        <p:nvSpPr>
          <p:cNvPr id="6" name="Text 4"/>
          <p:cNvSpPr/>
          <p:nvPr/>
        </p:nvSpPr>
        <p:spPr>
          <a:xfrm>
            <a:off x="619125" y="1219200"/>
            <a:ext cx="5495925" cy="266700"/>
          </a:xfrm>
          <a:prstGeom prst="rect">
            <a:avLst/>
          </a:prstGeom>
          <a:noFill/>
          <a:ln/>
        </p:spPr>
        <p:txBody>
          <a:bodyPr wrap="square" lIns="0" tIns="0" rIns="0" bIns="0" rtlCol="0" anchor="ctr"/>
          <a:lstStyle/>
          <a:p>
            <a:pPr>
              <a:lnSpc>
                <a:spcPct val="120000"/>
              </a:lnSpc>
            </a:pPr>
            <a:r>
              <a:rPr lang="en-US" sz="1500" b="1" dirty="0">
                <a:solidFill>
                  <a:srgbClr val="3A86FF"/>
                </a:solidFill>
                <a:latin typeface="Liter" pitchFamily="34" charset="0"/>
                <a:ea typeface="Liter" pitchFamily="34" charset="-122"/>
                <a:cs typeface="Liter" pitchFamily="34" charset="-120"/>
              </a:rPr>
              <a:t>What is OCT?</a:t>
            </a:r>
            <a:endParaRPr lang="en-US" sz="1600" dirty="0"/>
          </a:p>
        </p:txBody>
      </p:sp>
      <p:sp>
        <p:nvSpPr>
          <p:cNvPr id="7" name="Text 5"/>
          <p:cNvSpPr/>
          <p:nvPr/>
        </p:nvSpPr>
        <p:spPr>
          <a:xfrm>
            <a:off x="381000" y="1562100"/>
            <a:ext cx="5715000" cy="628650"/>
          </a:xfrm>
          <a:prstGeom prst="rect">
            <a:avLst/>
          </a:prstGeom>
          <a:noFill/>
          <a:ln/>
        </p:spPr>
        <p:txBody>
          <a:bodyPr wrap="square" lIns="0" tIns="0" rIns="0" bIns="0" rtlCol="0" anchor="ctr"/>
          <a:lstStyle/>
          <a:p>
            <a:pPr>
              <a:lnSpc>
                <a:spcPct val="110000"/>
              </a:lnSpc>
            </a:pPr>
            <a:r>
              <a:rPr lang="en-US" sz="1200" b="1" dirty="0">
                <a:solidFill>
                  <a:srgbClr val="F1FAEE"/>
                </a:solidFill>
                <a:latin typeface="Liter" pitchFamily="34" charset="0"/>
                <a:ea typeface="Liter" pitchFamily="34" charset="-122"/>
                <a:cs typeface="Liter" pitchFamily="34" charset="-120"/>
              </a:rPr>
              <a:t>Optical Coherence Tomography (OCT)</a:t>
            </a:r>
            <a:pPr>
              <a:lnSpc>
                <a:spcPct val="110000"/>
              </a:lnSpc>
            </a:pPr>
            <a:r>
              <a:rPr lang="en-US" sz="1200" dirty="0">
                <a:solidFill>
                  <a:srgbClr val="F1FAEE"/>
                </a:solidFill>
                <a:latin typeface="Liter" pitchFamily="34" charset="0"/>
                <a:ea typeface="Liter" pitchFamily="34" charset="-122"/>
                <a:cs typeface="Liter" pitchFamily="34" charset="-120"/>
              </a:rPr>
              <a:t> is a non-contact, high-resolution optical technique for micrometer-scale cross-sectional visualization of retinal structures [4][5]. It has become the </a:t>
            </a:r>
            <a:pPr>
              <a:lnSpc>
                <a:spcPct val="110000"/>
              </a:lnSpc>
            </a:pPr>
            <a:r>
              <a:rPr lang="en-US" sz="1200" b="1" dirty="0">
                <a:solidFill>
                  <a:srgbClr val="00B4D8"/>
                </a:solidFill>
                <a:latin typeface="Liter" pitchFamily="34" charset="0"/>
                <a:ea typeface="Liter" pitchFamily="34" charset="-122"/>
                <a:cs typeface="Liter" pitchFamily="34" charset="-120"/>
              </a:rPr>
              <a:t>gold-standard</a:t>
            </a:r>
            <a:pPr>
              <a:lnSpc>
                <a:spcPct val="110000"/>
              </a:lnSpc>
            </a:pPr>
            <a:r>
              <a:rPr lang="en-US" sz="1200" dirty="0">
                <a:solidFill>
                  <a:srgbClr val="F1FAEE"/>
                </a:solidFill>
                <a:latin typeface="Liter" pitchFamily="34" charset="0"/>
                <a:ea typeface="Liter" pitchFamily="34" charset="-122"/>
                <a:cs typeface="Liter" pitchFamily="34" charset="-120"/>
              </a:rPr>
              <a:t> for retinal imaging diagnosis.</a:t>
            </a:r>
            <a:endParaRPr lang="en-US" sz="1600" dirty="0"/>
          </a:p>
        </p:txBody>
      </p:sp>
      <p:sp>
        <p:nvSpPr>
          <p:cNvPr id="8" name="Shape 6"/>
          <p:cNvSpPr/>
          <p:nvPr/>
        </p:nvSpPr>
        <p:spPr>
          <a:xfrm>
            <a:off x="381000" y="3064908"/>
            <a:ext cx="5638800" cy="1447800"/>
          </a:xfrm>
          <a:prstGeom prst="roundRect">
            <a:avLst>
              <a:gd name="adj" fmla="val 5263"/>
            </a:avLst>
          </a:prstGeom>
          <a:solidFill>
            <a:srgbClr val="3A86FF"/>
          </a:solidFill>
          <a:ln/>
        </p:spPr>
      </p:sp>
      <p:sp>
        <p:nvSpPr>
          <p:cNvPr id="9" name="Text 7"/>
          <p:cNvSpPr/>
          <p:nvPr/>
        </p:nvSpPr>
        <p:spPr>
          <a:xfrm>
            <a:off x="495300" y="3179208"/>
            <a:ext cx="5495925"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How OCT Works</a:t>
            </a:r>
            <a:endParaRPr lang="en-US" sz="1600" dirty="0"/>
          </a:p>
        </p:txBody>
      </p:sp>
      <p:sp>
        <p:nvSpPr>
          <p:cNvPr id="10" name="Text 8"/>
          <p:cNvSpPr/>
          <p:nvPr/>
        </p:nvSpPr>
        <p:spPr>
          <a:xfrm>
            <a:off x="495300" y="3522108"/>
            <a:ext cx="152400" cy="190500"/>
          </a:xfrm>
          <a:prstGeom prst="rect">
            <a:avLst/>
          </a:prstGeom>
          <a:noFill/>
          <a:ln/>
        </p:spPr>
        <p:txBody>
          <a:bodyPr wrap="square" lIns="0" tIns="0" rIns="0" bIns="0" rtlCol="0" anchor="ctr"/>
          <a:lstStyle/>
          <a:p>
            <a:pPr>
              <a:lnSpc>
                <a:spcPct val="120000"/>
              </a:lnSpc>
            </a:pPr>
            <a:r>
              <a:rPr lang="en-US" sz="1050" b="1" dirty="0">
                <a:solidFill>
                  <a:srgbClr val="F1FAEE"/>
                </a:solidFill>
                <a:latin typeface="Liter" pitchFamily="34" charset="0"/>
                <a:ea typeface="Liter" pitchFamily="34" charset="-122"/>
                <a:cs typeface="Liter" pitchFamily="34" charset="-120"/>
              </a:rPr>
              <a:t>1.</a:t>
            </a:r>
            <a:endParaRPr lang="en-US" sz="1600" dirty="0"/>
          </a:p>
        </p:txBody>
      </p:sp>
      <p:sp>
        <p:nvSpPr>
          <p:cNvPr id="11" name="Text 9"/>
          <p:cNvSpPr/>
          <p:nvPr/>
        </p:nvSpPr>
        <p:spPr>
          <a:xfrm>
            <a:off x="655558" y="3522108"/>
            <a:ext cx="3733800" cy="190500"/>
          </a:xfrm>
          <a:prstGeom prst="rect">
            <a:avLst/>
          </a:prstGeom>
          <a:noFill/>
          <a:ln/>
        </p:spPr>
        <p:txBody>
          <a:bodyPr wrap="square" lIns="0" tIns="0" rIns="0" bIns="0" rtlCol="0" anchor="ctr"/>
          <a:lstStyle/>
          <a:p>
            <a:pPr>
              <a:lnSpc>
                <a:spcPct val="120000"/>
              </a:lnSpc>
            </a:pPr>
            <a:r>
              <a:rPr lang="en-US" sz="1050" dirty="0">
                <a:solidFill>
                  <a:srgbClr val="F1FAEE"/>
                </a:solidFill>
                <a:latin typeface="Liter" pitchFamily="34" charset="0"/>
                <a:ea typeface="Liter" pitchFamily="34" charset="-122"/>
                <a:cs typeface="Liter" pitchFamily="34" charset="-120"/>
              </a:rPr>
              <a:t>Infrared light emitted from source travels through beam splitter</a:t>
            </a:r>
            <a:endParaRPr lang="en-US" sz="1600" dirty="0"/>
          </a:p>
        </p:txBody>
      </p:sp>
      <p:sp>
        <p:nvSpPr>
          <p:cNvPr id="12" name="Text 10"/>
          <p:cNvSpPr/>
          <p:nvPr/>
        </p:nvSpPr>
        <p:spPr>
          <a:xfrm>
            <a:off x="495300" y="3750708"/>
            <a:ext cx="171450" cy="190500"/>
          </a:xfrm>
          <a:prstGeom prst="rect">
            <a:avLst/>
          </a:prstGeom>
          <a:noFill/>
          <a:ln/>
        </p:spPr>
        <p:txBody>
          <a:bodyPr wrap="square" lIns="0" tIns="0" rIns="0" bIns="0" rtlCol="0" anchor="ctr"/>
          <a:lstStyle/>
          <a:p>
            <a:pPr>
              <a:lnSpc>
                <a:spcPct val="120000"/>
              </a:lnSpc>
            </a:pPr>
            <a:r>
              <a:rPr lang="en-US" sz="1050" b="1" dirty="0">
                <a:solidFill>
                  <a:srgbClr val="F1FAEE"/>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679728" y="3750708"/>
            <a:ext cx="4600575" cy="190500"/>
          </a:xfrm>
          <a:prstGeom prst="rect">
            <a:avLst/>
          </a:prstGeom>
          <a:noFill/>
          <a:ln/>
        </p:spPr>
        <p:txBody>
          <a:bodyPr wrap="square" lIns="0" tIns="0" rIns="0" bIns="0" rtlCol="0" anchor="ctr"/>
          <a:lstStyle/>
          <a:p>
            <a:pPr>
              <a:lnSpc>
                <a:spcPct val="120000"/>
              </a:lnSpc>
            </a:pPr>
            <a:r>
              <a:rPr lang="en-US" sz="1050" dirty="0">
                <a:solidFill>
                  <a:srgbClr val="F1FAEE"/>
                </a:solidFill>
                <a:latin typeface="Liter" pitchFamily="34" charset="0"/>
                <a:ea typeface="Liter" pitchFamily="34" charset="-122"/>
                <a:cs typeface="Liter" pitchFamily="34" charset="-120"/>
              </a:rPr>
              <a:t>Divided into reference beam (reflected by mirror) and sample beam (to retina)</a:t>
            </a:r>
            <a:endParaRPr lang="en-US" sz="1600" dirty="0"/>
          </a:p>
        </p:txBody>
      </p:sp>
      <p:sp>
        <p:nvSpPr>
          <p:cNvPr id="14" name="Text 12"/>
          <p:cNvSpPr/>
          <p:nvPr/>
        </p:nvSpPr>
        <p:spPr>
          <a:xfrm>
            <a:off x="495300" y="3979308"/>
            <a:ext cx="171450" cy="190500"/>
          </a:xfrm>
          <a:prstGeom prst="rect">
            <a:avLst/>
          </a:prstGeom>
          <a:noFill/>
          <a:ln/>
        </p:spPr>
        <p:txBody>
          <a:bodyPr wrap="square" lIns="0" tIns="0" rIns="0" bIns="0" rtlCol="0" anchor="ctr"/>
          <a:lstStyle/>
          <a:p>
            <a:pPr>
              <a:lnSpc>
                <a:spcPct val="120000"/>
              </a:lnSpc>
            </a:pPr>
            <a:r>
              <a:rPr lang="en-US" sz="1050" b="1" dirty="0">
                <a:solidFill>
                  <a:srgbClr val="F1FAEE"/>
                </a:solidFill>
                <a:latin typeface="Liter" pitchFamily="34" charset="0"/>
                <a:ea typeface="Liter" pitchFamily="34" charset="-122"/>
                <a:cs typeface="Liter" pitchFamily="34" charset="-120"/>
              </a:rPr>
              <a:t>3.</a:t>
            </a:r>
            <a:endParaRPr lang="en-US" sz="1600" dirty="0"/>
          </a:p>
        </p:txBody>
      </p:sp>
      <p:sp>
        <p:nvSpPr>
          <p:cNvPr id="15" name="Text 13"/>
          <p:cNvSpPr/>
          <p:nvPr/>
        </p:nvSpPr>
        <p:spPr>
          <a:xfrm>
            <a:off x="680918" y="3979308"/>
            <a:ext cx="3695700" cy="190500"/>
          </a:xfrm>
          <a:prstGeom prst="rect">
            <a:avLst/>
          </a:prstGeom>
          <a:noFill/>
          <a:ln/>
        </p:spPr>
        <p:txBody>
          <a:bodyPr wrap="square" lIns="0" tIns="0" rIns="0" bIns="0" rtlCol="0" anchor="ctr"/>
          <a:lstStyle/>
          <a:p>
            <a:pPr>
              <a:lnSpc>
                <a:spcPct val="120000"/>
              </a:lnSpc>
            </a:pPr>
            <a:r>
              <a:rPr lang="en-US" sz="1050" dirty="0">
                <a:solidFill>
                  <a:srgbClr val="F1FAEE"/>
                </a:solidFill>
                <a:latin typeface="Liter" pitchFamily="34" charset="0"/>
                <a:ea typeface="Liter" pitchFamily="34" charset="-122"/>
                <a:cs typeface="Liter" pitchFamily="34" charset="-120"/>
              </a:rPr>
              <a:t>Backscattered light recombines, producing interference signal</a:t>
            </a:r>
            <a:endParaRPr lang="en-US" sz="1600" dirty="0"/>
          </a:p>
        </p:txBody>
      </p:sp>
      <p:sp>
        <p:nvSpPr>
          <p:cNvPr id="16" name="Text 14"/>
          <p:cNvSpPr/>
          <p:nvPr/>
        </p:nvSpPr>
        <p:spPr>
          <a:xfrm>
            <a:off x="495300" y="4207908"/>
            <a:ext cx="171450" cy="190500"/>
          </a:xfrm>
          <a:prstGeom prst="rect">
            <a:avLst/>
          </a:prstGeom>
          <a:noFill/>
          <a:ln/>
        </p:spPr>
        <p:txBody>
          <a:bodyPr wrap="square" lIns="0" tIns="0" rIns="0" bIns="0" rtlCol="0" anchor="ctr"/>
          <a:lstStyle/>
          <a:p>
            <a:pPr>
              <a:lnSpc>
                <a:spcPct val="120000"/>
              </a:lnSpc>
            </a:pPr>
            <a:r>
              <a:rPr lang="en-US" sz="1050" b="1" dirty="0">
                <a:solidFill>
                  <a:srgbClr val="F1FAEE"/>
                </a:solidFill>
                <a:latin typeface="Liter" pitchFamily="34" charset="0"/>
                <a:ea typeface="Liter" pitchFamily="34" charset="-122"/>
                <a:cs typeface="Liter" pitchFamily="34" charset="-120"/>
              </a:rPr>
              <a:t>4.</a:t>
            </a:r>
            <a:endParaRPr lang="en-US" sz="1600" dirty="0"/>
          </a:p>
        </p:txBody>
      </p:sp>
      <p:sp>
        <p:nvSpPr>
          <p:cNvPr id="17" name="Text 15"/>
          <p:cNvSpPr/>
          <p:nvPr/>
        </p:nvSpPr>
        <p:spPr>
          <a:xfrm>
            <a:off x="680799" y="4207908"/>
            <a:ext cx="4362450" cy="190500"/>
          </a:xfrm>
          <a:prstGeom prst="rect">
            <a:avLst/>
          </a:prstGeom>
          <a:noFill/>
          <a:ln/>
        </p:spPr>
        <p:txBody>
          <a:bodyPr wrap="square" lIns="0" tIns="0" rIns="0" bIns="0" rtlCol="0" anchor="ctr"/>
          <a:lstStyle/>
          <a:p>
            <a:pPr>
              <a:lnSpc>
                <a:spcPct val="120000"/>
              </a:lnSpc>
            </a:pPr>
            <a:r>
              <a:rPr lang="en-US" sz="1050" dirty="0">
                <a:solidFill>
                  <a:srgbClr val="F1FAEE"/>
                </a:solidFill>
                <a:latin typeface="Liter" pitchFamily="34" charset="0"/>
                <a:ea typeface="Liter" pitchFamily="34" charset="-122"/>
                <a:cs typeface="Liter" pitchFamily="34" charset="-120"/>
              </a:rPr>
              <a:t>Forms A-Scan (axial depth profile), combined into B-Scan (cross-section)</a:t>
            </a:r>
            <a:endParaRPr lang="en-US" sz="1600" dirty="0"/>
          </a:p>
        </p:txBody>
      </p:sp>
      <p:sp>
        <p:nvSpPr>
          <p:cNvPr id="18" name="Shape 16"/>
          <p:cNvSpPr/>
          <p:nvPr/>
        </p:nvSpPr>
        <p:spPr>
          <a:xfrm>
            <a:off x="381000" y="5386864"/>
            <a:ext cx="1800225" cy="685800"/>
          </a:xfrm>
          <a:prstGeom prst="roundRect">
            <a:avLst>
              <a:gd name="adj" fmla="val 11111"/>
            </a:avLst>
          </a:prstGeom>
          <a:solidFill>
            <a:srgbClr val="3A86FF"/>
          </a:solidFill>
          <a:ln/>
        </p:spPr>
      </p:sp>
      <p:sp>
        <p:nvSpPr>
          <p:cNvPr id="19" name="Shape 17"/>
          <p:cNvSpPr/>
          <p:nvPr/>
        </p:nvSpPr>
        <p:spPr>
          <a:xfrm>
            <a:off x="1168360" y="5501164"/>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F1FAEE"/>
          </a:solidFill>
          <a:ln/>
        </p:spPr>
      </p:sp>
      <p:sp>
        <p:nvSpPr>
          <p:cNvPr id="20" name="Text 18"/>
          <p:cNvSpPr/>
          <p:nvPr/>
        </p:nvSpPr>
        <p:spPr>
          <a:xfrm>
            <a:off x="461963" y="5767864"/>
            <a:ext cx="1638300" cy="190500"/>
          </a:xfrm>
          <a:prstGeom prst="rect">
            <a:avLst/>
          </a:prstGeom>
          <a:noFill/>
          <a:ln/>
        </p:spPr>
        <p:txBody>
          <a:bodyPr wrap="square" lIns="0" tIns="0" rIns="0" bIns="0" rtlCol="0" anchor="ctr"/>
          <a:lstStyle/>
          <a:p>
            <a:pPr algn="ctr">
              <a:lnSpc>
                <a:spcPct val="120000"/>
              </a:lnSpc>
            </a:pPr>
            <a:r>
              <a:rPr lang="en-US" sz="1050" b="1" dirty="0">
                <a:solidFill>
                  <a:srgbClr val="F1FAEE"/>
                </a:solidFill>
                <a:latin typeface="Liter" pitchFamily="34" charset="0"/>
                <a:ea typeface="Liter" pitchFamily="34" charset="-122"/>
                <a:cs typeface="Liter" pitchFamily="34" charset="-120"/>
              </a:rPr>
              <a:t>Non-invasive</a:t>
            </a:r>
            <a:endParaRPr lang="en-US" sz="1600" dirty="0"/>
          </a:p>
        </p:txBody>
      </p:sp>
      <p:sp>
        <p:nvSpPr>
          <p:cNvPr id="21" name="Shape 19"/>
          <p:cNvSpPr/>
          <p:nvPr/>
        </p:nvSpPr>
        <p:spPr>
          <a:xfrm>
            <a:off x="2298621" y="5386864"/>
            <a:ext cx="1800225" cy="685800"/>
          </a:xfrm>
          <a:prstGeom prst="roundRect">
            <a:avLst>
              <a:gd name="adj" fmla="val 11111"/>
            </a:avLst>
          </a:prstGeom>
          <a:solidFill>
            <a:srgbClr val="00B4D8"/>
          </a:solidFill>
          <a:ln/>
        </p:spPr>
      </p:sp>
      <p:sp>
        <p:nvSpPr>
          <p:cNvPr id="22" name="Shape 20"/>
          <p:cNvSpPr/>
          <p:nvPr/>
        </p:nvSpPr>
        <p:spPr>
          <a:xfrm>
            <a:off x="3100269" y="5501164"/>
            <a:ext cx="200025" cy="228600"/>
          </a:xfrm>
          <a:custGeom>
            <a:avLst/>
            <a:gdLst/>
            <a:ahLst/>
            <a:cxnLst/>
            <a:rect l="l" t="t" r="r" b="b"/>
            <a:pathLst>
              <a:path w="200025" h="228600">
                <a:moveTo>
                  <a:pt x="14288" y="14288"/>
                </a:moveTo>
                <a:cubicBezTo>
                  <a:pt x="6385" y="14288"/>
                  <a:pt x="0" y="20672"/>
                  <a:pt x="0" y="28575"/>
                </a:cubicBezTo>
                <a:lnTo>
                  <a:pt x="0" y="71438"/>
                </a:lnTo>
                <a:cubicBezTo>
                  <a:pt x="0" y="79340"/>
                  <a:pt x="6385" y="85725"/>
                  <a:pt x="14288" y="85725"/>
                </a:cubicBezTo>
                <a:cubicBezTo>
                  <a:pt x="22190" y="85725"/>
                  <a:pt x="28575" y="79340"/>
                  <a:pt x="28575" y="71438"/>
                </a:cubicBezTo>
                <a:lnTo>
                  <a:pt x="28575" y="42863"/>
                </a:lnTo>
                <a:lnTo>
                  <a:pt x="57150" y="42863"/>
                </a:lnTo>
                <a:cubicBezTo>
                  <a:pt x="65053" y="42863"/>
                  <a:pt x="71438" y="36478"/>
                  <a:pt x="71438" y="28575"/>
                </a:cubicBezTo>
                <a:cubicBezTo>
                  <a:pt x="71438" y="20672"/>
                  <a:pt x="65053" y="14288"/>
                  <a:pt x="57150" y="14288"/>
                </a:cubicBezTo>
                <a:lnTo>
                  <a:pt x="14288" y="14288"/>
                </a:lnTo>
                <a:close/>
                <a:moveTo>
                  <a:pt x="28575" y="157163"/>
                </a:moveTo>
                <a:cubicBezTo>
                  <a:pt x="28575" y="149260"/>
                  <a:pt x="22190" y="142875"/>
                  <a:pt x="14288" y="142875"/>
                </a:cubicBezTo>
                <a:cubicBezTo>
                  <a:pt x="6385" y="142875"/>
                  <a:pt x="0" y="149260"/>
                  <a:pt x="0" y="157163"/>
                </a:cubicBezTo>
                <a:lnTo>
                  <a:pt x="0" y="200025"/>
                </a:lnTo>
                <a:cubicBezTo>
                  <a:pt x="0" y="207928"/>
                  <a:pt x="6385" y="214313"/>
                  <a:pt x="14288" y="214313"/>
                </a:cubicBezTo>
                <a:lnTo>
                  <a:pt x="57150" y="214313"/>
                </a:lnTo>
                <a:cubicBezTo>
                  <a:pt x="65053" y="214313"/>
                  <a:pt x="71438" y="207928"/>
                  <a:pt x="71438" y="200025"/>
                </a:cubicBezTo>
                <a:cubicBezTo>
                  <a:pt x="71438" y="192122"/>
                  <a:pt x="65053" y="185738"/>
                  <a:pt x="57150" y="185738"/>
                </a:cubicBezTo>
                <a:lnTo>
                  <a:pt x="28575" y="185738"/>
                </a:lnTo>
                <a:lnTo>
                  <a:pt x="28575" y="157163"/>
                </a:lnTo>
                <a:close/>
                <a:moveTo>
                  <a:pt x="142875" y="14288"/>
                </a:moveTo>
                <a:cubicBezTo>
                  <a:pt x="134972" y="14288"/>
                  <a:pt x="128588" y="20672"/>
                  <a:pt x="128588" y="28575"/>
                </a:cubicBezTo>
                <a:cubicBezTo>
                  <a:pt x="128588" y="36478"/>
                  <a:pt x="134972" y="42863"/>
                  <a:pt x="142875" y="42863"/>
                </a:cubicBezTo>
                <a:lnTo>
                  <a:pt x="171450" y="42863"/>
                </a:lnTo>
                <a:lnTo>
                  <a:pt x="171450" y="71438"/>
                </a:lnTo>
                <a:cubicBezTo>
                  <a:pt x="171450" y="79340"/>
                  <a:pt x="177835" y="85725"/>
                  <a:pt x="185738" y="85725"/>
                </a:cubicBezTo>
                <a:cubicBezTo>
                  <a:pt x="193640" y="85725"/>
                  <a:pt x="200025" y="79340"/>
                  <a:pt x="200025" y="71438"/>
                </a:cubicBezTo>
                <a:lnTo>
                  <a:pt x="200025" y="28575"/>
                </a:lnTo>
                <a:cubicBezTo>
                  <a:pt x="200025" y="20672"/>
                  <a:pt x="193640" y="14288"/>
                  <a:pt x="185738" y="14288"/>
                </a:cubicBezTo>
                <a:lnTo>
                  <a:pt x="142875" y="14288"/>
                </a:lnTo>
                <a:close/>
                <a:moveTo>
                  <a:pt x="200025" y="157163"/>
                </a:moveTo>
                <a:cubicBezTo>
                  <a:pt x="200025" y="149260"/>
                  <a:pt x="193640" y="142875"/>
                  <a:pt x="185738" y="142875"/>
                </a:cubicBezTo>
                <a:cubicBezTo>
                  <a:pt x="177835" y="142875"/>
                  <a:pt x="171450" y="149260"/>
                  <a:pt x="171450" y="157163"/>
                </a:cubicBezTo>
                <a:lnTo>
                  <a:pt x="171450" y="185738"/>
                </a:lnTo>
                <a:lnTo>
                  <a:pt x="142875" y="185738"/>
                </a:lnTo>
                <a:cubicBezTo>
                  <a:pt x="134972" y="185738"/>
                  <a:pt x="128588" y="192122"/>
                  <a:pt x="128588" y="200025"/>
                </a:cubicBezTo>
                <a:cubicBezTo>
                  <a:pt x="128588" y="207928"/>
                  <a:pt x="134972" y="214313"/>
                  <a:pt x="142875" y="214313"/>
                </a:cubicBezTo>
                <a:lnTo>
                  <a:pt x="185738" y="214313"/>
                </a:lnTo>
                <a:cubicBezTo>
                  <a:pt x="193640" y="214313"/>
                  <a:pt x="200025" y="207928"/>
                  <a:pt x="200025" y="200025"/>
                </a:cubicBezTo>
                <a:lnTo>
                  <a:pt x="200025" y="157163"/>
                </a:lnTo>
                <a:close/>
              </a:path>
            </a:pathLst>
          </a:custGeom>
          <a:solidFill>
            <a:srgbClr val="F1FAEE"/>
          </a:solidFill>
          <a:ln/>
        </p:spPr>
      </p:sp>
      <p:sp>
        <p:nvSpPr>
          <p:cNvPr id="23" name="Text 21"/>
          <p:cNvSpPr/>
          <p:nvPr/>
        </p:nvSpPr>
        <p:spPr>
          <a:xfrm>
            <a:off x="2379583" y="5767864"/>
            <a:ext cx="1638300" cy="190500"/>
          </a:xfrm>
          <a:prstGeom prst="rect">
            <a:avLst/>
          </a:prstGeom>
          <a:noFill/>
          <a:ln/>
        </p:spPr>
        <p:txBody>
          <a:bodyPr wrap="square" lIns="0" tIns="0" rIns="0" bIns="0" rtlCol="0" anchor="ctr"/>
          <a:lstStyle/>
          <a:p>
            <a:pPr algn="ctr">
              <a:lnSpc>
                <a:spcPct val="120000"/>
              </a:lnSpc>
            </a:pPr>
            <a:r>
              <a:rPr lang="en-US" sz="1050" b="1" dirty="0">
                <a:solidFill>
                  <a:srgbClr val="F1FAEE"/>
                </a:solidFill>
                <a:latin typeface="Liter" pitchFamily="34" charset="0"/>
                <a:ea typeface="Liter" pitchFamily="34" charset="-122"/>
                <a:cs typeface="Liter" pitchFamily="34" charset="-120"/>
              </a:rPr>
              <a:t>High-resolution</a:t>
            </a:r>
            <a:endParaRPr lang="en-US" sz="1600" dirty="0"/>
          </a:p>
        </p:txBody>
      </p:sp>
      <p:sp>
        <p:nvSpPr>
          <p:cNvPr id="24" name="Shape 22"/>
          <p:cNvSpPr/>
          <p:nvPr/>
        </p:nvSpPr>
        <p:spPr>
          <a:xfrm>
            <a:off x="4216360" y="5386864"/>
            <a:ext cx="1800225" cy="685800"/>
          </a:xfrm>
          <a:prstGeom prst="roundRect">
            <a:avLst>
              <a:gd name="adj" fmla="val 11111"/>
            </a:avLst>
          </a:prstGeom>
          <a:solidFill>
            <a:srgbClr val="5C677D"/>
          </a:solidFill>
          <a:ln/>
        </p:spPr>
      </p:sp>
      <p:sp>
        <p:nvSpPr>
          <p:cNvPr id="25" name="Shape 23"/>
          <p:cNvSpPr/>
          <p:nvPr/>
        </p:nvSpPr>
        <p:spPr>
          <a:xfrm>
            <a:off x="4989433" y="5501164"/>
            <a:ext cx="257175" cy="228600"/>
          </a:xfrm>
          <a:custGeom>
            <a:avLst/>
            <a:gdLst/>
            <a:ahLst/>
            <a:cxnLst/>
            <a:rect l="l" t="t" r="r" b="b"/>
            <a:pathLst>
              <a:path w="257175" h="228600">
                <a:moveTo>
                  <a:pt x="57150" y="28575"/>
                </a:moveTo>
                <a:cubicBezTo>
                  <a:pt x="57150" y="12814"/>
                  <a:pt x="69964" y="0"/>
                  <a:pt x="85725" y="0"/>
                </a:cubicBezTo>
                <a:lnTo>
                  <a:pt x="171450" y="0"/>
                </a:lnTo>
                <a:cubicBezTo>
                  <a:pt x="187211" y="0"/>
                  <a:pt x="200025" y="12814"/>
                  <a:pt x="200025" y="28575"/>
                </a:cubicBezTo>
                <a:lnTo>
                  <a:pt x="200025" y="57150"/>
                </a:lnTo>
                <a:lnTo>
                  <a:pt x="228600" y="57150"/>
                </a:lnTo>
                <a:cubicBezTo>
                  <a:pt x="244361" y="57150"/>
                  <a:pt x="257175" y="69964"/>
                  <a:pt x="257175" y="85725"/>
                </a:cubicBezTo>
                <a:lnTo>
                  <a:pt x="257175" y="200025"/>
                </a:lnTo>
                <a:cubicBezTo>
                  <a:pt x="257175" y="215786"/>
                  <a:pt x="244361" y="228600"/>
                  <a:pt x="228600" y="228600"/>
                </a:cubicBezTo>
                <a:lnTo>
                  <a:pt x="28575" y="228600"/>
                </a:lnTo>
                <a:cubicBezTo>
                  <a:pt x="12814" y="228600"/>
                  <a:pt x="0" y="215786"/>
                  <a:pt x="0" y="200025"/>
                </a:cubicBezTo>
                <a:lnTo>
                  <a:pt x="0" y="85725"/>
                </a:lnTo>
                <a:cubicBezTo>
                  <a:pt x="0" y="69964"/>
                  <a:pt x="12814" y="57150"/>
                  <a:pt x="28575" y="57150"/>
                </a:cubicBezTo>
                <a:lnTo>
                  <a:pt x="57150" y="57150"/>
                </a:lnTo>
                <a:lnTo>
                  <a:pt x="57150" y="28575"/>
                </a:lnTo>
                <a:close/>
                <a:moveTo>
                  <a:pt x="121444" y="157163"/>
                </a:moveTo>
                <a:cubicBezTo>
                  <a:pt x="113541" y="157163"/>
                  <a:pt x="107156" y="163547"/>
                  <a:pt x="107156" y="171450"/>
                </a:cubicBezTo>
                <a:lnTo>
                  <a:pt x="107156" y="207169"/>
                </a:lnTo>
                <a:lnTo>
                  <a:pt x="150019" y="207169"/>
                </a:lnTo>
                <a:lnTo>
                  <a:pt x="150019" y="171450"/>
                </a:lnTo>
                <a:cubicBezTo>
                  <a:pt x="150019" y="163547"/>
                  <a:pt x="143634" y="157163"/>
                  <a:pt x="135731" y="157163"/>
                </a:cubicBezTo>
                <a:lnTo>
                  <a:pt x="121444" y="157163"/>
                </a:lnTo>
                <a:close/>
                <a:moveTo>
                  <a:pt x="57150" y="164306"/>
                </a:moveTo>
                <a:lnTo>
                  <a:pt x="57150" y="150019"/>
                </a:lnTo>
                <a:cubicBezTo>
                  <a:pt x="57150" y="146090"/>
                  <a:pt x="53935" y="142875"/>
                  <a:pt x="50006" y="142875"/>
                </a:cubicBezTo>
                <a:lnTo>
                  <a:pt x="35719" y="142875"/>
                </a:lnTo>
                <a:cubicBezTo>
                  <a:pt x="31790" y="142875"/>
                  <a:pt x="28575" y="146090"/>
                  <a:pt x="28575" y="150019"/>
                </a:cubicBezTo>
                <a:lnTo>
                  <a:pt x="28575" y="164306"/>
                </a:lnTo>
                <a:cubicBezTo>
                  <a:pt x="28575" y="168235"/>
                  <a:pt x="31790" y="171450"/>
                  <a:pt x="35719" y="171450"/>
                </a:cubicBezTo>
                <a:lnTo>
                  <a:pt x="50006" y="171450"/>
                </a:lnTo>
                <a:cubicBezTo>
                  <a:pt x="53935" y="171450"/>
                  <a:pt x="57150" y="168235"/>
                  <a:pt x="57150" y="164306"/>
                </a:cubicBezTo>
                <a:close/>
                <a:moveTo>
                  <a:pt x="50006" y="114300"/>
                </a:moveTo>
                <a:cubicBezTo>
                  <a:pt x="53935" y="114300"/>
                  <a:pt x="57150" y="111085"/>
                  <a:pt x="57150" y="107156"/>
                </a:cubicBezTo>
                <a:lnTo>
                  <a:pt x="57150" y="92869"/>
                </a:lnTo>
                <a:cubicBezTo>
                  <a:pt x="57150" y="88940"/>
                  <a:pt x="53935" y="85725"/>
                  <a:pt x="50006" y="85725"/>
                </a:cubicBezTo>
                <a:lnTo>
                  <a:pt x="35719" y="85725"/>
                </a:lnTo>
                <a:cubicBezTo>
                  <a:pt x="31790" y="85725"/>
                  <a:pt x="28575" y="88940"/>
                  <a:pt x="28575" y="92869"/>
                </a:cubicBezTo>
                <a:lnTo>
                  <a:pt x="28575" y="107156"/>
                </a:lnTo>
                <a:cubicBezTo>
                  <a:pt x="28575" y="111085"/>
                  <a:pt x="31790" y="114300"/>
                  <a:pt x="35719" y="114300"/>
                </a:cubicBezTo>
                <a:lnTo>
                  <a:pt x="50006" y="114300"/>
                </a:lnTo>
                <a:close/>
                <a:moveTo>
                  <a:pt x="228600" y="164306"/>
                </a:moveTo>
                <a:lnTo>
                  <a:pt x="228600" y="150019"/>
                </a:lnTo>
                <a:cubicBezTo>
                  <a:pt x="228600" y="146090"/>
                  <a:pt x="225385" y="142875"/>
                  <a:pt x="221456" y="142875"/>
                </a:cubicBezTo>
                <a:lnTo>
                  <a:pt x="207169" y="142875"/>
                </a:lnTo>
                <a:cubicBezTo>
                  <a:pt x="203240" y="142875"/>
                  <a:pt x="200025" y="146090"/>
                  <a:pt x="200025" y="150019"/>
                </a:cubicBezTo>
                <a:lnTo>
                  <a:pt x="200025" y="164306"/>
                </a:lnTo>
                <a:cubicBezTo>
                  <a:pt x="200025" y="168235"/>
                  <a:pt x="203240" y="171450"/>
                  <a:pt x="207169" y="171450"/>
                </a:cubicBezTo>
                <a:lnTo>
                  <a:pt x="221456" y="171450"/>
                </a:lnTo>
                <a:cubicBezTo>
                  <a:pt x="225385" y="171450"/>
                  <a:pt x="228600" y="168235"/>
                  <a:pt x="228600" y="164306"/>
                </a:cubicBezTo>
                <a:close/>
                <a:moveTo>
                  <a:pt x="221456" y="114300"/>
                </a:moveTo>
                <a:cubicBezTo>
                  <a:pt x="225385" y="114300"/>
                  <a:pt x="228600" y="111085"/>
                  <a:pt x="228600" y="107156"/>
                </a:cubicBezTo>
                <a:lnTo>
                  <a:pt x="228600" y="92869"/>
                </a:lnTo>
                <a:cubicBezTo>
                  <a:pt x="228600" y="88940"/>
                  <a:pt x="225385" y="85725"/>
                  <a:pt x="221456" y="85725"/>
                </a:cubicBezTo>
                <a:lnTo>
                  <a:pt x="207169" y="85725"/>
                </a:lnTo>
                <a:cubicBezTo>
                  <a:pt x="203240" y="85725"/>
                  <a:pt x="200025" y="88940"/>
                  <a:pt x="200025" y="92869"/>
                </a:cubicBezTo>
                <a:lnTo>
                  <a:pt x="200025" y="107156"/>
                </a:lnTo>
                <a:cubicBezTo>
                  <a:pt x="200025" y="111085"/>
                  <a:pt x="203240" y="114300"/>
                  <a:pt x="207169" y="114300"/>
                </a:cubicBezTo>
                <a:lnTo>
                  <a:pt x="221456" y="114300"/>
                </a:lnTo>
                <a:close/>
                <a:moveTo>
                  <a:pt x="117872" y="46434"/>
                </a:moveTo>
                <a:lnTo>
                  <a:pt x="117872" y="60722"/>
                </a:lnTo>
                <a:lnTo>
                  <a:pt x="103584" y="60722"/>
                </a:lnTo>
                <a:cubicBezTo>
                  <a:pt x="99655" y="60722"/>
                  <a:pt x="96441" y="63937"/>
                  <a:pt x="96441" y="67866"/>
                </a:cubicBezTo>
                <a:lnTo>
                  <a:pt x="96441" y="75009"/>
                </a:lnTo>
                <a:cubicBezTo>
                  <a:pt x="96441" y="78938"/>
                  <a:pt x="99655" y="82153"/>
                  <a:pt x="103584" y="82153"/>
                </a:cubicBezTo>
                <a:lnTo>
                  <a:pt x="117872" y="82153"/>
                </a:lnTo>
                <a:lnTo>
                  <a:pt x="117872" y="96441"/>
                </a:lnTo>
                <a:cubicBezTo>
                  <a:pt x="117872" y="100370"/>
                  <a:pt x="121087" y="103584"/>
                  <a:pt x="125016" y="103584"/>
                </a:cubicBezTo>
                <a:lnTo>
                  <a:pt x="132159" y="103584"/>
                </a:lnTo>
                <a:cubicBezTo>
                  <a:pt x="136088" y="103584"/>
                  <a:pt x="139303" y="100370"/>
                  <a:pt x="139303" y="96441"/>
                </a:cubicBezTo>
                <a:lnTo>
                  <a:pt x="139303" y="82153"/>
                </a:lnTo>
                <a:lnTo>
                  <a:pt x="153591" y="82153"/>
                </a:lnTo>
                <a:cubicBezTo>
                  <a:pt x="157520" y="82153"/>
                  <a:pt x="160734" y="78938"/>
                  <a:pt x="160734" y="75009"/>
                </a:cubicBezTo>
                <a:lnTo>
                  <a:pt x="160734" y="67866"/>
                </a:lnTo>
                <a:cubicBezTo>
                  <a:pt x="160734" y="63937"/>
                  <a:pt x="157520" y="60722"/>
                  <a:pt x="153591" y="60722"/>
                </a:cubicBezTo>
                <a:lnTo>
                  <a:pt x="139303" y="60722"/>
                </a:lnTo>
                <a:lnTo>
                  <a:pt x="139303" y="46434"/>
                </a:lnTo>
                <a:cubicBezTo>
                  <a:pt x="139303" y="42505"/>
                  <a:pt x="136088" y="39291"/>
                  <a:pt x="132159" y="39291"/>
                </a:cubicBezTo>
                <a:lnTo>
                  <a:pt x="125016" y="39291"/>
                </a:lnTo>
                <a:cubicBezTo>
                  <a:pt x="121087" y="39291"/>
                  <a:pt x="117872" y="42505"/>
                  <a:pt x="117872" y="46434"/>
                </a:cubicBezTo>
                <a:close/>
              </a:path>
            </a:pathLst>
          </a:custGeom>
          <a:solidFill>
            <a:srgbClr val="F1FAEE"/>
          </a:solidFill>
          <a:ln/>
        </p:spPr>
      </p:sp>
      <p:sp>
        <p:nvSpPr>
          <p:cNvPr id="26" name="Text 24"/>
          <p:cNvSpPr/>
          <p:nvPr/>
        </p:nvSpPr>
        <p:spPr>
          <a:xfrm>
            <a:off x="4297323" y="5767864"/>
            <a:ext cx="1638300" cy="190500"/>
          </a:xfrm>
          <a:prstGeom prst="rect">
            <a:avLst/>
          </a:prstGeom>
          <a:noFill/>
          <a:ln/>
        </p:spPr>
        <p:txBody>
          <a:bodyPr wrap="square" lIns="0" tIns="0" rIns="0" bIns="0" rtlCol="0" anchor="ctr"/>
          <a:lstStyle/>
          <a:p>
            <a:pPr algn="ctr">
              <a:lnSpc>
                <a:spcPct val="120000"/>
              </a:lnSpc>
            </a:pPr>
            <a:r>
              <a:rPr lang="en-US" sz="1050" b="1" dirty="0">
                <a:solidFill>
                  <a:srgbClr val="F1FAEE"/>
                </a:solidFill>
                <a:latin typeface="Liter" pitchFamily="34" charset="0"/>
                <a:ea typeface="Liter" pitchFamily="34" charset="-122"/>
                <a:cs typeface="Liter" pitchFamily="34" charset="-120"/>
              </a:rPr>
              <a:t>Clinically proven</a:t>
            </a:r>
            <a:endParaRPr lang="en-US" sz="1600" dirty="0"/>
          </a:p>
        </p:txBody>
      </p:sp>
      <p:sp>
        <p:nvSpPr>
          <p:cNvPr id="27" name="Shape 25"/>
          <p:cNvSpPr/>
          <p:nvPr/>
        </p:nvSpPr>
        <p:spPr>
          <a:xfrm>
            <a:off x="6179820" y="1226820"/>
            <a:ext cx="5625465" cy="3606165"/>
          </a:xfrm>
          <a:prstGeom prst="roundRect">
            <a:avLst>
              <a:gd name="adj" fmla="val 2113"/>
            </a:avLst>
          </a:prstGeom>
          <a:solidFill>
            <a:srgbClr val="000000">
              <a:alpha val="0"/>
            </a:srgbClr>
          </a:solidFill>
          <a:ln w="20320">
            <a:solidFill>
              <a:srgbClr val="3A86FF"/>
            </a:solidFill>
            <a:prstDash val="solid"/>
          </a:ln>
        </p:spPr>
      </p:sp>
      <p:sp>
        <p:nvSpPr>
          <p:cNvPr id="28" name="Shape 26"/>
          <p:cNvSpPr/>
          <p:nvPr/>
        </p:nvSpPr>
        <p:spPr>
          <a:xfrm>
            <a:off x="6187440" y="1234441"/>
            <a:ext cx="5610225" cy="381000"/>
          </a:xfrm>
          <a:prstGeom prst="roundRect">
            <a:avLst>
              <a:gd name="adj" fmla="val 0"/>
            </a:avLst>
          </a:prstGeom>
          <a:solidFill>
            <a:srgbClr val="3A86FF"/>
          </a:solidFill>
          <a:ln/>
        </p:spPr>
      </p:sp>
      <p:sp>
        <p:nvSpPr>
          <p:cNvPr id="29" name="Text 27"/>
          <p:cNvSpPr/>
          <p:nvPr/>
        </p:nvSpPr>
        <p:spPr>
          <a:xfrm>
            <a:off x="6263640" y="1310641"/>
            <a:ext cx="5534025" cy="228600"/>
          </a:xfrm>
          <a:prstGeom prst="rect">
            <a:avLst/>
          </a:prstGeom>
          <a:noFill/>
          <a:ln/>
        </p:spPr>
        <p:txBody>
          <a:bodyPr wrap="square" lIns="0" tIns="0" rIns="0" bIns="0" rtlCol="0" anchor="ctr"/>
          <a:lstStyle/>
          <a:p>
            <a:pPr>
              <a:lnSpc>
                <a:spcPct val="130000"/>
              </a:lnSpc>
            </a:pPr>
            <a:r>
              <a:rPr lang="en-US" sz="1200" b="1" dirty="0">
                <a:solidFill>
                  <a:srgbClr val="F1FAEE"/>
                </a:solidFill>
                <a:latin typeface="Liter" pitchFamily="34" charset="0"/>
                <a:ea typeface="Liter" pitchFamily="34" charset="-122"/>
                <a:cs typeface="Liter" pitchFamily="34" charset="-120"/>
              </a:rPr>
              <a:t>OCT Cross-Sectional Scan</a:t>
            </a:r>
            <a:endParaRPr lang="en-US" sz="1600" dirty="0"/>
          </a:p>
        </p:txBody>
      </p:sp>
      <p:pic>
        <p:nvPicPr>
          <p:cNvPr id="30" name="Image 0" descr="https://kimi-web-img.moonshot.cn/img/www.opsweb.org/7c995dfb7211767c766be56192df3b57de3f839f.jpg">    </p:cNvPr>
          <p:cNvPicPr>
            <a:picLocks noChangeAspect="1"/>
          </p:cNvPicPr>
          <p:nvPr/>
        </p:nvPicPr>
        <p:blipFill>
          <a:blip r:embed="rId1"/>
          <a:srcRect l="20" r="20" t="0" b="0"/>
          <a:stretch/>
        </p:blipFill>
        <p:spPr>
          <a:xfrm>
            <a:off x="6187440" y="1615441"/>
            <a:ext cx="5610225" cy="3209925"/>
          </a:xfrm>
          <a:prstGeom prst="roundRect">
            <a:avLst>
              <a:gd name="adj" fmla="val 2122"/>
            </a:avLst>
          </a:prstGeom>
        </p:spPr>
      </p:pic>
      <p:sp>
        <p:nvSpPr>
          <p:cNvPr id="31" name="Shape 28"/>
          <p:cNvSpPr/>
          <p:nvPr/>
        </p:nvSpPr>
        <p:spPr>
          <a:xfrm>
            <a:off x="6176010" y="4918233"/>
            <a:ext cx="5627370" cy="1150620"/>
          </a:xfrm>
          <a:prstGeom prst="roundRect">
            <a:avLst>
              <a:gd name="adj" fmla="val 6623"/>
            </a:avLst>
          </a:prstGeom>
          <a:solidFill>
            <a:srgbClr val="112240"/>
          </a:solidFill>
          <a:ln w="10160">
            <a:solidFill>
              <a:srgbClr val="3A86FF"/>
            </a:solidFill>
            <a:prstDash val="solid"/>
          </a:ln>
        </p:spPr>
      </p:sp>
      <p:sp>
        <p:nvSpPr>
          <p:cNvPr id="32" name="Shape 29"/>
          <p:cNvSpPr/>
          <p:nvPr/>
        </p:nvSpPr>
        <p:spPr>
          <a:xfrm>
            <a:off x="6313170" y="5074444"/>
            <a:ext cx="152400" cy="152400"/>
          </a:xfrm>
          <a:custGeom>
            <a:avLst/>
            <a:gdLst/>
            <a:ahLst/>
            <a:cxnLst/>
            <a:rect l="l" t="t" r="r" b="b"/>
            <a:pathLst>
              <a:path w="152400" h="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00B4D8"/>
          </a:solidFill>
          <a:ln/>
        </p:spPr>
      </p:sp>
      <p:sp>
        <p:nvSpPr>
          <p:cNvPr id="33" name="Text 30"/>
          <p:cNvSpPr/>
          <p:nvPr/>
        </p:nvSpPr>
        <p:spPr>
          <a:xfrm>
            <a:off x="6484620" y="5036344"/>
            <a:ext cx="5276850" cy="228600"/>
          </a:xfrm>
          <a:prstGeom prst="rect">
            <a:avLst/>
          </a:prstGeom>
          <a:noFill/>
          <a:ln/>
        </p:spPr>
        <p:txBody>
          <a:bodyPr wrap="square" lIns="0" tIns="0" rIns="0" bIns="0" rtlCol="0" anchor="ctr"/>
          <a:lstStyle/>
          <a:p>
            <a:pPr>
              <a:lnSpc>
                <a:spcPct val="130000"/>
              </a:lnSpc>
            </a:pPr>
            <a:r>
              <a:rPr lang="en-US" sz="1200" b="1" dirty="0">
                <a:solidFill>
                  <a:srgbClr val="00B4D8"/>
                </a:solidFill>
                <a:latin typeface="Liter" pitchFamily="34" charset="0"/>
                <a:ea typeface="Liter" pitchFamily="34" charset="-122"/>
                <a:cs typeface="Liter" pitchFamily="34" charset="-120"/>
              </a:rPr>
              <a:t>Clinical Workflow</a:t>
            </a:r>
            <a:endParaRPr lang="en-US" sz="1600" dirty="0"/>
          </a:p>
        </p:txBody>
      </p:sp>
      <p:sp>
        <p:nvSpPr>
          <p:cNvPr id="34" name="Shape 31"/>
          <p:cNvSpPr/>
          <p:nvPr/>
        </p:nvSpPr>
        <p:spPr>
          <a:xfrm>
            <a:off x="6715483" y="5341144"/>
            <a:ext cx="381000" cy="381000"/>
          </a:xfrm>
          <a:prstGeom prst="roundRect">
            <a:avLst>
              <a:gd name="adj" fmla="val 50000"/>
            </a:avLst>
          </a:prstGeom>
          <a:solidFill>
            <a:srgbClr val="3A86FF"/>
          </a:solidFill>
          <a:ln/>
        </p:spPr>
      </p:sp>
      <p:sp>
        <p:nvSpPr>
          <p:cNvPr id="35" name="Shape 32"/>
          <p:cNvSpPr/>
          <p:nvPr/>
        </p:nvSpPr>
        <p:spPr>
          <a:xfrm>
            <a:off x="6858358" y="5464969"/>
            <a:ext cx="100013" cy="133350"/>
          </a:xfrm>
          <a:custGeom>
            <a:avLst/>
            <a:gdLst/>
            <a:ahLst/>
            <a:cxnLst/>
            <a:rect l="l" t="t" r="r" b="b"/>
            <a:pathLst>
              <a:path w="100013" h="133350">
                <a:moveTo>
                  <a:pt x="76286" y="100013"/>
                </a:moveTo>
                <a:cubicBezTo>
                  <a:pt x="78187" y="94204"/>
                  <a:pt x="81989" y="88943"/>
                  <a:pt x="86287" y="84412"/>
                </a:cubicBezTo>
                <a:cubicBezTo>
                  <a:pt x="94804" y="75452"/>
                  <a:pt x="100012" y="63341"/>
                  <a:pt x="100012" y="50006"/>
                </a:cubicBezTo>
                <a:cubicBezTo>
                  <a:pt x="100012" y="22399"/>
                  <a:pt x="77614" y="0"/>
                  <a:pt x="50006" y="0"/>
                </a:cubicBezTo>
                <a:cubicBezTo>
                  <a:pt x="22399" y="0"/>
                  <a:pt x="0" y="22399"/>
                  <a:pt x="0" y="50006"/>
                </a:cubicBezTo>
                <a:cubicBezTo>
                  <a:pt x="0" y="63341"/>
                  <a:pt x="5209" y="75452"/>
                  <a:pt x="13726" y="84412"/>
                </a:cubicBezTo>
                <a:cubicBezTo>
                  <a:pt x="18023" y="88943"/>
                  <a:pt x="21852" y="94204"/>
                  <a:pt x="23727" y="100013"/>
                </a:cubicBezTo>
                <a:lnTo>
                  <a:pt x="76260" y="100013"/>
                </a:lnTo>
                <a:close/>
                <a:moveTo>
                  <a:pt x="75009" y="112514"/>
                </a:moveTo>
                <a:lnTo>
                  <a:pt x="25003" y="112514"/>
                </a:lnTo>
                <a:lnTo>
                  <a:pt x="25003" y="116681"/>
                </a:lnTo>
                <a:cubicBezTo>
                  <a:pt x="25003" y="128193"/>
                  <a:pt x="34327" y="137517"/>
                  <a:pt x="45839" y="137517"/>
                </a:cubicBezTo>
                <a:lnTo>
                  <a:pt x="54173" y="137517"/>
                </a:lnTo>
                <a:cubicBezTo>
                  <a:pt x="65685" y="137517"/>
                  <a:pt x="75009" y="128193"/>
                  <a:pt x="75009" y="116681"/>
                </a:cubicBezTo>
                <a:lnTo>
                  <a:pt x="75009" y="112514"/>
                </a:lnTo>
                <a:close/>
                <a:moveTo>
                  <a:pt x="47923" y="29170"/>
                </a:moveTo>
                <a:cubicBezTo>
                  <a:pt x="37557" y="29170"/>
                  <a:pt x="29170" y="37557"/>
                  <a:pt x="29170" y="47923"/>
                </a:cubicBezTo>
                <a:cubicBezTo>
                  <a:pt x="29170" y="51387"/>
                  <a:pt x="26384" y="54173"/>
                  <a:pt x="22920" y="54173"/>
                </a:cubicBezTo>
                <a:cubicBezTo>
                  <a:pt x="19456" y="54173"/>
                  <a:pt x="16669" y="51387"/>
                  <a:pt x="16669" y="47923"/>
                </a:cubicBezTo>
                <a:cubicBezTo>
                  <a:pt x="16669" y="30655"/>
                  <a:pt x="30655" y="16669"/>
                  <a:pt x="47923" y="16669"/>
                </a:cubicBezTo>
                <a:cubicBezTo>
                  <a:pt x="51387" y="16669"/>
                  <a:pt x="54173" y="19456"/>
                  <a:pt x="54173" y="22920"/>
                </a:cubicBezTo>
                <a:cubicBezTo>
                  <a:pt x="54173" y="26384"/>
                  <a:pt x="51387" y="29170"/>
                  <a:pt x="47923" y="29170"/>
                </a:cubicBezTo>
                <a:close/>
              </a:path>
            </a:pathLst>
          </a:custGeom>
          <a:solidFill>
            <a:srgbClr val="F1FAEE"/>
          </a:solidFill>
          <a:ln/>
        </p:spPr>
      </p:sp>
      <p:sp>
        <p:nvSpPr>
          <p:cNvPr id="36" name="Text 33"/>
          <p:cNvSpPr/>
          <p:nvPr/>
        </p:nvSpPr>
        <p:spPr>
          <a:xfrm>
            <a:off x="6260782" y="5760244"/>
            <a:ext cx="1285875" cy="190500"/>
          </a:xfrm>
          <a:prstGeom prst="rect">
            <a:avLst/>
          </a:prstGeom>
          <a:noFill/>
          <a:ln/>
        </p:spPr>
        <p:txBody>
          <a:bodyPr wrap="square" lIns="0" tIns="0" rIns="0" bIns="0" rtlCol="0" anchor="ctr"/>
          <a:lstStyle/>
          <a:p>
            <a:pPr algn="ctr">
              <a:lnSpc>
                <a:spcPct val="120000"/>
              </a:lnSpc>
            </a:pPr>
            <a:r>
              <a:rPr lang="en-US" sz="1050" dirty="0">
                <a:solidFill>
                  <a:srgbClr val="F1FAEE"/>
                </a:solidFill>
                <a:latin typeface="Liter" pitchFamily="34" charset="0"/>
                <a:ea typeface="Liter" pitchFamily="34" charset="-122"/>
                <a:cs typeface="Liter" pitchFamily="34" charset="-120"/>
              </a:rPr>
              <a:t>Light Source</a:t>
            </a:r>
            <a:endParaRPr lang="en-US" sz="1600" dirty="0"/>
          </a:p>
        </p:txBody>
      </p:sp>
      <p:sp>
        <p:nvSpPr>
          <p:cNvPr id="37" name="Shape 34"/>
          <p:cNvSpPr/>
          <p:nvPr/>
        </p:nvSpPr>
        <p:spPr>
          <a:xfrm>
            <a:off x="7536895" y="5579269"/>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5C677D"/>
          </a:solidFill>
          <a:ln/>
        </p:spPr>
      </p:sp>
      <p:sp>
        <p:nvSpPr>
          <p:cNvPr id="38" name="Shape 35"/>
          <p:cNvSpPr/>
          <p:nvPr/>
        </p:nvSpPr>
        <p:spPr>
          <a:xfrm>
            <a:off x="8105894" y="5341144"/>
            <a:ext cx="381000" cy="381000"/>
          </a:xfrm>
          <a:prstGeom prst="roundRect">
            <a:avLst>
              <a:gd name="adj" fmla="val 50000"/>
            </a:avLst>
          </a:prstGeom>
          <a:solidFill>
            <a:srgbClr val="00B4D8"/>
          </a:solidFill>
          <a:ln/>
        </p:spPr>
      </p:sp>
      <p:sp>
        <p:nvSpPr>
          <p:cNvPr id="39" name="Shape 36"/>
          <p:cNvSpPr/>
          <p:nvPr/>
        </p:nvSpPr>
        <p:spPr>
          <a:xfrm>
            <a:off x="8223766" y="5464969"/>
            <a:ext cx="150019" cy="133350"/>
          </a:xfrm>
          <a:custGeom>
            <a:avLst/>
            <a:gdLst/>
            <a:ahLst/>
            <a:cxnLst/>
            <a:rect l="l" t="t" r="r" b="b"/>
            <a:pathLst>
              <a:path w="150019" h="133350">
                <a:moveTo>
                  <a:pt x="75009" y="8334"/>
                </a:moveTo>
                <a:cubicBezTo>
                  <a:pt x="53965" y="8334"/>
                  <a:pt x="37114" y="17919"/>
                  <a:pt x="24847" y="29327"/>
                </a:cubicBezTo>
                <a:cubicBezTo>
                  <a:pt x="12658" y="40656"/>
                  <a:pt x="4506" y="54173"/>
                  <a:pt x="625" y="63471"/>
                </a:cubicBezTo>
                <a:cubicBezTo>
                  <a:pt x="-234" y="65529"/>
                  <a:pt x="-234" y="67821"/>
                  <a:pt x="625" y="69879"/>
                </a:cubicBezTo>
                <a:cubicBezTo>
                  <a:pt x="4506" y="79177"/>
                  <a:pt x="12658" y="92720"/>
                  <a:pt x="24847" y="104023"/>
                </a:cubicBezTo>
                <a:cubicBezTo>
                  <a:pt x="37114" y="115405"/>
                  <a:pt x="53965" y="125016"/>
                  <a:pt x="75009" y="125016"/>
                </a:cubicBezTo>
                <a:cubicBezTo>
                  <a:pt x="96054" y="125016"/>
                  <a:pt x="112905" y="115431"/>
                  <a:pt x="125172" y="104023"/>
                </a:cubicBezTo>
                <a:cubicBezTo>
                  <a:pt x="137361" y="92694"/>
                  <a:pt x="145513" y="79177"/>
                  <a:pt x="149394" y="69879"/>
                </a:cubicBezTo>
                <a:cubicBezTo>
                  <a:pt x="150253" y="67821"/>
                  <a:pt x="150253" y="65529"/>
                  <a:pt x="149394" y="63471"/>
                </a:cubicBezTo>
                <a:cubicBezTo>
                  <a:pt x="145513" y="54173"/>
                  <a:pt x="137361" y="40630"/>
                  <a:pt x="125172" y="29327"/>
                </a:cubicBezTo>
                <a:cubicBezTo>
                  <a:pt x="112905" y="17945"/>
                  <a:pt x="96054" y="8334"/>
                  <a:pt x="75009" y="8334"/>
                </a:cubicBezTo>
                <a:close/>
                <a:moveTo>
                  <a:pt x="37505" y="66675"/>
                </a:moveTo>
                <a:cubicBezTo>
                  <a:pt x="37505" y="45976"/>
                  <a:pt x="54310" y="29170"/>
                  <a:pt x="75009" y="29170"/>
                </a:cubicBezTo>
                <a:cubicBezTo>
                  <a:pt x="95709" y="29170"/>
                  <a:pt x="112514" y="45976"/>
                  <a:pt x="112514" y="66675"/>
                </a:cubicBezTo>
                <a:cubicBezTo>
                  <a:pt x="112514" y="87374"/>
                  <a:pt x="95709" y="104180"/>
                  <a:pt x="75009" y="104180"/>
                </a:cubicBezTo>
                <a:cubicBezTo>
                  <a:pt x="54310" y="104180"/>
                  <a:pt x="37505" y="87374"/>
                  <a:pt x="37505" y="66675"/>
                </a:cubicBezTo>
                <a:close/>
                <a:moveTo>
                  <a:pt x="75009" y="50006"/>
                </a:moveTo>
                <a:cubicBezTo>
                  <a:pt x="75009" y="59200"/>
                  <a:pt x="67534" y="66675"/>
                  <a:pt x="58341" y="66675"/>
                </a:cubicBezTo>
                <a:cubicBezTo>
                  <a:pt x="55345" y="66675"/>
                  <a:pt x="52533" y="65894"/>
                  <a:pt x="50084" y="64487"/>
                </a:cubicBezTo>
                <a:cubicBezTo>
                  <a:pt x="49824" y="67326"/>
                  <a:pt x="50058" y="70243"/>
                  <a:pt x="50840" y="73134"/>
                </a:cubicBezTo>
                <a:cubicBezTo>
                  <a:pt x="54408" y="86469"/>
                  <a:pt x="68134" y="94387"/>
                  <a:pt x="81469" y="90819"/>
                </a:cubicBezTo>
                <a:cubicBezTo>
                  <a:pt x="94804" y="87250"/>
                  <a:pt x="102721" y="73525"/>
                  <a:pt x="99153" y="60190"/>
                </a:cubicBezTo>
                <a:cubicBezTo>
                  <a:pt x="95976" y="48287"/>
                  <a:pt x="84698" y="40708"/>
                  <a:pt x="72822" y="41750"/>
                </a:cubicBezTo>
                <a:cubicBezTo>
                  <a:pt x="74202" y="44172"/>
                  <a:pt x="75009" y="46985"/>
                  <a:pt x="75009" y="50006"/>
                </a:cubicBezTo>
                <a:close/>
              </a:path>
            </a:pathLst>
          </a:custGeom>
          <a:solidFill>
            <a:srgbClr val="F1FAEE"/>
          </a:solidFill>
          <a:ln/>
        </p:spPr>
      </p:sp>
      <p:sp>
        <p:nvSpPr>
          <p:cNvPr id="40" name="Text 37"/>
          <p:cNvSpPr/>
          <p:nvPr/>
        </p:nvSpPr>
        <p:spPr>
          <a:xfrm>
            <a:off x="7651195" y="5760244"/>
            <a:ext cx="1285875" cy="190500"/>
          </a:xfrm>
          <a:prstGeom prst="rect">
            <a:avLst/>
          </a:prstGeom>
          <a:noFill/>
          <a:ln/>
        </p:spPr>
        <p:txBody>
          <a:bodyPr wrap="square" lIns="0" tIns="0" rIns="0" bIns="0" rtlCol="0" anchor="ctr"/>
          <a:lstStyle/>
          <a:p>
            <a:pPr algn="ctr">
              <a:lnSpc>
                <a:spcPct val="120000"/>
              </a:lnSpc>
            </a:pPr>
            <a:r>
              <a:rPr lang="en-US" sz="1050" dirty="0">
                <a:solidFill>
                  <a:srgbClr val="F1FAEE"/>
                </a:solidFill>
                <a:latin typeface="Liter" pitchFamily="34" charset="0"/>
                <a:ea typeface="Liter" pitchFamily="34" charset="-122"/>
                <a:cs typeface="Liter" pitchFamily="34" charset="-120"/>
              </a:rPr>
              <a:t>Retinal Scan</a:t>
            </a:r>
            <a:endParaRPr lang="en-US" sz="1600" dirty="0"/>
          </a:p>
        </p:txBody>
      </p:sp>
      <p:sp>
        <p:nvSpPr>
          <p:cNvPr id="41" name="Shape 38"/>
          <p:cNvSpPr/>
          <p:nvPr/>
        </p:nvSpPr>
        <p:spPr>
          <a:xfrm>
            <a:off x="8927306" y="5579269"/>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5C677D"/>
          </a:solidFill>
          <a:ln/>
        </p:spPr>
      </p:sp>
      <p:sp>
        <p:nvSpPr>
          <p:cNvPr id="42" name="Shape 39"/>
          <p:cNvSpPr/>
          <p:nvPr/>
        </p:nvSpPr>
        <p:spPr>
          <a:xfrm>
            <a:off x="9496306" y="5341144"/>
            <a:ext cx="381000" cy="381000"/>
          </a:xfrm>
          <a:prstGeom prst="roundRect">
            <a:avLst>
              <a:gd name="adj" fmla="val 50000"/>
            </a:avLst>
          </a:prstGeom>
          <a:solidFill>
            <a:srgbClr val="5C677D"/>
          </a:solidFill>
          <a:ln/>
        </p:spPr>
      </p:sp>
      <p:sp>
        <p:nvSpPr>
          <p:cNvPr id="43" name="Shape 40"/>
          <p:cNvSpPr/>
          <p:nvPr/>
        </p:nvSpPr>
        <p:spPr>
          <a:xfrm>
            <a:off x="9630846" y="5464969"/>
            <a:ext cx="116681" cy="133350"/>
          </a:xfrm>
          <a:custGeom>
            <a:avLst/>
            <a:gdLst/>
            <a:ahLst/>
            <a:cxnLst/>
            <a:rect l="l" t="t" r="r" b="b"/>
            <a:pathLst>
              <a:path w="116681" h="133350">
                <a:moveTo>
                  <a:pt x="16669" y="8334"/>
                </a:moveTo>
                <a:cubicBezTo>
                  <a:pt x="7475" y="8334"/>
                  <a:pt x="0" y="15809"/>
                  <a:pt x="0" y="25003"/>
                </a:cubicBezTo>
                <a:lnTo>
                  <a:pt x="0" y="108347"/>
                </a:lnTo>
                <a:cubicBezTo>
                  <a:pt x="0" y="117541"/>
                  <a:pt x="7475" y="125016"/>
                  <a:pt x="16669" y="125016"/>
                </a:cubicBezTo>
                <a:lnTo>
                  <a:pt x="100013" y="125016"/>
                </a:lnTo>
                <a:cubicBezTo>
                  <a:pt x="109206" y="125016"/>
                  <a:pt x="116681" y="117541"/>
                  <a:pt x="116681" y="108347"/>
                </a:cubicBezTo>
                <a:lnTo>
                  <a:pt x="116681" y="25003"/>
                </a:lnTo>
                <a:cubicBezTo>
                  <a:pt x="116681" y="15809"/>
                  <a:pt x="109206" y="8334"/>
                  <a:pt x="100013" y="8334"/>
                </a:cubicBezTo>
                <a:lnTo>
                  <a:pt x="16669" y="8334"/>
                </a:lnTo>
                <a:close/>
                <a:moveTo>
                  <a:pt x="33337" y="29170"/>
                </a:moveTo>
                <a:cubicBezTo>
                  <a:pt x="40237" y="29170"/>
                  <a:pt x="45839" y="34772"/>
                  <a:pt x="45839" y="41672"/>
                </a:cubicBezTo>
                <a:cubicBezTo>
                  <a:pt x="45839" y="48572"/>
                  <a:pt x="40237" y="54173"/>
                  <a:pt x="33337" y="54173"/>
                </a:cubicBezTo>
                <a:cubicBezTo>
                  <a:pt x="26438" y="54173"/>
                  <a:pt x="20836" y="48572"/>
                  <a:pt x="20836" y="41672"/>
                </a:cubicBezTo>
                <a:cubicBezTo>
                  <a:pt x="20836" y="34772"/>
                  <a:pt x="26438" y="29170"/>
                  <a:pt x="33337" y="29170"/>
                </a:cubicBezTo>
                <a:close/>
                <a:moveTo>
                  <a:pt x="70842" y="58341"/>
                </a:moveTo>
                <a:cubicBezTo>
                  <a:pt x="73030" y="58341"/>
                  <a:pt x="75035" y="59487"/>
                  <a:pt x="76181" y="61336"/>
                </a:cubicBezTo>
                <a:lnTo>
                  <a:pt x="99101" y="98840"/>
                </a:lnTo>
                <a:cubicBezTo>
                  <a:pt x="100273" y="100768"/>
                  <a:pt x="100325" y="103190"/>
                  <a:pt x="99231" y="105169"/>
                </a:cubicBezTo>
                <a:cubicBezTo>
                  <a:pt x="98137" y="107149"/>
                  <a:pt x="96028" y="108347"/>
                  <a:pt x="93762" y="108347"/>
                </a:cubicBezTo>
                <a:lnTo>
                  <a:pt x="22920" y="108347"/>
                </a:lnTo>
                <a:cubicBezTo>
                  <a:pt x="20602" y="108347"/>
                  <a:pt x="18440" y="107045"/>
                  <a:pt x="17372" y="104987"/>
                </a:cubicBezTo>
                <a:cubicBezTo>
                  <a:pt x="16304" y="102930"/>
                  <a:pt x="16460" y="100429"/>
                  <a:pt x="17789" y="98528"/>
                </a:cubicBezTo>
                <a:lnTo>
                  <a:pt x="32374" y="77692"/>
                </a:lnTo>
                <a:cubicBezTo>
                  <a:pt x="33546" y="76025"/>
                  <a:pt x="35447" y="75035"/>
                  <a:pt x="37505" y="75035"/>
                </a:cubicBezTo>
                <a:cubicBezTo>
                  <a:pt x="39562" y="75035"/>
                  <a:pt x="41464" y="76025"/>
                  <a:pt x="42636" y="77692"/>
                </a:cubicBezTo>
                <a:lnTo>
                  <a:pt x="49511" y="87537"/>
                </a:lnTo>
                <a:lnTo>
                  <a:pt x="65503" y="61362"/>
                </a:lnTo>
                <a:cubicBezTo>
                  <a:pt x="66649" y="59513"/>
                  <a:pt x="68654" y="58367"/>
                  <a:pt x="70842" y="58367"/>
                </a:cubicBezTo>
                <a:close/>
              </a:path>
            </a:pathLst>
          </a:custGeom>
          <a:solidFill>
            <a:srgbClr val="F1FAEE"/>
          </a:solidFill>
          <a:ln/>
        </p:spPr>
      </p:sp>
      <p:sp>
        <p:nvSpPr>
          <p:cNvPr id="44" name="Text 41"/>
          <p:cNvSpPr/>
          <p:nvPr/>
        </p:nvSpPr>
        <p:spPr>
          <a:xfrm>
            <a:off x="9041606" y="5760244"/>
            <a:ext cx="1285875" cy="190500"/>
          </a:xfrm>
          <a:prstGeom prst="rect">
            <a:avLst/>
          </a:prstGeom>
          <a:noFill/>
          <a:ln/>
        </p:spPr>
        <p:txBody>
          <a:bodyPr wrap="square" lIns="0" tIns="0" rIns="0" bIns="0" rtlCol="0" anchor="ctr"/>
          <a:lstStyle/>
          <a:p>
            <a:pPr algn="ctr">
              <a:lnSpc>
                <a:spcPct val="120000"/>
              </a:lnSpc>
            </a:pPr>
            <a:r>
              <a:rPr lang="en-US" sz="1050" dirty="0">
                <a:solidFill>
                  <a:srgbClr val="F1FAEE"/>
                </a:solidFill>
                <a:latin typeface="Liter" pitchFamily="34" charset="0"/>
                <a:ea typeface="Liter" pitchFamily="34" charset="-122"/>
                <a:cs typeface="Liter" pitchFamily="34" charset="-120"/>
              </a:rPr>
              <a:t>OCT Image</a:t>
            </a:r>
            <a:endParaRPr lang="en-US" sz="1600" dirty="0"/>
          </a:p>
        </p:txBody>
      </p:sp>
      <p:sp>
        <p:nvSpPr>
          <p:cNvPr id="45" name="Shape 42"/>
          <p:cNvSpPr/>
          <p:nvPr/>
        </p:nvSpPr>
        <p:spPr>
          <a:xfrm>
            <a:off x="10317718" y="5579269"/>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5C677D"/>
          </a:solidFill>
          <a:ln/>
        </p:spPr>
      </p:sp>
      <p:sp>
        <p:nvSpPr>
          <p:cNvPr id="46" name="Shape 43"/>
          <p:cNvSpPr/>
          <p:nvPr/>
        </p:nvSpPr>
        <p:spPr>
          <a:xfrm>
            <a:off x="10886718" y="5341144"/>
            <a:ext cx="381000" cy="381000"/>
          </a:xfrm>
          <a:prstGeom prst="roundRect">
            <a:avLst>
              <a:gd name="adj" fmla="val 50000"/>
            </a:avLst>
          </a:prstGeom>
          <a:solidFill>
            <a:srgbClr val="3A86FF"/>
          </a:solidFill>
          <a:ln/>
        </p:spPr>
      </p:sp>
      <p:sp>
        <p:nvSpPr>
          <p:cNvPr id="47" name="Shape 44"/>
          <p:cNvSpPr/>
          <p:nvPr/>
        </p:nvSpPr>
        <p:spPr>
          <a:xfrm>
            <a:off x="11004590" y="5464969"/>
            <a:ext cx="150019" cy="133350"/>
          </a:xfrm>
          <a:custGeom>
            <a:avLst/>
            <a:gdLst/>
            <a:ahLst/>
            <a:cxnLst/>
            <a:rect l="l" t="t" r="r" b="b"/>
            <a:pathLst>
              <a:path w="150019" h="133350">
                <a:moveTo>
                  <a:pt x="8334" y="12502"/>
                </a:moveTo>
                <a:cubicBezTo>
                  <a:pt x="8334" y="5600"/>
                  <a:pt x="13934" y="0"/>
                  <a:pt x="20836" y="0"/>
                </a:cubicBezTo>
                <a:lnTo>
                  <a:pt x="33337" y="0"/>
                </a:lnTo>
                <a:cubicBezTo>
                  <a:pt x="37947" y="0"/>
                  <a:pt x="41672" y="3724"/>
                  <a:pt x="41672" y="8334"/>
                </a:cubicBezTo>
                <a:cubicBezTo>
                  <a:pt x="41672" y="12944"/>
                  <a:pt x="37947" y="16669"/>
                  <a:pt x="33337" y="16669"/>
                </a:cubicBezTo>
                <a:lnTo>
                  <a:pt x="25003" y="16669"/>
                </a:lnTo>
                <a:lnTo>
                  <a:pt x="25003" y="50006"/>
                </a:lnTo>
                <a:cubicBezTo>
                  <a:pt x="25003" y="63810"/>
                  <a:pt x="36202" y="75009"/>
                  <a:pt x="50006" y="75009"/>
                </a:cubicBezTo>
                <a:cubicBezTo>
                  <a:pt x="63810" y="75009"/>
                  <a:pt x="75009" y="63810"/>
                  <a:pt x="75009" y="50006"/>
                </a:cubicBezTo>
                <a:lnTo>
                  <a:pt x="75009" y="16669"/>
                </a:lnTo>
                <a:lnTo>
                  <a:pt x="66675" y="16669"/>
                </a:lnTo>
                <a:cubicBezTo>
                  <a:pt x="62065" y="16669"/>
                  <a:pt x="58341" y="12944"/>
                  <a:pt x="58341" y="8334"/>
                </a:cubicBezTo>
                <a:cubicBezTo>
                  <a:pt x="58341" y="3724"/>
                  <a:pt x="62065" y="0"/>
                  <a:pt x="66675" y="0"/>
                </a:cubicBezTo>
                <a:lnTo>
                  <a:pt x="79177" y="0"/>
                </a:lnTo>
                <a:cubicBezTo>
                  <a:pt x="86078" y="0"/>
                  <a:pt x="91678" y="5600"/>
                  <a:pt x="91678" y="12502"/>
                </a:cubicBezTo>
                <a:lnTo>
                  <a:pt x="91678" y="50006"/>
                </a:lnTo>
                <a:cubicBezTo>
                  <a:pt x="91678" y="70165"/>
                  <a:pt x="77353" y="86990"/>
                  <a:pt x="58341" y="90845"/>
                </a:cubicBezTo>
                <a:lnTo>
                  <a:pt x="58341" y="95845"/>
                </a:lnTo>
                <a:cubicBezTo>
                  <a:pt x="58341" y="111967"/>
                  <a:pt x="71389" y="125016"/>
                  <a:pt x="87511" y="125016"/>
                </a:cubicBezTo>
                <a:cubicBezTo>
                  <a:pt x="103633" y="125016"/>
                  <a:pt x="116681" y="111967"/>
                  <a:pt x="116681" y="95845"/>
                </a:cubicBezTo>
                <a:lnTo>
                  <a:pt x="116681" y="73577"/>
                </a:lnTo>
                <a:cubicBezTo>
                  <a:pt x="106966" y="70139"/>
                  <a:pt x="100013" y="60893"/>
                  <a:pt x="100013" y="50006"/>
                </a:cubicBezTo>
                <a:cubicBezTo>
                  <a:pt x="100013" y="36202"/>
                  <a:pt x="111212" y="25003"/>
                  <a:pt x="125016" y="25003"/>
                </a:cubicBezTo>
                <a:cubicBezTo>
                  <a:pt x="138819" y="25003"/>
                  <a:pt x="150019" y="36202"/>
                  <a:pt x="150019" y="50006"/>
                </a:cubicBezTo>
                <a:cubicBezTo>
                  <a:pt x="150019" y="60893"/>
                  <a:pt x="143065" y="70165"/>
                  <a:pt x="133350" y="73577"/>
                </a:cubicBezTo>
                <a:lnTo>
                  <a:pt x="133350" y="95845"/>
                </a:lnTo>
                <a:cubicBezTo>
                  <a:pt x="133350" y="121161"/>
                  <a:pt x="112827" y="141684"/>
                  <a:pt x="87511" y="141684"/>
                </a:cubicBezTo>
                <a:cubicBezTo>
                  <a:pt x="62195" y="141684"/>
                  <a:pt x="41672" y="121161"/>
                  <a:pt x="41672" y="95845"/>
                </a:cubicBezTo>
                <a:lnTo>
                  <a:pt x="41672" y="90845"/>
                </a:lnTo>
                <a:cubicBezTo>
                  <a:pt x="22659" y="86990"/>
                  <a:pt x="8334" y="70165"/>
                  <a:pt x="8334" y="50006"/>
                </a:cubicBezTo>
                <a:lnTo>
                  <a:pt x="8334" y="12502"/>
                </a:lnTo>
                <a:close/>
                <a:moveTo>
                  <a:pt x="125016" y="58341"/>
                </a:moveTo>
                <a:cubicBezTo>
                  <a:pt x="129615" y="58341"/>
                  <a:pt x="133350" y="54606"/>
                  <a:pt x="133350" y="50006"/>
                </a:cubicBezTo>
                <a:cubicBezTo>
                  <a:pt x="133350" y="45406"/>
                  <a:pt x="129615" y="41672"/>
                  <a:pt x="125016" y="41672"/>
                </a:cubicBezTo>
                <a:cubicBezTo>
                  <a:pt x="120416" y="41672"/>
                  <a:pt x="116681" y="45406"/>
                  <a:pt x="116681" y="50006"/>
                </a:cubicBezTo>
                <a:cubicBezTo>
                  <a:pt x="116681" y="54606"/>
                  <a:pt x="120416" y="58341"/>
                  <a:pt x="125016" y="58341"/>
                </a:cubicBezTo>
                <a:close/>
              </a:path>
            </a:pathLst>
          </a:custGeom>
          <a:solidFill>
            <a:srgbClr val="F1FAEE"/>
          </a:solidFill>
          <a:ln/>
        </p:spPr>
      </p:sp>
      <p:sp>
        <p:nvSpPr>
          <p:cNvPr id="48" name="Text 45"/>
          <p:cNvSpPr/>
          <p:nvPr/>
        </p:nvSpPr>
        <p:spPr>
          <a:xfrm>
            <a:off x="10432018" y="5760244"/>
            <a:ext cx="1285875" cy="190500"/>
          </a:xfrm>
          <a:prstGeom prst="rect">
            <a:avLst/>
          </a:prstGeom>
          <a:noFill/>
          <a:ln/>
        </p:spPr>
        <p:txBody>
          <a:bodyPr wrap="square" lIns="0" tIns="0" rIns="0" bIns="0" rtlCol="0" anchor="ctr"/>
          <a:lstStyle/>
          <a:p>
            <a:pPr algn="ctr">
              <a:lnSpc>
                <a:spcPct val="120000"/>
              </a:lnSpc>
            </a:pPr>
            <a:r>
              <a:rPr lang="en-US" sz="1050" dirty="0">
                <a:solidFill>
                  <a:srgbClr val="F1FAEE"/>
                </a:solidFill>
                <a:latin typeface="Liter" pitchFamily="34" charset="0"/>
                <a:ea typeface="Liter" pitchFamily="34" charset="-122"/>
                <a:cs typeface="Liter" pitchFamily="34" charset="-120"/>
              </a:rPr>
              <a:t>Diagnosis</a:t>
            </a:r>
            <a:endParaRPr lang="en-US" sz="1600" dirty="0"/>
          </a:p>
        </p:txBody>
      </p:sp>
      <p:sp>
        <p:nvSpPr>
          <p:cNvPr id="49" name="Shape 46"/>
          <p:cNvSpPr/>
          <p:nvPr/>
        </p:nvSpPr>
        <p:spPr>
          <a:xfrm>
            <a:off x="400050" y="6148864"/>
            <a:ext cx="11410950" cy="457200"/>
          </a:xfrm>
          <a:custGeom>
            <a:avLst/>
            <a:gdLst/>
            <a:ahLst/>
            <a:cxnLst/>
            <a:rect l="l" t="t" r="r" b="b"/>
            <a:pathLst>
              <a:path w="11410950" h="457200">
                <a:moveTo>
                  <a:pt x="38100" y="0"/>
                </a:moveTo>
                <a:lnTo>
                  <a:pt x="11334750" y="0"/>
                </a:lnTo>
                <a:cubicBezTo>
                  <a:pt x="11376806" y="0"/>
                  <a:pt x="11410950" y="34144"/>
                  <a:pt x="11410950" y="76200"/>
                </a:cubicBezTo>
                <a:lnTo>
                  <a:pt x="11410950" y="381000"/>
                </a:lnTo>
                <a:cubicBezTo>
                  <a:pt x="11410950" y="423056"/>
                  <a:pt x="11376806" y="457200"/>
                  <a:pt x="11334750" y="457200"/>
                </a:cubicBezTo>
                <a:lnTo>
                  <a:pt x="38100" y="457200"/>
                </a:lnTo>
                <a:cubicBezTo>
                  <a:pt x="17072" y="457200"/>
                  <a:pt x="0" y="440128"/>
                  <a:pt x="0" y="419100"/>
                </a:cubicBezTo>
                <a:lnTo>
                  <a:pt x="0" y="38100"/>
                </a:lnTo>
                <a:cubicBezTo>
                  <a:pt x="0" y="17072"/>
                  <a:pt x="17072" y="0"/>
                  <a:pt x="38100" y="0"/>
                </a:cubicBezTo>
                <a:close/>
              </a:path>
            </a:pathLst>
          </a:custGeom>
          <a:solidFill>
            <a:srgbClr val="00B4D8">
              <a:alpha val="10196"/>
            </a:srgbClr>
          </a:solidFill>
          <a:ln/>
        </p:spPr>
      </p:sp>
      <p:sp>
        <p:nvSpPr>
          <p:cNvPr id="50" name="Shape 47"/>
          <p:cNvSpPr/>
          <p:nvPr/>
        </p:nvSpPr>
        <p:spPr>
          <a:xfrm>
            <a:off x="400050" y="6148864"/>
            <a:ext cx="38100" cy="457200"/>
          </a:xfrm>
          <a:custGeom>
            <a:avLst/>
            <a:gdLst/>
            <a:ahLst/>
            <a:cxnLst/>
            <a:rect l="l" t="t" r="r" b="b"/>
            <a:pathLst>
              <a:path w="38100" h="457200">
                <a:moveTo>
                  <a:pt x="38100" y="0"/>
                </a:moveTo>
                <a:lnTo>
                  <a:pt x="38100" y="0"/>
                </a:lnTo>
                <a:lnTo>
                  <a:pt x="38100" y="457200"/>
                </a:lnTo>
                <a:lnTo>
                  <a:pt x="38100" y="457200"/>
                </a:lnTo>
                <a:cubicBezTo>
                  <a:pt x="17072" y="457200"/>
                  <a:pt x="0" y="440128"/>
                  <a:pt x="0" y="419100"/>
                </a:cubicBezTo>
                <a:lnTo>
                  <a:pt x="0" y="38100"/>
                </a:lnTo>
                <a:cubicBezTo>
                  <a:pt x="0" y="17072"/>
                  <a:pt x="17072" y="0"/>
                  <a:pt x="38100" y="0"/>
                </a:cubicBezTo>
                <a:close/>
              </a:path>
            </a:pathLst>
          </a:custGeom>
          <a:solidFill>
            <a:srgbClr val="00B4D8"/>
          </a:solidFill>
          <a:ln/>
        </p:spPr>
      </p:sp>
      <p:sp>
        <p:nvSpPr>
          <p:cNvPr id="51" name="Shape 48"/>
          <p:cNvSpPr/>
          <p:nvPr/>
        </p:nvSpPr>
        <p:spPr>
          <a:xfrm>
            <a:off x="552450" y="629364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52388"/>
                </a:moveTo>
                <a:cubicBezTo>
                  <a:pt x="70931" y="52388"/>
                  <a:pt x="66675" y="56644"/>
                  <a:pt x="66675" y="61912"/>
                </a:cubicBezTo>
                <a:cubicBezTo>
                  <a:pt x="66675" y="65871"/>
                  <a:pt x="63490" y="69056"/>
                  <a:pt x="59531" y="69056"/>
                </a:cubicBezTo>
                <a:cubicBezTo>
                  <a:pt x="55572" y="69056"/>
                  <a:pt x="52388" y="65871"/>
                  <a:pt x="52388" y="61912"/>
                </a:cubicBezTo>
                <a:cubicBezTo>
                  <a:pt x="52388" y="48756"/>
                  <a:pt x="63044" y="38100"/>
                  <a:pt x="76200" y="38100"/>
                </a:cubicBezTo>
                <a:cubicBezTo>
                  <a:pt x="89356" y="38100"/>
                  <a:pt x="100013" y="48756"/>
                  <a:pt x="100013" y="61912"/>
                </a:cubicBezTo>
                <a:cubicBezTo>
                  <a:pt x="100013" y="75962"/>
                  <a:pt x="89297" y="81915"/>
                  <a:pt x="83344" y="84088"/>
                </a:cubicBezTo>
                <a:lnTo>
                  <a:pt x="83344" y="85219"/>
                </a:lnTo>
                <a:cubicBezTo>
                  <a:pt x="83344" y="89178"/>
                  <a:pt x="80159" y="92363"/>
                  <a:pt x="76200" y="92363"/>
                </a:cubicBezTo>
                <a:cubicBezTo>
                  <a:pt x="72241" y="92363"/>
                  <a:pt x="69056" y="89178"/>
                  <a:pt x="69056" y="85219"/>
                </a:cubicBezTo>
                <a:lnTo>
                  <a:pt x="69056" y="82808"/>
                </a:lnTo>
                <a:cubicBezTo>
                  <a:pt x="69056" y="76706"/>
                  <a:pt x="73462" y="72330"/>
                  <a:pt x="78016" y="70842"/>
                </a:cubicBezTo>
                <a:cubicBezTo>
                  <a:pt x="79921" y="70217"/>
                  <a:pt x="81945" y="69205"/>
                  <a:pt x="83433" y="67776"/>
                </a:cubicBezTo>
                <a:cubicBezTo>
                  <a:pt x="84713" y="66526"/>
                  <a:pt x="85725" y="64800"/>
                  <a:pt x="85725" y="61942"/>
                </a:cubicBezTo>
                <a:cubicBezTo>
                  <a:pt x="85725" y="56674"/>
                  <a:pt x="81469" y="52417"/>
                  <a:pt x="76200" y="52417"/>
                </a:cubicBezTo>
                <a:close/>
                <a:moveTo>
                  <a:pt x="66675" y="109537"/>
                </a:moveTo>
                <a:cubicBezTo>
                  <a:pt x="66675" y="104281"/>
                  <a:pt x="70943" y="100013"/>
                  <a:pt x="76200" y="100013"/>
                </a:cubicBezTo>
                <a:cubicBezTo>
                  <a:pt x="81457" y="100013"/>
                  <a:pt x="85725" y="104281"/>
                  <a:pt x="85725" y="109537"/>
                </a:cubicBezTo>
                <a:cubicBezTo>
                  <a:pt x="85725" y="114794"/>
                  <a:pt x="81457" y="119062"/>
                  <a:pt x="76200" y="119062"/>
                </a:cubicBezTo>
                <a:cubicBezTo>
                  <a:pt x="70943" y="119062"/>
                  <a:pt x="66675" y="114794"/>
                  <a:pt x="66675" y="109537"/>
                </a:cubicBezTo>
                <a:close/>
              </a:path>
            </a:pathLst>
          </a:custGeom>
          <a:solidFill>
            <a:srgbClr val="00B4D8"/>
          </a:solidFill>
          <a:ln/>
        </p:spPr>
      </p:sp>
      <p:sp>
        <p:nvSpPr>
          <p:cNvPr id="52" name="Text 49"/>
          <p:cNvSpPr/>
          <p:nvPr/>
        </p:nvSpPr>
        <p:spPr>
          <a:xfrm>
            <a:off x="781050" y="6263164"/>
            <a:ext cx="10991850" cy="228600"/>
          </a:xfrm>
          <a:prstGeom prst="rect">
            <a:avLst/>
          </a:prstGeom>
          <a:noFill/>
          <a:ln/>
        </p:spPr>
        <p:txBody>
          <a:bodyPr wrap="square" lIns="0" tIns="0" rIns="0" bIns="0" rtlCol="0" anchor="ctr"/>
          <a:lstStyle/>
          <a:p>
            <a:pPr>
              <a:lnSpc>
                <a:spcPct val="130000"/>
              </a:lnSpc>
            </a:pPr>
            <a:r>
              <a:rPr lang="en-US" sz="1200" b="1" dirty="0">
                <a:solidFill>
                  <a:srgbClr val="00B4D8"/>
                </a:solidFill>
                <a:latin typeface="Liter" pitchFamily="34" charset="0"/>
                <a:ea typeface="Liter" pitchFamily="34" charset="-122"/>
                <a:cs typeface="Liter" pitchFamily="34" charset="-120"/>
              </a:rPr>
              <a:t>Transition Question: If OCT scans are so detailed, can AI automatically interpret them accurately?</a:t>
            </a:r>
            <a:endParaRPr lang="en-US" sz="1600" dirty="0"/>
          </a:p>
        </p:txBody>
      </p:sp>
      <p:sp>
        <p:nvSpPr>
          <p:cNvPr id="53" name="Text 50"/>
          <p:cNvSpPr/>
          <p:nvPr/>
        </p:nvSpPr>
        <p:spPr>
          <a:xfrm>
            <a:off x="381000" y="6553319"/>
            <a:ext cx="26479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54" name="Text 51"/>
          <p:cNvSpPr/>
          <p:nvPr/>
        </p:nvSpPr>
        <p:spPr>
          <a:xfrm>
            <a:off x="11469529" y="6553319"/>
            <a:ext cx="4000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Slide 4</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0B4D8"/>
                </a:solidFill>
                <a:latin typeface="Liter" pitchFamily="34" charset="0"/>
                <a:ea typeface="Liter" pitchFamily="34" charset="-122"/>
                <a:cs typeface="Liter" pitchFamily="34" charset="-120"/>
              </a:rPr>
              <a:t>Artificial Intelligence</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F1FAEE"/>
                </a:solidFill>
                <a:latin typeface="Oranienbaum" pitchFamily="34" charset="0"/>
                <a:ea typeface="Oranienbaum" pitchFamily="34" charset="-122"/>
                <a:cs typeface="Oranienbaum" pitchFamily="34" charset="-120"/>
              </a:rPr>
              <a:t>Deep Learning in OCT Analysis</a:t>
            </a:r>
            <a:endParaRPr lang="en-US" sz="1600" dirty="0"/>
          </a:p>
        </p:txBody>
      </p:sp>
      <p:sp>
        <p:nvSpPr>
          <p:cNvPr id="4" name="Shape 2"/>
          <p:cNvSpPr/>
          <p:nvPr/>
        </p:nvSpPr>
        <p:spPr>
          <a:xfrm>
            <a:off x="381000" y="1181100"/>
            <a:ext cx="914400" cy="3810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84810" y="1434465"/>
            <a:ext cx="11418570" cy="1950720"/>
          </a:xfrm>
          <a:prstGeom prst="roundRect">
            <a:avLst>
              <a:gd name="adj" fmla="val 3906"/>
            </a:avLst>
          </a:prstGeom>
          <a:solidFill>
            <a:srgbClr val="112240"/>
          </a:solidFill>
          <a:ln w="10160">
            <a:solidFill>
              <a:srgbClr val="3A86FF"/>
            </a:solidFill>
            <a:prstDash val="solid"/>
          </a:ln>
        </p:spPr>
      </p:sp>
      <p:sp>
        <p:nvSpPr>
          <p:cNvPr id="6" name="Shape 4"/>
          <p:cNvSpPr/>
          <p:nvPr/>
        </p:nvSpPr>
        <p:spPr>
          <a:xfrm>
            <a:off x="602932" y="1666875"/>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3A86FF"/>
          </a:solidFill>
          <a:ln/>
        </p:spPr>
      </p:sp>
      <p:sp>
        <p:nvSpPr>
          <p:cNvPr id="7" name="Text 5"/>
          <p:cNvSpPr/>
          <p:nvPr/>
        </p:nvSpPr>
        <p:spPr>
          <a:xfrm>
            <a:off x="817245" y="1628775"/>
            <a:ext cx="10887075" cy="266700"/>
          </a:xfrm>
          <a:prstGeom prst="rect">
            <a:avLst/>
          </a:prstGeom>
          <a:noFill/>
          <a:ln/>
        </p:spPr>
        <p:txBody>
          <a:bodyPr wrap="square" lIns="0" tIns="0" rIns="0" bIns="0" rtlCol="0" anchor="ctr"/>
          <a:lstStyle/>
          <a:p>
            <a:pPr>
              <a:lnSpc>
                <a:spcPct val="120000"/>
              </a:lnSpc>
            </a:pPr>
            <a:r>
              <a:rPr lang="en-US" sz="1500" b="1" dirty="0">
                <a:solidFill>
                  <a:srgbClr val="3A86FF"/>
                </a:solidFill>
                <a:latin typeface="Liter" pitchFamily="34" charset="0"/>
                <a:ea typeface="Liter" pitchFamily="34" charset="-122"/>
                <a:cs typeface="Liter" pitchFamily="34" charset="-120"/>
              </a:rPr>
              <a:t>CNN-Based Automated Classification Pipeline</a:t>
            </a:r>
            <a:endParaRPr lang="en-US" sz="1600" dirty="0"/>
          </a:p>
        </p:txBody>
      </p:sp>
      <p:sp>
        <p:nvSpPr>
          <p:cNvPr id="8" name="Shape 6"/>
          <p:cNvSpPr/>
          <p:nvPr/>
        </p:nvSpPr>
        <p:spPr>
          <a:xfrm>
            <a:off x="1263372" y="2047875"/>
            <a:ext cx="609600" cy="609600"/>
          </a:xfrm>
          <a:prstGeom prst="roundRect">
            <a:avLst>
              <a:gd name="adj" fmla="val 50000"/>
            </a:avLst>
          </a:prstGeom>
          <a:solidFill>
            <a:srgbClr val="3A86FF"/>
          </a:solidFill>
          <a:ln/>
        </p:spPr>
      </p:sp>
      <p:sp>
        <p:nvSpPr>
          <p:cNvPr id="9" name="Shape 7"/>
          <p:cNvSpPr/>
          <p:nvPr/>
        </p:nvSpPr>
        <p:spPr>
          <a:xfrm>
            <a:off x="1468160" y="2238375"/>
            <a:ext cx="200025" cy="228600"/>
          </a:xfrm>
          <a:custGeom>
            <a:avLst/>
            <a:gdLst/>
            <a:ahLst/>
            <a:cxnLst/>
            <a:rect l="l" t="t" r="r" b="b"/>
            <a:pathLst>
              <a:path w="200025" h="228600">
                <a:moveTo>
                  <a:pt x="28575" y="14288"/>
                </a:moveTo>
                <a:cubicBezTo>
                  <a:pt x="12814" y="14288"/>
                  <a:pt x="0" y="27102"/>
                  <a:pt x="0" y="42863"/>
                </a:cubicBezTo>
                <a:lnTo>
                  <a:pt x="0" y="185738"/>
                </a:lnTo>
                <a:cubicBezTo>
                  <a:pt x="0" y="201498"/>
                  <a:pt x="12814" y="214313"/>
                  <a:pt x="28575" y="214313"/>
                </a:cubicBezTo>
                <a:lnTo>
                  <a:pt x="171450" y="214313"/>
                </a:lnTo>
                <a:cubicBezTo>
                  <a:pt x="187211" y="214313"/>
                  <a:pt x="200025" y="201498"/>
                  <a:pt x="200025" y="185738"/>
                </a:cubicBezTo>
                <a:lnTo>
                  <a:pt x="200025" y="42863"/>
                </a:lnTo>
                <a:cubicBezTo>
                  <a:pt x="200025" y="27102"/>
                  <a:pt x="187211" y="14288"/>
                  <a:pt x="171450" y="14288"/>
                </a:cubicBezTo>
                <a:lnTo>
                  <a:pt x="28575" y="14288"/>
                </a:lnTo>
                <a:close/>
                <a:moveTo>
                  <a:pt x="57150" y="50006"/>
                </a:moveTo>
                <a:cubicBezTo>
                  <a:pt x="68978" y="50006"/>
                  <a:pt x="78581" y="59609"/>
                  <a:pt x="78581" y="71438"/>
                </a:cubicBezTo>
                <a:cubicBezTo>
                  <a:pt x="78581" y="83266"/>
                  <a:pt x="68978" y="92869"/>
                  <a:pt x="57150" y="92869"/>
                </a:cubicBezTo>
                <a:cubicBezTo>
                  <a:pt x="45322" y="92869"/>
                  <a:pt x="35719" y="83266"/>
                  <a:pt x="35719" y="71438"/>
                </a:cubicBezTo>
                <a:cubicBezTo>
                  <a:pt x="35719" y="59609"/>
                  <a:pt x="45322" y="50006"/>
                  <a:pt x="57150" y="50006"/>
                </a:cubicBezTo>
                <a:close/>
                <a:moveTo>
                  <a:pt x="121444" y="100013"/>
                </a:moveTo>
                <a:cubicBezTo>
                  <a:pt x="125194" y="100013"/>
                  <a:pt x="128632" y="101977"/>
                  <a:pt x="130597" y="105147"/>
                </a:cubicBezTo>
                <a:lnTo>
                  <a:pt x="169887" y="169441"/>
                </a:lnTo>
                <a:cubicBezTo>
                  <a:pt x="171896" y="172745"/>
                  <a:pt x="171986" y="176897"/>
                  <a:pt x="170111" y="180290"/>
                </a:cubicBezTo>
                <a:cubicBezTo>
                  <a:pt x="168235" y="183684"/>
                  <a:pt x="164619" y="185738"/>
                  <a:pt x="160734" y="185738"/>
                </a:cubicBezTo>
                <a:lnTo>
                  <a:pt x="39291" y="185738"/>
                </a:lnTo>
                <a:cubicBezTo>
                  <a:pt x="35317" y="185738"/>
                  <a:pt x="31611" y="183505"/>
                  <a:pt x="29781" y="179978"/>
                </a:cubicBezTo>
                <a:cubicBezTo>
                  <a:pt x="27950" y="176451"/>
                  <a:pt x="28218" y="172164"/>
                  <a:pt x="30495" y="168905"/>
                </a:cubicBezTo>
                <a:lnTo>
                  <a:pt x="55498" y="133186"/>
                </a:lnTo>
                <a:cubicBezTo>
                  <a:pt x="57507" y="130329"/>
                  <a:pt x="60767" y="128632"/>
                  <a:pt x="64294" y="128632"/>
                </a:cubicBezTo>
                <a:cubicBezTo>
                  <a:pt x="67821" y="128632"/>
                  <a:pt x="71080" y="130329"/>
                  <a:pt x="73089" y="133186"/>
                </a:cubicBezTo>
                <a:lnTo>
                  <a:pt x="84877" y="150063"/>
                </a:lnTo>
                <a:lnTo>
                  <a:pt x="112291" y="105192"/>
                </a:lnTo>
                <a:cubicBezTo>
                  <a:pt x="114255" y="102022"/>
                  <a:pt x="117693" y="100057"/>
                  <a:pt x="121444" y="100057"/>
                </a:cubicBezTo>
                <a:close/>
              </a:path>
            </a:pathLst>
          </a:custGeom>
          <a:solidFill>
            <a:srgbClr val="F1FAEE"/>
          </a:solidFill>
          <a:ln/>
        </p:spPr>
      </p:sp>
      <p:sp>
        <p:nvSpPr>
          <p:cNvPr id="10" name="Text 8"/>
          <p:cNvSpPr/>
          <p:nvPr/>
        </p:nvSpPr>
        <p:spPr>
          <a:xfrm>
            <a:off x="541020" y="2733675"/>
            <a:ext cx="2057400" cy="228600"/>
          </a:xfrm>
          <a:prstGeom prst="rect">
            <a:avLst/>
          </a:prstGeom>
          <a:noFill/>
          <a:ln/>
        </p:spPr>
        <p:txBody>
          <a:bodyPr wrap="square" lIns="0" tIns="0" rIns="0" bIns="0" rtlCol="0" anchor="ctr"/>
          <a:lstStyle/>
          <a:p>
            <a:pPr algn="ctr">
              <a:lnSpc>
                <a:spcPct val="130000"/>
              </a:lnSpc>
            </a:pPr>
            <a:r>
              <a:rPr lang="en-US" sz="1200" b="1" dirty="0">
                <a:solidFill>
                  <a:srgbClr val="F1FAEE"/>
                </a:solidFill>
                <a:latin typeface="Liter" pitchFamily="34" charset="0"/>
                <a:ea typeface="Liter" pitchFamily="34" charset="-122"/>
                <a:cs typeface="Liter" pitchFamily="34" charset="-120"/>
              </a:rPr>
              <a:t>OCT Scan</a:t>
            </a:r>
            <a:endParaRPr lang="en-US" sz="1600" dirty="0"/>
          </a:p>
        </p:txBody>
      </p:sp>
      <p:sp>
        <p:nvSpPr>
          <p:cNvPr id="11" name="Text 9"/>
          <p:cNvSpPr/>
          <p:nvPr/>
        </p:nvSpPr>
        <p:spPr>
          <a:xfrm>
            <a:off x="545782" y="3000375"/>
            <a:ext cx="2047875" cy="190500"/>
          </a:xfrm>
          <a:prstGeom prst="rect">
            <a:avLst/>
          </a:prstGeom>
          <a:noFill/>
          <a:ln/>
        </p:spPr>
        <p:txBody>
          <a:bodyPr wrap="square" lIns="0" tIns="0" rIns="0" bIns="0" rtlCol="0" anchor="ctr"/>
          <a:lstStyle/>
          <a:p>
            <a:pPr algn="ctr">
              <a:lnSpc>
                <a:spcPct val="120000"/>
              </a:lnSpc>
            </a:pPr>
            <a:r>
              <a:rPr lang="en-US" sz="1050" dirty="0">
                <a:solidFill>
                  <a:srgbClr val="5C677D"/>
                </a:solidFill>
                <a:latin typeface="Liter" pitchFamily="34" charset="0"/>
                <a:ea typeface="Liter" pitchFamily="34" charset="-122"/>
                <a:cs typeface="Liter" pitchFamily="34" charset="-120"/>
              </a:rPr>
              <a:t>224×224 input</a:t>
            </a:r>
            <a:endParaRPr lang="en-US" sz="1600" dirty="0"/>
          </a:p>
        </p:txBody>
      </p:sp>
      <p:sp>
        <p:nvSpPr>
          <p:cNvPr id="12" name="Shape 10"/>
          <p:cNvSpPr/>
          <p:nvPr/>
        </p:nvSpPr>
        <p:spPr>
          <a:xfrm>
            <a:off x="2585799" y="250507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5C677D"/>
          </a:solidFill>
          <a:ln/>
        </p:spPr>
      </p:sp>
      <p:sp>
        <p:nvSpPr>
          <p:cNvPr id="13" name="Shape 11"/>
          <p:cNvSpPr/>
          <p:nvPr/>
        </p:nvSpPr>
        <p:spPr>
          <a:xfrm>
            <a:off x="3527227" y="2047875"/>
            <a:ext cx="609600" cy="609600"/>
          </a:xfrm>
          <a:prstGeom prst="roundRect">
            <a:avLst>
              <a:gd name="adj" fmla="val 50000"/>
            </a:avLst>
          </a:prstGeom>
          <a:solidFill>
            <a:srgbClr val="00B4D8"/>
          </a:solidFill>
          <a:ln/>
        </p:spPr>
      </p:sp>
      <p:sp>
        <p:nvSpPr>
          <p:cNvPr id="14" name="Shape 12"/>
          <p:cNvSpPr/>
          <p:nvPr/>
        </p:nvSpPr>
        <p:spPr>
          <a:xfrm>
            <a:off x="3703439" y="2238375"/>
            <a:ext cx="257175" cy="228600"/>
          </a:xfrm>
          <a:custGeom>
            <a:avLst/>
            <a:gdLst/>
            <a:ahLst/>
            <a:cxnLst/>
            <a:rect l="l" t="t" r="r" b="b"/>
            <a:pathLst>
              <a:path w="257175" h="228600">
                <a:moveTo>
                  <a:pt x="110728" y="39291"/>
                </a:moveTo>
                <a:lnTo>
                  <a:pt x="146447" y="39291"/>
                </a:lnTo>
                <a:lnTo>
                  <a:pt x="146447" y="60722"/>
                </a:lnTo>
                <a:lnTo>
                  <a:pt x="110728" y="60722"/>
                </a:lnTo>
                <a:lnTo>
                  <a:pt x="110728" y="39291"/>
                </a:lnTo>
                <a:close/>
                <a:moveTo>
                  <a:pt x="107156" y="14288"/>
                </a:moveTo>
                <a:cubicBezTo>
                  <a:pt x="95324" y="14288"/>
                  <a:pt x="85725" y="23887"/>
                  <a:pt x="85725" y="35719"/>
                </a:cubicBezTo>
                <a:lnTo>
                  <a:pt x="85725" y="64294"/>
                </a:lnTo>
                <a:cubicBezTo>
                  <a:pt x="85725" y="76126"/>
                  <a:pt x="95324" y="85725"/>
                  <a:pt x="107156" y="85725"/>
                </a:cubicBezTo>
                <a:lnTo>
                  <a:pt x="114300" y="85725"/>
                </a:lnTo>
                <a:lnTo>
                  <a:pt x="114300" y="100013"/>
                </a:lnTo>
                <a:lnTo>
                  <a:pt x="14288" y="100013"/>
                </a:lnTo>
                <a:cubicBezTo>
                  <a:pt x="6385" y="100013"/>
                  <a:pt x="0" y="106397"/>
                  <a:pt x="0" y="114300"/>
                </a:cubicBezTo>
                <a:cubicBezTo>
                  <a:pt x="0" y="122203"/>
                  <a:pt x="6385" y="128588"/>
                  <a:pt x="14288" y="128588"/>
                </a:cubicBezTo>
                <a:lnTo>
                  <a:pt x="57150" y="128588"/>
                </a:lnTo>
                <a:lnTo>
                  <a:pt x="57150" y="142875"/>
                </a:lnTo>
                <a:lnTo>
                  <a:pt x="50006" y="142875"/>
                </a:lnTo>
                <a:cubicBezTo>
                  <a:pt x="38174" y="142875"/>
                  <a:pt x="28575" y="152474"/>
                  <a:pt x="28575" y="164306"/>
                </a:cubicBezTo>
                <a:lnTo>
                  <a:pt x="28575" y="192881"/>
                </a:lnTo>
                <a:cubicBezTo>
                  <a:pt x="28575" y="204713"/>
                  <a:pt x="38174" y="214313"/>
                  <a:pt x="50006" y="214313"/>
                </a:cubicBezTo>
                <a:lnTo>
                  <a:pt x="92869" y="214313"/>
                </a:lnTo>
                <a:cubicBezTo>
                  <a:pt x="104701" y="214313"/>
                  <a:pt x="114300" y="204713"/>
                  <a:pt x="114300" y="192881"/>
                </a:cubicBezTo>
                <a:lnTo>
                  <a:pt x="114300" y="164306"/>
                </a:lnTo>
                <a:cubicBezTo>
                  <a:pt x="114300" y="152474"/>
                  <a:pt x="104701" y="142875"/>
                  <a:pt x="92869" y="142875"/>
                </a:cubicBezTo>
                <a:lnTo>
                  <a:pt x="85725" y="142875"/>
                </a:lnTo>
                <a:lnTo>
                  <a:pt x="85725" y="128588"/>
                </a:lnTo>
                <a:lnTo>
                  <a:pt x="171450" y="128588"/>
                </a:lnTo>
                <a:lnTo>
                  <a:pt x="171450" y="142875"/>
                </a:lnTo>
                <a:lnTo>
                  <a:pt x="164306" y="142875"/>
                </a:lnTo>
                <a:cubicBezTo>
                  <a:pt x="152474" y="142875"/>
                  <a:pt x="142875" y="152474"/>
                  <a:pt x="142875" y="164306"/>
                </a:cubicBezTo>
                <a:lnTo>
                  <a:pt x="142875" y="192881"/>
                </a:lnTo>
                <a:cubicBezTo>
                  <a:pt x="142875" y="204713"/>
                  <a:pt x="152474" y="214313"/>
                  <a:pt x="164306" y="214313"/>
                </a:cubicBezTo>
                <a:lnTo>
                  <a:pt x="207169" y="214313"/>
                </a:lnTo>
                <a:cubicBezTo>
                  <a:pt x="219001" y="214313"/>
                  <a:pt x="228600" y="204713"/>
                  <a:pt x="228600" y="192881"/>
                </a:cubicBezTo>
                <a:lnTo>
                  <a:pt x="228600" y="164306"/>
                </a:lnTo>
                <a:cubicBezTo>
                  <a:pt x="228600" y="152474"/>
                  <a:pt x="219001" y="142875"/>
                  <a:pt x="207169" y="142875"/>
                </a:cubicBezTo>
                <a:lnTo>
                  <a:pt x="200025" y="142875"/>
                </a:lnTo>
                <a:lnTo>
                  <a:pt x="200025" y="128588"/>
                </a:lnTo>
                <a:lnTo>
                  <a:pt x="242888" y="128588"/>
                </a:lnTo>
                <a:cubicBezTo>
                  <a:pt x="250790" y="128588"/>
                  <a:pt x="257175" y="122203"/>
                  <a:pt x="257175" y="114300"/>
                </a:cubicBezTo>
                <a:cubicBezTo>
                  <a:pt x="257175" y="106397"/>
                  <a:pt x="250790" y="100013"/>
                  <a:pt x="242888" y="100013"/>
                </a:cubicBezTo>
                <a:lnTo>
                  <a:pt x="142875" y="100013"/>
                </a:lnTo>
                <a:lnTo>
                  <a:pt x="142875" y="85725"/>
                </a:lnTo>
                <a:lnTo>
                  <a:pt x="150019" y="85725"/>
                </a:lnTo>
                <a:cubicBezTo>
                  <a:pt x="161851" y="85725"/>
                  <a:pt x="171450" y="76126"/>
                  <a:pt x="171450" y="64294"/>
                </a:cubicBezTo>
                <a:lnTo>
                  <a:pt x="171450" y="35719"/>
                </a:lnTo>
                <a:cubicBezTo>
                  <a:pt x="171450" y="23887"/>
                  <a:pt x="161851" y="14288"/>
                  <a:pt x="150019" y="14288"/>
                </a:cubicBezTo>
                <a:lnTo>
                  <a:pt x="107156" y="14288"/>
                </a:lnTo>
                <a:close/>
                <a:moveTo>
                  <a:pt x="200025" y="167878"/>
                </a:moveTo>
                <a:lnTo>
                  <a:pt x="203597" y="167878"/>
                </a:lnTo>
                <a:lnTo>
                  <a:pt x="203597" y="189309"/>
                </a:lnTo>
                <a:lnTo>
                  <a:pt x="167878" y="189309"/>
                </a:lnTo>
                <a:lnTo>
                  <a:pt x="167878" y="167878"/>
                </a:lnTo>
                <a:lnTo>
                  <a:pt x="200025" y="167878"/>
                </a:lnTo>
                <a:close/>
                <a:moveTo>
                  <a:pt x="85725" y="167878"/>
                </a:moveTo>
                <a:lnTo>
                  <a:pt x="89297" y="167878"/>
                </a:lnTo>
                <a:lnTo>
                  <a:pt x="89297" y="189309"/>
                </a:lnTo>
                <a:lnTo>
                  <a:pt x="53578" y="189309"/>
                </a:lnTo>
                <a:lnTo>
                  <a:pt x="53578" y="167878"/>
                </a:lnTo>
                <a:lnTo>
                  <a:pt x="85725" y="167878"/>
                </a:lnTo>
                <a:close/>
              </a:path>
            </a:pathLst>
          </a:custGeom>
          <a:solidFill>
            <a:srgbClr val="F1FAEE"/>
          </a:solidFill>
          <a:ln/>
        </p:spPr>
      </p:sp>
      <p:sp>
        <p:nvSpPr>
          <p:cNvPr id="15" name="Text 13"/>
          <p:cNvSpPr/>
          <p:nvPr/>
        </p:nvSpPr>
        <p:spPr>
          <a:xfrm>
            <a:off x="2804874" y="2733675"/>
            <a:ext cx="2057400" cy="228600"/>
          </a:xfrm>
          <a:prstGeom prst="rect">
            <a:avLst/>
          </a:prstGeom>
          <a:noFill/>
          <a:ln/>
        </p:spPr>
        <p:txBody>
          <a:bodyPr wrap="square" lIns="0" tIns="0" rIns="0" bIns="0" rtlCol="0" anchor="ctr"/>
          <a:lstStyle/>
          <a:p>
            <a:pPr algn="ctr">
              <a:lnSpc>
                <a:spcPct val="130000"/>
              </a:lnSpc>
            </a:pPr>
            <a:r>
              <a:rPr lang="en-US" sz="1200" b="1" dirty="0">
                <a:solidFill>
                  <a:srgbClr val="F1FAEE"/>
                </a:solidFill>
                <a:latin typeface="Liter" pitchFamily="34" charset="0"/>
                <a:ea typeface="Liter" pitchFamily="34" charset="-122"/>
                <a:cs typeface="Liter" pitchFamily="34" charset="-120"/>
              </a:rPr>
              <a:t>CNN Model</a:t>
            </a:r>
            <a:endParaRPr lang="en-US" sz="1600" dirty="0"/>
          </a:p>
        </p:txBody>
      </p:sp>
      <p:sp>
        <p:nvSpPr>
          <p:cNvPr id="16" name="Text 14"/>
          <p:cNvSpPr/>
          <p:nvPr/>
        </p:nvSpPr>
        <p:spPr>
          <a:xfrm>
            <a:off x="2809637" y="3000375"/>
            <a:ext cx="2047875" cy="190500"/>
          </a:xfrm>
          <a:prstGeom prst="rect">
            <a:avLst/>
          </a:prstGeom>
          <a:noFill/>
          <a:ln/>
        </p:spPr>
        <p:txBody>
          <a:bodyPr wrap="square" lIns="0" tIns="0" rIns="0" bIns="0" rtlCol="0" anchor="ctr"/>
          <a:lstStyle/>
          <a:p>
            <a:pPr algn="ctr">
              <a:lnSpc>
                <a:spcPct val="120000"/>
              </a:lnSpc>
            </a:pPr>
            <a:r>
              <a:rPr lang="en-US" sz="1050" dirty="0">
                <a:solidFill>
                  <a:srgbClr val="5C677D"/>
                </a:solidFill>
                <a:latin typeface="Liter" pitchFamily="34" charset="0"/>
                <a:ea typeface="Liter" pitchFamily="34" charset="-122"/>
                <a:cs typeface="Liter" pitchFamily="34" charset="-120"/>
              </a:rPr>
              <a:t>Feature extraction</a:t>
            </a:r>
            <a:endParaRPr lang="en-US" sz="1600" dirty="0"/>
          </a:p>
        </p:txBody>
      </p:sp>
      <p:sp>
        <p:nvSpPr>
          <p:cNvPr id="17" name="Shape 15"/>
          <p:cNvSpPr/>
          <p:nvPr/>
        </p:nvSpPr>
        <p:spPr>
          <a:xfrm>
            <a:off x="4849773" y="250507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5C677D"/>
          </a:solidFill>
          <a:ln/>
        </p:spPr>
      </p:sp>
      <p:sp>
        <p:nvSpPr>
          <p:cNvPr id="18" name="Shape 16"/>
          <p:cNvSpPr/>
          <p:nvPr/>
        </p:nvSpPr>
        <p:spPr>
          <a:xfrm>
            <a:off x="5791200" y="2047875"/>
            <a:ext cx="609600" cy="609600"/>
          </a:xfrm>
          <a:prstGeom prst="roundRect">
            <a:avLst>
              <a:gd name="adj" fmla="val 50000"/>
            </a:avLst>
          </a:prstGeom>
          <a:solidFill>
            <a:srgbClr val="5C677D"/>
          </a:solidFill>
          <a:ln/>
        </p:spPr>
      </p:sp>
      <p:sp>
        <p:nvSpPr>
          <p:cNvPr id="19" name="Shape 17"/>
          <p:cNvSpPr/>
          <p:nvPr/>
        </p:nvSpPr>
        <p:spPr>
          <a:xfrm>
            <a:off x="5981700" y="2238375"/>
            <a:ext cx="228600" cy="228600"/>
          </a:xfrm>
          <a:custGeom>
            <a:avLst/>
            <a:gdLst/>
            <a:ahLst/>
            <a:cxnLst/>
            <a:rect l="l" t="t" r="r" b="b"/>
            <a:pathLst>
              <a:path w="228600" h="228600">
                <a:moveTo>
                  <a:pt x="14288" y="28575"/>
                </a:moveTo>
                <a:cubicBezTo>
                  <a:pt x="8528" y="28575"/>
                  <a:pt x="3304" y="32058"/>
                  <a:pt x="1072" y="37415"/>
                </a:cubicBezTo>
                <a:cubicBezTo>
                  <a:pt x="-1161" y="42773"/>
                  <a:pt x="89" y="48890"/>
                  <a:pt x="4197" y="52953"/>
                </a:cubicBezTo>
                <a:lnTo>
                  <a:pt x="85725" y="134526"/>
                </a:lnTo>
                <a:lnTo>
                  <a:pt x="85725" y="185738"/>
                </a:lnTo>
                <a:cubicBezTo>
                  <a:pt x="85725" y="189533"/>
                  <a:pt x="87243" y="193149"/>
                  <a:pt x="89922" y="195828"/>
                </a:cubicBezTo>
                <a:lnTo>
                  <a:pt x="118497" y="224403"/>
                </a:lnTo>
                <a:cubicBezTo>
                  <a:pt x="122605" y="228511"/>
                  <a:pt x="128721" y="229716"/>
                  <a:pt x="134079" y="227484"/>
                </a:cubicBezTo>
                <a:cubicBezTo>
                  <a:pt x="139437" y="225251"/>
                  <a:pt x="142875" y="220072"/>
                  <a:pt x="142875" y="214313"/>
                </a:cubicBezTo>
                <a:lnTo>
                  <a:pt x="142875" y="134526"/>
                </a:lnTo>
                <a:lnTo>
                  <a:pt x="224403" y="52998"/>
                </a:lnTo>
                <a:cubicBezTo>
                  <a:pt x="228511" y="48890"/>
                  <a:pt x="229716" y="42773"/>
                  <a:pt x="227484" y="37415"/>
                </a:cubicBezTo>
                <a:cubicBezTo>
                  <a:pt x="225251" y="32058"/>
                  <a:pt x="220072" y="28575"/>
                  <a:pt x="214313" y="28575"/>
                </a:cubicBezTo>
                <a:lnTo>
                  <a:pt x="14288" y="28575"/>
                </a:lnTo>
                <a:close/>
              </a:path>
            </a:pathLst>
          </a:custGeom>
          <a:solidFill>
            <a:srgbClr val="F1FAEE"/>
          </a:solidFill>
          <a:ln/>
        </p:spPr>
      </p:sp>
      <p:sp>
        <p:nvSpPr>
          <p:cNvPr id="20" name="Text 18"/>
          <p:cNvSpPr/>
          <p:nvPr/>
        </p:nvSpPr>
        <p:spPr>
          <a:xfrm>
            <a:off x="5068848" y="2733675"/>
            <a:ext cx="2057400" cy="228600"/>
          </a:xfrm>
          <a:prstGeom prst="rect">
            <a:avLst/>
          </a:prstGeom>
          <a:noFill/>
          <a:ln/>
        </p:spPr>
        <p:txBody>
          <a:bodyPr wrap="square" lIns="0" tIns="0" rIns="0" bIns="0" rtlCol="0" anchor="ctr"/>
          <a:lstStyle/>
          <a:p>
            <a:pPr algn="ctr">
              <a:lnSpc>
                <a:spcPct val="130000"/>
              </a:lnSpc>
            </a:pPr>
            <a:r>
              <a:rPr lang="en-US" sz="1200" b="1" dirty="0">
                <a:solidFill>
                  <a:srgbClr val="F1FAEE"/>
                </a:solidFill>
                <a:latin typeface="Liter" pitchFamily="34" charset="0"/>
                <a:ea typeface="Liter" pitchFamily="34" charset="-122"/>
                <a:cs typeface="Liter" pitchFamily="34" charset="-120"/>
              </a:rPr>
              <a:t>Feature Maps</a:t>
            </a:r>
            <a:endParaRPr lang="en-US" sz="1600" dirty="0"/>
          </a:p>
        </p:txBody>
      </p:sp>
      <p:sp>
        <p:nvSpPr>
          <p:cNvPr id="21" name="Text 19"/>
          <p:cNvSpPr/>
          <p:nvPr/>
        </p:nvSpPr>
        <p:spPr>
          <a:xfrm>
            <a:off x="5073611" y="3000375"/>
            <a:ext cx="2047875" cy="190500"/>
          </a:xfrm>
          <a:prstGeom prst="rect">
            <a:avLst/>
          </a:prstGeom>
          <a:noFill/>
          <a:ln/>
        </p:spPr>
        <p:txBody>
          <a:bodyPr wrap="square" lIns="0" tIns="0" rIns="0" bIns="0" rtlCol="0" anchor="ctr"/>
          <a:lstStyle/>
          <a:p>
            <a:pPr algn="ctr">
              <a:lnSpc>
                <a:spcPct val="120000"/>
              </a:lnSpc>
            </a:pPr>
            <a:r>
              <a:rPr lang="en-US" sz="1050" dirty="0">
                <a:solidFill>
                  <a:srgbClr val="5C677D"/>
                </a:solidFill>
                <a:latin typeface="Liter" pitchFamily="34" charset="0"/>
                <a:ea typeface="Liter" pitchFamily="34" charset="-122"/>
                <a:cs typeface="Liter" pitchFamily="34" charset="-120"/>
              </a:rPr>
              <a:t>Hierarchical patterns</a:t>
            </a:r>
            <a:endParaRPr lang="en-US" sz="1600" dirty="0"/>
          </a:p>
        </p:txBody>
      </p:sp>
      <p:sp>
        <p:nvSpPr>
          <p:cNvPr id="22" name="Shape 20"/>
          <p:cNvSpPr/>
          <p:nvPr/>
        </p:nvSpPr>
        <p:spPr>
          <a:xfrm>
            <a:off x="7113627" y="250507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5C677D"/>
          </a:solidFill>
          <a:ln/>
        </p:spPr>
      </p:sp>
      <p:sp>
        <p:nvSpPr>
          <p:cNvPr id="23" name="Shape 21"/>
          <p:cNvSpPr/>
          <p:nvPr/>
        </p:nvSpPr>
        <p:spPr>
          <a:xfrm>
            <a:off x="8055054" y="2047875"/>
            <a:ext cx="609600" cy="609600"/>
          </a:xfrm>
          <a:prstGeom prst="roundRect">
            <a:avLst>
              <a:gd name="adj" fmla="val 50000"/>
            </a:avLst>
          </a:prstGeom>
          <a:solidFill>
            <a:srgbClr val="3A86FF"/>
          </a:solidFill>
          <a:ln/>
        </p:spPr>
      </p:sp>
      <p:sp>
        <p:nvSpPr>
          <p:cNvPr id="24" name="Shape 22"/>
          <p:cNvSpPr/>
          <p:nvPr/>
        </p:nvSpPr>
        <p:spPr>
          <a:xfrm>
            <a:off x="8231267" y="2238375"/>
            <a:ext cx="257175" cy="228600"/>
          </a:xfrm>
          <a:custGeom>
            <a:avLst/>
            <a:gdLst/>
            <a:ahLst/>
            <a:cxnLst/>
            <a:rect l="l" t="t" r="r" b="b"/>
            <a:pathLst>
              <a:path w="257175" h="228600">
                <a:moveTo>
                  <a:pt x="179130" y="17458"/>
                </a:moveTo>
                <a:lnTo>
                  <a:pt x="245299" y="84564"/>
                </a:lnTo>
                <a:cubicBezTo>
                  <a:pt x="257666" y="97110"/>
                  <a:pt x="257666" y="117202"/>
                  <a:pt x="245299" y="129748"/>
                </a:cubicBezTo>
                <a:lnTo>
                  <a:pt x="175468" y="200427"/>
                </a:lnTo>
                <a:cubicBezTo>
                  <a:pt x="171316" y="204624"/>
                  <a:pt x="164529" y="204668"/>
                  <a:pt x="160333" y="200516"/>
                </a:cubicBezTo>
                <a:cubicBezTo>
                  <a:pt x="156136" y="196364"/>
                  <a:pt x="156091" y="189577"/>
                  <a:pt x="160243" y="185380"/>
                </a:cubicBezTo>
                <a:lnTo>
                  <a:pt x="230073" y="114657"/>
                </a:lnTo>
                <a:cubicBezTo>
                  <a:pt x="234181" y="110505"/>
                  <a:pt x="234181" y="103763"/>
                  <a:pt x="230073" y="99611"/>
                </a:cubicBezTo>
                <a:lnTo>
                  <a:pt x="163860" y="32549"/>
                </a:lnTo>
                <a:cubicBezTo>
                  <a:pt x="159707" y="28352"/>
                  <a:pt x="159752" y="21565"/>
                  <a:pt x="163949" y="17413"/>
                </a:cubicBezTo>
                <a:cubicBezTo>
                  <a:pt x="168146" y="13261"/>
                  <a:pt x="174933" y="13305"/>
                  <a:pt x="179085" y="17502"/>
                </a:cubicBezTo>
                <a:close/>
                <a:moveTo>
                  <a:pt x="14332" y="102468"/>
                </a:moveTo>
                <a:lnTo>
                  <a:pt x="14332" y="42863"/>
                </a:lnTo>
                <a:cubicBezTo>
                  <a:pt x="14332" y="27102"/>
                  <a:pt x="27146" y="14288"/>
                  <a:pt x="42907" y="14288"/>
                </a:cubicBezTo>
                <a:lnTo>
                  <a:pt x="102513" y="14288"/>
                </a:lnTo>
                <a:cubicBezTo>
                  <a:pt x="110103" y="14288"/>
                  <a:pt x="117381" y="17279"/>
                  <a:pt x="122739" y="22637"/>
                </a:cubicBezTo>
                <a:lnTo>
                  <a:pt x="187032" y="86931"/>
                </a:lnTo>
                <a:cubicBezTo>
                  <a:pt x="198194" y="98093"/>
                  <a:pt x="198194" y="116175"/>
                  <a:pt x="187032" y="127337"/>
                </a:cubicBezTo>
                <a:lnTo>
                  <a:pt x="127427" y="186943"/>
                </a:lnTo>
                <a:cubicBezTo>
                  <a:pt x="116265" y="198105"/>
                  <a:pt x="98182" y="198105"/>
                  <a:pt x="87020" y="186943"/>
                </a:cubicBezTo>
                <a:lnTo>
                  <a:pt x="22726" y="122649"/>
                </a:lnTo>
                <a:cubicBezTo>
                  <a:pt x="17368" y="117291"/>
                  <a:pt x="14377" y="110014"/>
                  <a:pt x="14377" y="102424"/>
                </a:cubicBezTo>
                <a:close/>
                <a:moveTo>
                  <a:pt x="78626" y="64294"/>
                </a:moveTo>
                <a:cubicBezTo>
                  <a:pt x="78626" y="56408"/>
                  <a:pt x="72224" y="50006"/>
                  <a:pt x="64338" y="50006"/>
                </a:cubicBezTo>
                <a:cubicBezTo>
                  <a:pt x="56453" y="50006"/>
                  <a:pt x="50051" y="56408"/>
                  <a:pt x="50051" y="64294"/>
                </a:cubicBezTo>
                <a:cubicBezTo>
                  <a:pt x="50051" y="72179"/>
                  <a:pt x="56453" y="78581"/>
                  <a:pt x="64338" y="78581"/>
                </a:cubicBezTo>
                <a:cubicBezTo>
                  <a:pt x="72224" y="78581"/>
                  <a:pt x="78626" y="72179"/>
                  <a:pt x="78626" y="64294"/>
                </a:cubicBezTo>
                <a:close/>
              </a:path>
            </a:pathLst>
          </a:custGeom>
          <a:solidFill>
            <a:srgbClr val="F1FAEE"/>
          </a:solidFill>
          <a:ln/>
        </p:spPr>
      </p:sp>
      <p:sp>
        <p:nvSpPr>
          <p:cNvPr id="25" name="Text 23"/>
          <p:cNvSpPr/>
          <p:nvPr/>
        </p:nvSpPr>
        <p:spPr>
          <a:xfrm>
            <a:off x="7332702" y="2733675"/>
            <a:ext cx="2057400" cy="228600"/>
          </a:xfrm>
          <a:prstGeom prst="rect">
            <a:avLst/>
          </a:prstGeom>
          <a:noFill/>
          <a:ln/>
        </p:spPr>
        <p:txBody>
          <a:bodyPr wrap="square" lIns="0" tIns="0" rIns="0" bIns="0" rtlCol="0" anchor="ctr"/>
          <a:lstStyle/>
          <a:p>
            <a:pPr algn="ctr">
              <a:lnSpc>
                <a:spcPct val="130000"/>
              </a:lnSpc>
            </a:pPr>
            <a:r>
              <a:rPr lang="en-US" sz="1200" b="1" dirty="0">
                <a:solidFill>
                  <a:srgbClr val="F1FAEE"/>
                </a:solidFill>
                <a:latin typeface="Liter" pitchFamily="34" charset="0"/>
                <a:ea typeface="Liter" pitchFamily="34" charset="-122"/>
                <a:cs typeface="Liter" pitchFamily="34" charset="-120"/>
              </a:rPr>
              <a:t>Classification</a:t>
            </a:r>
            <a:endParaRPr lang="en-US" sz="1600" dirty="0"/>
          </a:p>
        </p:txBody>
      </p:sp>
      <p:sp>
        <p:nvSpPr>
          <p:cNvPr id="26" name="Text 24"/>
          <p:cNvSpPr/>
          <p:nvPr/>
        </p:nvSpPr>
        <p:spPr>
          <a:xfrm>
            <a:off x="7337465" y="3000375"/>
            <a:ext cx="2047875" cy="190500"/>
          </a:xfrm>
          <a:prstGeom prst="rect">
            <a:avLst/>
          </a:prstGeom>
          <a:noFill/>
          <a:ln/>
        </p:spPr>
        <p:txBody>
          <a:bodyPr wrap="square" lIns="0" tIns="0" rIns="0" bIns="0" rtlCol="0" anchor="ctr"/>
          <a:lstStyle/>
          <a:p>
            <a:pPr algn="ctr">
              <a:lnSpc>
                <a:spcPct val="120000"/>
              </a:lnSpc>
            </a:pPr>
            <a:r>
              <a:rPr lang="en-US" sz="1050" dirty="0">
                <a:solidFill>
                  <a:srgbClr val="5C677D"/>
                </a:solidFill>
                <a:latin typeface="Liter" pitchFamily="34" charset="0"/>
                <a:ea typeface="Liter" pitchFamily="34" charset="-122"/>
                <a:cs typeface="Liter" pitchFamily="34" charset="-120"/>
              </a:rPr>
              <a:t>4-class output</a:t>
            </a:r>
            <a:endParaRPr lang="en-US" sz="1600" dirty="0"/>
          </a:p>
        </p:txBody>
      </p:sp>
      <p:sp>
        <p:nvSpPr>
          <p:cNvPr id="27" name="Shape 25"/>
          <p:cNvSpPr/>
          <p:nvPr/>
        </p:nvSpPr>
        <p:spPr>
          <a:xfrm>
            <a:off x="9377601" y="250507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5C677D"/>
          </a:solidFill>
          <a:ln/>
        </p:spPr>
      </p:sp>
      <p:sp>
        <p:nvSpPr>
          <p:cNvPr id="28" name="Shape 26"/>
          <p:cNvSpPr/>
          <p:nvPr/>
        </p:nvSpPr>
        <p:spPr>
          <a:xfrm>
            <a:off x="10319028" y="2047875"/>
            <a:ext cx="609600" cy="609600"/>
          </a:xfrm>
          <a:prstGeom prst="roundRect">
            <a:avLst>
              <a:gd name="adj" fmla="val 50000"/>
            </a:avLst>
          </a:prstGeom>
          <a:solidFill>
            <a:srgbClr val="00B4D8"/>
          </a:solidFill>
          <a:ln/>
        </p:spPr>
      </p:sp>
      <p:sp>
        <p:nvSpPr>
          <p:cNvPr id="29" name="Shape 27"/>
          <p:cNvSpPr/>
          <p:nvPr/>
        </p:nvSpPr>
        <p:spPr>
          <a:xfrm>
            <a:off x="10509528" y="2238375"/>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F1FAEE"/>
          </a:solidFill>
          <a:ln/>
        </p:spPr>
      </p:sp>
      <p:sp>
        <p:nvSpPr>
          <p:cNvPr id="30" name="Text 28"/>
          <p:cNvSpPr/>
          <p:nvPr/>
        </p:nvSpPr>
        <p:spPr>
          <a:xfrm>
            <a:off x="9596676" y="2733675"/>
            <a:ext cx="2057400" cy="228600"/>
          </a:xfrm>
          <a:prstGeom prst="rect">
            <a:avLst/>
          </a:prstGeom>
          <a:noFill/>
          <a:ln/>
        </p:spPr>
        <p:txBody>
          <a:bodyPr wrap="square" lIns="0" tIns="0" rIns="0" bIns="0" rtlCol="0" anchor="ctr"/>
          <a:lstStyle/>
          <a:p>
            <a:pPr algn="ctr">
              <a:lnSpc>
                <a:spcPct val="130000"/>
              </a:lnSpc>
            </a:pPr>
            <a:r>
              <a:rPr lang="en-US" sz="1200" b="1" dirty="0">
                <a:solidFill>
                  <a:srgbClr val="F1FAEE"/>
                </a:solidFill>
                <a:latin typeface="Liter" pitchFamily="34" charset="0"/>
                <a:ea typeface="Liter" pitchFamily="34" charset="-122"/>
                <a:cs typeface="Liter" pitchFamily="34" charset="-120"/>
              </a:rPr>
              <a:t>Prediction</a:t>
            </a:r>
            <a:endParaRPr lang="en-US" sz="1600" dirty="0"/>
          </a:p>
        </p:txBody>
      </p:sp>
      <p:sp>
        <p:nvSpPr>
          <p:cNvPr id="31" name="Text 29"/>
          <p:cNvSpPr/>
          <p:nvPr/>
        </p:nvSpPr>
        <p:spPr>
          <a:xfrm>
            <a:off x="9601438" y="3000375"/>
            <a:ext cx="2047875" cy="190500"/>
          </a:xfrm>
          <a:prstGeom prst="rect">
            <a:avLst/>
          </a:prstGeom>
          <a:noFill/>
          <a:ln/>
        </p:spPr>
        <p:txBody>
          <a:bodyPr wrap="square" lIns="0" tIns="0" rIns="0" bIns="0" rtlCol="0" anchor="ctr"/>
          <a:lstStyle/>
          <a:p>
            <a:pPr algn="ctr">
              <a:lnSpc>
                <a:spcPct val="120000"/>
              </a:lnSpc>
            </a:pPr>
            <a:r>
              <a:rPr lang="en-US" sz="1050" dirty="0">
                <a:solidFill>
                  <a:srgbClr val="5C677D"/>
                </a:solidFill>
                <a:latin typeface="Liter" pitchFamily="34" charset="0"/>
                <a:ea typeface="Liter" pitchFamily="34" charset="-122"/>
                <a:cs typeface="Liter" pitchFamily="34" charset="-120"/>
              </a:rPr>
              <a:t>CNV/DME/Drusen/Normal</a:t>
            </a:r>
            <a:endParaRPr lang="en-US" sz="1600" dirty="0"/>
          </a:p>
        </p:txBody>
      </p:sp>
      <p:sp>
        <p:nvSpPr>
          <p:cNvPr id="32" name="Shape 30"/>
          <p:cNvSpPr/>
          <p:nvPr/>
        </p:nvSpPr>
        <p:spPr>
          <a:xfrm>
            <a:off x="384810" y="3434715"/>
            <a:ext cx="5589270" cy="2331720"/>
          </a:xfrm>
          <a:prstGeom prst="roundRect">
            <a:avLst>
              <a:gd name="adj" fmla="val 3268"/>
            </a:avLst>
          </a:prstGeom>
          <a:solidFill>
            <a:srgbClr val="112240"/>
          </a:solidFill>
          <a:ln w="10160">
            <a:solidFill>
              <a:srgbClr val="3A86FF"/>
            </a:solidFill>
            <a:prstDash val="solid"/>
          </a:ln>
        </p:spPr>
      </p:sp>
      <p:sp>
        <p:nvSpPr>
          <p:cNvPr id="33" name="Shape 31"/>
          <p:cNvSpPr/>
          <p:nvPr/>
        </p:nvSpPr>
        <p:spPr>
          <a:xfrm>
            <a:off x="626745" y="3667125"/>
            <a:ext cx="142875" cy="190500"/>
          </a:xfrm>
          <a:custGeom>
            <a:avLst/>
            <a:gdLst/>
            <a:ahLst/>
            <a:cxnLst/>
            <a:rect l="l" t="t" r="r" b="b"/>
            <a:pathLst>
              <a:path w="142875" h="190500">
                <a:moveTo>
                  <a:pt x="92980" y="24854"/>
                </a:moveTo>
                <a:cubicBezTo>
                  <a:pt x="96850" y="19534"/>
                  <a:pt x="95659" y="12092"/>
                  <a:pt x="90339" y="8223"/>
                </a:cubicBezTo>
                <a:cubicBezTo>
                  <a:pt x="85018" y="4353"/>
                  <a:pt x="77577" y="5544"/>
                  <a:pt x="73707" y="10864"/>
                </a:cubicBezTo>
                <a:lnTo>
                  <a:pt x="34268" y="65075"/>
                </a:lnTo>
                <a:lnTo>
                  <a:pt x="20315" y="51122"/>
                </a:lnTo>
                <a:cubicBezTo>
                  <a:pt x="15664" y="46472"/>
                  <a:pt x="8111" y="46472"/>
                  <a:pt x="3460" y="51122"/>
                </a:cubicBezTo>
                <a:cubicBezTo>
                  <a:pt x="-1191" y="55773"/>
                  <a:pt x="-1191" y="63326"/>
                  <a:pt x="3460" y="67977"/>
                </a:cubicBezTo>
                <a:lnTo>
                  <a:pt x="27273" y="91790"/>
                </a:lnTo>
                <a:cubicBezTo>
                  <a:pt x="29728" y="94245"/>
                  <a:pt x="33151" y="95510"/>
                  <a:pt x="36612" y="95250"/>
                </a:cubicBezTo>
                <a:cubicBezTo>
                  <a:pt x="40072" y="94990"/>
                  <a:pt x="43272" y="93204"/>
                  <a:pt x="45318" y="90376"/>
                </a:cubicBezTo>
                <a:lnTo>
                  <a:pt x="92943" y="24892"/>
                </a:lnTo>
                <a:close/>
                <a:moveTo>
                  <a:pt x="140605" y="75456"/>
                </a:moveTo>
                <a:cubicBezTo>
                  <a:pt x="144475" y="70135"/>
                  <a:pt x="143284" y="62694"/>
                  <a:pt x="137964" y="58824"/>
                </a:cubicBezTo>
                <a:cubicBezTo>
                  <a:pt x="132643" y="54955"/>
                  <a:pt x="125202" y="56145"/>
                  <a:pt x="121332" y="61466"/>
                </a:cubicBezTo>
                <a:lnTo>
                  <a:pt x="58080" y="148419"/>
                </a:lnTo>
                <a:lnTo>
                  <a:pt x="32221" y="122560"/>
                </a:lnTo>
                <a:cubicBezTo>
                  <a:pt x="27570" y="117909"/>
                  <a:pt x="20017" y="117909"/>
                  <a:pt x="15367" y="122560"/>
                </a:cubicBezTo>
                <a:cubicBezTo>
                  <a:pt x="10716" y="127211"/>
                  <a:pt x="10716" y="134764"/>
                  <a:pt x="15367" y="139415"/>
                </a:cubicBezTo>
                <a:lnTo>
                  <a:pt x="51085" y="175133"/>
                </a:lnTo>
                <a:cubicBezTo>
                  <a:pt x="53541" y="177589"/>
                  <a:pt x="56964" y="178854"/>
                  <a:pt x="60424" y="178594"/>
                </a:cubicBezTo>
                <a:cubicBezTo>
                  <a:pt x="63884" y="178333"/>
                  <a:pt x="67084" y="176547"/>
                  <a:pt x="69131" y="173720"/>
                </a:cubicBezTo>
                <a:lnTo>
                  <a:pt x="140568" y="75493"/>
                </a:lnTo>
                <a:close/>
              </a:path>
            </a:pathLst>
          </a:custGeom>
          <a:solidFill>
            <a:srgbClr val="3A86FF"/>
          </a:solidFill>
          <a:ln/>
        </p:spPr>
      </p:sp>
      <p:sp>
        <p:nvSpPr>
          <p:cNvPr id="34" name="Text 32"/>
          <p:cNvSpPr/>
          <p:nvPr/>
        </p:nvSpPr>
        <p:spPr>
          <a:xfrm>
            <a:off x="817245" y="3629025"/>
            <a:ext cx="5057775" cy="266700"/>
          </a:xfrm>
          <a:prstGeom prst="rect">
            <a:avLst/>
          </a:prstGeom>
          <a:noFill/>
          <a:ln/>
        </p:spPr>
        <p:txBody>
          <a:bodyPr wrap="square" lIns="0" tIns="0" rIns="0" bIns="0" rtlCol="0" anchor="ctr"/>
          <a:lstStyle/>
          <a:p>
            <a:pPr>
              <a:lnSpc>
                <a:spcPct val="120000"/>
              </a:lnSpc>
            </a:pPr>
            <a:r>
              <a:rPr lang="en-US" sz="1500" b="1" dirty="0">
                <a:solidFill>
                  <a:srgbClr val="3A86FF"/>
                </a:solidFill>
                <a:latin typeface="Liter" pitchFamily="34" charset="0"/>
                <a:ea typeface="Liter" pitchFamily="34" charset="-122"/>
                <a:cs typeface="Liter" pitchFamily="34" charset="-120"/>
              </a:rPr>
              <a:t>Key Capabilities</a:t>
            </a:r>
            <a:endParaRPr lang="en-US" sz="1600" dirty="0"/>
          </a:p>
        </p:txBody>
      </p:sp>
      <p:sp>
        <p:nvSpPr>
          <p:cNvPr id="35" name="Shape 33"/>
          <p:cNvSpPr/>
          <p:nvPr/>
        </p:nvSpPr>
        <p:spPr>
          <a:xfrm>
            <a:off x="574357" y="4048125"/>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B4D8"/>
          </a:solidFill>
          <a:ln/>
        </p:spPr>
      </p:sp>
      <p:sp>
        <p:nvSpPr>
          <p:cNvPr id="36" name="Text 34"/>
          <p:cNvSpPr/>
          <p:nvPr/>
        </p:nvSpPr>
        <p:spPr>
          <a:xfrm>
            <a:off x="776168" y="4010025"/>
            <a:ext cx="5086350" cy="457200"/>
          </a:xfrm>
          <a:prstGeom prst="rect">
            <a:avLst/>
          </a:prstGeom>
          <a:noFill/>
          <a:ln/>
        </p:spPr>
        <p:txBody>
          <a:bodyPr wrap="square" lIns="0" tIns="0" rIns="0" bIns="0" rtlCol="0" anchor="ctr"/>
          <a:lstStyle/>
          <a:p>
            <a:pPr>
              <a:lnSpc>
                <a:spcPct val="130000"/>
              </a:lnSpc>
            </a:pPr>
            <a:r>
              <a:rPr lang="en-US" sz="1200" b="1" dirty="0">
                <a:solidFill>
                  <a:srgbClr val="F1FAEE"/>
                </a:solidFill>
                <a:latin typeface="Liter" pitchFamily="34" charset="0"/>
                <a:ea typeface="Liter" pitchFamily="34" charset="-122"/>
                <a:cs typeface="Liter" pitchFamily="34" charset="-120"/>
              </a:rPr>
              <a:t>Automatic feature learning:</a:t>
            </a:r>
            <a:pPr>
              <a:lnSpc>
                <a:spcPct val="130000"/>
              </a:lnSpc>
            </a:pPr>
            <a:r>
              <a:rPr lang="en-US" sz="1200" dirty="0">
                <a:solidFill>
                  <a:srgbClr val="F1FAEE"/>
                </a:solidFill>
                <a:latin typeface="Liter" pitchFamily="34" charset="0"/>
                <a:ea typeface="Liter" pitchFamily="34" charset="-122"/>
                <a:cs typeface="Liter" pitchFamily="34" charset="-120"/>
              </a:rPr>
              <a:t> CNNs learn hierarchical features from raw OCT images without manual feature engineering</a:t>
            </a:r>
            <a:endParaRPr lang="en-US" sz="1600" dirty="0"/>
          </a:p>
        </p:txBody>
      </p:sp>
      <p:sp>
        <p:nvSpPr>
          <p:cNvPr id="37" name="Shape 35"/>
          <p:cNvSpPr/>
          <p:nvPr/>
        </p:nvSpPr>
        <p:spPr>
          <a:xfrm>
            <a:off x="598170" y="4581525"/>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B4D8"/>
          </a:solidFill>
          <a:ln/>
        </p:spPr>
      </p:sp>
      <p:sp>
        <p:nvSpPr>
          <p:cNvPr id="38" name="Text 36"/>
          <p:cNvSpPr/>
          <p:nvPr/>
        </p:nvSpPr>
        <p:spPr>
          <a:xfrm>
            <a:off x="823555" y="4543425"/>
            <a:ext cx="5038725" cy="457200"/>
          </a:xfrm>
          <a:prstGeom prst="rect">
            <a:avLst/>
          </a:prstGeom>
          <a:noFill/>
          <a:ln/>
        </p:spPr>
        <p:txBody>
          <a:bodyPr wrap="square" lIns="0" tIns="0" rIns="0" bIns="0" rtlCol="0" anchor="ctr"/>
          <a:lstStyle/>
          <a:p>
            <a:pPr>
              <a:lnSpc>
                <a:spcPct val="130000"/>
              </a:lnSpc>
            </a:pPr>
            <a:r>
              <a:rPr lang="en-US" sz="1200" b="1" dirty="0">
                <a:solidFill>
                  <a:srgbClr val="F1FAEE"/>
                </a:solidFill>
                <a:latin typeface="Liter" pitchFamily="34" charset="0"/>
                <a:ea typeface="Liter" pitchFamily="34" charset="-122"/>
                <a:cs typeface="Liter" pitchFamily="34" charset="-120"/>
              </a:rPr>
              <a:t>Pattern extraction:</a:t>
            </a:r>
            <a:pPr>
              <a:lnSpc>
                <a:spcPct val="130000"/>
              </a:lnSpc>
            </a:pPr>
            <a:r>
              <a:rPr lang="en-US" sz="1200" dirty="0">
                <a:solidFill>
                  <a:srgbClr val="F1FAEE"/>
                </a:solidFill>
                <a:latin typeface="Liter" pitchFamily="34" charset="0"/>
                <a:ea typeface="Liter" pitchFamily="34" charset="-122"/>
                <a:cs typeface="Liter" pitchFamily="34" charset="-120"/>
              </a:rPr>
              <a:t> Detects subtle pathological patterns invisible to human observers</a:t>
            </a:r>
            <a:endParaRPr lang="en-US" sz="1600" dirty="0"/>
          </a:p>
        </p:txBody>
      </p:sp>
      <p:sp>
        <p:nvSpPr>
          <p:cNvPr id="39" name="Shape 37"/>
          <p:cNvSpPr/>
          <p:nvPr/>
        </p:nvSpPr>
        <p:spPr>
          <a:xfrm>
            <a:off x="593407" y="5114925"/>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B4D8"/>
          </a:solidFill>
          <a:ln/>
        </p:spPr>
      </p:sp>
      <p:sp>
        <p:nvSpPr>
          <p:cNvPr id="40" name="Text 38"/>
          <p:cNvSpPr/>
          <p:nvPr/>
        </p:nvSpPr>
        <p:spPr>
          <a:xfrm>
            <a:off x="815102" y="5076825"/>
            <a:ext cx="5048250" cy="457200"/>
          </a:xfrm>
          <a:prstGeom prst="rect">
            <a:avLst/>
          </a:prstGeom>
          <a:noFill/>
          <a:ln/>
        </p:spPr>
        <p:txBody>
          <a:bodyPr wrap="square" lIns="0" tIns="0" rIns="0" bIns="0" rtlCol="0" anchor="ctr"/>
          <a:lstStyle/>
          <a:p>
            <a:pPr>
              <a:lnSpc>
                <a:spcPct val="130000"/>
              </a:lnSpc>
            </a:pPr>
            <a:r>
              <a:rPr lang="en-US" sz="1200" b="1" dirty="0">
                <a:solidFill>
                  <a:srgbClr val="F1FAEE"/>
                </a:solidFill>
                <a:latin typeface="Liter" pitchFamily="34" charset="0"/>
                <a:ea typeface="Liter" pitchFamily="34" charset="-122"/>
                <a:cs typeface="Liter" pitchFamily="34" charset="-120"/>
              </a:rPr>
              <a:t>High accuracy:</a:t>
            </a:r>
            <a:pPr>
              <a:lnSpc>
                <a:spcPct val="130000"/>
              </a:lnSpc>
            </a:pPr>
            <a:r>
              <a:rPr lang="en-US" sz="1200" dirty="0">
                <a:solidFill>
                  <a:srgbClr val="F1FAEE"/>
                </a:solidFill>
                <a:latin typeface="Liter" pitchFamily="34" charset="0"/>
                <a:ea typeface="Liter" pitchFamily="34" charset="-122"/>
                <a:cs typeface="Liter" pitchFamily="34" charset="-120"/>
              </a:rPr>
              <a:t> State-of-the-art models achieve 95-99% classification accuracy [1][2][6]</a:t>
            </a:r>
            <a:endParaRPr lang="en-US" sz="1600" dirty="0"/>
          </a:p>
        </p:txBody>
      </p:sp>
      <p:sp>
        <p:nvSpPr>
          <p:cNvPr id="41" name="Shape 39"/>
          <p:cNvSpPr/>
          <p:nvPr/>
        </p:nvSpPr>
        <p:spPr>
          <a:xfrm>
            <a:off x="6214110" y="3434715"/>
            <a:ext cx="5589270" cy="2331720"/>
          </a:xfrm>
          <a:prstGeom prst="roundRect">
            <a:avLst>
              <a:gd name="adj" fmla="val 3268"/>
            </a:avLst>
          </a:prstGeom>
          <a:solidFill>
            <a:srgbClr val="112240"/>
          </a:solidFill>
          <a:ln w="10160">
            <a:solidFill>
              <a:srgbClr val="00B4D8"/>
            </a:solidFill>
            <a:prstDash val="solid"/>
          </a:ln>
        </p:spPr>
      </p:sp>
      <p:sp>
        <p:nvSpPr>
          <p:cNvPr id="42" name="Shape 40"/>
          <p:cNvSpPr/>
          <p:nvPr/>
        </p:nvSpPr>
        <p:spPr>
          <a:xfrm>
            <a:off x="6432232" y="3667125"/>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00B4D8"/>
          </a:solidFill>
          <a:ln/>
        </p:spPr>
      </p:sp>
      <p:sp>
        <p:nvSpPr>
          <p:cNvPr id="43" name="Text 41"/>
          <p:cNvSpPr/>
          <p:nvPr/>
        </p:nvSpPr>
        <p:spPr>
          <a:xfrm>
            <a:off x="6646545" y="3629025"/>
            <a:ext cx="5057775" cy="266700"/>
          </a:xfrm>
          <a:prstGeom prst="rect">
            <a:avLst/>
          </a:prstGeom>
          <a:noFill/>
          <a:ln/>
        </p:spPr>
        <p:txBody>
          <a:bodyPr wrap="square" lIns="0" tIns="0" rIns="0" bIns="0" rtlCol="0" anchor="ctr"/>
          <a:lstStyle/>
          <a:p>
            <a:pPr>
              <a:lnSpc>
                <a:spcPct val="120000"/>
              </a:lnSpc>
            </a:pPr>
            <a:r>
              <a:rPr lang="en-US" sz="1500" b="1" dirty="0">
                <a:solidFill>
                  <a:srgbClr val="00B4D8"/>
                </a:solidFill>
                <a:latin typeface="Liter" pitchFamily="34" charset="0"/>
                <a:ea typeface="Liter" pitchFamily="34" charset="-122"/>
                <a:cs typeface="Liter" pitchFamily="34" charset="-120"/>
              </a:rPr>
              <a:t>Performance Highlights</a:t>
            </a:r>
            <a:endParaRPr lang="en-US" sz="1600" dirty="0"/>
          </a:p>
        </p:txBody>
      </p:sp>
      <p:sp>
        <p:nvSpPr>
          <p:cNvPr id="44" name="Text 42"/>
          <p:cNvSpPr/>
          <p:nvPr/>
        </p:nvSpPr>
        <p:spPr>
          <a:xfrm>
            <a:off x="6408420" y="4010025"/>
            <a:ext cx="1552575" cy="228600"/>
          </a:xfrm>
          <a:prstGeom prst="rect">
            <a:avLst/>
          </a:prstGeom>
          <a:noFill/>
          <a:ln/>
        </p:spPr>
        <p:txBody>
          <a:bodyPr wrap="square" lIns="0" tIns="0" rIns="0" bIns="0" rtlCol="0" anchor="ctr"/>
          <a:lstStyle/>
          <a:p>
            <a:pPr>
              <a:lnSpc>
                <a:spcPct val="130000"/>
              </a:lnSpc>
            </a:pPr>
            <a:r>
              <a:rPr lang="en-US" sz="1200" dirty="0">
                <a:solidFill>
                  <a:srgbClr val="F1FAEE"/>
                </a:solidFill>
                <a:latin typeface="Liter" pitchFamily="34" charset="0"/>
                <a:ea typeface="Liter" pitchFamily="34" charset="-122"/>
                <a:cs typeface="Liter" pitchFamily="34" charset="-120"/>
              </a:rPr>
              <a:t>ResNet50 on OCT-C8</a:t>
            </a:r>
            <a:endParaRPr lang="en-US" sz="1600" dirty="0"/>
          </a:p>
        </p:txBody>
      </p:sp>
      <p:sp>
        <p:nvSpPr>
          <p:cNvPr id="45" name="Text 43"/>
          <p:cNvSpPr/>
          <p:nvPr/>
        </p:nvSpPr>
        <p:spPr>
          <a:xfrm>
            <a:off x="11086266" y="4010025"/>
            <a:ext cx="600075" cy="228600"/>
          </a:xfrm>
          <a:prstGeom prst="rect">
            <a:avLst/>
          </a:prstGeom>
          <a:noFill/>
          <a:ln/>
        </p:spPr>
        <p:txBody>
          <a:bodyPr wrap="square" lIns="0" tIns="0" rIns="0" bIns="0" rtlCol="0" anchor="ctr"/>
          <a:lstStyle/>
          <a:p>
            <a:pPr>
              <a:lnSpc>
                <a:spcPct val="130000"/>
              </a:lnSpc>
            </a:pPr>
            <a:r>
              <a:rPr lang="en-US" sz="1200" b="1" dirty="0">
                <a:solidFill>
                  <a:srgbClr val="00B4D8"/>
                </a:solidFill>
                <a:latin typeface="Liter" pitchFamily="34" charset="0"/>
                <a:ea typeface="Liter" pitchFamily="34" charset="-122"/>
                <a:cs typeface="Liter" pitchFamily="34" charset="-120"/>
              </a:rPr>
              <a:t>99.90%</a:t>
            </a:r>
            <a:endParaRPr lang="en-US" sz="1600" dirty="0"/>
          </a:p>
        </p:txBody>
      </p:sp>
      <p:sp>
        <p:nvSpPr>
          <p:cNvPr id="46" name="Shape 44"/>
          <p:cNvSpPr/>
          <p:nvPr/>
        </p:nvSpPr>
        <p:spPr>
          <a:xfrm>
            <a:off x="6408420" y="4276725"/>
            <a:ext cx="5200650" cy="76200"/>
          </a:xfrm>
          <a:prstGeom prst="roundRect">
            <a:avLst>
              <a:gd name="adj" fmla="val 50000"/>
            </a:avLst>
          </a:prstGeom>
          <a:solidFill>
            <a:srgbClr val="5C677D"/>
          </a:solidFill>
          <a:ln/>
        </p:spPr>
      </p:sp>
      <p:sp>
        <p:nvSpPr>
          <p:cNvPr id="47" name="Shape 45"/>
          <p:cNvSpPr/>
          <p:nvPr/>
        </p:nvSpPr>
        <p:spPr>
          <a:xfrm>
            <a:off x="6408420" y="4276725"/>
            <a:ext cx="5200650" cy="76200"/>
          </a:xfrm>
          <a:prstGeom prst="roundRect">
            <a:avLst>
              <a:gd name="adj" fmla="val 50000"/>
            </a:avLst>
          </a:prstGeom>
          <a:solidFill>
            <a:srgbClr val="00B4D8"/>
          </a:solidFill>
          <a:ln/>
        </p:spPr>
      </p:sp>
      <p:sp>
        <p:nvSpPr>
          <p:cNvPr id="48" name="Text 46"/>
          <p:cNvSpPr/>
          <p:nvPr/>
        </p:nvSpPr>
        <p:spPr>
          <a:xfrm>
            <a:off x="6408420" y="4467225"/>
            <a:ext cx="962025" cy="228600"/>
          </a:xfrm>
          <a:prstGeom prst="rect">
            <a:avLst/>
          </a:prstGeom>
          <a:noFill/>
          <a:ln/>
        </p:spPr>
        <p:txBody>
          <a:bodyPr wrap="square" lIns="0" tIns="0" rIns="0" bIns="0" rtlCol="0" anchor="ctr"/>
          <a:lstStyle/>
          <a:p>
            <a:pPr>
              <a:lnSpc>
                <a:spcPct val="130000"/>
              </a:lnSpc>
            </a:pPr>
            <a:r>
              <a:rPr lang="en-US" sz="1200" dirty="0">
                <a:solidFill>
                  <a:srgbClr val="F1FAEE"/>
                </a:solidFill>
                <a:latin typeface="Liter" pitchFamily="34" charset="0"/>
                <a:ea typeface="Liter" pitchFamily="34" charset="-122"/>
                <a:cs typeface="Liter" pitchFamily="34" charset="-120"/>
              </a:rPr>
              <a:t>DenseNet121</a:t>
            </a:r>
            <a:endParaRPr lang="en-US" sz="1600" dirty="0"/>
          </a:p>
        </p:txBody>
      </p:sp>
      <p:sp>
        <p:nvSpPr>
          <p:cNvPr id="49" name="Text 47"/>
          <p:cNvSpPr/>
          <p:nvPr/>
        </p:nvSpPr>
        <p:spPr>
          <a:xfrm>
            <a:off x="11098173" y="4467225"/>
            <a:ext cx="590550" cy="228600"/>
          </a:xfrm>
          <a:prstGeom prst="rect">
            <a:avLst/>
          </a:prstGeom>
          <a:noFill/>
          <a:ln/>
        </p:spPr>
        <p:txBody>
          <a:bodyPr wrap="square" lIns="0" tIns="0" rIns="0" bIns="0" rtlCol="0" anchor="ctr"/>
          <a:lstStyle/>
          <a:p>
            <a:pPr>
              <a:lnSpc>
                <a:spcPct val="130000"/>
              </a:lnSpc>
            </a:pPr>
            <a:r>
              <a:rPr lang="en-US" sz="1200" b="1" dirty="0">
                <a:solidFill>
                  <a:srgbClr val="3A86FF"/>
                </a:solidFill>
                <a:latin typeface="Liter" pitchFamily="34" charset="0"/>
                <a:ea typeface="Liter" pitchFamily="34" charset="-122"/>
                <a:cs typeface="Liter" pitchFamily="34" charset="-120"/>
              </a:rPr>
              <a:t>93.35%</a:t>
            </a:r>
            <a:endParaRPr lang="en-US" sz="1600" dirty="0"/>
          </a:p>
        </p:txBody>
      </p:sp>
      <p:sp>
        <p:nvSpPr>
          <p:cNvPr id="50" name="Shape 48"/>
          <p:cNvSpPr/>
          <p:nvPr/>
        </p:nvSpPr>
        <p:spPr>
          <a:xfrm>
            <a:off x="6408420" y="4733925"/>
            <a:ext cx="5200650" cy="76200"/>
          </a:xfrm>
          <a:prstGeom prst="roundRect">
            <a:avLst>
              <a:gd name="adj" fmla="val 50000"/>
            </a:avLst>
          </a:prstGeom>
          <a:solidFill>
            <a:srgbClr val="5C677D"/>
          </a:solidFill>
          <a:ln/>
        </p:spPr>
      </p:sp>
      <p:sp>
        <p:nvSpPr>
          <p:cNvPr id="51" name="Shape 49"/>
          <p:cNvSpPr/>
          <p:nvPr/>
        </p:nvSpPr>
        <p:spPr>
          <a:xfrm>
            <a:off x="6408420" y="4733925"/>
            <a:ext cx="4857750" cy="76200"/>
          </a:xfrm>
          <a:prstGeom prst="roundRect">
            <a:avLst>
              <a:gd name="adj" fmla="val 50000"/>
            </a:avLst>
          </a:prstGeom>
          <a:solidFill>
            <a:srgbClr val="3A86FF"/>
          </a:solidFill>
          <a:ln/>
        </p:spPr>
      </p:sp>
      <p:sp>
        <p:nvSpPr>
          <p:cNvPr id="52" name="Text 50"/>
          <p:cNvSpPr/>
          <p:nvPr/>
        </p:nvSpPr>
        <p:spPr>
          <a:xfrm>
            <a:off x="6408420" y="4924425"/>
            <a:ext cx="542925" cy="228600"/>
          </a:xfrm>
          <a:prstGeom prst="rect">
            <a:avLst/>
          </a:prstGeom>
          <a:noFill/>
          <a:ln/>
        </p:spPr>
        <p:txBody>
          <a:bodyPr wrap="square" lIns="0" tIns="0" rIns="0" bIns="0" rtlCol="0" anchor="ctr"/>
          <a:lstStyle/>
          <a:p>
            <a:pPr>
              <a:lnSpc>
                <a:spcPct val="130000"/>
              </a:lnSpc>
            </a:pPr>
            <a:r>
              <a:rPr lang="en-US" sz="1200" dirty="0">
                <a:solidFill>
                  <a:srgbClr val="F1FAEE"/>
                </a:solidFill>
                <a:latin typeface="Liter" pitchFamily="34" charset="0"/>
                <a:ea typeface="Liter" pitchFamily="34" charset="-122"/>
                <a:cs typeface="Liter" pitchFamily="34" charset="-120"/>
              </a:rPr>
              <a:t>VGG19</a:t>
            </a:r>
            <a:endParaRPr lang="en-US" sz="1600" dirty="0"/>
          </a:p>
        </p:txBody>
      </p:sp>
      <p:sp>
        <p:nvSpPr>
          <p:cNvPr id="53" name="Text 51"/>
          <p:cNvSpPr/>
          <p:nvPr/>
        </p:nvSpPr>
        <p:spPr>
          <a:xfrm>
            <a:off x="11110199" y="4924425"/>
            <a:ext cx="581025" cy="228600"/>
          </a:xfrm>
          <a:prstGeom prst="rect">
            <a:avLst/>
          </a:prstGeom>
          <a:noFill/>
          <a:ln/>
        </p:spPr>
        <p:txBody>
          <a:bodyPr wrap="square" lIns="0" tIns="0" rIns="0" bIns="0" rtlCol="0" anchor="ctr"/>
          <a:lstStyle/>
          <a:p>
            <a:pPr>
              <a:lnSpc>
                <a:spcPct val="130000"/>
              </a:lnSpc>
            </a:pPr>
            <a:r>
              <a:rPr lang="en-US" sz="1200" b="1" dirty="0">
                <a:solidFill>
                  <a:srgbClr val="5C677D"/>
                </a:solidFill>
                <a:latin typeface="Liter" pitchFamily="34" charset="0"/>
                <a:ea typeface="Liter" pitchFamily="34" charset="-122"/>
                <a:cs typeface="Liter" pitchFamily="34" charset="-120"/>
              </a:rPr>
              <a:t>97.54%</a:t>
            </a:r>
            <a:endParaRPr lang="en-US" sz="1600" dirty="0"/>
          </a:p>
        </p:txBody>
      </p:sp>
      <p:sp>
        <p:nvSpPr>
          <p:cNvPr id="54" name="Shape 52"/>
          <p:cNvSpPr/>
          <p:nvPr/>
        </p:nvSpPr>
        <p:spPr>
          <a:xfrm>
            <a:off x="6408420" y="5191125"/>
            <a:ext cx="5200650" cy="76200"/>
          </a:xfrm>
          <a:prstGeom prst="roundRect">
            <a:avLst>
              <a:gd name="adj" fmla="val 50000"/>
            </a:avLst>
          </a:prstGeom>
          <a:solidFill>
            <a:srgbClr val="5C677D"/>
          </a:solidFill>
          <a:ln/>
        </p:spPr>
      </p:sp>
      <p:sp>
        <p:nvSpPr>
          <p:cNvPr id="55" name="Shape 53"/>
          <p:cNvSpPr/>
          <p:nvPr/>
        </p:nvSpPr>
        <p:spPr>
          <a:xfrm>
            <a:off x="6408420" y="5191125"/>
            <a:ext cx="5076825" cy="76200"/>
          </a:xfrm>
          <a:prstGeom prst="roundRect">
            <a:avLst>
              <a:gd name="adj" fmla="val 50000"/>
            </a:avLst>
          </a:prstGeom>
          <a:solidFill>
            <a:srgbClr val="5C677D"/>
          </a:solidFill>
          <a:ln/>
        </p:spPr>
      </p:sp>
      <p:sp>
        <p:nvSpPr>
          <p:cNvPr id="56" name="Text 54"/>
          <p:cNvSpPr/>
          <p:nvPr/>
        </p:nvSpPr>
        <p:spPr>
          <a:xfrm>
            <a:off x="6408420" y="5381625"/>
            <a:ext cx="5267325"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CNN models have achieved extremely high accuracies in retinal disease classification</a:t>
            </a:r>
            <a:endParaRPr lang="en-US" sz="1600" dirty="0"/>
          </a:p>
        </p:txBody>
      </p:sp>
      <p:sp>
        <p:nvSpPr>
          <p:cNvPr id="57" name="Shape 55"/>
          <p:cNvSpPr/>
          <p:nvPr/>
        </p:nvSpPr>
        <p:spPr>
          <a:xfrm>
            <a:off x="400050" y="5943600"/>
            <a:ext cx="11410950" cy="533400"/>
          </a:xfrm>
          <a:custGeom>
            <a:avLst/>
            <a:gdLst/>
            <a:ahLst/>
            <a:cxnLst/>
            <a:rect l="l" t="t" r="r" b="b"/>
            <a:pathLst>
              <a:path w="11410950" h="533400">
                <a:moveTo>
                  <a:pt x="38100" y="0"/>
                </a:moveTo>
                <a:lnTo>
                  <a:pt x="11334750" y="0"/>
                </a:lnTo>
                <a:cubicBezTo>
                  <a:pt x="11376806" y="0"/>
                  <a:pt x="11410950" y="34144"/>
                  <a:pt x="11410950" y="76200"/>
                </a:cubicBezTo>
                <a:lnTo>
                  <a:pt x="11410950" y="457200"/>
                </a:lnTo>
                <a:cubicBezTo>
                  <a:pt x="11410950" y="499256"/>
                  <a:pt x="11376806" y="533400"/>
                  <a:pt x="11334750" y="533400"/>
                </a:cubicBezTo>
                <a:lnTo>
                  <a:pt x="38100" y="533400"/>
                </a:lnTo>
                <a:cubicBezTo>
                  <a:pt x="17072" y="533400"/>
                  <a:pt x="0" y="516328"/>
                  <a:pt x="0" y="495300"/>
                </a:cubicBezTo>
                <a:lnTo>
                  <a:pt x="0" y="38100"/>
                </a:lnTo>
                <a:cubicBezTo>
                  <a:pt x="0" y="17072"/>
                  <a:pt x="17072" y="0"/>
                  <a:pt x="38100" y="0"/>
                </a:cubicBezTo>
                <a:close/>
              </a:path>
            </a:pathLst>
          </a:custGeom>
          <a:solidFill>
            <a:srgbClr val="00B4D8">
              <a:alpha val="10196"/>
            </a:srgbClr>
          </a:solidFill>
          <a:ln/>
        </p:spPr>
      </p:sp>
      <p:sp>
        <p:nvSpPr>
          <p:cNvPr id="58" name="Shape 56"/>
          <p:cNvSpPr/>
          <p:nvPr/>
        </p:nvSpPr>
        <p:spPr>
          <a:xfrm>
            <a:off x="400050" y="5943600"/>
            <a:ext cx="38100" cy="533400"/>
          </a:xfrm>
          <a:custGeom>
            <a:avLst/>
            <a:gdLst/>
            <a:ahLst/>
            <a:cxnLst/>
            <a:rect l="l" t="t" r="r" b="b"/>
            <a:pathLst>
              <a:path w="38100" h="533400">
                <a:moveTo>
                  <a:pt x="38100" y="0"/>
                </a:moveTo>
                <a:lnTo>
                  <a:pt x="38100" y="0"/>
                </a:lnTo>
                <a:lnTo>
                  <a:pt x="38100" y="533400"/>
                </a:lnTo>
                <a:lnTo>
                  <a:pt x="38100" y="533400"/>
                </a:lnTo>
                <a:cubicBezTo>
                  <a:pt x="17072" y="533400"/>
                  <a:pt x="0" y="516328"/>
                  <a:pt x="0" y="495300"/>
                </a:cubicBezTo>
                <a:lnTo>
                  <a:pt x="0" y="38100"/>
                </a:lnTo>
                <a:cubicBezTo>
                  <a:pt x="0" y="17072"/>
                  <a:pt x="17072" y="0"/>
                  <a:pt x="38100" y="0"/>
                </a:cubicBezTo>
                <a:close/>
              </a:path>
            </a:pathLst>
          </a:custGeom>
          <a:solidFill>
            <a:srgbClr val="00B4D8"/>
          </a:solidFill>
          <a:ln/>
        </p:spPr>
      </p:sp>
      <p:sp>
        <p:nvSpPr>
          <p:cNvPr id="59" name="Shape 57"/>
          <p:cNvSpPr/>
          <p:nvPr/>
        </p:nvSpPr>
        <p:spPr>
          <a:xfrm>
            <a:off x="590550" y="612648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52388"/>
                </a:moveTo>
                <a:cubicBezTo>
                  <a:pt x="70931" y="52388"/>
                  <a:pt x="66675" y="56644"/>
                  <a:pt x="66675" y="61912"/>
                </a:cubicBezTo>
                <a:cubicBezTo>
                  <a:pt x="66675" y="65871"/>
                  <a:pt x="63490" y="69056"/>
                  <a:pt x="59531" y="69056"/>
                </a:cubicBezTo>
                <a:cubicBezTo>
                  <a:pt x="55572" y="69056"/>
                  <a:pt x="52388" y="65871"/>
                  <a:pt x="52388" y="61912"/>
                </a:cubicBezTo>
                <a:cubicBezTo>
                  <a:pt x="52388" y="48756"/>
                  <a:pt x="63044" y="38100"/>
                  <a:pt x="76200" y="38100"/>
                </a:cubicBezTo>
                <a:cubicBezTo>
                  <a:pt x="89356" y="38100"/>
                  <a:pt x="100013" y="48756"/>
                  <a:pt x="100013" y="61912"/>
                </a:cubicBezTo>
                <a:cubicBezTo>
                  <a:pt x="100013" y="75962"/>
                  <a:pt x="89297" y="81915"/>
                  <a:pt x="83344" y="84088"/>
                </a:cubicBezTo>
                <a:lnTo>
                  <a:pt x="83344" y="85219"/>
                </a:lnTo>
                <a:cubicBezTo>
                  <a:pt x="83344" y="89178"/>
                  <a:pt x="80159" y="92363"/>
                  <a:pt x="76200" y="92363"/>
                </a:cubicBezTo>
                <a:cubicBezTo>
                  <a:pt x="72241" y="92363"/>
                  <a:pt x="69056" y="89178"/>
                  <a:pt x="69056" y="85219"/>
                </a:cubicBezTo>
                <a:lnTo>
                  <a:pt x="69056" y="82808"/>
                </a:lnTo>
                <a:cubicBezTo>
                  <a:pt x="69056" y="76706"/>
                  <a:pt x="73462" y="72330"/>
                  <a:pt x="78016" y="70842"/>
                </a:cubicBezTo>
                <a:cubicBezTo>
                  <a:pt x="79921" y="70217"/>
                  <a:pt x="81945" y="69205"/>
                  <a:pt x="83433" y="67776"/>
                </a:cubicBezTo>
                <a:cubicBezTo>
                  <a:pt x="84713" y="66526"/>
                  <a:pt x="85725" y="64800"/>
                  <a:pt x="85725" y="61942"/>
                </a:cubicBezTo>
                <a:cubicBezTo>
                  <a:pt x="85725" y="56674"/>
                  <a:pt x="81469" y="52417"/>
                  <a:pt x="76200" y="52417"/>
                </a:cubicBezTo>
                <a:close/>
                <a:moveTo>
                  <a:pt x="66675" y="109537"/>
                </a:moveTo>
                <a:cubicBezTo>
                  <a:pt x="66675" y="104281"/>
                  <a:pt x="70943" y="100013"/>
                  <a:pt x="76200" y="100013"/>
                </a:cubicBezTo>
                <a:cubicBezTo>
                  <a:pt x="81457" y="100013"/>
                  <a:pt x="85725" y="104281"/>
                  <a:pt x="85725" y="109537"/>
                </a:cubicBezTo>
                <a:cubicBezTo>
                  <a:pt x="85725" y="114794"/>
                  <a:pt x="81457" y="119062"/>
                  <a:pt x="76200" y="119062"/>
                </a:cubicBezTo>
                <a:cubicBezTo>
                  <a:pt x="70943" y="119062"/>
                  <a:pt x="66675" y="114794"/>
                  <a:pt x="66675" y="109537"/>
                </a:cubicBezTo>
                <a:close/>
              </a:path>
            </a:pathLst>
          </a:custGeom>
          <a:solidFill>
            <a:srgbClr val="00B4D8"/>
          </a:solidFill>
          <a:ln/>
        </p:spPr>
      </p:sp>
      <p:sp>
        <p:nvSpPr>
          <p:cNvPr id="60" name="Text 58"/>
          <p:cNvSpPr/>
          <p:nvPr/>
        </p:nvSpPr>
        <p:spPr>
          <a:xfrm>
            <a:off x="819150" y="6096000"/>
            <a:ext cx="10915650" cy="228600"/>
          </a:xfrm>
          <a:prstGeom prst="rect">
            <a:avLst/>
          </a:prstGeom>
          <a:noFill/>
          <a:ln/>
        </p:spPr>
        <p:txBody>
          <a:bodyPr wrap="square" lIns="0" tIns="0" rIns="0" bIns="0" rtlCol="0" anchor="ctr"/>
          <a:lstStyle/>
          <a:p>
            <a:pPr>
              <a:lnSpc>
                <a:spcPct val="130000"/>
              </a:lnSpc>
            </a:pPr>
            <a:r>
              <a:rPr lang="en-US" sz="1200" b="1" dirty="0">
                <a:solidFill>
                  <a:srgbClr val="00B4D8"/>
                </a:solidFill>
                <a:latin typeface="Liter" pitchFamily="34" charset="0"/>
                <a:ea typeface="Liter" pitchFamily="34" charset="-122"/>
                <a:cs typeface="Liter" pitchFamily="34" charset="-120"/>
              </a:rPr>
              <a:t>Interactive Question: If models achieve 95-99% accuracy, should we fully trust their predictions?</a:t>
            </a:r>
            <a:endParaRPr lang="en-US" sz="1600" dirty="0"/>
          </a:p>
        </p:txBody>
      </p:sp>
      <p:sp>
        <p:nvSpPr>
          <p:cNvPr id="61" name="Text 59"/>
          <p:cNvSpPr/>
          <p:nvPr/>
        </p:nvSpPr>
        <p:spPr>
          <a:xfrm>
            <a:off x="381000" y="6553319"/>
            <a:ext cx="26479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62" name="Text 60"/>
          <p:cNvSpPr/>
          <p:nvPr/>
        </p:nvSpPr>
        <p:spPr>
          <a:xfrm>
            <a:off x="11470958" y="6553319"/>
            <a:ext cx="4000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Slide 5</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0B4D8"/>
                </a:solidFill>
                <a:latin typeface="Liter" pitchFamily="34" charset="0"/>
                <a:ea typeface="Liter" pitchFamily="34" charset="-122"/>
                <a:cs typeface="Liter" pitchFamily="34" charset="-120"/>
              </a:rPr>
              <a:t>Literature Review</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F1FAEE"/>
                </a:solidFill>
                <a:latin typeface="Oranienbaum" pitchFamily="34" charset="0"/>
                <a:ea typeface="Oranienbaum" pitchFamily="34" charset="-122"/>
                <a:cs typeface="Oranienbaum" pitchFamily="34" charset="-120"/>
              </a:rPr>
              <a:t>Existing CNN Models and Performance</a:t>
            </a:r>
            <a:endParaRPr lang="en-US" sz="1600" dirty="0"/>
          </a:p>
        </p:txBody>
      </p:sp>
      <p:sp>
        <p:nvSpPr>
          <p:cNvPr id="4" name="Shape 2"/>
          <p:cNvSpPr/>
          <p:nvPr/>
        </p:nvSpPr>
        <p:spPr>
          <a:xfrm>
            <a:off x="381000" y="1104900"/>
            <a:ext cx="914400" cy="3810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84810" y="1223010"/>
            <a:ext cx="11418570" cy="2598420"/>
          </a:xfrm>
          <a:prstGeom prst="roundRect">
            <a:avLst>
              <a:gd name="adj" fmla="val 2933"/>
            </a:avLst>
          </a:prstGeom>
          <a:solidFill>
            <a:srgbClr val="112240"/>
          </a:solidFill>
          <a:ln w="10160">
            <a:solidFill>
              <a:srgbClr val="3A86FF"/>
            </a:solidFill>
            <a:prstDash val="solid"/>
          </a:ln>
        </p:spPr>
      </p:sp>
      <p:sp>
        <p:nvSpPr>
          <p:cNvPr id="6" name="Shape 4"/>
          <p:cNvSpPr/>
          <p:nvPr/>
        </p:nvSpPr>
        <p:spPr>
          <a:xfrm>
            <a:off x="499348" y="1350645"/>
            <a:ext cx="150019" cy="171450"/>
          </a:xfrm>
          <a:custGeom>
            <a:avLst/>
            <a:gdLst/>
            <a:ahLst/>
            <a:cxnLst/>
            <a:rect l="l" t="t" r="r" b="b"/>
            <a:pathLst>
              <a:path w="150019" h="171450">
                <a:moveTo>
                  <a:pt x="85725" y="53578"/>
                </a:moveTo>
                <a:lnTo>
                  <a:pt x="85725" y="85725"/>
                </a:lnTo>
                <a:lnTo>
                  <a:pt x="128588" y="85725"/>
                </a:lnTo>
                <a:lnTo>
                  <a:pt x="128588" y="53578"/>
                </a:lnTo>
                <a:lnTo>
                  <a:pt x="85725" y="53578"/>
                </a:lnTo>
                <a:close/>
                <a:moveTo>
                  <a:pt x="64294" y="53578"/>
                </a:moveTo>
                <a:lnTo>
                  <a:pt x="21431" y="53578"/>
                </a:lnTo>
                <a:lnTo>
                  <a:pt x="21431" y="85725"/>
                </a:lnTo>
                <a:lnTo>
                  <a:pt x="64294" y="85725"/>
                </a:lnTo>
                <a:lnTo>
                  <a:pt x="64294" y="53578"/>
                </a:lnTo>
                <a:close/>
                <a:moveTo>
                  <a:pt x="0" y="107156"/>
                </a:moveTo>
                <a:lnTo>
                  <a:pt x="0" y="32147"/>
                </a:lnTo>
                <a:cubicBezTo>
                  <a:pt x="0" y="20326"/>
                  <a:pt x="9611" y="10716"/>
                  <a:pt x="21431" y="10716"/>
                </a:cubicBezTo>
                <a:lnTo>
                  <a:pt x="128588" y="10716"/>
                </a:lnTo>
                <a:cubicBezTo>
                  <a:pt x="140408" y="10716"/>
                  <a:pt x="150019" y="20326"/>
                  <a:pt x="150019" y="32147"/>
                </a:cubicBezTo>
                <a:lnTo>
                  <a:pt x="150019" y="139303"/>
                </a:lnTo>
                <a:cubicBezTo>
                  <a:pt x="150019" y="151124"/>
                  <a:pt x="140408" y="160734"/>
                  <a:pt x="128588" y="160734"/>
                </a:cubicBezTo>
                <a:lnTo>
                  <a:pt x="21431" y="160734"/>
                </a:lnTo>
                <a:cubicBezTo>
                  <a:pt x="9611" y="160734"/>
                  <a:pt x="0" y="151124"/>
                  <a:pt x="0" y="139303"/>
                </a:cubicBezTo>
                <a:lnTo>
                  <a:pt x="0" y="107156"/>
                </a:lnTo>
                <a:close/>
                <a:moveTo>
                  <a:pt x="128588" y="107156"/>
                </a:moveTo>
                <a:lnTo>
                  <a:pt x="85725" y="107156"/>
                </a:lnTo>
                <a:lnTo>
                  <a:pt x="85725" y="139303"/>
                </a:lnTo>
                <a:lnTo>
                  <a:pt x="128588" y="139303"/>
                </a:lnTo>
                <a:lnTo>
                  <a:pt x="128588" y="107156"/>
                </a:lnTo>
                <a:close/>
                <a:moveTo>
                  <a:pt x="64294" y="139303"/>
                </a:moveTo>
                <a:lnTo>
                  <a:pt x="64294" y="107156"/>
                </a:lnTo>
                <a:lnTo>
                  <a:pt x="21431" y="107156"/>
                </a:lnTo>
                <a:lnTo>
                  <a:pt x="21431" y="139303"/>
                </a:lnTo>
                <a:lnTo>
                  <a:pt x="64294" y="139303"/>
                </a:lnTo>
                <a:close/>
              </a:path>
            </a:pathLst>
          </a:custGeom>
          <a:solidFill>
            <a:srgbClr val="3A86FF"/>
          </a:solidFill>
          <a:ln/>
        </p:spPr>
      </p:sp>
      <p:sp>
        <p:nvSpPr>
          <p:cNvPr id="7" name="Text 5"/>
          <p:cNvSpPr/>
          <p:nvPr/>
        </p:nvSpPr>
        <p:spPr>
          <a:xfrm>
            <a:off x="683895" y="1303020"/>
            <a:ext cx="11125200" cy="266700"/>
          </a:xfrm>
          <a:prstGeom prst="rect">
            <a:avLst/>
          </a:prstGeom>
          <a:noFill/>
          <a:ln/>
        </p:spPr>
        <p:txBody>
          <a:bodyPr wrap="square" lIns="0" tIns="0" rIns="0" bIns="0" rtlCol="0" anchor="ctr"/>
          <a:lstStyle/>
          <a:p>
            <a:pPr>
              <a:lnSpc>
                <a:spcPct val="130000"/>
              </a:lnSpc>
            </a:pPr>
            <a:r>
              <a:rPr lang="en-US" sz="1350" b="1" dirty="0">
                <a:solidFill>
                  <a:srgbClr val="3A86FF"/>
                </a:solidFill>
                <a:latin typeface="Liter" pitchFamily="34" charset="0"/>
                <a:ea typeface="Liter" pitchFamily="34" charset="-122"/>
                <a:cs typeface="Liter" pitchFamily="34" charset="-120"/>
              </a:rPr>
              <a:t>Performance Comparison on Retinal OCT Datasets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4820" y="1645920"/>
          <a:ext cx="11258550" cy="1905000"/>
        </p:xfrm>
        <a:graphic>
          <a:graphicData uri="http://schemas.openxmlformats.org/drawingml/2006/table">
            <a:tbl>
              <a:tblPr/>
              <a:tblGrid>
                <a:gridCol w="2550542"/>
                <a:gridCol w="2874118"/>
                <a:gridCol w="1989042"/>
                <a:gridCol w="3844847"/>
              </a:tblGrid>
              <a:tr h="264934">
                <a:tc>
                  <a:txBody>
                    <a:bodyPr/>
                    <a:lstStyle/>
                    <a:p>
                      <a:pPr algn="l"/>
                      <a:r>
                        <a:rPr lang="en-US" sz="1000" b="1" u="none" dirty="0">
                          <a:solidFill>
                            <a:srgbClr val="F1FAEE"/>
                          </a:solidFill>
                          <a:latin typeface="微软雅黑" pitchFamily="34" charset="0"/>
                          <a:ea typeface="微软雅黑" pitchFamily="34" charset="-122"/>
                          <a:cs typeface="微软雅黑" pitchFamily="34" charset="-120"/>
                        </a:rPr>
                        <a:t>Model</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0" cap="flat" cmpd="sng" algn="ctr">
                      <a:noFill/>
                    </a:lnB>
                    <a:solidFill>
                      <a:srgbClr val="3A86FF"/>
                    </a:solidFill>
                  </a:tcPr>
                </a:tc>
                <a:tc>
                  <a:txBody>
                    <a:bodyPr/>
                    <a:lstStyle/>
                    <a:p>
                      <a:pPr algn="l"/>
                      <a:r>
                        <a:rPr lang="en-US" sz="1000" b="1" u="none" dirty="0">
                          <a:solidFill>
                            <a:srgbClr val="F1FAEE"/>
                          </a:solidFill>
                          <a:latin typeface="微软雅黑" pitchFamily="34" charset="0"/>
                          <a:ea typeface="微软雅黑" pitchFamily="34" charset="-122"/>
                          <a:cs typeface="微软雅黑" pitchFamily="34" charset="-120"/>
                        </a:rPr>
                        <a:t>Dataset</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0" cap="flat" cmpd="sng" algn="ctr">
                      <a:noFill/>
                    </a:lnB>
                    <a:solidFill>
                      <a:srgbClr val="3A86FF"/>
                    </a:solidFill>
                  </a:tcPr>
                </a:tc>
                <a:tc>
                  <a:txBody>
                    <a:bodyPr/>
                    <a:lstStyle/>
                    <a:p>
                      <a:pPr algn="ctr"/>
                      <a:r>
                        <a:rPr lang="en-US" sz="1000" b="1" u="none" dirty="0">
                          <a:solidFill>
                            <a:srgbClr val="F1FAEE"/>
                          </a:solidFill>
                          <a:latin typeface="微软雅黑" pitchFamily="34" charset="0"/>
                          <a:ea typeface="微软雅黑" pitchFamily="34" charset="-122"/>
                          <a:cs typeface="微软雅黑" pitchFamily="34" charset="-120"/>
                        </a:rPr>
                        <a:t>Accuracy</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0" cap="flat" cmpd="sng" algn="ctr">
                      <a:noFill/>
                    </a:lnB>
                    <a:solidFill>
                      <a:srgbClr val="3A86FF"/>
                    </a:solidFill>
                  </a:tcPr>
                </a:tc>
                <a:tc>
                  <a:txBody>
                    <a:bodyPr/>
                    <a:lstStyle/>
                    <a:p>
                      <a:pPr algn="l"/>
                      <a:r>
                        <a:rPr lang="en-US" sz="1000" b="1" u="none" dirty="0">
                          <a:solidFill>
                            <a:srgbClr val="F1FAEE"/>
                          </a:solidFill>
                          <a:latin typeface="微软雅黑" pitchFamily="34" charset="0"/>
                          <a:ea typeface="微软雅黑" pitchFamily="34" charset="-122"/>
                          <a:cs typeface="微软雅黑" pitchFamily="34" charset="-120"/>
                        </a:rPr>
                        <a:t>Key Notes</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0" cap="flat" cmpd="sng" algn="ctr">
                      <a:noFill/>
                    </a:lnB>
                    <a:solidFill>
                      <a:srgbClr val="3A86FF"/>
                    </a:solidFill>
                  </a:tcPr>
                </a:tc>
              </a:tr>
              <a:tr h="264934">
                <a:tc>
                  <a:txBody>
                    <a:bodyPr/>
                    <a:lstStyle/>
                    <a:p>
                      <a:r>
                        <a:rPr lang="en-US" sz="1000" b="1" u="none" dirty="0">
                          <a:solidFill>
                            <a:srgbClr val="3A86FF"/>
                          </a:solidFill>
                          <a:latin typeface="微软雅黑" pitchFamily="34" charset="0"/>
                          <a:ea typeface="微软雅黑" pitchFamily="34" charset="-122"/>
                          <a:cs typeface="微软雅黑" pitchFamily="34" charset="-120"/>
                        </a:rPr>
                        <a:t>VGG16</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Shifa Eye Foundation</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1FAEE"/>
                          </a:solidFill>
                          <a:latin typeface="微软雅黑" pitchFamily="34" charset="0"/>
                          <a:ea typeface="微软雅黑" pitchFamily="34" charset="-122"/>
                          <a:cs typeface="微软雅黑" pitchFamily="34" charset="-120"/>
                        </a:rPr>
                        <a:t>71.9%</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Baseline architecture [1]</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277550">
                <a:tc>
                  <a:txBody>
                    <a:bodyPr/>
                    <a:lstStyle/>
                    <a:p>
                      <a:r>
                        <a:rPr lang="en-US" sz="1000" b="1" u="none" dirty="0">
                          <a:solidFill>
                            <a:srgbClr val="3A86FF"/>
                          </a:solidFill>
                          <a:latin typeface="微软雅黑" pitchFamily="34" charset="0"/>
                          <a:ea typeface="微软雅黑" pitchFamily="34" charset="-122"/>
                          <a:cs typeface="微软雅黑" pitchFamily="34" charset="-120"/>
                        </a:rPr>
                        <a:t>VGG19</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Shifa Eye Foundation</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pPr algn="ctr"/>
                      <a:r>
                        <a:rPr lang="en-US" sz="1000" u="none" dirty="0">
                          <a:solidFill>
                            <a:srgbClr val="F1FAEE"/>
                          </a:solidFill>
                          <a:latin typeface="微软雅黑" pitchFamily="34" charset="0"/>
                          <a:ea typeface="微软雅黑" pitchFamily="34" charset="-122"/>
                          <a:cs typeface="微软雅黑" pitchFamily="34" charset="-120"/>
                        </a:rPr>
                        <a:t>97.54%</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With latent SMOTE [1]</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r>
              <a:tr h="277550">
                <a:tc>
                  <a:txBody>
                    <a:bodyPr/>
                    <a:lstStyle/>
                    <a:p>
                      <a:r>
                        <a:rPr lang="en-US" sz="1000" b="1" u="none" dirty="0">
                          <a:solidFill>
                            <a:srgbClr val="00B4D8"/>
                          </a:solidFill>
                          <a:latin typeface="微软雅黑" pitchFamily="34" charset="0"/>
                          <a:ea typeface="微软雅黑" pitchFamily="34" charset="-122"/>
                          <a:cs typeface="微软雅黑" pitchFamily="34" charset="-120"/>
                        </a:rPr>
                        <a:t>ResNet50</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OCT-C8 / Custom</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1FAEE"/>
                          </a:solidFill>
                          <a:latin typeface="微软雅黑" pitchFamily="34" charset="0"/>
                          <a:ea typeface="微软雅黑" pitchFamily="34" charset="-122"/>
                          <a:cs typeface="微软雅黑" pitchFamily="34" charset="-120"/>
                        </a:rPr>
                        <a:t>75.6-99.9%</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Residual connections [2][12]</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277550">
                <a:tc>
                  <a:txBody>
                    <a:bodyPr/>
                    <a:lstStyle/>
                    <a:p>
                      <a:r>
                        <a:rPr lang="en-US" sz="1000" b="1" u="none" dirty="0">
                          <a:solidFill>
                            <a:srgbClr val="00B4D8"/>
                          </a:solidFill>
                          <a:latin typeface="微软雅黑" pitchFamily="34" charset="0"/>
                          <a:ea typeface="微软雅黑" pitchFamily="34" charset="-122"/>
                          <a:cs typeface="微软雅黑" pitchFamily="34" charset="-120"/>
                        </a:rPr>
                        <a:t>InceptionV3</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Multi-dataset</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pPr algn="ctr"/>
                      <a:r>
                        <a:rPr lang="en-US" sz="1000" u="none" dirty="0">
                          <a:solidFill>
                            <a:srgbClr val="F1FAEE"/>
                          </a:solidFill>
                          <a:latin typeface="微软雅黑" pitchFamily="34" charset="0"/>
                          <a:ea typeface="微软雅黑" pitchFamily="34" charset="-122"/>
                          <a:cs typeface="微软雅黑" pitchFamily="34" charset="-120"/>
                        </a:rPr>
                        <a:t>89.06%</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Multi-scale features [19]</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r>
              <a:tr h="277550">
                <a:tc>
                  <a:txBody>
                    <a:bodyPr/>
                    <a:lstStyle/>
                    <a:p>
                      <a:r>
                        <a:rPr lang="en-US" sz="1000" b="1" u="none" dirty="0">
                          <a:solidFill>
                            <a:srgbClr val="00B4D8"/>
                          </a:solidFill>
                          <a:latin typeface="微软雅黑" pitchFamily="34" charset="0"/>
                          <a:ea typeface="微软雅黑" pitchFamily="34" charset="-122"/>
                          <a:cs typeface="微软雅黑" pitchFamily="34" charset="-120"/>
                        </a:rPr>
                        <a:t>DenseNet121</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Retinal datasets</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F1FAEE"/>
                          </a:solidFill>
                          <a:latin typeface="微软雅黑" pitchFamily="34" charset="0"/>
                          <a:ea typeface="微软雅黑" pitchFamily="34" charset="-122"/>
                          <a:cs typeface="微软雅黑" pitchFamily="34" charset="-120"/>
                        </a:rPr>
                        <a:t>93.35%</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Dense connections [19]</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264934">
                <a:tc>
                  <a:txBody>
                    <a:bodyPr/>
                    <a:lstStyle/>
                    <a:p>
                      <a:r>
                        <a:rPr lang="en-US" sz="1000" b="1" u="none" dirty="0">
                          <a:solidFill>
                            <a:srgbClr val="00B4D8"/>
                          </a:solidFill>
                          <a:latin typeface="微软雅黑" pitchFamily="34" charset="0"/>
                          <a:ea typeface="微软雅黑" pitchFamily="34" charset="-122"/>
                          <a:cs typeface="微软雅黑" pitchFamily="34" charset="-120"/>
                        </a:rPr>
                        <a:t>CNN+Transformer</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0" cap="flat" cmpd="sng" algn="ctr">
                      <a:noFill/>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OCT-C8</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0" cap="flat" cmpd="sng" algn="ctr">
                      <a:noFill/>
                    </a:lnB>
                    <a:solidFill>
                      <a:srgbClr val="112240"/>
                    </a:solidFill>
                  </a:tcPr>
                </a:tc>
                <a:tc>
                  <a:txBody>
                    <a:bodyPr/>
                    <a:lstStyle/>
                    <a:p>
                      <a:pPr algn="ctr"/>
                      <a:r>
                        <a:rPr lang="en-US" sz="1000" u="none" dirty="0">
                          <a:solidFill>
                            <a:srgbClr val="F1FAEE"/>
                          </a:solidFill>
                          <a:latin typeface="微软雅黑" pitchFamily="34" charset="0"/>
                          <a:ea typeface="微软雅黑" pitchFamily="34" charset="-122"/>
                          <a:cs typeface="微软雅黑" pitchFamily="34" charset="-120"/>
                        </a:rPr>
                        <a:t>98.0%</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0" cap="flat" cmpd="sng" algn="ctr">
                      <a:noFill/>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Lightweight hybrid [8]</a:t>
                      </a:r>
                      <a:endParaRPr lang="en-US" sz="1000" dirty="0">
                        <a:latin typeface="微软雅黑" charset="0"/>
                        <a:ea typeface="微软雅黑" charset="0"/>
                        <a:cs typeface="微软雅黑" charset="0"/>
                      </a:endParaRPr>
                    </a:p>
                  </a:txBody>
                  <a:tcPr marL="38100" marR="38100" marT="38100" marB="38100" anchor="ctr">
                    <a:lnL w="0" cap="flat" cmpd="sng" algn="ctr">
                      <a:noFill/>
                    </a:lnL>
                    <a:lnR w="0" cap="flat" cmpd="sng" algn="ctr">
                      <a:noFill/>
                    </a:lnR>
                    <a:lnT w="0" cap="flat" cmpd="sng" algn="ctr">
                      <a:noFill/>
                    </a:lnT>
                    <a:lnB w="0" cap="flat" cmpd="sng" algn="ctr">
                      <a:noFill/>
                    </a:lnB>
                    <a:solidFill>
                      <a:srgbClr val="112240"/>
                    </a:solidFill>
                  </a:tcPr>
                </a:tc>
              </a:tr>
            </a:tbl>
          </a:graphicData>
        </a:graphic>
      </p:graphicFrame>
      <p:sp>
        <p:nvSpPr>
          <p:cNvPr id="9" name="Text 6"/>
          <p:cNvSpPr/>
          <p:nvPr/>
        </p:nvSpPr>
        <p:spPr>
          <a:xfrm>
            <a:off x="464820" y="3589023"/>
            <a:ext cx="1131570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Sources: [1] Ajmal et al. 2026, [2] El-Ghany et al. 2025, [8] Pan et al. 2025, [12] Vandersmissen &amp; Oramas 2024, [19] Said et al. 2024</a:t>
            </a:r>
            <a:endParaRPr lang="en-US" sz="1600" dirty="0"/>
          </a:p>
        </p:txBody>
      </p:sp>
      <p:sp>
        <p:nvSpPr>
          <p:cNvPr id="10" name="Shape 7"/>
          <p:cNvSpPr/>
          <p:nvPr/>
        </p:nvSpPr>
        <p:spPr>
          <a:xfrm>
            <a:off x="384810" y="4734400"/>
            <a:ext cx="3703320" cy="1207770"/>
          </a:xfrm>
          <a:prstGeom prst="roundRect">
            <a:avLst>
              <a:gd name="adj" fmla="val 6309"/>
            </a:avLst>
          </a:prstGeom>
          <a:solidFill>
            <a:srgbClr val="112240"/>
          </a:solidFill>
          <a:ln w="10160">
            <a:solidFill>
              <a:srgbClr val="3A86FF"/>
            </a:solidFill>
            <a:prstDash val="solid"/>
          </a:ln>
        </p:spPr>
      </p:sp>
      <p:sp>
        <p:nvSpPr>
          <p:cNvPr id="11" name="Shape 8"/>
          <p:cNvSpPr/>
          <p:nvPr/>
        </p:nvSpPr>
        <p:spPr>
          <a:xfrm>
            <a:off x="464820" y="4833463"/>
            <a:ext cx="381000" cy="381000"/>
          </a:xfrm>
          <a:prstGeom prst="roundRect">
            <a:avLst>
              <a:gd name="adj" fmla="val 50000"/>
            </a:avLst>
          </a:prstGeom>
          <a:solidFill>
            <a:srgbClr val="3A86FF"/>
          </a:solidFill>
          <a:ln/>
        </p:spPr>
      </p:sp>
      <p:sp>
        <p:nvSpPr>
          <p:cNvPr id="12" name="Shape 9"/>
          <p:cNvSpPr/>
          <p:nvPr/>
        </p:nvSpPr>
        <p:spPr>
          <a:xfrm>
            <a:off x="588645" y="4947763"/>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F1FAEE"/>
          </a:solidFill>
          <a:ln/>
        </p:spPr>
      </p:sp>
      <p:sp>
        <p:nvSpPr>
          <p:cNvPr id="13" name="Text 10"/>
          <p:cNvSpPr/>
          <p:nvPr/>
        </p:nvSpPr>
        <p:spPr>
          <a:xfrm>
            <a:off x="960120" y="4814413"/>
            <a:ext cx="1581150" cy="228600"/>
          </a:xfrm>
          <a:prstGeom prst="rect">
            <a:avLst/>
          </a:prstGeom>
          <a:noFill/>
          <a:ln/>
        </p:spPr>
        <p:txBody>
          <a:bodyPr wrap="square" lIns="0" tIns="0" rIns="0" bIns="0" rtlCol="0" anchor="ctr"/>
          <a:lstStyle/>
          <a:p>
            <a:pPr>
              <a:lnSpc>
                <a:spcPct val="130000"/>
              </a:lnSpc>
            </a:pPr>
            <a:r>
              <a:rPr lang="en-US" sz="1200" b="1" dirty="0">
                <a:solidFill>
                  <a:srgbClr val="F1FAEE"/>
                </a:solidFill>
                <a:latin typeface="Liter" pitchFamily="34" charset="0"/>
                <a:ea typeface="Liter" pitchFamily="34" charset="-122"/>
                <a:cs typeface="Liter" pitchFamily="34" charset="-120"/>
              </a:rPr>
              <a:t>OCT2017 Dataset</a:t>
            </a:r>
            <a:endParaRPr lang="en-US" sz="1600" dirty="0"/>
          </a:p>
        </p:txBody>
      </p:sp>
      <p:sp>
        <p:nvSpPr>
          <p:cNvPr id="14" name="Text 11"/>
          <p:cNvSpPr/>
          <p:nvPr/>
        </p:nvSpPr>
        <p:spPr>
          <a:xfrm>
            <a:off x="960120" y="5043013"/>
            <a:ext cx="1571625"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Gold standard benchmark</a:t>
            </a:r>
            <a:endParaRPr lang="en-US" sz="1600" dirty="0"/>
          </a:p>
        </p:txBody>
      </p:sp>
      <p:sp>
        <p:nvSpPr>
          <p:cNvPr id="15" name="Text 12"/>
          <p:cNvSpPr/>
          <p:nvPr/>
        </p:nvSpPr>
        <p:spPr>
          <a:xfrm>
            <a:off x="464820" y="5309713"/>
            <a:ext cx="3609975" cy="371475"/>
          </a:xfrm>
          <a:prstGeom prst="rect">
            <a:avLst/>
          </a:prstGeom>
          <a:noFill/>
          <a:ln/>
        </p:spPr>
        <p:txBody>
          <a:bodyPr wrap="square" lIns="0" tIns="0" rIns="0" bIns="0" rtlCol="0" anchor="ctr"/>
          <a:lstStyle/>
          <a:p>
            <a:pPr>
              <a:lnSpc>
                <a:spcPct val="110000"/>
              </a:lnSpc>
            </a:pPr>
            <a:r>
              <a:rPr lang="en-US" sz="1050" dirty="0">
                <a:solidFill>
                  <a:srgbClr val="F1FAEE"/>
                </a:solidFill>
                <a:latin typeface="Liter" pitchFamily="34" charset="0"/>
                <a:ea typeface="Liter" pitchFamily="34" charset="-122"/>
                <a:cs typeface="Liter" pitchFamily="34" charset="-120"/>
              </a:rPr>
              <a:t>84,484 OCT B-scans (CNV, DME, DRUSEN, NORMAL) collected by Shiley Eye Institute, UC San Diego [1][8][9]</a:t>
            </a:r>
            <a:endParaRPr lang="en-US" sz="1600" dirty="0"/>
          </a:p>
        </p:txBody>
      </p:sp>
      <p:sp>
        <p:nvSpPr>
          <p:cNvPr id="16" name="Shape 13"/>
          <p:cNvSpPr/>
          <p:nvPr/>
        </p:nvSpPr>
        <p:spPr>
          <a:xfrm>
            <a:off x="4245531" y="4734400"/>
            <a:ext cx="3703320" cy="1207770"/>
          </a:xfrm>
          <a:prstGeom prst="roundRect">
            <a:avLst>
              <a:gd name="adj" fmla="val 6309"/>
            </a:avLst>
          </a:prstGeom>
          <a:solidFill>
            <a:srgbClr val="112240"/>
          </a:solidFill>
          <a:ln w="10160">
            <a:solidFill>
              <a:srgbClr val="00B4D8"/>
            </a:solidFill>
            <a:prstDash val="solid"/>
          </a:ln>
        </p:spPr>
      </p:sp>
      <p:sp>
        <p:nvSpPr>
          <p:cNvPr id="17" name="Shape 14"/>
          <p:cNvSpPr/>
          <p:nvPr/>
        </p:nvSpPr>
        <p:spPr>
          <a:xfrm>
            <a:off x="4325541" y="4833463"/>
            <a:ext cx="381000" cy="381000"/>
          </a:xfrm>
          <a:prstGeom prst="roundRect">
            <a:avLst>
              <a:gd name="adj" fmla="val 50000"/>
            </a:avLst>
          </a:prstGeom>
          <a:solidFill>
            <a:srgbClr val="00B4D8"/>
          </a:solidFill>
          <a:ln/>
        </p:spPr>
      </p:sp>
      <p:sp>
        <p:nvSpPr>
          <p:cNvPr id="18" name="Shape 15"/>
          <p:cNvSpPr/>
          <p:nvPr/>
        </p:nvSpPr>
        <p:spPr>
          <a:xfrm>
            <a:off x="4439841" y="4947763"/>
            <a:ext cx="152400" cy="152400"/>
          </a:xfrm>
          <a:custGeom>
            <a:avLst/>
            <a:gdLst/>
            <a:ahLst/>
            <a:cxnLst/>
            <a:rect l="l" t="t" r="r" b="b"/>
            <a:pathLst>
              <a:path w="152400" h="152400">
                <a:moveTo>
                  <a:pt x="42952" y="0"/>
                </a:moveTo>
                <a:lnTo>
                  <a:pt x="109627" y="0"/>
                </a:lnTo>
                <a:cubicBezTo>
                  <a:pt x="117515" y="0"/>
                  <a:pt x="123944" y="6489"/>
                  <a:pt x="123646" y="14347"/>
                </a:cubicBezTo>
                <a:cubicBezTo>
                  <a:pt x="123587" y="15925"/>
                  <a:pt x="123527" y="17502"/>
                  <a:pt x="123438" y="19050"/>
                </a:cubicBezTo>
                <a:lnTo>
                  <a:pt x="138202" y="19050"/>
                </a:lnTo>
                <a:cubicBezTo>
                  <a:pt x="145971" y="19050"/>
                  <a:pt x="152817" y="25479"/>
                  <a:pt x="152221" y="33873"/>
                </a:cubicBezTo>
                <a:cubicBezTo>
                  <a:pt x="149989" y="64740"/>
                  <a:pt x="134213" y="81707"/>
                  <a:pt x="117098" y="90577"/>
                </a:cubicBezTo>
                <a:cubicBezTo>
                  <a:pt x="112395" y="93018"/>
                  <a:pt x="107603" y="94833"/>
                  <a:pt x="103049" y="96173"/>
                </a:cubicBezTo>
                <a:cubicBezTo>
                  <a:pt x="97036" y="104686"/>
                  <a:pt x="90785" y="109180"/>
                  <a:pt x="85814" y="111591"/>
                </a:cubicBezTo>
                <a:lnTo>
                  <a:pt x="85814" y="133350"/>
                </a:lnTo>
                <a:lnTo>
                  <a:pt x="104864" y="133350"/>
                </a:lnTo>
                <a:cubicBezTo>
                  <a:pt x="110133" y="133350"/>
                  <a:pt x="114389" y="137606"/>
                  <a:pt x="114389" y="142875"/>
                </a:cubicBezTo>
                <a:cubicBezTo>
                  <a:pt x="114389" y="148144"/>
                  <a:pt x="110133" y="152400"/>
                  <a:pt x="104864" y="152400"/>
                </a:cubicBezTo>
                <a:lnTo>
                  <a:pt x="47714" y="152400"/>
                </a:lnTo>
                <a:cubicBezTo>
                  <a:pt x="42446" y="152400"/>
                  <a:pt x="38189" y="148144"/>
                  <a:pt x="38189" y="142875"/>
                </a:cubicBezTo>
                <a:cubicBezTo>
                  <a:pt x="38189" y="137606"/>
                  <a:pt x="42446" y="133350"/>
                  <a:pt x="47714" y="133350"/>
                </a:cubicBezTo>
                <a:lnTo>
                  <a:pt x="66764" y="133350"/>
                </a:lnTo>
                <a:lnTo>
                  <a:pt x="66764" y="111591"/>
                </a:lnTo>
                <a:cubicBezTo>
                  <a:pt x="62002" y="109299"/>
                  <a:pt x="56078" y="105043"/>
                  <a:pt x="50304" y="97215"/>
                </a:cubicBezTo>
                <a:cubicBezTo>
                  <a:pt x="44827" y="95786"/>
                  <a:pt x="38874" y="93613"/>
                  <a:pt x="33070" y="90339"/>
                </a:cubicBezTo>
                <a:cubicBezTo>
                  <a:pt x="16966" y="81320"/>
                  <a:pt x="2441" y="64324"/>
                  <a:pt x="357" y="33814"/>
                </a:cubicBezTo>
                <a:cubicBezTo>
                  <a:pt x="-208" y="25450"/>
                  <a:pt x="6608" y="19020"/>
                  <a:pt x="14377" y="19020"/>
                </a:cubicBezTo>
                <a:lnTo>
                  <a:pt x="29141" y="19020"/>
                </a:lnTo>
                <a:cubicBezTo>
                  <a:pt x="29051" y="17472"/>
                  <a:pt x="28992" y="15925"/>
                  <a:pt x="28932" y="14317"/>
                </a:cubicBezTo>
                <a:cubicBezTo>
                  <a:pt x="28635" y="6429"/>
                  <a:pt x="35064" y="-30"/>
                  <a:pt x="42952" y="-30"/>
                </a:cubicBezTo>
                <a:close/>
                <a:moveTo>
                  <a:pt x="30212" y="33338"/>
                </a:moveTo>
                <a:lnTo>
                  <a:pt x="14615" y="33338"/>
                </a:lnTo>
                <a:cubicBezTo>
                  <a:pt x="16460" y="58549"/>
                  <a:pt x="28039" y="71170"/>
                  <a:pt x="39975" y="77867"/>
                </a:cubicBezTo>
                <a:cubicBezTo>
                  <a:pt x="35689" y="66764"/>
                  <a:pt x="32147" y="52268"/>
                  <a:pt x="30212" y="33338"/>
                </a:cubicBezTo>
                <a:close/>
                <a:moveTo>
                  <a:pt x="113109" y="76438"/>
                </a:moveTo>
                <a:cubicBezTo>
                  <a:pt x="125164" y="69354"/>
                  <a:pt x="136059" y="56763"/>
                  <a:pt x="137904" y="33338"/>
                </a:cubicBezTo>
                <a:lnTo>
                  <a:pt x="122337" y="33338"/>
                </a:lnTo>
                <a:cubicBezTo>
                  <a:pt x="120491" y="51465"/>
                  <a:pt x="117157" y="65544"/>
                  <a:pt x="113109" y="76438"/>
                </a:cubicBezTo>
                <a:close/>
              </a:path>
            </a:pathLst>
          </a:custGeom>
          <a:solidFill>
            <a:srgbClr val="F1FAEE"/>
          </a:solidFill>
          <a:ln/>
        </p:spPr>
      </p:sp>
      <p:sp>
        <p:nvSpPr>
          <p:cNvPr id="19" name="Text 16"/>
          <p:cNvSpPr/>
          <p:nvPr/>
        </p:nvSpPr>
        <p:spPr>
          <a:xfrm>
            <a:off x="4820841" y="4814413"/>
            <a:ext cx="1438275" cy="228600"/>
          </a:xfrm>
          <a:prstGeom prst="rect">
            <a:avLst/>
          </a:prstGeom>
          <a:noFill/>
          <a:ln/>
        </p:spPr>
        <p:txBody>
          <a:bodyPr wrap="square" lIns="0" tIns="0" rIns="0" bIns="0" rtlCol="0" anchor="ctr"/>
          <a:lstStyle/>
          <a:p>
            <a:pPr>
              <a:lnSpc>
                <a:spcPct val="130000"/>
              </a:lnSpc>
            </a:pPr>
            <a:r>
              <a:rPr lang="en-US" sz="1200" b="1" dirty="0">
                <a:solidFill>
                  <a:srgbClr val="F1FAEE"/>
                </a:solidFill>
                <a:latin typeface="Liter" pitchFamily="34" charset="0"/>
                <a:ea typeface="Liter" pitchFamily="34" charset="-122"/>
                <a:cs typeface="Liter" pitchFamily="34" charset="-120"/>
              </a:rPr>
              <a:t>Key Achievement</a:t>
            </a:r>
            <a:endParaRPr lang="en-US" sz="1600" dirty="0"/>
          </a:p>
        </p:txBody>
      </p:sp>
      <p:sp>
        <p:nvSpPr>
          <p:cNvPr id="20" name="Text 17"/>
          <p:cNvSpPr/>
          <p:nvPr/>
        </p:nvSpPr>
        <p:spPr>
          <a:xfrm>
            <a:off x="4820841" y="5043013"/>
            <a:ext cx="1428750"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State-of-the-art results</a:t>
            </a:r>
            <a:endParaRPr lang="en-US" sz="1600" dirty="0"/>
          </a:p>
        </p:txBody>
      </p:sp>
      <p:sp>
        <p:nvSpPr>
          <p:cNvPr id="21" name="Text 18"/>
          <p:cNvSpPr/>
          <p:nvPr/>
        </p:nvSpPr>
        <p:spPr>
          <a:xfrm>
            <a:off x="4325541" y="5309713"/>
            <a:ext cx="3609975" cy="552450"/>
          </a:xfrm>
          <a:prstGeom prst="rect">
            <a:avLst/>
          </a:prstGeom>
          <a:noFill/>
          <a:ln/>
        </p:spPr>
        <p:txBody>
          <a:bodyPr wrap="square" lIns="0" tIns="0" rIns="0" bIns="0" rtlCol="0" anchor="ctr"/>
          <a:lstStyle/>
          <a:p>
            <a:pPr>
              <a:lnSpc>
                <a:spcPct val="110000"/>
              </a:lnSpc>
            </a:pPr>
            <a:r>
              <a:rPr lang="en-US" sz="1050" dirty="0">
                <a:solidFill>
                  <a:srgbClr val="F1FAEE"/>
                </a:solidFill>
                <a:latin typeface="Liter" pitchFamily="34" charset="0"/>
                <a:ea typeface="Liter" pitchFamily="34" charset="-122"/>
                <a:cs typeface="Liter" pitchFamily="34" charset="-120"/>
              </a:rPr>
              <a:t>Most models achieve </a:t>
            </a:r>
            <a:pPr>
              <a:lnSpc>
                <a:spcPct val="110000"/>
              </a:lnSpc>
            </a:pPr>
            <a:r>
              <a:rPr lang="en-US" sz="1050" b="1" dirty="0">
                <a:solidFill>
                  <a:srgbClr val="00B4D8"/>
                </a:solidFill>
                <a:latin typeface="Liter" pitchFamily="34" charset="0"/>
                <a:ea typeface="Liter" pitchFamily="34" charset="-122"/>
                <a:cs typeface="Liter" pitchFamily="34" charset="-120"/>
              </a:rPr>
              <a:t>&gt;95% accuracy</a:t>
            </a:r>
            <a:pPr>
              <a:lnSpc>
                <a:spcPct val="110000"/>
              </a:lnSpc>
            </a:pPr>
            <a:r>
              <a:rPr lang="en-US" sz="1050" dirty="0">
                <a:solidFill>
                  <a:srgbClr val="F1FAEE"/>
                </a:solidFill>
                <a:latin typeface="Liter" pitchFamily="34" charset="0"/>
                <a:ea typeface="Liter" pitchFamily="34" charset="-122"/>
                <a:cs typeface="Liter" pitchFamily="34" charset="-120"/>
              </a:rPr>
              <a:t> , with some approaching </a:t>
            </a:r>
            <a:pPr>
              <a:lnSpc>
                <a:spcPct val="110000"/>
              </a:lnSpc>
            </a:pPr>
            <a:r>
              <a:rPr lang="en-US" sz="1050" b="1" dirty="0">
                <a:solidFill>
                  <a:srgbClr val="00B4D8"/>
                </a:solidFill>
                <a:latin typeface="Liter" pitchFamily="34" charset="0"/>
                <a:ea typeface="Liter" pitchFamily="34" charset="-122"/>
                <a:cs typeface="Liter" pitchFamily="34" charset="-120"/>
              </a:rPr>
              <a:t>99%</a:t>
            </a:r>
            <a:pPr>
              <a:lnSpc>
                <a:spcPct val="110000"/>
              </a:lnSpc>
            </a:pPr>
            <a:r>
              <a:rPr lang="en-US" sz="1050" dirty="0">
                <a:solidFill>
                  <a:srgbClr val="F1FAEE"/>
                </a:solidFill>
                <a:latin typeface="Liter" pitchFamily="34" charset="0"/>
                <a:ea typeface="Liter" pitchFamily="34" charset="-122"/>
                <a:cs typeface="Liter" pitchFamily="34" charset="-120"/>
              </a:rPr>
              <a:t> classification accuracy on standard benchmarks</a:t>
            </a:r>
            <a:endParaRPr lang="en-US" sz="1600" dirty="0"/>
          </a:p>
        </p:txBody>
      </p:sp>
      <p:sp>
        <p:nvSpPr>
          <p:cNvPr id="22" name="Shape 19"/>
          <p:cNvSpPr/>
          <p:nvPr/>
        </p:nvSpPr>
        <p:spPr>
          <a:xfrm>
            <a:off x="8106371" y="4734400"/>
            <a:ext cx="3703320" cy="1207770"/>
          </a:xfrm>
          <a:prstGeom prst="roundRect">
            <a:avLst>
              <a:gd name="adj" fmla="val 6309"/>
            </a:avLst>
          </a:prstGeom>
          <a:solidFill>
            <a:srgbClr val="112240"/>
          </a:solidFill>
          <a:ln w="10160">
            <a:solidFill>
              <a:srgbClr val="5C677D"/>
            </a:solidFill>
            <a:prstDash val="solid"/>
          </a:ln>
        </p:spPr>
      </p:sp>
      <p:sp>
        <p:nvSpPr>
          <p:cNvPr id="23" name="Shape 20"/>
          <p:cNvSpPr/>
          <p:nvPr/>
        </p:nvSpPr>
        <p:spPr>
          <a:xfrm>
            <a:off x="8186381" y="4833463"/>
            <a:ext cx="381000" cy="381000"/>
          </a:xfrm>
          <a:prstGeom prst="roundRect">
            <a:avLst>
              <a:gd name="adj" fmla="val 50000"/>
            </a:avLst>
          </a:prstGeom>
          <a:solidFill>
            <a:srgbClr val="5C677D"/>
          </a:solidFill>
          <a:ln/>
        </p:spPr>
      </p:sp>
      <p:sp>
        <p:nvSpPr>
          <p:cNvPr id="24" name="Shape 21"/>
          <p:cNvSpPr/>
          <p:nvPr/>
        </p:nvSpPr>
        <p:spPr>
          <a:xfrm>
            <a:off x="8300681" y="4947763"/>
            <a:ext cx="152400" cy="15240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F1FAEE"/>
          </a:solidFill>
          <a:ln/>
        </p:spPr>
      </p:sp>
      <p:sp>
        <p:nvSpPr>
          <p:cNvPr id="25" name="Text 22"/>
          <p:cNvSpPr/>
          <p:nvPr/>
        </p:nvSpPr>
        <p:spPr>
          <a:xfrm>
            <a:off x="8681681" y="4814413"/>
            <a:ext cx="1371600" cy="228600"/>
          </a:xfrm>
          <a:prstGeom prst="rect">
            <a:avLst/>
          </a:prstGeom>
          <a:noFill/>
          <a:ln/>
        </p:spPr>
        <p:txBody>
          <a:bodyPr wrap="square" lIns="0" tIns="0" rIns="0" bIns="0" rtlCol="0" anchor="ctr"/>
          <a:lstStyle/>
          <a:p>
            <a:pPr>
              <a:lnSpc>
                <a:spcPct val="130000"/>
              </a:lnSpc>
            </a:pPr>
            <a:r>
              <a:rPr lang="en-US" sz="1200" b="1" dirty="0">
                <a:solidFill>
                  <a:srgbClr val="F1FAEE"/>
                </a:solidFill>
                <a:latin typeface="Liter" pitchFamily="34" charset="0"/>
                <a:ea typeface="Liter" pitchFamily="34" charset="-122"/>
                <a:cs typeface="Liter" pitchFamily="34" charset="-120"/>
              </a:rPr>
              <a:t>Critical Gap</a:t>
            </a:r>
            <a:endParaRPr lang="en-US" sz="1600" dirty="0"/>
          </a:p>
        </p:txBody>
      </p:sp>
      <p:sp>
        <p:nvSpPr>
          <p:cNvPr id="26" name="Text 23"/>
          <p:cNvSpPr/>
          <p:nvPr/>
        </p:nvSpPr>
        <p:spPr>
          <a:xfrm>
            <a:off x="8681681" y="5043013"/>
            <a:ext cx="1362075"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Despite high accuracy</a:t>
            </a:r>
            <a:endParaRPr lang="en-US" sz="1600" dirty="0"/>
          </a:p>
        </p:txBody>
      </p:sp>
      <p:sp>
        <p:nvSpPr>
          <p:cNvPr id="27" name="Text 24"/>
          <p:cNvSpPr/>
          <p:nvPr/>
        </p:nvSpPr>
        <p:spPr>
          <a:xfrm>
            <a:off x="8186381" y="5309713"/>
            <a:ext cx="3609975" cy="371475"/>
          </a:xfrm>
          <a:prstGeom prst="rect">
            <a:avLst/>
          </a:prstGeom>
          <a:noFill/>
          <a:ln/>
        </p:spPr>
        <p:txBody>
          <a:bodyPr wrap="square" lIns="0" tIns="0" rIns="0" bIns="0" rtlCol="0" anchor="ctr"/>
          <a:lstStyle/>
          <a:p>
            <a:pPr>
              <a:lnSpc>
                <a:spcPct val="110000"/>
              </a:lnSpc>
            </a:pPr>
            <a:r>
              <a:rPr lang="en-US" sz="1050" dirty="0">
                <a:solidFill>
                  <a:srgbClr val="F1FAEE"/>
                </a:solidFill>
                <a:latin typeface="Liter" pitchFamily="34" charset="0"/>
                <a:ea typeface="Liter" pitchFamily="34" charset="-122"/>
                <a:cs typeface="Liter" pitchFamily="34" charset="-120"/>
              </a:rPr>
              <a:t>These models remain </a:t>
            </a:r>
            <a:pPr>
              <a:lnSpc>
                <a:spcPct val="110000"/>
              </a:lnSpc>
            </a:pPr>
            <a:r>
              <a:rPr lang="en-US" sz="1050" b="1" dirty="0">
                <a:solidFill>
                  <a:srgbClr val="00B4D8"/>
                </a:solidFill>
                <a:latin typeface="Liter" pitchFamily="34" charset="0"/>
                <a:ea typeface="Liter" pitchFamily="34" charset="-122"/>
                <a:cs typeface="Liter" pitchFamily="34" charset="-120"/>
              </a:rPr>
              <a:t>black boxes</a:t>
            </a:r>
            <a:pPr>
              <a:lnSpc>
                <a:spcPct val="110000"/>
              </a:lnSpc>
            </a:pPr>
            <a:r>
              <a:rPr lang="en-US" sz="1050" dirty="0">
                <a:solidFill>
                  <a:srgbClr val="F1FAEE"/>
                </a:solidFill>
                <a:latin typeface="Liter" pitchFamily="34" charset="0"/>
                <a:ea typeface="Liter" pitchFamily="34" charset="-122"/>
                <a:cs typeface="Liter" pitchFamily="34" charset="-120"/>
              </a:rPr>
              <a:t> - clinicians cannot verify WHY predictions occur, limiting clinical deployment [9][10]</a:t>
            </a:r>
            <a:endParaRPr lang="en-US" sz="1600" dirty="0"/>
          </a:p>
        </p:txBody>
      </p:sp>
      <p:sp>
        <p:nvSpPr>
          <p:cNvPr id="28" name="Shape 25"/>
          <p:cNvSpPr/>
          <p:nvPr/>
        </p:nvSpPr>
        <p:spPr>
          <a:xfrm>
            <a:off x="400050" y="6019800"/>
            <a:ext cx="11410950" cy="457200"/>
          </a:xfrm>
          <a:custGeom>
            <a:avLst/>
            <a:gdLst/>
            <a:ahLst/>
            <a:cxnLst/>
            <a:rect l="l" t="t" r="r" b="b"/>
            <a:pathLst>
              <a:path w="11410950" h="457200">
                <a:moveTo>
                  <a:pt x="38100" y="0"/>
                </a:moveTo>
                <a:lnTo>
                  <a:pt x="11334750" y="0"/>
                </a:lnTo>
                <a:cubicBezTo>
                  <a:pt x="11376806" y="0"/>
                  <a:pt x="11410950" y="34144"/>
                  <a:pt x="11410950" y="76200"/>
                </a:cubicBezTo>
                <a:lnTo>
                  <a:pt x="11410950" y="381000"/>
                </a:lnTo>
                <a:cubicBezTo>
                  <a:pt x="11410950" y="423056"/>
                  <a:pt x="11376806" y="457200"/>
                  <a:pt x="11334750" y="457200"/>
                </a:cubicBezTo>
                <a:lnTo>
                  <a:pt x="38100" y="457200"/>
                </a:lnTo>
                <a:cubicBezTo>
                  <a:pt x="17072" y="457200"/>
                  <a:pt x="0" y="440128"/>
                  <a:pt x="0" y="419100"/>
                </a:cubicBezTo>
                <a:lnTo>
                  <a:pt x="0" y="38100"/>
                </a:lnTo>
                <a:cubicBezTo>
                  <a:pt x="0" y="17072"/>
                  <a:pt x="17072" y="0"/>
                  <a:pt x="38100" y="0"/>
                </a:cubicBezTo>
                <a:close/>
              </a:path>
            </a:pathLst>
          </a:custGeom>
          <a:solidFill>
            <a:srgbClr val="00B4D8">
              <a:alpha val="10196"/>
            </a:srgbClr>
          </a:solidFill>
          <a:ln/>
        </p:spPr>
      </p:sp>
      <p:sp>
        <p:nvSpPr>
          <p:cNvPr id="29" name="Shape 26"/>
          <p:cNvSpPr/>
          <p:nvPr/>
        </p:nvSpPr>
        <p:spPr>
          <a:xfrm>
            <a:off x="400050" y="6019800"/>
            <a:ext cx="38100" cy="457200"/>
          </a:xfrm>
          <a:custGeom>
            <a:avLst/>
            <a:gdLst/>
            <a:ahLst/>
            <a:cxnLst/>
            <a:rect l="l" t="t" r="r" b="b"/>
            <a:pathLst>
              <a:path w="38100" h="457200">
                <a:moveTo>
                  <a:pt x="38100" y="0"/>
                </a:moveTo>
                <a:lnTo>
                  <a:pt x="38100" y="0"/>
                </a:lnTo>
                <a:lnTo>
                  <a:pt x="38100" y="457200"/>
                </a:lnTo>
                <a:lnTo>
                  <a:pt x="38100" y="457200"/>
                </a:lnTo>
                <a:cubicBezTo>
                  <a:pt x="17072" y="457200"/>
                  <a:pt x="0" y="440128"/>
                  <a:pt x="0" y="419100"/>
                </a:cubicBezTo>
                <a:lnTo>
                  <a:pt x="0" y="38100"/>
                </a:lnTo>
                <a:cubicBezTo>
                  <a:pt x="0" y="17072"/>
                  <a:pt x="17072" y="0"/>
                  <a:pt x="38100" y="0"/>
                </a:cubicBezTo>
                <a:close/>
              </a:path>
            </a:pathLst>
          </a:custGeom>
          <a:solidFill>
            <a:srgbClr val="00B4D8"/>
          </a:solidFill>
          <a:ln/>
        </p:spPr>
      </p:sp>
      <p:sp>
        <p:nvSpPr>
          <p:cNvPr id="30" name="Shape 27"/>
          <p:cNvSpPr/>
          <p:nvPr/>
        </p:nvSpPr>
        <p:spPr>
          <a:xfrm>
            <a:off x="552450" y="6164582"/>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52388"/>
                </a:moveTo>
                <a:cubicBezTo>
                  <a:pt x="70931" y="52388"/>
                  <a:pt x="66675" y="56644"/>
                  <a:pt x="66675" y="61912"/>
                </a:cubicBezTo>
                <a:cubicBezTo>
                  <a:pt x="66675" y="65871"/>
                  <a:pt x="63490" y="69056"/>
                  <a:pt x="59531" y="69056"/>
                </a:cubicBezTo>
                <a:cubicBezTo>
                  <a:pt x="55572" y="69056"/>
                  <a:pt x="52388" y="65871"/>
                  <a:pt x="52388" y="61912"/>
                </a:cubicBezTo>
                <a:cubicBezTo>
                  <a:pt x="52388" y="48756"/>
                  <a:pt x="63044" y="38100"/>
                  <a:pt x="76200" y="38100"/>
                </a:cubicBezTo>
                <a:cubicBezTo>
                  <a:pt x="89356" y="38100"/>
                  <a:pt x="100013" y="48756"/>
                  <a:pt x="100013" y="61912"/>
                </a:cubicBezTo>
                <a:cubicBezTo>
                  <a:pt x="100013" y="75962"/>
                  <a:pt x="89297" y="81915"/>
                  <a:pt x="83344" y="84088"/>
                </a:cubicBezTo>
                <a:lnTo>
                  <a:pt x="83344" y="85219"/>
                </a:lnTo>
                <a:cubicBezTo>
                  <a:pt x="83344" y="89178"/>
                  <a:pt x="80159" y="92363"/>
                  <a:pt x="76200" y="92363"/>
                </a:cubicBezTo>
                <a:cubicBezTo>
                  <a:pt x="72241" y="92363"/>
                  <a:pt x="69056" y="89178"/>
                  <a:pt x="69056" y="85219"/>
                </a:cubicBezTo>
                <a:lnTo>
                  <a:pt x="69056" y="82808"/>
                </a:lnTo>
                <a:cubicBezTo>
                  <a:pt x="69056" y="76706"/>
                  <a:pt x="73462" y="72330"/>
                  <a:pt x="78016" y="70842"/>
                </a:cubicBezTo>
                <a:cubicBezTo>
                  <a:pt x="79921" y="70217"/>
                  <a:pt x="81945" y="69205"/>
                  <a:pt x="83433" y="67776"/>
                </a:cubicBezTo>
                <a:cubicBezTo>
                  <a:pt x="84713" y="66526"/>
                  <a:pt x="85725" y="64800"/>
                  <a:pt x="85725" y="61942"/>
                </a:cubicBezTo>
                <a:cubicBezTo>
                  <a:pt x="85725" y="56674"/>
                  <a:pt x="81469" y="52417"/>
                  <a:pt x="76200" y="52417"/>
                </a:cubicBezTo>
                <a:close/>
                <a:moveTo>
                  <a:pt x="66675" y="109537"/>
                </a:moveTo>
                <a:cubicBezTo>
                  <a:pt x="66675" y="104281"/>
                  <a:pt x="70943" y="100013"/>
                  <a:pt x="76200" y="100013"/>
                </a:cubicBezTo>
                <a:cubicBezTo>
                  <a:pt x="81457" y="100013"/>
                  <a:pt x="85725" y="104281"/>
                  <a:pt x="85725" y="109537"/>
                </a:cubicBezTo>
                <a:cubicBezTo>
                  <a:pt x="85725" y="114794"/>
                  <a:pt x="81457" y="119062"/>
                  <a:pt x="76200" y="119062"/>
                </a:cubicBezTo>
                <a:cubicBezTo>
                  <a:pt x="70943" y="119062"/>
                  <a:pt x="66675" y="114794"/>
                  <a:pt x="66675" y="109537"/>
                </a:cubicBezTo>
                <a:close/>
              </a:path>
            </a:pathLst>
          </a:custGeom>
          <a:solidFill>
            <a:srgbClr val="00B4D8"/>
          </a:solidFill>
          <a:ln/>
        </p:spPr>
      </p:sp>
      <p:sp>
        <p:nvSpPr>
          <p:cNvPr id="31" name="Text 28"/>
          <p:cNvSpPr/>
          <p:nvPr/>
        </p:nvSpPr>
        <p:spPr>
          <a:xfrm>
            <a:off x="781050" y="6134100"/>
            <a:ext cx="10991850" cy="228600"/>
          </a:xfrm>
          <a:prstGeom prst="rect">
            <a:avLst/>
          </a:prstGeom>
          <a:noFill/>
          <a:ln/>
        </p:spPr>
        <p:txBody>
          <a:bodyPr wrap="square" lIns="0" tIns="0" rIns="0" bIns="0" rtlCol="0" anchor="ctr"/>
          <a:lstStyle/>
          <a:p>
            <a:pPr>
              <a:lnSpc>
                <a:spcPct val="130000"/>
              </a:lnSpc>
            </a:pPr>
            <a:r>
              <a:rPr lang="en-US" sz="1200" b="1" dirty="0">
                <a:solidFill>
                  <a:srgbClr val="00B4D8"/>
                </a:solidFill>
                <a:latin typeface="Liter" pitchFamily="34" charset="0"/>
                <a:ea typeface="Liter" pitchFamily="34" charset="-122"/>
                <a:cs typeface="Liter" pitchFamily="34" charset="-120"/>
              </a:rPr>
              <a:t>Transition: So why are these models still difficult to use in real clinical environments?</a:t>
            </a:r>
            <a:endParaRPr lang="en-US" sz="1600" dirty="0"/>
          </a:p>
        </p:txBody>
      </p:sp>
      <p:sp>
        <p:nvSpPr>
          <p:cNvPr id="32" name="Text 29"/>
          <p:cNvSpPr/>
          <p:nvPr/>
        </p:nvSpPr>
        <p:spPr>
          <a:xfrm>
            <a:off x="381000" y="6553321"/>
            <a:ext cx="26479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33" name="Text 30"/>
          <p:cNvSpPr/>
          <p:nvPr/>
        </p:nvSpPr>
        <p:spPr>
          <a:xfrm>
            <a:off x="11468457" y="6553321"/>
            <a:ext cx="4000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Slide 6</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49842" y="349842"/>
            <a:ext cx="11562284" cy="209905"/>
          </a:xfrm>
          <a:prstGeom prst="rect">
            <a:avLst/>
          </a:prstGeom>
          <a:noFill/>
          <a:ln/>
        </p:spPr>
        <p:txBody>
          <a:bodyPr wrap="square" lIns="0" tIns="0" rIns="0" bIns="0" rtlCol="0" anchor="ctr"/>
          <a:lstStyle/>
          <a:p>
            <a:pPr>
              <a:lnSpc>
                <a:spcPct val="130000"/>
              </a:lnSpc>
            </a:pPr>
            <a:r>
              <a:rPr lang="en-US" sz="1102" b="1" spc="55" kern="0" dirty="0">
                <a:solidFill>
                  <a:srgbClr val="00B4D8"/>
                </a:solidFill>
                <a:latin typeface="Liter" pitchFamily="34" charset="0"/>
                <a:ea typeface="Liter" pitchFamily="34" charset="-122"/>
                <a:cs typeface="Liter" pitchFamily="34" charset="-120"/>
              </a:rPr>
              <a:t>Critical Thinking</a:t>
            </a:r>
            <a:endParaRPr lang="en-US" sz="1600" dirty="0"/>
          </a:p>
        </p:txBody>
      </p:sp>
      <p:sp>
        <p:nvSpPr>
          <p:cNvPr id="3" name="Text 1"/>
          <p:cNvSpPr/>
          <p:nvPr/>
        </p:nvSpPr>
        <p:spPr>
          <a:xfrm>
            <a:off x="349842" y="629716"/>
            <a:ext cx="11649745" cy="349842"/>
          </a:xfrm>
          <a:prstGeom prst="rect">
            <a:avLst/>
          </a:prstGeom>
          <a:noFill/>
          <a:ln/>
        </p:spPr>
        <p:txBody>
          <a:bodyPr wrap="square" lIns="0" tIns="0" rIns="0" bIns="0" rtlCol="0" anchor="ctr"/>
          <a:lstStyle/>
          <a:p>
            <a:pPr>
              <a:lnSpc>
                <a:spcPct val="90000"/>
              </a:lnSpc>
            </a:pPr>
            <a:r>
              <a:rPr lang="en-US" sz="2479" b="1" dirty="0">
                <a:solidFill>
                  <a:srgbClr val="F1FAEE"/>
                </a:solidFill>
                <a:latin typeface="Oranienbaum" pitchFamily="34" charset="0"/>
                <a:ea typeface="Oranienbaum" pitchFamily="34" charset="-122"/>
                <a:cs typeface="Oranienbaum" pitchFamily="34" charset="-120"/>
              </a:rPr>
              <a:t>Can CNN Models Be Trusted in Medical Diagnosis?</a:t>
            </a:r>
            <a:endParaRPr lang="en-US" sz="1600" dirty="0"/>
          </a:p>
        </p:txBody>
      </p:sp>
      <p:sp>
        <p:nvSpPr>
          <p:cNvPr id="4" name="Shape 2"/>
          <p:cNvSpPr/>
          <p:nvPr/>
        </p:nvSpPr>
        <p:spPr>
          <a:xfrm>
            <a:off x="349842" y="1084511"/>
            <a:ext cx="839621" cy="34984"/>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67334" y="1294416"/>
            <a:ext cx="5623713" cy="3096103"/>
          </a:xfrm>
          <a:custGeom>
            <a:avLst/>
            <a:gdLst/>
            <a:ahLst/>
            <a:cxnLst/>
            <a:rect l="l" t="t" r="r" b="b"/>
            <a:pathLst>
              <a:path w="5623713" h="3096103">
                <a:moveTo>
                  <a:pt x="34925" y="0"/>
                </a:moveTo>
                <a:lnTo>
                  <a:pt x="5553710" y="0"/>
                </a:lnTo>
                <a:cubicBezTo>
                  <a:pt x="5592357" y="0"/>
                  <a:pt x="5623687" y="31330"/>
                  <a:pt x="5623687" y="69977"/>
                </a:cubicBezTo>
                <a:lnTo>
                  <a:pt x="5623687" y="3026156"/>
                </a:lnTo>
                <a:cubicBezTo>
                  <a:pt x="5623687" y="3064803"/>
                  <a:pt x="5592357" y="3096133"/>
                  <a:pt x="5553710" y="3096133"/>
                </a:cubicBezTo>
                <a:lnTo>
                  <a:pt x="34925" y="3096133"/>
                </a:lnTo>
                <a:cubicBezTo>
                  <a:pt x="25640" y="3096133"/>
                  <a:pt x="16738" y="3092436"/>
                  <a:pt x="10184" y="3085859"/>
                </a:cubicBezTo>
                <a:cubicBezTo>
                  <a:pt x="3631" y="3079282"/>
                  <a:pt x="-34" y="3070366"/>
                  <a:pt x="0" y="3061081"/>
                </a:cubicBezTo>
                <a:lnTo>
                  <a:pt x="0" y="34925"/>
                </a:lnTo>
                <a:cubicBezTo>
                  <a:pt x="0" y="15649"/>
                  <a:pt x="15649" y="0"/>
                  <a:pt x="34925" y="0"/>
                </a:cubicBezTo>
                <a:close/>
              </a:path>
            </a:pathLst>
          </a:custGeom>
          <a:solidFill>
            <a:srgbClr val="112240"/>
          </a:solidFill>
          <a:ln/>
        </p:spPr>
      </p:sp>
      <p:sp>
        <p:nvSpPr>
          <p:cNvPr id="6" name="Shape 4"/>
          <p:cNvSpPr/>
          <p:nvPr/>
        </p:nvSpPr>
        <p:spPr>
          <a:xfrm>
            <a:off x="367334" y="1294416"/>
            <a:ext cx="34984" cy="3096103"/>
          </a:xfrm>
          <a:custGeom>
            <a:avLst/>
            <a:gdLst/>
            <a:ahLst/>
            <a:cxnLst/>
            <a:rect l="l" t="t" r="r" b="b"/>
            <a:pathLst>
              <a:path w="34984" h="3096103">
                <a:moveTo>
                  <a:pt x="34925" y="0"/>
                </a:moveTo>
                <a:lnTo>
                  <a:pt x="34925" y="0"/>
                </a:lnTo>
                <a:lnTo>
                  <a:pt x="34925" y="3096133"/>
                </a:lnTo>
                <a:lnTo>
                  <a:pt x="34925" y="3096133"/>
                </a:lnTo>
                <a:cubicBezTo>
                  <a:pt x="25640" y="3096133"/>
                  <a:pt x="16738" y="3092436"/>
                  <a:pt x="10184" y="3085859"/>
                </a:cubicBezTo>
                <a:cubicBezTo>
                  <a:pt x="3631" y="3079282"/>
                  <a:pt x="-34" y="3070366"/>
                  <a:pt x="0" y="3061081"/>
                </a:cubicBezTo>
                <a:lnTo>
                  <a:pt x="0" y="34925"/>
                </a:lnTo>
                <a:cubicBezTo>
                  <a:pt x="0" y="15649"/>
                  <a:pt x="15649" y="0"/>
                  <a:pt x="34925" y="0"/>
                </a:cubicBezTo>
                <a:close/>
              </a:path>
            </a:pathLst>
          </a:custGeom>
          <a:solidFill>
            <a:srgbClr val="FF6B6B"/>
          </a:solidFill>
          <a:ln/>
        </p:spPr>
      </p:sp>
      <p:sp>
        <p:nvSpPr>
          <p:cNvPr id="7" name="Shape 5"/>
          <p:cNvSpPr/>
          <p:nvPr/>
        </p:nvSpPr>
        <p:spPr>
          <a:xfrm>
            <a:off x="581613" y="1504321"/>
            <a:ext cx="174921" cy="174921"/>
          </a:xfrm>
          <a:custGeom>
            <a:avLst/>
            <a:gdLst/>
            <a:ahLst/>
            <a:cxnLst/>
            <a:rect l="l" t="t" r="r" b="b"/>
            <a:pathLst>
              <a:path w="174921" h="174921">
                <a:moveTo>
                  <a:pt x="87461" y="0"/>
                </a:moveTo>
                <a:cubicBezTo>
                  <a:pt x="92483" y="0"/>
                  <a:pt x="97095" y="2767"/>
                  <a:pt x="99486" y="7174"/>
                </a:cubicBezTo>
                <a:lnTo>
                  <a:pt x="173281" y="143832"/>
                </a:lnTo>
                <a:cubicBezTo>
                  <a:pt x="175570" y="148068"/>
                  <a:pt x="175468" y="153193"/>
                  <a:pt x="173008" y="157326"/>
                </a:cubicBezTo>
                <a:cubicBezTo>
                  <a:pt x="170548" y="161460"/>
                  <a:pt x="166073" y="163989"/>
                  <a:pt x="161255" y="163989"/>
                </a:cubicBezTo>
                <a:lnTo>
                  <a:pt x="13666" y="163989"/>
                </a:lnTo>
                <a:cubicBezTo>
                  <a:pt x="8849" y="163989"/>
                  <a:pt x="4407" y="161460"/>
                  <a:pt x="1913" y="157326"/>
                </a:cubicBezTo>
                <a:cubicBezTo>
                  <a:pt x="-581" y="153193"/>
                  <a:pt x="-649" y="148068"/>
                  <a:pt x="1640" y="143832"/>
                </a:cubicBezTo>
                <a:lnTo>
                  <a:pt x="75435" y="7174"/>
                </a:lnTo>
                <a:cubicBezTo>
                  <a:pt x="77826" y="2767"/>
                  <a:pt x="82438" y="0"/>
                  <a:pt x="87461" y="0"/>
                </a:cubicBezTo>
                <a:close/>
                <a:moveTo>
                  <a:pt x="87461" y="57396"/>
                </a:moveTo>
                <a:cubicBezTo>
                  <a:pt x="82917" y="57396"/>
                  <a:pt x="79261" y="61052"/>
                  <a:pt x="79261" y="65595"/>
                </a:cubicBezTo>
                <a:lnTo>
                  <a:pt x="79261" y="103859"/>
                </a:lnTo>
                <a:cubicBezTo>
                  <a:pt x="79261" y="108403"/>
                  <a:pt x="82917" y="112059"/>
                  <a:pt x="87461" y="112059"/>
                </a:cubicBezTo>
                <a:cubicBezTo>
                  <a:pt x="92004" y="112059"/>
                  <a:pt x="95660" y="108403"/>
                  <a:pt x="95660" y="103859"/>
                </a:cubicBezTo>
                <a:lnTo>
                  <a:pt x="95660" y="65595"/>
                </a:lnTo>
                <a:cubicBezTo>
                  <a:pt x="95660" y="61052"/>
                  <a:pt x="92004" y="57396"/>
                  <a:pt x="87461" y="57396"/>
                </a:cubicBezTo>
                <a:close/>
                <a:moveTo>
                  <a:pt x="96582" y="131191"/>
                </a:moveTo>
                <a:cubicBezTo>
                  <a:pt x="96790" y="127805"/>
                  <a:pt x="95101" y="124583"/>
                  <a:pt x="92199" y="122828"/>
                </a:cubicBezTo>
                <a:cubicBezTo>
                  <a:pt x="89296" y="121072"/>
                  <a:pt x="85659" y="121072"/>
                  <a:pt x="82756" y="122828"/>
                </a:cubicBezTo>
                <a:cubicBezTo>
                  <a:pt x="79854" y="124583"/>
                  <a:pt x="78165" y="127805"/>
                  <a:pt x="78373" y="131191"/>
                </a:cubicBezTo>
                <a:cubicBezTo>
                  <a:pt x="78165" y="134577"/>
                  <a:pt x="79854" y="137798"/>
                  <a:pt x="82756" y="139554"/>
                </a:cubicBezTo>
                <a:cubicBezTo>
                  <a:pt x="85659" y="141310"/>
                  <a:pt x="89296" y="141310"/>
                  <a:pt x="92199" y="139554"/>
                </a:cubicBezTo>
                <a:cubicBezTo>
                  <a:pt x="95101" y="137798"/>
                  <a:pt x="96790" y="134577"/>
                  <a:pt x="96582" y="131191"/>
                </a:cubicBezTo>
                <a:close/>
              </a:path>
            </a:pathLst>
          </a:custGeom>
          <a:solidFill>
            <a:srgbClr val="FF6B6B"/>
          </a:solidFill>
          <a:ln/>
        </p:spPr>
      </p:sp>
      <p:sp>
        <p:nvSpPr>
          <p:cNvPr id="8" name="Text 6"/>
          <p:cNvSpPr/>
          <p:nvPr/>
        </p:nvSpPr>
        <p:spPr>
          <a:xfrm>
            <a:off x="778399" y="1469337"/>
            <a:ext cx="5125188" cy="244890"/>
          </a:xfrm>
          <a:prstGeom prst="rect">
            <a:avLst/>
          </a:prstGeom>
          <a:noFill/>
          <a:ln/>
        </p:spPr>
        <p:txBody>
          <a:bodyPr wrap="square" lIns="0" tIns="0" rIns="0" bIns="0" rtlCol="0" anchor="ctr"/>
          <a:lstStyle/>
          <a:p>
            <a:pPr>
              <a:lnSpc>
                <a:spcPct val="120000"/>
              </a:lnSpc>
            </a:pPr>
            <a:r>
              <a:rPr lang="en-US" sz="1377" b="1" dirty="0">
                <a:solidFill>
                  <a:srgbClr val="FF6B6B"/>
                </a:solidFill>
                <a:latin typeface="Liter" pitchFamily="34" charset="0"/>
                <a:ea typeface="Liter" pitchFamily="34" charset="-122"/>
                <a:cs typeface="Liter" pitchFamily="34" charset="-120"/>
              </a:rPr>
              <a:t>The Trust Paradox</a:t>
            </a:r>
            <a:endParaRPr lang="en-US" sz="1600" dirty="0"/>
          </a:p>
        </p:txBody>
      </p:sp>
      <p:sp>
        <p:nvSpPr>
          <p:cNvPr id="9" name="Text 7"/>
          <p:cNvSpPr/>
          <p:nvPr/>
        </p:nvSpPr>
        <p:spPr>
          <a:xfrm>
            <a:off x="559747" y="1819179"/>
            <a:ext cx="5326347" cy="682192"/>
          </a:xfrm>
          <a:prstGeom prst="rect">
            <a:avLst/>
          </a:prstGeom>
          <a:noFill/>
          <a:ln/>
        </p:spPr>
        <p:txBody>
          <a:bodyPr wrap="square" lIns="0" tIns="0" rIns="0" bIns="0" rtlCol="0" anchor="ctr"/>
          <a:lstStyle/>
          <a:p>
            <a:pPr>
              <a:lnSpc>
                <a:spcPct val="140000"/>
              </a:lnSpc>
            </a:pPr>
            <a:r>
              <a:rPr lang="en-US" sz="1102" b="1" dirty="0">
                <a:solidFill>
                  <a:srgbClr val="F1FAEE"/>
                </a:solidFill>
                <a:latin typeface="Liter" pitchFamily="34" charset="0"/>
                <a:ea typeface="Liter" pitchFamily="34" charset="-122"/>
                <a:cs typeface="Liter" pitchFamily="34" charset="-120"/>
              </a:rPr>
              <a:t>High accuracy alone is not enough in healthcare.</a:t>
            </a:r>
            <a:pPr>
              <a:lnSpc>
                <a:spcPct val="140000"/>
              </a:lnSpc>
            </a:pPr>
            <a:r>
              <a:rPr lang="en-US" sz="1102" dirty="0">
                <a:solidFill>
                  <a:srgbClr val="F1FAEE"/>
                </a:solidFill>
                <a:latin typeface="Liter" pitchFamily="34" charset="0"/>
                <a:ea typeface="Liter" pitchFamily="34" charset="-122"/>
                <a:cs typeface="Liter" pitchFamily="34" charset="-120"/>
              </a:rPr>
              <a:t> Medical diagnosis requires transparency - doctors must understand </a:t>
            </a:r>
            <a:pPr>
              <a:lnSpc>
                <a:spcPct val="140000"/>
              </a:lnSpc>
            </a:pPr>
            <a:r>
              <a:rPr lang="en-US" sz="1102" b="1" dirty="0">
                <a:solidFill>
                  <a:srgbClr val="00B4D8"/>
                </a:solidFill>
                <a:latin typeface="Liter" pitchFamily="34" charset="0"/>
                <a:ea typeface="Liter" pitchFamily="34" charset="-122"/>
                <a:cs typeface="Liter" pitchFamily="34" charset="-120"/>
              </a:rPr>
              <a:t>WHY</a:t>
            </a:r>
            <a:pPr>
              <a:lnSpc>
                <a:spcPct val="140000"/>
              </a:lnSpc>
            </a:pPr>
            <a:r>
              <a:rPr lang="en-US" sz="1102" dirty="0">
                <a:solidFill>
                  <a:srgbClr val="F1FAEE"/>
                </a:solidFill>
                <a:latin typeface="Liter" pitchFamily="34" charset="0"/>
                <a:ea typeface="Liter" pitchFamily="34" charset="-122"/>
                <a:cs typeface="Liter" pitchFamily="34" charset="-120"/>
              </a:rPr>
              <a:t> a prediction occurred. Incorrect reasoning with correct predictions is dangerous [9][10].</a:t>
            </a:r>
            <a:endParaRPr lang="en-US" sz="1600" dirty="0"/>
          </a:p>
        </p:txBody>
      </p:sp>
      <p:sp>
        <p:nvSpPr>
          <p:cNvPr id="10" name="Shape 8"/>
          <p:cNvSpPr/>
          <p:nvPr/>
        </p:nvSpPr>
        <p:spPr>
          <a:xfrm>
            <a:off x="559747" y="2641308"/>
            <a:ext cx="5256379" cy="1574290"/>
          </a:xfrm>
          <a:prstGeom prst="roundRect">
            <a:avLst>
              <a:gd name="adj" fmla="val 4444"/>
            </a:avLst>
          </a:prstGeom>
          <a:solidFill>
            <a:srgbClr val="0A192F"/>
          </a:solidFill>
          <a:ln/>
        </p:spPr>
      </p:sp>
      <p:sp>
        <p:nvSpPr>
          <p:cNvPr id="11" name="Shape 9"/>
          <p:cNvSpPr/>
          <p:nvPr/>
        </p:nvSpPr>
        <p:spPr>
          <a:xfrm>
            <a:off x="2065271" y="2798737"/>
            <a:ext cx="664700" cy="664700"/>
          </a:xfrm>
          <a:prstGeom prst="roundRect">
            <a:avLst>
              <a:gd name="adj" fmla="val 50000"/>
            </a:avLst>
          </a:prstGeom>
          <a:solidFill>
            <a:srgbClr val="000000">
              <a:alpha val="0"/>
            </a:srgbClr>
          </a:solidFill>
          <a:ln w="50800">
            <a:solidFill>
              <a:srgbClr val="3A86FF"/>
            </a:solidFill>
            <a:prstDash val="solid"/>
          </a:ln>
        </p:spPr>
      </p:sp>
      <p:sp>
        <p:nvSpPr>
          <p:cNvPr id="12" name="Shape 10"/>
          <p:cNvSpPr/>
          <p:nvPr/>
        </p:nvSpPr>
        <p:spPr>
          <a:xfrm>
            <a:off x="2268617" y="2999897"/>
            <a:ext cx="262382" cy="262382"/>
          </a:xfrm>
          <a:custGeom>
            <a:avLst/>
            <a:gdLst/>
            <a:ahLst/>
            <a:cxnLst/>
            <a:rect l="l" t="t" r="r" b="b"/>
            <a:pathLst>
              <a:path w="262382" h="262382">
                <a:moveTo>
                  <a:pt x="32798" y="32798"/>
                </a:moveTo>
                <a:cubicBezTo>
                  <a:pt x="32798" y="23727"/>
                  <a:pt x="25469" y="16399"/>
                  <a:pt x="16399" y="16399"/>
                </a:cubicBezTo>
                <a:cubicBezTo>
                  <a:pt x="7328" y="16399"/>
                  <a:pt x="0" y="23727"/>
                  <a:pt x="0" y="32798"/>
                </a:cubicBezTo>
                <a:lnTo>
                  <a:pt x="0" y="204986"/>
                </a:lnTo>
                <a:cubicBezTo>
                  <a:pt x="0" y="227637"/>
                  <a:pt x="18346" y="245983"/>
                  <a:pt x="40997" y="245983"/>
                </a:cubicBezTo>
                <a:lnTo>
                  <a:pt x="245983" y="245983"/>
                </a:lnTo>
                <a:cubicBezTo>
                  <a:pt x="255053" y="245983"/>
                  <a:pt x="262382" y="238655"/>
                  <a:pt x="262382" y="229584"/>
                </a:cubicBezTo>
                <a:cubicBezTo>
                  <a:pt x="262382" y="220513"/>
                  <a:pt x="255053" y="213185"/>
                  <a:pt x="245983" y="213185"/>
                </a:cubicBezTo>
                <a:lnTo>
                  <a:pt x="40997" y="213185"/>
                </a:lnTo>
                <a:cubicBezTo>
                  <a:pt x="36487" y="213185"/>
                  <a:pt x="32798" y="209495"/>
                  <a:pt x="32798" y="204986"/>
                </a:cubicBezTo>
                <a:lnTo>
                  <a:pt x="32798" y="32798"/>
                </a:lnTo>
                <a:close/>
                <a:moveTo>
                  <a:pt x="241166" y="77177"/>
                </a:moveTo>
                <a:cubicBezTo>
                  <a:pt x="247571" y="70771"/>
                  <a:pt x="247571" y="60368"/>
                  <a:pt x="241166" y="53962"/>
                </a:cubicBezTo>
                <a:cubicBezTo>
                  <a:pt x="234760" y="47557"/>
                  <a:pt x="224357" y="47557"/>
                  <a:pt x="217951" y="53962"/>
                </a:cubicBezTo>
                <a:lnTo>
                  <a:pt x="163989" y="107976"/>
                </a:lnTo>
                <a:lnTo>
                  <a:pt x="134573" y="78612"/>
                </a:lnTo>
                <a:cubicBezTo>
                  <a:pt x="128167" y="72206"/>
                  <a:pt x="117764" y="72206"/>
                  <a:pt x="111358" y="78612"/>
                </a:cubicBezTo>
                <a:lnTo>
                  <a:pt x="62162" y="127809"/>
                </a:lnTo>
                <a:cubicBezTo>
                  <a:pt x="55756" y="134214"/>
                  <a:pt x="55756" y="144617"/>
                  <a:pt x="62162" y="151023"/>
                </a:cubicBezTo>
                <a:cubicBezTo>
                  <a:pt x="68568" y="157429"/>
                  <a:pt x="78971" y="157429"/>
                  <a:pt x="85377" y="151023"/>
                </a:cubicBezTo>
                <a:lnTo>
                  <a:pt x="122991" y="113408"/>
                </a:lnTo>
                <a:lnTo>
                  <a:pt x="152407" y="142824"/>
                </a:lnTo>
                <a:cubicBezTo>
                  <a:pt x="158813" y="149230"/>
                  <a:pt x="169216" y="149230"/>
                  <a:pt x="175621" y="142824"/>
                </a:cubicBezTo>
                <a:lnTo>
                  <a:pt x="241217" y="77228"/>
                </a:lnTo>
                <a:close/>
              </a:path>
            </a:pathLst>
          </a:custGeom>
          <a:solidFill>
            <a:srgbClr val="3A86FF"/>
          </a:solidFill>
          <a:ln/>
        </p:spPr>
      </p:sp>
      <p:sp>
        <p:nvSpPr>
          <p:cNvPr id="13" name="Text 11"/>
          <p:cNvSpPr/>
          <p:nvPr/>
        </p:nvSpPr>
        <p:spPr>
          <a:xfrm>
            <a:off x="1856897" y="3550898"/>
            <a:ext cx="1084511" cy="244890"/>
          </a:xfrm>
          <a:prstGeom prst="rect">
            <a:avLst/>
          </a:prstGeom>
          <a:noFill/>
          <a:ln/>
        </p:spPr>
        <p:txBody>
          <a:bodyPr wrap="square" lIns="0" tIns="0" rIns="0" bIns="0" rtlCol="0" anchor="ctr"/>
          <a:lstStyle/>
          <a:p>
            <a:pPr algn="ctr">
              <a:lnSpc>
                <a:spcPct val="130000"/>
              </a:lnSpc>
            </a:pPr>
            <a:r>
              <a:rPr lang="en-US" sz="1240" b="1" dirty="0">
                <a:solidFill>
                  <a:srgbClr val="3A86FF"/>
                </a:solidFill>
                <a:latin typeface="Liter" pitchFamily="34" charset="0"/>
                <a:ea typeface="Liter" pitchFamily="34" charset="-122"/>
                <a:cs typeface="Liter" pitchFamily="34" charset="-120"/>
              </a:rPr>
              <a:t>99% Accuracy</a:t>
            </a:r>
            <a:endParaRPr lang="en-US" sz="1600" dirty="0"/>
          </a:p>
        </p:txBody>
      </p:sp>
      <p:sp>
        <p:nvSpPr>
          <p:cNvPr id="14" name="Shape 12"/>
          <p:cNvSpPr/>
          <p:nvPr/>
        </p:nvSpPr>
        <p:spPr>
          <a:xfrm>
            <a:off x="3097962" y="3131088"/>
            <a:ext cx="275501" cy="314858"/>
          </a:xfrm>
          <a:custGeom>
            <a:avLst/>
            <a:gdLst/>
            <a:ahLst/>
            <a:cxnLst/>
            <a:rect l="l" t="t" r="r" b="b"/>
            <a:pathLst>
              <a:path w="275501" h="314858">
                <a:moveTo>
                  <a:pt x="232823" y="50303"/>
                </a:moveTo>
                <a:cubicBezTo>
                  <a:pt x="238849" y="41264"/>
                  <a:pt x="236389" y="29026"/>
                  <a:pt x="227350" y="22999"/>
                </a:cubicBezTo>
                <a:cubicBezTo>
                  <a:pt x="218310" y="16973"/>
                  <a:pt x="206072" y="19433"/>
                  <a:pt x="200045" y="28473"/>
                </a:cubicBezTo>
                <a:lnTo>
                  <a:pt x="166592" y="78714"/>
                </a:lnTo>
                <a:lnTo>
                  <a:pt x="19679" y="78714"/>
                </a:lnTo>
                <a:cubicBezTo>
                  <a:pt x="8794" y="78714"/>
                  <a:pt x="0" y="87508"/>
                  <a:pt x="0" y="98393"/>
                </a:cubicBezTo>
                <a:cubicBezTo>
                  <a:pt x="0" y="109278"/>
                  <a:pt x="8794" y="118072"/>
                  <a:pt x="19679" y="118072"/>
                </a:cubicBezTo>
                <a:lnTo>
                  <a:pt x="140333" y="118072"/>
                </a:lnTo>
                <a:lnTo>
                  <a:pt x="87877" y="196786"/>
                </a:lnTo>
                <a:lnTo>
                  <a:pt x="19679" y="196786"/>
                </a:lnTo>
                <a:cubicBezTo>
                  <a:pt x="8794" y="196786"/>
                  <a:pt x="0" y="205580"/>
                  <a:pt x="0" y="216465"/>
                </a:cubicBezTo>
                <a:cubicBezTo>
                  <a:pt x="0" y="227350"/>
                  <a:pt x="8794" y="236143"/>
                  <a:pt x="19679" y="236143"/>
                </a:cubicBezTo>
                <a:lnTo>
                  <a:pt x="61619" y="236143"/>
                </a:lnTo>
                <a:lnTo>
                  <a:pt x="42678" y="264554"/>
                </a:lnTo>
                <a:cubicBezTo>
                  <a:pt x="36651" y="273594"/>
                  <a:pt x="39111" y="285832"/>
                  <a:pt x="48151" y="291859"/>
                </a:cubicBezTo>
                <a:cubicBezTo>
                  <a:pt x="57191" y="297885"/>
                  <a:pt x="69429" y="295425"/>
                  <a:pt x="75455" y="286385"/>
                </a:cubicBezTo>
                <a:lnTo>
                  <a:pt x="108909" y="236143"/>
                </a:lnTo>
                <a:lnTo>
                  <a:pt x="255822" y="236143"/>
                </a:lnTo>
                <a:cubicBezTo>
                  <a:pt x="266707" y="236143"/>
                  <a:pt x="275501" y="227350"/>
                  <a:pt x="275501" y="216465"/>
                </a:cubicBezTo>
                <a:cubicBezTo>
                  <a:pt x="275501" y="205580"/>
                  <a:pt x="266707" y="196786"/>
                  <a:pt x="255822" y="196786"/>
                </a:cubicBezTo>
                <a:lnTo>
                  <a:pt x="135168" y="196786"/>
                </a:lnTo>
                <a:lnTo>
                  <a:pt x="187623" y="118072"/>
                </a:lnTo>
                <a:lnTo>
                  <a:pt x="255822" y="118072"/>
                </a:lnTo>
                <a:cubicBezTo>
                  <a:pt x="266707" y="118072"/>
                  <a:pt x="275501" y="109278"/>
                  <a:pt x="275501" y="98393"/>
                </a:cubicBezTo>
                <a:cubicBezTo>
                  <a:pt x="275501" y="87508"/>
                  <a:pt x="266707" y="78714"/>
                  <a:pt x="255822" y="78714"/>
                </a:cubicBezTo>
                <a:lnTo>
                  <a:pt x="213882" y="78714"/>
                </a:lnTo>
                <a:lnTo>
                  <a:pt x="232823" y="50303"/>
                </a:lnTo>
                <a:close/>
              </a:path>
            </a:pathLst>
          </a:custGeom>
          <a:solidFill>
            <a:srgbClr val="FF6B6B"/>
          </a:solidFill>
          <a:ln/>
        </p:spPr>
      </p:sp>
      <p:sp>
        <p:nvSpPr>
          <p:cNvPr id="15" name="Shape 13"/>
          <p:cNvSpPr/>
          <p:nvPr/>
        </p:nvSpPr>
        <p:spPr>
          <a:xfrm>
            <a:off x="3693131" y="2798737"/>
            <a:ext cx="664700" cy="664700"/>
          </a:xfrm>
          <a:prstGeom prst="roundRect">
            <a:avLst>
              <a:gd name="adj" fmla="val 50000"/>
            </a:avLst>
          </a:prstGeom>
          <a:solidFill>
            <a:srgbClr val="000000">
              <a:alpha val="0"/>
            </a:srgbClr>
          </a:solidFill>
          <a:ln w="50800">
            <a:solidFill>
              <a:srgbClr val="FF6B6B"/>
            </a:solidFill>
            <a:prstDash val="solid"/>
          </a:ln>
        </p:spPr>
      </p:sp>
      <p:sp>
        <p:nvSpPr>
          <p:cNvPr id="16" name="Shape 14"/>
          <p:cNvSpPr/>
          <p:nvPr/>
        </p:nvSpPr>
        <p:spPr>
          <a:xfrm>
            <a:off x="3896477" y="2999897"/>
            <a:ext cx="262382" cy="262382"/>
          </a:xfrm>
          <a:custGeom>
            <a:avLst/>
            <a:gdLst/>
            <a:ahLst/>
            <a:cxnLst/>
            <a:rect l="l" t="t" r="r" b="b"/>
            <a:pathLst>
              <a:path w="262382" h="262382">
                <a:moveTo>
                  <a:pt x="131191" y="0"/>
                </a:moveTo>
                <a:cubicBezTo>
                  <a:pt x="133548" y="0"/>
                  <a:pt x="135905" y="512"/>
                  <a:pt x="138058" y="1486"/>
                </a:cubicBezTo>
                <a:lnTo>
                  <a:pt x="234606" y="42432"/>
                </a:lnTo>
                <a:cubicBezTo>
                  <a:pt x="245880" y="47198"/>
                  <a:pt x="254285" y="58318"/>
                  <a:pt x="254233" y="71745"/>
                </a:cubicBezTo>
                <a:cubicBezTo>
                  <a:pt x="253977" y="122581"/>
                  <a:pt x="233069" y="215594"/>
                  <a:pt x="144771" y="257872"/>
                </a:cubicBezTo>
                <a:cubicBezTo>
                  <a:pt x="136213" y="261972"/>
                  <a:pt x="126271" y="261972"/>
                  <a:pt x="117713" y="257872"/>
                </a:cubicBezTo>
                <a:cubicBezTo>
                  <a:pt x="29364" y="215594"/>
                  <a:pt x="8507" y="122581"/>
                  <a:pt x="8251" y="71745"/>
                </a:cubicBezTo>
                <a:cubicBezTo>
                  <a:pt x="8199" y="58318"/>
                  <a:pt x="16604" y="47198"/>
                  <a:pt x="27878" y="42432"/>
                </a:cubicBezTo>
                <a:lnTo>
                  <a:pt x="124375" y="1486"/>
                </a:lnTo>
                <a:cubicBezTo>
                  <a:pt x="126527" y="512"/>
                  <a:pt x="128833" y="0"/>
                  <a:pt x="131191" y="0"/>
                </a:cubicBezTo>
                <a:close/>
                <a:moveTo>
                  <a:pt x="131191" y="34233"/>
                </a:moveTo>
                <a:lnTo>
                  <a:pt x="131191" y="227995"/>
                </a:lnTo>
                <a:cubicBezTo>
                  <a:pt x="201911" y="193763"/>
                  <a:pt x="220923" y="117918"/>
                  <a:pt x="221385" y="72514"/>
                </a:cubicBezTo>
                <a:lnTo>
                  <a:pt x="131191" y="34284"/>
                </a:lnTo>
                <a:lnTo>
                  <a:pt x="131191" y="34284"/>
                </a:lnTo>
                <a:close/>
              </a:path>
            </a:pathLst>
          </a:custGeom>
          <a:solidFill>
            <a:srgbClr val="FF6B6B"/>
          </a:solidFill>
          <a:ln/>
        </p:spPr>
      </p:sp>
      <p:sp>
        <p:nvSpPr>
          <p:cNvPr id="17" name="Text 15"/>
          <p:cNvSpPr/>
          <p:nvPr/>
        </p:nvSpPr>
        <p:spPr>
          <a:xfrm>
            <a:off x="3533078" y="3550898"/>
            <a:ext cx="988304" cy="244890"/>
          </a:xfrm>
          <a:prstGeom prst="rect">
            <a:avLst/>
          </a:prstGeom>
          <a:noFill/>
          <a:ln/>
        </p:spPr>
        <p:txBody>
          <a:bodyPr wrap="square" lIns="0" tIns="0" rIns="0" bIns="0" rtlCol="0" anchor="ctr"/>
          <a:lstStyle/>
          <a:p>
            <a:pPr algn="ctr">
              <a:lnSpc>
                <a:spcPct val="130000"/>
              </a:lnSpc>
            </a:pPr>
            <a:r>
              <a:rPr lang="en-US" sz="1240" b="1" dirty="0">
                <a:solidFill>
                  <a:srgbClr val="FF6B6B"/>
                </a:solidFill>
                <a:latin typeface="Liter" pitchFamily="34" charset="0"/>
                <a:ea typeface="Liter" pitchFamily="34" charset="-122"/>
                <a:cs typeface="Liter" pitchFamily="34" charset="-120"/>
              </a:rPr>
              <a:t>Clinical Trust</a:t>
            </a:r>
            <a:endParaRPr lang="en-US" sz="1600" dirty="0"/>
          </a:p>
        </p:txBody>
      </p:sp>
      <p:sp>
        <p:nvSpPr>
          <p:cNvPr id="18" name="Shape 16"/>
          <p:cNvSpPr/>
          <p:nvPr/>
        </p:nvSpPr>
        <p:spPr>
          <a:xfrm>
            <a:off x="2171317" y="3928729"/>
            <a:ext cx="122445" cy="122445"/>
          </a:xfrm>
          <a:custGeom>
            <a:avLst/>
            <a:gdLst/>
            <a:ahLst/>
            <a:cxnLst/>
            <a:rect l="l" t="t" r="r" b="b"/>
            <a:pathLst>
              <a:path w="122445" h="122445">
                <a:moveTo>
                  <a:pt x="61222" y="122445"/>
                </a:moveTo>
                <a:cubicBezTo>
                  <a:pt x="95012" y="122445"/>
                  <a:pt x="122445" y="95012"/>
                  <a:pt x="122445" y="61222"/>
                </a:cubicBezTo>
                <a:cubicBezTo>
                  <a:pt x="122445" y="27433"/>
                  <a:pt x="95012" y="0"/>
                  <a:pt x="61222" y="0"/>
                </a:cubicBezTo>
                <a:cubicBezTo>
                  <a:pt x="27433" y="0"/>
                  <a:pt x="0" y="27433"/>
                  <a:pt x="0" y="61222"/>
                </a:cubicBezTo>
                <a:cubicBezTo>
                  <a:pt x="0" y="95012"/>
                  <a:pt x="27433" y="122445"/>
                  <a:pt x="61222" y="122445"/>
                </a:cubicBezTo>
                <a:close/>
                <a:moveTo>
                  <a:pt x="39938" y="39938"/>
                </a:moveTo>
                <a:cubicBezTo>
                  <a:pt x="42186" y="37690"/>
                  <a:pt x="45821" y="37690"/>
                  <a:pt x="48045" y="39938"/>
                </a:cubicBezTo>
                <a:lnTo>
                  <a:pt x="61198" y="53091"/>
                </a:lnTo>
                <a:lnTo>
                  <a:pt x="74352" y="39938"/>
                </a:lnTo>
                <a:cubicBezTo>
                  <a:pt x="76600" y="37690"/>
                  <a:pt x="80235" y="37690"/>
                  <a:pt x="82459" y="39938"/>
                </a:cubicBezTo>
                <a:cubicBezTo>
                  <a:pt x="84683" y="42186"/>
                  <a:pt x="84707" y="45821"/>
                  <a:pt x="82459" y="48045"/>
                </a:cubicBezTo>
                <a:lnTo>
                  <a:pt x="69306" y="61198"/>
                </a:lnTo>
                <a:lnTo>
                  <a:pt x="82459" y="74352"/>
                </a:lnTo>
                <a:cubicBezTo>
                  <a:pt x="84707" y="76600"/>
                  <a:pt x="84707" y="80235"/>
                  <a:pt x="82459" y="82459"/>
                </a:cubicBezTo>
                <a:cubicBezTo>
                  <a:pt x="80211" y="84683"/>
                  <a:pt x="76576" y="84707"/>
                  <a:pt x="74352" y="82459"/>
                </a:cubicBezTo>
                <a:lnTo>
                  <a:pt x="61198" y="69306"/>
                </a:lnTo>
                <a:lnTo>
                  <a:pt x="48045" y="82459"/>
                </a:lnTo>
                <a:cubicBezTo>
                  <a:pt x="45797" y="84707"/>
                  <a:pt x="42162" y="84707"/>
                  <a:pt x="39938" y="82459"/>
                </a:cubicBezTo>
                <a:cubicBezTo>
                  <a:pt x="37714" y="80211"/>
                  <a:pt x="37690" y="76576"/>
                  <a:pt x="39938" y="74352"/>
                </a:cubicBezTo>
                <a:lnTo>
                  <a:pt x="53091" y="61198"/>
                </a:lnTo>
                <a:lnTo>
                  <a:pt x="39938" y="48045"/>
                </a:lnTo>
                <a:cubicBezTo>
                  <a:pt x="37690" y="45797"/>
                  <a:pt x="37690" y="42162"/>
                  <a:pt x="39938" y="39938"/>
                </a:cubicBezTo>
                <a:close/>
              </a:path>
            </a:pathLst>
          </a:custGeom>
          <a:solidFill>
            <a:srgbClr val="FF6B6B"/>
          </a:solidFill>
          <a:ln/>
        </p:spPr>
      </p:sp>
      <p:sp>
        <p:nvSpPr>
          <p:cNvPr id="19" name="Text 17"/>
          <p:cNvSpPr/>
          <p:nvPr/>
        </p:nvSpPr>
        <p:spPr>
          <a:xfrm>
            <a:off x="850595" y="3900740"/>
            <a:ext cx="4856206" cy="174921"/>
          </a:xfrm>
          <a:prstGeom prst="rect">
            <a:avLst/>
          </a:prstGeom>
          <a:noFill/>
          <a:ln/>
        </p:spPr>
        <p:txBody>
          <a:bodyPr wrap="square" lIns="0" tIns="0" rIns="0" bIns="0" rtlCol="0" anchor="ctr"/>
          <a:lstStyle/>
          <a:p>
            <a:pPr algn="ctr">
              <a:lnSpc>
                <a:spcPct val="120000"/>
              </a:lnSpc>
            </a:pPr>
            <a:r>
              <a:rPr lang="en-US" sz="964" b="1" dirty="0">
                <a:solidFill>
                  <a:srgbClr val="FF6B6B"/>
                </a:solidFill>
                <a:latin typeface="Liter" pitchFamily="34" charset="0"/>
                <a:ea typeface="Liter" pitchFamily="34" charset="-122"/>
                <a:cs typeface="Liter" pitchFamily="34" charset="-120"/>
              </a:rPr>
              <a:t>High Accuracy ≠ Clinical Reliability</a:t>
            </a:r>
            <a:endParaRPr lang="en-US" sz="1600" dirty="0"/>
          </a:p>
        </p:txBody>
      </p:sp>
      <p:sp>
        <p:nvSpPr>
          <p:cNvPr id="20" name="Shape 18"/>
          <p:cNvSpPr/>
          <p:nvPr/>
        </p:nvSpPr>
        <p:spPr>
          <a:xfrm>
            <a:off x="353341" y="4394018"/>
            <a:ext cx="5630710" cy="1511318"/>
          </a:xfrm>
          <a:prstGeom prst="roundRect">
            <a:avLst>
              <a:gd name="adj" fmla="val 4630"/>
            </a:avLst>
          </a:prstGeom>
          <a:solidFill>
            <a:srgbClr val="112240"/>
          </a:solidFill>
          <a:ln w="10160">
            <a:solidFill>
              <a:srgbClr val="5C677D"/>
            </a:solidFill>
            <a:prstDash val="solid"/>
          </a:ln>
        </p:spPr>
      </p:sp>
      <p:sp>
        <p:nvSpPr>
          <p:cNvPr id="21" name="Shape 19"/>
          <p:cNvSpPr/>
          <p:nvPr/>
        </p:nvSpPr>
        <p:spPr>
          <a:xfrm>
            <a:off x="528480" y="4581186"/>
            <a:ext cx="137750" cy="157429"/>
          </a:xfrm>
          <a:custGeom>
            <a:avLst/>
            <a:gdLst/>
            <a:ahLst/>
            <a:cxnLst/>
            <a:rect l="l" t="t" r="r" b="b"/>
            <a:pathLst>
              <a:path w="137750" h="157429">
                <a:moveTo>
                  <a:pt x="68875" y="2460"/>
                </a:moveTo>
                <a:cubicBezTo>
                  <a:pt x="48511" y="2460"/>
                  <a:pt x="31978" y="18993"/>
                  <a:pt x="31978" y="39357"/>
                </a:cubicBezTo>
                <a:cubicBezTo>
                  <a:pt x="31978" y="59721"/>
                  <a:pt x="48511" y="76255"/>
                  <a:pt x="68875" y="76255"/>
                </a:cubicBezTo>
                <a:cubicBezTo>
                  <a:pt x="89239" y="76255"/>
                  <a:pt x="105773" y="59721"/>
                  <a:pt x="105773" y="39357"/>
                </a:cubicBezTo>
                <a:cubicBezTo>
                  <a:pt x="105773" y="18993"/>
                  <a:pt x="89239" y="2460"/>
                  <a:pt x="68875" y="2460"/>
                </a:cubicBezTo>
                <a:close/>
                <a:moveTo>
                  <a:pt x="87324" y="98639"/>
                </a:moveTo>
                <a:cubicBezTo>
                  <a:pt x="85664" y="98485"/>
                  <a:pt x="83942" y="98393"/>
                  <a:pt x="82220" y="98393"/>
                </a:cubicBezTo>
                <a:lnTo>
                  <a:pt x="55500" y="98393"/>
                </a:lnTo>
                <a:cubicBezTo>
                  <a:pt x="53778" y="98393"/>
                  <a:pt x="52087" y="98485"/>
                  <a:pt x="50396" y="98639"/>
                </a:cubicBezTo>
                <a:lnTo>
                  <a:pt x="50396" y="119394"/>
                </a:lnTo>
                <a:cubicBezTo>
                  <a:pt x="55469" y="121731"/>
                  <a:pt x="59005" y="126866"/>
                  <a:pt x="59005" y="132800"/>
                </a:cubicBezTo>
                <a:cubicBezTo>
                  <a:pt x="59005" y="140948"/>
                  <a:pt x="52394" y="147559"/>
                  <a:pt x="44246" y="147559"/>
                </a:cubicBezTo>
                <a:cubicBezTo>
                  <a:pt x="36098" y="147559"/>
                  <a:pt x="29487" y="140948"/>
                  <a:pt x="29487" y="132800"/>
                </a:cubicBezTo>
                <a:cubicBezTo>
                  <a:pt x="29487" y="126835"/>
                  <a:pt x="33023" y="121700"/>
                  <a:pt x="38097" y="119394"/>
                </a:cubicBezTo>
                <a:lnTo>
                  <a:pt x="38097" y="101437"/>
                </a:lnTo>
                <a:cubicBezTo>
                  <a:pt x="18756" y="108540"/>
                  <a:pt x="4920" y="127173"/>
                  <a:pt x="4920" y="149004"/>
                </a:cubicBezTo>
                <a:cubicBezTo>
                  <a:pt x="4920" y="153647"/>
                  <a:pt x="8702" y="157429"/>
                  <a:pt x="13345" y="157429"/>
                </a:cubicBezTo>
                <a:lnTo>
                  <a:pt x="124375" y="157429"/>
                </a:lnTo>
                <a:cubicBezTo>
                  <a:pt x="129018" y="157429"/>
                  <a:pt x="132800" y="153647"/>
                  <a:pt x="132800" y="149004"/>
                </a:cubicBezTo>
                <a:cubicBezTo>
                  <a:pt x="132800" y="127173"/>
                  <a:pt x="118963" y="108571"/>
                  <a:pt x="99592" y="101468"/>
                </a:cubicBezTo>
                <a:lnTo>
                  <a:pt x="99592" y="112968"/>
                </a:lnTo>
                <a:cubicBezTo>
                  <a:pt x="106757" y="115489"/>
                  <a:pt x="111891" y="122346"/>
                  <a:pt x="111891" y="130371"/>
                </a:cubicBezTo>
                <a:lnTo>
                  <a:pt x="111891" y="140210"/>
                </a:lnTo>
                <a:cubicBezTo>
                  <a:pt x="111891" y="143592"/>
                  <a:pt x="109124" y="146360"/>
                  <a:pt x="105742" y="146360"/>
                </a:cubicBezTo>
                <a:cubicBezTo>
                  <a:pt x="102360" y="146360"/>
                  <a:pt x="99592" y="143592"/>
                  <a:pt x="99592" y="140210"/>
                </a:cubicBezTo>
                <a:lnTo>
                  <a:pt x="99592" y="130371"/>
                </a:lnTo>
                <a:cubicBezTo>
                  <a:pt x="99592" y="126989"/>
                  <a:pt x="96825" y="124221"/>
                  <a:pt x="93443" y="124221"/>
                </a:cubicBezTo>
                <a:cubicBezTo>
                  <a:pt x="90060" y="124221"/>
                  <a:pt x="87293" y="126989"/>
                  <a:pt x="87293" y="130371"/>
                </a:cubicBezTo>
                <a:lnTo>
                  <a:pt x="87293" y="140210"/>
                </a:lnTo>
                <a:cubicBezTo>
                  <a:pt x="87293" y="143592"/>
                  <a:pt x="84526" y="146360"/>
                  <a:pt x="81144" y="146360"/>
                </a:cubicBezTo>
                <a:cubicBezTo>
                  <a:pt x="77761" y="146360"/>
                  <a:pt x="74994" y="143592"/>
                  <a:pt x="74994" y="140210"/>
                </a:cubicBezTo>
                <a:lnTo>
                  <a:pt x="74994" y="130371"/>
                </a:lnTo>
                <a:cubicBezTo>
                  <a:pt x="74994" y="122346"/>
                  <a:pt x="80129" y="115520"/>
                  <a:pt x="87293" y="112968"/>
                </a:cubicBezTo>
                <a:lnTo>
                  <a:pt x="87293" y="98639"/>
                </a:lnTo>
                <a:close/>
              </a:path>
            </a:pathLst>
          </a:custGeom>
          <a:solidFill>
            <a:srgbClr val="00B4D8"/>
          </a:solidFill>
          <a:ln/>
        </p:spPr>
      </p:sp>
      <p:sp>
        <p:nvSpPr>
          <p:cNvPr id="22" name="Text 20"/>
          <p:cNvSpPr/>
          <p:nvPr/>
        </p:nvSpPr>
        <p:spPr>
          <a:xfrm>
            <a:off x="697935" y="4537456"/>
            <a:ext cx="5221395" cy="244890"/>
          </a:xfrm>
          <a:prstGeom prst="rect">
            <a:avLst/>
          </a:prstGeom>
          <a:noFill/>
          <a:ln/>
        </p:spPr>
        <p:txBody>
          <a:bodyPr wrap="square" lIns="0" tIns="0" rIns="0" bIns="0" rtlCol="0" anchor="ctr"/>
          <a:lstStyle/>
          <a:p>
            <a:pPr>
              <a:lnSpc>
                <a:spcPct val="130000"/>
              </a:lnSpc>
            </a:pPr>
            <a:r>
              <a:rPr lang="en-US" sz="1240" b="1" dirty="0">
                <a:solidFill>
                  <a:srgbClr val="F1FAEE"/>
                </a:solidFill>
                <a:latin typeface="Liter" pitchFamily="34" charset="0"/>
                <a:ea typeface="Liter" pitchFamily="34" charset="-122"/>
                <a:cs typeface="Liter" pitchFamily="34" charset="-120"/>
              </a:rPr>
              <a:t>Clinical Requirements</a:t>
            </a:r>
            <a:endParaRPr lang="en-US" sz="1600" dirty="0"/>
          </a:p>
        </p:txBody>
      </p:sp>
      <p:sp>
        <p:nvSpPr>
          <p:cNvPr id="23" name="Shape 21"/>
          <p:cNvSpPr/>
          <p:nvPr/>
        </p:nvSpPr>
        <p:spPr>
          <a:xfrm>
            <a:off x="521921" y="4887298"/>
            <a:ext cx="107139" cy="122445"/>
          </a:xfrm>
          <a:custGeom>
            <a:avLst/>
            <a:gdLst/>
            <a:ahLst/>
            <a:cxnLst/>
            <a:rect l="l" t="t" r="r" b="b"/>
            <a:pathLst>
              <a:path w="107139" h="122445">
                <a:moveTo>
                  <a:pt x="103982" y="16764"/>
                </a:moveTo>
                <a:cubicBezTo>
                  <a:pt x="107402" y="19252"/>
                  <a:pt x="108168" y="24035"/>
                  <a:pt x="105680" y="27454"/>
                </a:cubicBezTo>
                <a:lnTo>
                  <a:pt x="44458" y="111635"/>
                </a:lnTo>
                <a:cubicBezTo>
                  <a:pt x="43143" y="113453"/>
                  <a:pt x="41110" y="114577"/>
                  <a:pt x="38862" y="114768"/>
                </a:cubicBezTo>
                <a:cubicBezTo>
                  <a:pt x="36614" y="114959"/>
                  <a:pt x="34438" y="114122"/>
                  <a:pt x="32859" y="112544"/>
                </a:cubicBezTo>
                <a:lnTo>
                  <a:pt x="2248" y="81933"/>
                </a:lnTo>
                <a:cubicBezTo>
                  <a:pt x="-741" y="78943"/>
                  <a:pt x="-741" y="74089"/>
                  <a:pt x="2248" y="71099"/>
                </a:cubicBezTo>
                <a:cubicBezTo>
                  <a:pt x="5237" y="68110"/>
                  <a:pt x="10092" y="68110"/>
                  <a:pt x="13082" y="71099"/>
                </a:cubicBezTo>
                <a:lnTo>
                  <a:pt x="37355" y="95373"/>
                </a:lnTo>
                <a:lnTo>
                  <a:pt x="93316" y="18438"/>
                </a:lnTo>
                <a:cubicBezTo>
                  <a:pt x="95803" y="15019"/>
                  <a:pt x="100586" y="14253"/>
                  <a:pt x="104006" y="16740"/>
                </a:cubicBezTo>
                <a:close/>
              </a:path>
            </a:pathLst>
          </a:custGeom>
          <a:solidFill>
            <a:srgbClr val="00B4D8"/>
          </a:solidFill>
          <a:ln/>
        </p:spPr>
      </p:sp>
      <p:sp>
        <p:nvSpPr>
          <p:cNvPr id="24" name="Text 22"/>
          <p:cNvSpPr/>
          <p:nvPr/>
        </p:nvSpPr>
        <p:spPr>
          <a:xfrm>
            <a:off x="719800" y="4852314"/>
            <a:ext cx="2973659" cy="174921"/>
          </a:xfrm>
          <a:prstGeom prst="rect">
            <a:avLst/>
          </a:prstGeom>
          <a:noFill/>
          <a:ln/>
        </p:spPr>
        <p:txBody>
          <a:bodyPr wrap="square" lIns="0" tIns="0" rIns="0" bIns="0" rtlCol="0" anchor="ctr"/>
          <a:lstStyle/>
          <a:p>
            <a:pPr>
              <a:lnSpc>
                <a:spcPct val="120000"/>
              </a:lnSpc>
            </a:pPr>
            <a:r>
              <a:rPr lang="en-US" sz="964" dirty="0">
                <a:solidFill>
                  <a:srgbClr val="F1FAEE"/>
                </a:solidFill>
                <a:latin typeface="Liter" pitchFamily="34" charset="0"/>
                <a:ea typeface="Liter" pitchFamily="34" charset="-122"/>
                <a:cs typeface="Liter" pitchFamily="34" charset="-120"/>
              </a:rPr>
              <a:t>Verify decision-making aligns with medical knowledge</a:t>
            </a:r>
            <a:endParaRPr lang="en-US" sz="1600" dirty="0"/>
          </a:p>
        </p:txBody>
      </p:sp>
      <p:sp>
        <p:nvSpPr>
          <p:cNvPr id="25" name="Shape 23"/>
          <p:cNvSpPr/>
          <p:nvPr/>
        </p:nvSpPr>
        <p:spPr>
          <a:xfrm>
            <a:off x="521921" y="5132187"/>
            <a:ext cx="107139" cy="122445"/>
          </a:xfrm>
          <a:custGeom>
            <a:avLst/>
            <a:gdLst/>
            <a:ahLst/>
            <a:cxnLst/>
            <a:rect l="l" t="t" r="r" b="b"/>
            <a:pathLst>
              <a:path w="107139" h="122445">
                <a:moveTo>
                  <a:pt x="103982" y="16764"/>
                </a:moveTo>
                <a:cubicBezTo>
                  <a:pt x="107402" y="19252"/>
                  <a:pt x="108168" y="24035"/>
                  <a:pt x="105680" y="27454"/>
                </a:cubicBezTo>
                <a:lnTo>
                  <a:pt x="44458" y="111635"/>
                </a:lnTo>
                <a:cubicBezTo>
                  <a:pt x="43143" y="113453"/>
                  <a:pt x="41110" y="114577"/>
                  <a:pt x="38862" y="114768"/>
                </a:cubicBezTo>
                <a:cubicBezTo>
                  <a:pt x="36614" y="114959"/>
                  <a:pt x="34438" y="114122"/>
                  <a:pt x="32859" y="112544"/>
                </a:cubicBezTo>
                <a:lnTo>
                  <a:pt x="2248" y="81933"/>
                </a:lnTo>
                <a:cubicBezTo>
                  <a:pt x="-741" y="78943"/>
                  <a:pt x="-741" y="74089"/>
                  <a:pt x="2248" y="71099"/>
                </a:cubicBezTo>
                <a:cubicBezTo>
                  <a:pt x="5237" y="68110"/>
                  <a:pt x="10092" y="68110"/>
                  <a:pt x="13082" y="71099"/>
                </a:cubicBezTo>
                <a:lnTo>
                  <a:pt x="37355" y="95373"/>
                </a:lnTo>
                <a:lnTo>
                  <a:pt x="93316" y="18438"/>
                </a:lnTo>
                <a:cubicBezTo>
                  <a:pt x="95803" y="15019"/>
                  <a:pt x="100586" y="14253"/>
                  <a:pt x="104006" y="16740"/>
                </a:cubicBezTo>
                <a:close/>
              </a:path>
            </a:pathLst>
          </a:custGeom>
          <a:solidFill>
            <a:srgbClr val="00B4D8"/>
          </a:solidFill>
          <a:ln/>
        </p:spPr>
      </p:sp>
      <p:sp>
        <p:nvSpPr>
          <p:cNvPr id="26" name="Text 24"/>
          <p:cNvSpPr/>
          <p:nvPr/>
        </p:nvSpPr>
        <p:spPr>
          <a:xfrm>
            <a:off x="719800" y="5097203"/>
            <a:ext cx="3857010" cy="174921"/>
          </a:xfrm>
          <a:prstGeom prst="rect">
            <a:avLst/>
          </a:prstGeom>
          <a:noFill/>
          <a:ln/>
        </p:spPr>
        <p:txBody>
          <a:bodyPr wrap="square" lIns="0" tIns="0" rIns="0" bIns="0" rtlCol="0" anchor="ctr"/>
          <a:lstStyle/>
          <a:p>
            <a:pPr>
              <a:lnSpc>
                <a:spcPct val="120000"/>
              </a:lnSpc>
            </a:pPr>
            <a:r>
              <a:rPr lang="en-US" sz="964" dirty="0">
                <a:solidFill>
                  <a:srgbClr val="F1FAEE"/>
                </a:solidFill>
                <a:latin typeface="Liter" pitchFamily="34" charset="0"/>
                <a:ea typeface="Liter" pitchFamily="34" charset="-122"/>
                <a:cs typeface="Liter" pitchFamily="34" charset="-120"/>
              </a:rPr>
              <a:t>Identify cases where correct predictions stem from incorrect reasoning</a:t>
            </a:r>
            <a:endParaRPr lang="en-US" sz="1600" dirty="0"/>
          </a:p>
        </p:txBody>
      </p:sp>
      <p:sp>
        <p:nvSpPr>
          <p:cNvPr id="27" name="Shape 25"/>
          <p:cNvSpPr/>
          <p:nvPr/>
        </p:nvSpPr>
        <p:spPr>
          <a:xfrm>
            <a:off x="521921" y="5377077"/>
            <a:ext cx="107139" cy="122445"/>
          </a:xfrm>
          <a:custGeom>
            <a:avLst/>
            <a:gdLst/>
            <a:ahLst/>
            <a:cxnLst/>
            <a:rect l="l" t="t" r="r" b="b"/>
            <a:pathLst>
              <a:path w="107139" h="122445">
                <a:moveTo>
                  <a:pt x="103982" y="16764"/>
                </a:moveTo>
                <a:cubicBezTo>
                  <a:pt x="107402" y="19252"/>
                  <a:pt x="108168" y="24035"/>
                  <a:pt x="105680" y="27454"/>
                </a:cubicBezTo>
                <a:lnTo>
                  <a:pt x="44458" y="111635"/>
                </a:lnTo>
                <a:cubicBezTo>
                  <a:pt x="43143" y="113453"/>
                  <a:pt x="41110" y="114577"/>
                  <a:pt x="38862" y="114768"/>
                </a:cubicBezTo>
                <a:cubicBezTo>
                  <a:pt x="36614" y="114959"/>
                  <a:pt x="34438" y="114122"/>
                  <a:pt x="32859" y="112544"/>
                </a:cubicBezTo>
                <a:lnTo>
                  <a:pt x="2248" y="81933"/>
                </a:lnTo>
                <a:cubicBezTo>
                  <a:pt x="-741" y="78943"/>
                  <a:pt x="-741" y="74089"/>
                  <a:pt x="2248" y="71099"/>
                </a:cubicBezTo>
                <a:cubicBezTo>
                  <a:pt x="5237" y="68110"/>
                  <a:pt x="10092" y="68110"/>
                  <a:pt x="13082" y="71099"/>
                </a:cubicBezTo>
                <a:lnTo>
                  <a:pt x="37355" y="95373"/>
                </a:lnTo>
                <a:lnTo>
                  <a:pt x="93316" y="18438"/>
                </a:lnTo>
                <a:cubicBezTo>
                  <a:pt x="95803" y="15019"/>
                  <a:pt x="100586" y="14253"/>
                  <a:pt x="104006" y="16740"/>
                </a:cubicBezTo>
                <a:close/>
              </a:path>
            </a:pathLst>
          </a:custGeom>
          <a:solidFill>
            <a:srgbClr val="00B4D8"/>
          </a:solidFill>
          <a:ln/>
        </p:spPr>
      </p:sp>
      <p:sp>
        <p:nvSpPr>
          <p:cNvPr id="28" name="Text 26"/>
          <p:cNvSpPr/>
          <p:nvPr/>
        </p:nvSpPr>
        <p:spPr>
          <a:xfrm>
            <a:off x="719800" y="5342093"/>
            <a:ext cx="3061119" cy="174921"/>
          </a:xfrm>
          <a:prstGeom prst="rect">
            <a:avLst/>
          </a:prstGeom>
          <a:noFill/>
          <a:ln/>
        </p:spPr>
        <p:txBody>
          <a:bodyPr wrap="square" lIns="0" tIns="0" rIns="0" bIns="0" rtlCol="0" anchor="ctr"/>
          <a:lstStyle/>
          <a:p>
            <a:pPr>
              <a:lnSpc>
                <a:spcPct val="120000"/>
              </a:lnSpc>
            </a:pPr>
            <a:r>
              <a:rPr lang="en-US" sz="964" dirty="0">
                <a:solidFill>
                  <a:srgbClr val="F1FAEE"/>
                </a:solidFill>
                <a:latin typeface="Liter" pitchFamily="34" charset="0"/>
                <a:ea typeface="Liter" pitchFamily="34" charset="-122"/>
                <a:cs typeface="Liter" pitchFamily="34" charset="-120"/>
              </a:rPr>
              <a:t>Meet FDA and regulatory requirements for transparency</a:t>
            </a:r>
            <a:endParaRPr lang="en-US" sz="1600" dirty="0"/>
          </a:p>
        </p:txBody>
      </p:sp>
      <p:sp>
        <p:nvSpPr>
          <p:cNvPr id="29" name="Shape 27"/>
          <p:cNvSpPr/>
          <p:nvPr/>
        </p:nvSpPr>
        <p:spPr>
          <a:xfrm>
            <a:off x="521921" y="5621966"/>
            <a:ext cx="107139" cy="122445"/>
          </a:xfrm>
          <a:custGeom>
            <a:avLst/>
            <a:gdLst/>
            <a:ahLst/>
            <a:cxnLst/>
            <a:rect l="l" t="t" r="r" b="b"/>
            <a:pathLst>
              <a:path w="107139" h="122445">
                <a:moveTo>
                  <a:pt x="103982" y="16764"/>
                </a:moveTo>
                <a:cubicBezTo>
                  <a:pt x="107402" y="19252"/>
                  <a:pt x="108168" y="24035"/>
                  <a:pt x="105680" y="27454"/>
                </a:cubicBezTo>
                <a:lnTo>
                  <a:pt x="44458" y="111635"/>
                </a:lnTo>
                <a:cubicBezTo>
                  <a:pt x="43143" y="113453"/>
                  <a:pt x="41110" y="114577"/>
                  <a:pt x="38862" y="114768"/>
                </a:cubicBezTo>
                <a:cubicBezTo>
                  <a:pt x="36614" y="114959"/>
                  <a:pt x="34438" y="114122"/>
                  <a:pt x="32859" y="112544"/>
                </a:cubicBezTo>
                <a:lnTo>
                  <a:pt x="2248" y="81933"/>
                </a:lnTo>
                <a:cubicBezTo>
                  <a:pt x="-741" y="78943"/>
                  <a:pt x="-741" y="74089"/>
                  <a:pt x="2248" y="71099"/>
                </a:cubicBezTo>
                <a:cubicBezTo>
                  <a:pt x="5237" y="68110"/>
                  <a:pt x="10092" y="68110"/>
                  <a:pt x="13082" y="71099"/>
                </a:cubicBezTo>
                <a:lnTo>
                  <a:pt x="37355" y="95373"/>
                </a:lnTo>
                <a:lnTo>
                  <a:pt x="93316" y="18438"/>
                </a:lnTo>
                <a:cubicBezTo>
                  <a:pt x="95803" y="15019"/>
                  <a:pt x="100586" y="14253"/>
                  <a:pt x="104006" y="16740"/>
                </a:cubicBezTo>
                <a:close/>
              </a:path>
            </a:pathLst>
          </a:custGeom>
          <a:solidFill>
            <a:srgbClr val="00B4D8"/>
          </a:solidFill>
          <a:ln/>
        </p:spPr>
      </p:sp>
      <p:sp>
        <p:nvSpPr>
          <p:cNvPr id="30" name="Text 28"/>
          <p:cNvSpPr/>
          <p:nvPr/>
        </p:nvSpPr>
        <p:spPr>
          <a:xfrm>
            <a:off x="719800" y="5586982"/>
            <a:ext cx="2667547" cy="174921"/>
          </a:xfrm>
          <a:prstGeom prst="rect">
            <a:avLst/>
          </a:prstGeom>
          <a:noFill/>
          <a:ln/>
        </p:spPr>
        <p:txBody>
          <a:bodyPr wrap="square" lIns="0" tIns="0" rIns="0" bIns="0" rtlCol="0" anchor="ctr"/>
          <a:lstStyle/>
          <a:p>
            <a:pPr>
              <a:lnSpc>
                <a:spcPct val="120000"/>
              </a:lnSpc>
            </a:pPr>
            <a:r>
              <a:rPr lang="en-US" sz="964" dirty="0">
                <a:solidFill>
                  <a:srgbClr val="F1FAEE"/>
                </a:solidFill>
                <a:latin typeface="Liter" pitchFamily="34" charset="0"/>
                <a:ea typeface="Liter" pitchFamily="34" charset="-122"/>
                <a:cs typeface="Liter" pitchFamily="34" charset="-120"/>
              </a:rPr>
              <a:t>Communicate diagnosis explanations to patients</a:t>
            </a:r>
            <a:endParaRPr lang="en-US" sz="1600" dirty="0"/>
          </a:p>
        </p:txBody>
      </p:sp>
      <p:sp>
        <p:nvSpPr>
          <p:cNvPr id="31" name="Shape 29"/>
          <p:cNvSpPr/>
          <p:nvPr/>
        </p:nvSpPr>
        <p:spPr>
          <a:xfrm>
            <a:off x="6206966" y="1301413"/>
            <a:ext cx="5628961" cy="3223796"/>
          </a:xfrm>
          <a:prstGeom prst="roundRect">
            <a:avLst>
              <a:gd name="adj" fmla="val 2170"/>
            </a:avLst>
          </a:prstGeom>
          <a:solidFill>
            <a:srgbClr val="000000">
              <a:alpha val="0"/>
            </a:srgbClr>
          </a:solidFill>
          <a:ln w="20320">
            <a:solidFill>
              <a:srgbClr val="3A86FF"/>
            </a:solidFill>
            <a:prstDash val="solid"/>
          </a:ln>
        </p:spPr>
      </p:sp>
      <p:pic>
        <p:nvPicPr>
          <p:cNvPr id="32" name="Image 0" descr="https://kimi-web-img.moonshot.cn/img/www.news-medical.net/af4a542165d896edaa33e25bb84baf70c1523cb0.jpg">    </p:cNvPr>
          <p:cNvPicPr>
            <a:picLocks noChangeAspect="1"/>
          </p:cNvPicPr>
          <p:nvPr/>
        </p:nvPicPr>
        <p:blipFill>
          <a:blip r:embed="rId1"/>
          <a:srcRect l="844" r="844" t="0" b="0"/>
          <a:stretch/>
        </p:blipFill>
        <p:spPr>
          <a:xfrm>
            <a:off x="6213962" y="1308411"/>
            <a:ext cx="5614967" cy="3209802"/>
          </a:xfrm>
          <a:prstGeom prst="roundRect">
            <a:avLst>
              <a:gd name="adj" fmla="val 2180"/>
            </a:avLst>
          </a:prstGeom>
        </p:spPr>
      </p:pic>
      <p:sp>
        <p:nvSpPr>
          <p:cNvPr id="33" name="Shape 30"/>
          <p:cNvSpPr/>
          <p:nvPr/>
        </p:nvSpPr>
        <p:spPr>
          <a:xfrm>
            <a:off x="6203467" y="4673892"/>
            <a:ext cx="5630710" cy="1231444"/>
          </a:xfrm>
          <a:prstGeom prst="roundRect">
            <a:avLst>
              <a:gd name="adj" fmla="val 5682"/>
            </a:avLst>
          </a:prstGeom>
          <a:solidFill>
            <a:srgbClr val="112240"/>
          </a:solidFill>
          <a:ln w="10160">
            <a:solidFill>
              <a:srgbClr val="FF6B6B"/>
            </a:solidFill>
            <a:prstDash val="solid"/>
          </a:ln>
        </p:spPr>
      </p:sp>
      <p:sp>
        <p:nvSpPr>
          <p:cNvPr id="34" name="Shape 31"/>
          <p:cNvSpPr/>
          <p:nvPr/>
        </p:nvSpPr>
        <p:spPr>
          <a:xfrm>
            <a:off x="6364395" y="4852314"/>
            <a:ext cx="139937" cy="139937"/>
          </a:xfrm>
          <a:custGeom>
            <a:avLst/>
            <a:gdLst/>
            <a:ahLst/>
            <a:cxnLst/>
            <a:rect l="l" t="t" r="r" b="b"/>
            <a:pathLst>
              <a:path w="139937" h="139937">
                <a:moveTo>
                  <a:pt x="69968" y="139937"/>
                </a:moveTo>
                <a:cubicBezTo>
                  <a:pt x="108585" y="139937"/>
                  <a:pt x="139937" y="108585"/>
                  <a:pt x="139937" y="69968"/>
                </a:cubicBezTo>
                <a:cubicBezTo>
                  <a:pt x="139937" y="31352"/>
                  <a:pt x="108585" y="0"/>
                  <a:pt x="69968" y="0"/>
                </a:cubicBezTo>
                <a:cubicBezTo>
                  <a:pt x="31352" y="0"/>
                  <a:pt x="0" y="31352"/>
                  <a:pt x="0" y="69968"/>
                </a:cubicBezTo>
                <a:cubicBezTo>
                  <a:pt x="0" y="108585"/>
                  <a:pt x="31352" y="139937"/>
                  <a:pt x="69968" y="139937"/>
                </a:cubicBezTo>
                <a:close/>
                <a:moveTo>
                  <a:pt x="45643" y="45643"/>
                </a:moveTo>
                <a:cubicBezTo>
                  <a:pt x="48213" y="43074"/>
                  <a:pt x="52367" y="43074"/>
                  <a:pt x="54909" y="45643"/>
                </a:cubicBezTo>
                <a:lnTo>
                  <a:pt x="69941" y="60676"/>
                </a:lnTo>
                <a:lnTo>
                  <a:pt x="84973" y="45643"/>
                </a:lnTo>
                <a:cubicBezTo>
                  <a:pt x="87543" y="43074"/>
                  <a:pt x="91697" y="43074"/>
                  <a:pt x="94239" y="45643"/>
                </a:cubicBezTo>
                <a:cubicBezTo>
                  <a:pt x="96781" y="48213"/>
                  <a:pt x="96808" y="52367"/>
                  <a:pt x="94239" y="54909"/>
                </a:cubicBezTo>
                <a:lnTo>
                  <a:pt x="79206" y="69941"/>
                </a:lnTo>
                <a:lnTo>
                  <a:pt x="94239" y="84973"/>
                </a:lnTo>
                <a:cubicBezTo>
                  <a:pt x="96808" y="87543"/>
                  <a:pt x="96808" y="91697"/>
                  <a:pt x="94239" y="94239"/>
                </a:cubicBezTo>
                <a:cubicBezTo>
                  <a:pt x="91670" y="96781"/>
                  <a:pt x="87515" y="96808"/>
                  <a:pt x="84973" y="94239"/>
                </a:cubicBezTo>
                <a:lnTo>
                  <a:pt x="69941" y="79206"/>
                </a:lnTo>
                <a:lnTo>
                  <a:pt x="54909" y="94239"/>
                </a:lnTo>
                <a:cubicBezTo>
                  <a:pt x="52340" y="96808"/>
                  <a:pt x="48185" y="96808"/>
                  <a:pt x="45643" y="94239"/>
                </a:cubicBezTo>
                <a:cubicBezTo>
                  <a:pt x="43102" y="91670"/>
                  <a:pt x="43074" y="87515"/>
                  <a:pt x="45643" y="84973"/>
                </a:cubicBezTo>
                <a:lnTo>
                  <a:pt x="60676" y="69941"/>
                </a:lnTo>
                <a:lnTo>
                  <a:pt x="45643" y="54909"/>
                </a:lnTo>
                <a:cubicBezTo>
                  <a:pt x="43074" y="52340"/>
                  <a:pt x="43074" y="48185"/>
                  <a:pt x="45643" y="45643"/>
                </a:cubicBezTo>
                <a:close/>
              </a:path>
            </a:pathLst>
          </a:custGeom>
          <a:solidFill>
            <a:srgbClr val="FF6B6B"/>
          </a:solidFill>
          <a:ln/>
        </p:spPr>
      </p:sp>
      <p:sp>
        <p:nvSpPr>
          <p:cNvPr id="35" name="Text 32"/>
          <p:cNvSpPr/>
          <p:nvPr/>
        </p:nvSpPr>
        <p:spPr>
          <a:xfrm>
            <a:off x="6521824" y="4817329"/>
            <a:ext cx="5238887" cy="209905"/>
          </a:xfrm>
          <a:prstGeom prst="rect">
            <a:avLst/>
          </a:prstGeom>
          <a:noFill/>
          <a:ln/>
        </p:spPr>
        <p:txBody>
          <a:bodyPr wrap="square" lIns="0" tIns="0" rIns="0" bIns="0" rtlCol="0" anchor="ctr"/>
          <a:lstStyle/>
          <a:p>
            <a:pPr>
              <a:lnSpc>
                <a:spcPct val="130000"/>
              </a:lnSpc>
            </a:pPr>
            <a:r>
              <a:rPr lang="en-US" sz="1102" b="1" dirty="0">
                <a:solidFill>
                  <a:srgbClr val="FF6B6B"/>
                </a:solidFill>
                <a:latin typeface="Liter" pitchFamily="34" charset="0"/>
                <a:ea typeface="Liter" pitchFamily="34" charset="-122"/>
                <a:cs typeface="Liter" pitchFamily="34" charset="-120"/>
              </a:rPr>
              <a:t>Dangerous Scenarios</a:t>
            </a:r>
            <a:endParaRPr lang="en-US" sz="1600" dirty="0"/>
          </a:p>
        </p:txBody>
      </p:sp>
      <p:sp>
        <p:nvSpPr>
          <p:cNvPr id="36" name="Text 33"/>
          <p:cNvSpPr/>
          <p:nvPr/>
        </p:nvSpPr>
        <p:spPr>
          <a:xfrm>
            <a:off x="6346902" y="5097203"/>
            <a:ext cx="139937" cy="174921"/>
          </a:xfrm>
          <a:prstGeom prst="rect">
            <a:avLst/>
          </a:prstGeom>
          <a:noFill/>
          <a:ln/>
        </p:spPr>
        <p:txBody>
          <a:bodyPr wrap="square" lIns="0" tIns="0" rIns="0" bIns="0" rtlCol="0" anchor="ctr"/>
          <a:lstStyle/>
          <a:p>
            <a:pPr>
              <a:lnSpc>
                <a:spcPct val="120000"/>
              </a:lnSpc>
            </a:pPr>
            <a:r>
              <a:rPr lang="en-US" sz="964" b="1" dirty="0">
                <a:solidFill>
                  <a:srgbClr val="FF6B6B"/>
                </a:solidFill>
                <a:latin typeface="Liter" pitchFamily="34" charset="0"/>
                <a:ea typeface="Liter" pitchFamily="34" charset="-122"/>
                <a:cs typeface="Liter" pitchFamily="34" charset="-120"/>
              </a:rPr>
              <a:t>1.</a:t>
            </a:r>
            <a:endParaRPr lang="en-US" sz="1600" dirty="0"/>
          </a:p>
        </p:txBody>
      </p:sp>
      <p:sp>
        <p:nvSpPr>
          <p:cNvPr id="37" name="Text 34"/>
          <p:cNvSpPr/>
          <p:nvPr/>
        </p:nvSpPr>
        <p:spPr>
          <a:xfrm>
            <a:off x="6494055" y="5097203"/>
            <a:ext cx="3358485" cy="174921"/>
          </a:xfrm>
          <a:prstGeom prst="rect">
            <a:avLst/>
          </a:prstGeom>
          <a:noFill/>
          <a:ln/>
        </p:spPr>
        <p:txBody>
          <a:bodyPr wrap="square" lIns="0" tIns="0" rIns="0" bIns="0" rtlCol="0" anchor="ctr"/>
          <a:lstStyle/>
          <a:p>
            <a:pPr>
              <a:lnSpc>
                <a:spcPct val="120000"/>
              </a:lnSpc>
            </a:pPr>
            <a:r>
              <a:rPr lang="en-US" sz="964" dirty="0">
                <a:solidFill>
                  <a:srgbClr val="F1FAEE"/>
                </a:solidFill>
                <a:latin typeface="Liter" pitchFamily="34" charset="0"/>
                <a:ea typeface="Liter" pitchFamily="34" charset="-122"/>
                <a:cs typeface="Liter" pitchFamily="34" charset="-120"/>
              </a:rPr>
              <a:t>AI predicts disease correctly but focuses on irrelevant regions</a:t>
            </a:r>
            <a:endParaRPr lang="en-US" sz="1600" dirty="0"/>
          </a:p>
        </p:txBody>
      </p:sp>
      <p:sp>
        <p:nvSpPr>
          <p:cNvPr id="38" name="Text 35"/>
          <p:cNvSpPr/>
          <p:nvPr/>
        </p:nvSpPr>
        <p:spPr>
          <a:xfrm>
            <a:off x="6346902" y="5342093"/>
            <a:ext cx="157429" cy="174921"/>
          </a:xfrm>
          <a:prstGeom prst="rect">
            <a:avLst/>
          </a:prstGeom>
          <a:noFill/>
          <a:ln/>
        </p:spPr>
        <p:txBody>
          <a:bodyPr wrap="square" lIns="0" tIns="0" rIns="0" bIns="0" rtlCol="0" anchor="ctr"/>
          <a:lstStyle/>
          <a:p>
            <a:pPr>
              <a:lnSpc>
                <a:spcPct val="120000"/>
              </a:lnSpc>
            </a:pPr>
            <a:r>
              <a:rPr lang="en-US" sz="964" b="1" dirty="0">
                <a:solidFill>
                  <a:srgbClr val="FF6B6B"/>
                </a:solidFill>
                <a:latin typeface="Liter" pitchFamily="34" charset="0"/>
                <a:ea typeface="Liter" pitchFamily="34" charset="-122"/>
                <a:cs typeface="Liter" pitchFamily="34" charset="-120"/>
              </a:rPr>
              <a:t>2.</a:t>
            </a:r>
            <a:endParaRPr lang="en-US" sz="1600" dirty="0"/>
          </a:p>
        </p:txBody>
      </p:sp>
      <p:sp>
        <p:nvSpPr>
          <p:cNvPr id="39" name="Text 36"/>
          <p:cNvSpPr/>
          <p:nvPr/>
        </p:nvSpPr>
        <p:spPr>
          <a:xfrm>
            <a:off x="6516248" y="5342093"/>
            <a:ext cx="2518864" cy="174921"/>
          </a:xfrm>
          <a:prstGeom prst="rect">
            <a:avLst/>
          </a:prstGeom>
          <a:noFill/>
          <a:ln/>
        </p:spPr>
        <p:txBody>
          <a:bodyPr wrap="square" lIns="0" tIns="0" rIns="0" bIns="0" rtlCol="0" anchor="ctr"/>
          <a:lstStyle/>
          <a:p>
            <a:pPr>
              <a:lnSpc>
                <a:spcPct val="120000"/>
              </a:lnSpc>
            </a:pPr>
            <a:r>
              <a:rPr lang="en-US" sz="964" dirty="0">
                <a:solidFill>
                  <a:srgbClr val="F1FAEE"/>
                </a:solidFill>
                <a:latin typeface="Liter" pitchFamily="34" charset="0"/>
                <a:ea typeface="Liter" pitchFamily="34" charset="-122"/>
                <a:cs typeface="Liter" pitchFamily="34" charset="-120"/>
              </a:rPr>
              <a:t>Clinicians cannot verify the reasoning process</a:t>
            </a:r>
            <a:endParaRPr lang="en-US" sz="1600" dirty="0"/>
          </a:p>
        </p:txBody>
      </p:sp>
      <p:sp>
        <p:nvSpPr>
          <p:cNvPr id="40" name="Text 37"/>
          <p:cNvSpPr/>
          <p:nvPr/>
        </p:nvSpPr>
        <p:spPr>
          <a:xfrm>
            <a:off x="6346902" y="5586982"/>
            <a:ext cx="157429" cy="174921"/>
          </a:xfrm>
          <a:prstGeom prst="rect">
            <a:avLst/>
          </a:prstGeom>
          <a:noFill/>
          <a:ln/>
        </p:spPr>
        <p:txBody>
          <a:bodyPr wrap="square" lIns="0" tIns="0" rIns="0" bIns="0" rtlCol="0" anchor="ctr"/>
          <a:lstStyle/>
          <a:p>
            <a:pPr>
              <a:lnSpc>
                <a:spcPct val="120000"/>
              </a:lnSpc>
            </a:pPr>
            <a:r>
              <a:rPr lang="en-US" sz="964" b="1" dirty="0">
                <a:solidFill>
                  <a:srgbClr val="FF6B6B"/>
                </a:solidFill>
                <a:latin typeface="Liter" pitchFamily="34" charset="0"/>
                <a:ea typeface="Liter" pitchFamily="34" charset="-122"/>
                <a:cs typeface="Liter" pitchFamily="34" charset="-120"/>
              </a:rPr>
              <a:t>3.</a:t>
            </a:r>
            <a:endParaRPr lang="en-US" sz="1600" dirty="0"/>
          </a:p>
        </p:txBody>
      </p:sp>
      <p:sp>
        <p:nvSpPr>
          <p:cNvPr id="41" name="Text 38"/>
          <p:cNvSpPr/>
          <p:nvPr/>
        </p:nvSpPr>
        <p:spPr>
          <a:xfrm>
            <a:off x="6517341" y="5586982"/>
            <a:ext cx="3096103" cy="174921"/>
          </a:xfrm>
          <a:prstGeom prst="rect">
            <a:avLst/>
          </a:prstGeom>
          <a:noFill/>
          <a:ln/>
        </p:spPr>
        <p:txBody>
          <a:bodyPr wrap="square" lIns="0" tIns="0" rIns="0" bIns="0" rtlCol="0" anchor="ctr"/>
          <a:lstStyle/>
          <a:p>
            <a:pPr>
              <a:lnSpc>
                <a:spcPct val="120000"/>
              </a:lnSpc>
            </a:pPr>
            <a:r>
              <a:rPr lang="en-US" sz="964" dirty="0">
                <a:solidFill>
                  <a:srgbClr val="F1FAEE"/>
                </a:solidFill>
                <a:latin typeface="Liter" pitchFamily="34" charset="0"/>
                <a:ea typeface="Liter" pitchFamily="34" charset="-122"/>
                <a:cs typeface="Liter" pitchFamily="34" charset="-120"/>
              </a:rPr>
              <a:t>Model relies on dataset biases rather than true pathology</a:t>
            </a:r>
            <a:endParaRPr lang="en-US" sz="1600" dirty="0"/>
          </a:p>
        </p:txBody>
      </p:sp>
      <p:sp>
        <p:nvSpPr>
          <p:cNvPr id="42" name="Shape 39"/>
          <p:cNvSpPr/>
          <p:nvPr/>
        </p:nvSpPr>
        <p:spPr>
          <a:xfrm>
            <a:off x="367334" y="6048772"/>
            <a:ext cx="11474824" cy="489779"/>
          </a:xfrm>
          <a:custGeom>
            <a:avLst/>
            <a:gdLst/>
            <a:ahLst/>
            <a:cxnLst/>
            <a:rect l="l" t="t" r="r" b="b"/>
            <a:pathLst>
              <a:path w="11474824" h="489779">
                <a:moveTo>
                  <a:pt x="34925" y="0"/>
                </a:moveTo>
                <a:lnTo>
                  <a:pt x="11404854" y="0"/>
                </a:lnTo>
                <a:cubicBezTo>
                  <a:pt x="11443501" y="0"/>
                  <a:pt x="11474831" y="31330"/>
                  <a:pt x="11474831" y="69977"/>
                </a:cubicBezTo>
                <a:lnTo>
                  <a:pt x="11474831" y="419862"/>
                </a:lnTo>
                <a:cubicBezTo>
                  <a:pt x="11474831" y="458509"/>
                  <a:pt x="11443501" y="489839"/>
                  <a:pt x="11404854" y="489839"/>
                </a:cubicBezTo>
                <a:lnTo>
                  <a:pt x="34925" y="489839"/>
                </a:lnTo>
                <a:cubicBezTo>
                  <a:pt x="25640" y="489839"/>
                  <a:pt x="16738" y="486142"/>
                  <a:pt x="10184" y="479565"/>
                </a:cubicBezTo>
                <a:cubicBezTo>
                  <a:pt x="3631" y="472988"/>
                  <a:pt x="-34" y="464072"/>
                  <a:pt x="0" y="454787"/>
                </a:cubicBezTo>
                <a:lnTo>
                  <a:pt x="0" y="34925"/>
                </a:lnTo>
                <a:cubicBezTo>
                  <a:pt x="0" y="15649"/>
                  <a:pt x="15649" y="0"/>
                  <a:pt x="34925" y="0"/>
                </a:cubicBezTo>
                <a:close/>
              </a:path>
            </a:pathLst>
          </a:custGeom>
          <a:solidFill>
            <a:srgbClr val="FF6B6B">
              <a:alpha val="10196"/>
            </a:srgbClr>
          </a:solidFill>
          <a:ln/>
        </p:spPr>
      </p:sp>
      <p:sp>
        <p:nvSpPr>
          <p:cNvPr id="43" name="Shape 40"/>
          <p:cNvSpPr/>
          <p:nvPr/>
        </p:nvSpPr>
        <p:spPr>
          <a:xfrm>
            <a:off x="367334" y="6048772"/>
            <a:ext cx="34984" cy="489779"/>
          </a:xfrm>
          <a:custGeom>
            <a:avLst/>
            <a:gdLst/>
            <a:ahLst/>
            <a:cxnLst/>
            <a:rect l="l" t="t" r="r" b="b"/>
            <a:pathLst>
              <a:path w="34984" h="489779">
                <a:moveTo>
                  <a:pt x="34925" y="0"/>
                </a:moveTo>
                <a:lnTo>
                  <a:pt x="34925" y="0"/>
                </a:lnTo>
                <a:lnTo>
                  <a:pt x="34925" y="489839"/>
                </a:lnTo>
                <a:lnTo>
                  <a:pt x="34925" y="489839"/>
                </a:lnTo>
                <a:cubicBezTo>
                  <a:pt x="25640" y="489839"/>
                  <a:pt x="16738" y="486142"/>
                  <a:pt x="10184" y="479565"/>
                </a:cubicBezTo>
                <a:cubicBezTo>
                  <a:pt x="3631" y="472988"/>
                  <a:pt x="-34" y="464072"/>
                  <a:pt x="0" y="454787"/>
                </a:cubicBezTo>
                <a:lnTo>
                  <a:pt x="0" y="34925"/>
                </a:lnTo>
                <a:cubicBezTo>
                  <a:pt x="0" y="15649"/>
                  <a:pt x="15649" y="0"/>
                  <a:pt x="34925" y="0"/>
                </a:cubicBezTo>
                <a:close/>
              </a:path>
            </a:pathLst>
          </a:custGeom>
          <a:solidFill>
            <a:srgbClr val="FF6B6B"/>
          </a:solidFill>
          <a:ln/>
        </p:spPr>
      </p:sp>
      <p:sp>
        <p:nvSpPr>
          <p:cNvPr id="44" name="Shape 41"/>
          <p:cNvSpPr/>
          <p:nvPr/>
        </p:nvSpPr>
        <p:spPr>
          <a:xfrm>
            <a:off x="542255" y="6216698"/>
            <a:ext cx="139937" cy="139937"/>
          </a:xfrm>
          <a:custGeom>
            <a:avLst/>
            <a:gdLst/>
            <a:ahLst/>
            <a:cxnLst/>
            <a:rect l="l" t="t" r="r" b="b"/>
            <a:pathLst>
              <a:path w="139937" h="139937">
                <a:moveTo>
                  <a:pt x="69968" y="139937"/>
                </a:moveTo>
                <a:cubicBezTo>
                  <a:pt x="108585" y="139937"/>
                  <a:pt x="139937" y="108585"/>
                  <a:pt x="139937" y="69968"/>
                </a:cubicBezTo>
                <a:cubicBezTo>
                  <a:pt x="139937" y="31352"/>
                  <a:pt x="108585" y="0"/>
                  <a:pt x="69968" y="0"/>
                </a:cubicBezTo>
                <a:cubicBezTo>
                  <a:pt x="31352" y="0"/>
                  <a:pt x="0" y="31352"/>
                  <a:pt x="0" y="69968"/>
                </a:cubicBezTo>
                <a:cubicBezTo>
                  <a:pt x="0" y="108585"/>
                  <a:pt x="31352" y="139937"/>
                  <a:pt x="69968" y="139937"/>
                </a:cubicBezTo>
                <a:close/>
                <a:moveTo>
                  <a:pt x="69968" y="48103"/>
                </a:moveTo>
                <a:cubicBezTo>
                  <a:pt x="65131" y="48103"/>
                  <a:pt x="61222" y="52012"/>
                  <a:pt x="61222" y="56849"/>
                </a:cubicBezTo>
                <a:cubicBezTo>
                  <a:pt x="61222" y="60484"/>
                  <a:pt x="58298" y="63409"/>
                  <a:pt x="54663" y="63409"/>
                </a:cubicBezTo>
                <a:cubicBezTo>
                  <a:pt x="51028" y="63409"/>
                  <a:pt x="48103" y="60484"/>
                  <a:pt x="48103" y="56849"/>
                </a:cubicBezTo>
                <a:cubicBezTo>
                  <a:pt x="48103" y="44769"/>
                  <a:pt x="57888" y="34984"/>
                  <a:pt x="69968" y="34984"/>
                </a:cubicBezTo>
                <a:cubicBezTo>
                  <a:pt x="82049" y="34984"/>
                  <a:pt x="91834" y="44769"/>
                  <a:pt x="91834" y="56849"/>
                </a:cubicBezTo>
                <a:cubicBezTo>
                  <a:pt x="91834" y="69750"/>
                  <a:pt x="81994" y="75216"/>
                  <a:pt x="76528" y="77211"/>
                </a:cubicBezTo>
                <a:lnTo>
                  <a:pt x="76528" y="78250"/>
                </a:lnTo>
                <a:cubicBezTo>
                  <a:pt x="76528" y="81885"/>
                  <a:pt x="73604" y="84809"/>
                  <a:pt x="69968" y="84809"/>
                </a:cubicBezTo>
                <a:cubicBezTo>
                  <a:pt x="66333" y="84809"/>
                  <a:pt x="63409" y="81885"/>
                  <a:pt x="63409" y="78250"/>
                </a:cubicBezTo>
                <a:lnTo>
                  <a:pt x="63409" y="76036"/>
                </a:lnTo>
                <a:cubicBezTo>
                  <a:pt x="63409" y="70433"/>
                  <a:pt x="67454" y="66415"/>
                  <a:pt x="71636" y="65049"/>
                </a:cubicBezTo>
                <a:cubicBezTo>
                  <a:pt x="73385" y="64475"/>
                  <a:pt x="75243" y="63546"/>
                  <a:pt x="76610" y="62234"/>
                </a:cubicBezTo>
                <a:cubicBezTo>
                  <a:pt x="77785" y="61086"/>
                  <a:pt x="78714" y="59501"/>
                  <a:pt x="78714" y="56877"/>
                </a:cubicBezTo>
                <a:cubicBezTo>
                  <a:pt x="78714" y="52039"/>
                  <a:pt x="74806" y="48131"/>
                  <a:pt x="69968" y="48131"/>
                </a:cubicBezTo>
                <a:close/>
                <a:moveTo>
                  <a:pt x="61222" y="100580"/>
                </a:moveTo>
                <a:cubicBezTo>
                  <a:pt x="61222" y="95753"/>
                  <a:pt x="65141" y="91834"/>
                  <a:pt x="69968" y="91834"/>
                </a:cubicBezTo>
                <a:cubicBezTo>
                  <a:pt x="74796" y="91834"/>
                  <a:pt x="78714" y="95753"/>
                  <a:pt x="78714" y="100580"/>
                </a:cubicBezTo>
                <a:cubicBezTo>
                  <a:pt x="78714" y="105407"/>
                  <a:pt x="74796" y="109326"/>
                  <a:pt x="69968" y="109326"/>
                </a:cubicBezTo>
                <a:cubicBezTo>
                  <a:pt x="65141" y="109326"/>
                  <a:pt x="61222" y="105407"/>
                  <a:pt x="61222" y="100580"/>
                </a:cubicBezTo>
                <a:close/>
              </a:path>
            </a:pathLst>
          </a:custGeom>
          <a:solidFill>
            <a:srgbClr val="FF6B6B"/>
          </a:solidFill>
          <a:ln/>
        </p:spPr>
      </p:sp>
      <p:sp>
        <p:nvSpPr>
          <p:cNvPr id="45" name="Text 42"/>
          <p:cNvSpPr/>
          <p:nvPr/>
        </p:nvSpPr>
        <p:spPr>
          <a:xfrm>
            <a:off x="747869" y="6188709"/>
            <a:ext cx="11024320" cy="209905"/>
          </a:xfrm>
          <a:prstGeom prst="rect">
            <a:avLst/>
          </a:prstGeom>
          <a:noFill/>
          <a:ln/>
        </p:spPr>
        <p:txBody>
          <a:bodyPr wrap="square" lIns="0" tIns="0" rIns="0" bIns="0" rtlCol="0" anchor="ctr"/>
          <a:lstStyle/>
          <a:p>
            <a:pPr>
              <a:lnSpc>
                <a:spcPct val="130000"/>
              </a:lnSpc>
            </a:pPr>
            <a:r>
              <a:rPr lang="en-US" sz="1102" b="1" dirty="0">
                <a:solidFill>
                  <a:srgbClr val="FF6B6B"/>
                </a:solidFill>
                <a:latin typeface="Liter" pitchFamily="34" charset="0"/>
                <a:ea typeface="Liter" pitchFamily="34" charset="-122"/>
                <a:cs typeface="Liter" pitchFamily="34" charset="-120"/>
              </a:rPr>
              <a:t>Audience Question: If an AI predicts blindness with 99% accuracy but cannot explain why - should doctors trust it?</a:t>
            </a:r>
            <a:endParaRPr lang="en-US" sz="1600" dirty="0"/>
          </a:p>
        </p:txBody>
      </p:sp>
      <p:sp>
        <p:nvSpPr>
          <p:cNvPr id="46" name="Shape 43"/>
          <p:cNvSpPr/>
          <p:nvPr/>
        </p:nvSpPr>
        <p:spPr>
          <a:xfrm>
            <a:off x="4168260" y="6650499"/>
            <a:ext cx="118072" cy="157429"/>
          </a:xfrm>
          <a:custGeom>
            <a:avLst/>
            <a:gdLst/>
            <a:ahLst/>
            <a:cxnLst/>
            <a:rect l="l" t="t" r="r" b="b"/>
            <a:pathLst>
              <a:path w="118072" h="157429">
                <a:moveTo>
                  <a:pt x="52087" y="154539"/>
                </a:moveTo>
                <a:cubicBezTo>
                  <a:pt x="55930" y="158382"/>
                  <a:pt x="62172" y="158382"/>
                  <a:pt x="66016" y="154539"/>
                </a:cubicBezTo>
                <a:lnTo>
                  <a:pt x="115212" y="105342"/>
                </a:lnTo>
                <a:cubicBezTo>
                  <a:pt x="119056" y="101499"/>
                  <a:pt x="119056" y="95257"/>
                  <a:pt x="115212" y="91413"/>
                </a:cubicBezTo>
                <a:cubicBezTo>
                  <a:pt x="111369" y="87570"/>
                  <a:pt x="105127" y="87570"/>
                  <a:pt x="101283" y="91413"/>
                </a:cubicBezTo>
                <a:lnTo>
                  <a:pt x="68875" y="123822"/>
                </a:lnTo>
                <a:lnTo>
                  <a:pt x="68875" y="9839"/>
                </a:lnTo>
                <a:cubicBezTo>
                  <a:pt x="68875" y="4397"/>
                  <a:pt x="64478" y="0"/>
                  <a:pt x="59036" y="0"/>
                </a:cubicBezTo>
                <a:cubicBezTo>
                  <a:pt x="53593" y="0"/>
                  <a:pt x="49197" y="4397"/>
                  <a:pt x="49197" y="9839"/>
                </a:cubicBezTo>
                <a:lnTo>
                  <a:pt x="49197" y="123822"/>
                </a:lnTo>
                <a:lnTo>
                  <a:pt x="16788" y="91413"/>
                </a:lnTo>
                <a:cubicBezTo>
                  <a:pt x="12945" y="87570"/>
                  <a:pt x="6703" y="87570"/>
                  <a:pt x="2860" y="91413"/>
                </a:cubicBezTo>
                <a:cubicBezTo>
                  <a:pt x="-984" y="95257"/>
                  <a:pt x="-984" y="101499"/>
                  <a:pt x="2860" y="105342"/>
                </a:cubicBezTo>
                <a:lnTo>
                  <a:pt x="52056" y="154539"/>
                </a:lnTo>
                <a:close/>
              </a:path>
            </a:pathLst>
          </a:custGeom>
          <a:solidFill>
            <a:srgbClr val="00B4D8"/>
          </a:solidFill>
          <a:ln/>
        </p:spPr>
      </p:sp>
      <p:sp>
        <p:nvSpPr>
          <p:cNvPr id="47" name="Text 44"/>
          <p:cNvSpPr/>
          <p:nvPr/>
        </p:nvSpPr>
        <p:spPr>
          <a:xfrm>
            <a:off x="559829" y="6608520"/>
            <a:ext cx="11321686" cy="244890"/>
          </a:xfrm>
          <a:prstGeom prst="rect">
            <a:avLst/>
          </a:prstGeom>
          <a:noFill/>
          <a:ln/>
        </p:spPr>
        <p:txBody>
          <a:bodyPr wrap="square" lIns="0" tIns="0" rIns="0" bIns="0" rtlCol="0" anchor="ctr"/>
          <a:lstStyle/>
          <a:p>
            <a:pPr algn="ctr">
              <a:lnSpc>
                <a:spcPct val="130000"/>
              </a:lnSpc>
            </a:pPr>
            <a:r>
              <a:rPr lang="en-US" sz="1240" b="1" dirty="0">
                <a:solidFill>
                  <a:srgbClr val="00B4D8"/>
                </a:solidFill>
                <a:latin typeface="Liter" pitchFamily="34" charset="0"/>
                <a:ea typeface="Liter" pitchFamily="34" charset="-122"/>
                <a:cs typeface="Liter" pitchFamily="34" charset="-120"/>
              </a:rPr>
              <a:t>This leads to the Black Box Problem in Deep Learning</a:t>
            </a:r>
            <a:endParaRPr lang="en-US" sz="1600" dirty="0"/>
          </a:p>
        </p:txBody>
      </p:sp>
      <p:sp>
        <p:nvSpPr>
          <p:cNvPr id="48" name="Text 45"/>
          <p:cNvSpPr/>
          <p:nvPr/>
        </p:nvSpPr>
        <p:spPr>
          <a:xfrm>
            <a:off x="349842" y="6577144"/>
            <a:ext cx="2431403" cy="139937"/>
          </a:xfrm>
          <a:prstGeom prst="rect">
            <a:avLst/>
          </a:prstGeom>
          <a:noFill/>
          <a:ln/>
        </p:spPr>
        <p:txBody>
          <a:bodyPr wrap="square" lIns="0" tIns="0" rIns="0" bIns="0" rtlCol="0" anchor="ctr"/>
          <a:lstStyle/>
          <a:p>
            <a:pPr>
              <a:lnSpc>
                <a:spcPct val="110000"/>
              </a:lnSpc>
            </a:pPr>
            <a:r>
              <a:rPr lang="en-US" sz="826"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49" name="Text 46"/>
          <p:cNvSpPr/>
          <p:nvPr/>
        </p:nvSpPr>
        <p:spPr>
          <a:xfrm>
            <a:off x="11534734" y="6577144"/>
            <a:ext cx="358588" cy="139937"/>
          </a:xfrm>
          <a:prstGeom prst="rect">
            <a:avLst/>
          </a:prstGeom>
          <a:noFill/>
          <a:ln/>
        </p:spPr>
        <p:txBody>
          <a:bodyPr wrap="square" lIns="0" tIns="0" rIns="0" bIns="0" rtlCol="0" anchor="ctr"/>
          <a:lstStyle/>
          <a:p>
            <a:pPr>
              <a:lnSpc>
                <a:spcPct val="110000"/>
              </a:lnSpc>
            </a:pPr>
            <a:r>
              <a:rPr lang="en-US" sz="826" dirty="0">
                <a:solidFill>
                  <a:srgbClr val="5C677D"/>
                </a:solidFill>
                <a:latin typeface="Liter" pitchFamily="34" charset="0"/>
                <a:ea typeface="Liter" pitchFamily="34" charset="-122"/>
                <a:cs typeface="Liter" pitchFamily="34" charset="-120"/>
              </a:rPr>
              <a:t>Slide 7</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60977" y="360977"/>
            <a:ext cx="11542241" cy="216586"/>
          </a:xfrm>
          <a:prstGeom prst="rect">
            <a:avLst/>
          </a:prstGeom>
          <a:noFill/>
          <a:ln/>
        </p:spPr>
        <p:txBody>
          <a:bodyPr wrap="square" lIns="0" tIns="0" rIns="0" bIns="0" rtlCol="0" anchor="ctr"/>
          <a:lstStyle/>
          <a:p>
            <a:pPr>
              <a:lnSpc>
                <a:spcPct val="130000"/>
              </a:lnSpc>
            </a:pPr>
            <a:r>
              <a:rPr lang="en-US" sz="1137" b="1" spc="57" kern="0" dirty="0">
                <a:solidFill>
                  <a:srgbClr val="00B4D8"/>
                </a:solidFill>
                <a:latin typeface="Liter" pitchFamily="34" charset="0"/>
                <a:ea typeface="Liter" pitchFamily="34" charset="-122"/>
                <a:cs typeface="Liter" pitchFamily="34" charset="-120"/>
              </a:rPr>
              <a:t>Fundamental Challenge</a:t>
            </a:r>
            <a:endParaRPr lang="en-US" sz="1600" dirty="0"/>
          </a:p>
        </p:txBody>
      </p:sp>
      <p:sp>
        <p:nvSpPr>
          <p:cNvPr id="3" name="Text 1"/>
          <p:cNvSpPr/>
          <p:nvPr/>
        </p:nvSpPr>
        <p:spPr>
          <a:xfrm>
            <a:off x="360977" y="649759"/>
            <a:ext cx="11632486" cy="360977"/>
          </a:xfrm>
          <a:prstGeom prst="rect">
            <a:avLst/>
          </a:prstGeom>
          <a:noFill/>
          <a:ln/>
        </p:spPr>
        <p:txBody>
          <a:bodyPr wrap="square" lIns="0" tIns="0" rIns="0" bIns="0" rtlCol="0" anchor="ctr"/>
          <a:lstStyle/>
          <a:p>
            <a:pPr>
              <a:lnSpc>
                <a:spcPct val="90000"/>
              </a:lnSpc>
            </a:pPr>
            <a:r>
              <a:rPr lang="en-US" sz="2558" b="1" dirty="0">
                <a:solidFill>
                  <a:srgbClr val="F1FAEE"/>
                </a:solidFill>
                <a:latin typeface="Oranienbaum" pitchFamily="34" charset="0"/>
                <a:ea typeface="Oranienbaum" pitchFamily="34" charset="-122"/>
                <a:cs typeface="Oranienbaum" pitchFamily="34" charset="-120"/>
              </a:rPr>
              <a:t>The Black Box Problem</a:t>
            </a:r>
            <a:endParaRPr lang="en-US" sz="1600" dirty="0"/>
          </a:p>
        </p:txBody>
      </p:sp>
      <p:sp>
        <p:nvSpPr>
          <p:cNvPr id="4" name="Shape 2"/>
          <p:cNvSpPr/>
          <p:nvPr/>
        </p:nvSpPr>
        <p:spPr>
          <a:xfrm>
            <a:off x="360977" y="1119029"/>
            <a:ext cx="866345" cy="36098"/>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79026" y="1299517"/>
            <a:ext cx="6804417" cy="3230745"/>
          </a:xfrm>
          <a:custGeom>
            <a:avLst/>
            <a:gdLst/>
            <a:ahLst/>
            <a:cxnLst/>
            <a:rect l="l" t="t" r="r" b="b"/>
            <a:pathLst>
              <a:path w="6804417" h="3230745">
                <a:moveTo>
                  <a:pt x="36068" y="0"/>
                </a:moveTo>
                <a:lnTo>
                  <a:pt x="6732270" y="0"/>
                </a:lnTo>
                <a:cubicBezTo>
                  <a:pt x="6772130" y="70"/>
                  <a:pt x="6804406" y="32403"/>
                  <a:pt x="6804406" y="72263"/>
                </a:cubicBezTo>
                <a:lnTo>
                  <a:pt x="6804406" y="3158490"/>
                </a:lnTo>
                <a:cubicBezTo>
                  <a:pt x="6804406" y="3198350"/>
                  <a:pt x="6772130" y="3230683"/>
                  <a:pt x="6732270" y="3230753"/>
                </a:cubicBezTo>
                <a:lnTo>
                  <a:pt x="36068" y="3230753"/>
                </a:lnTo>
                <a:cubicBezTo>
                  <a:pt x="16148" y="3230753"/>
                  <a:pt x="0" y="3214605"/>
                  <a:pt x="0" y="3194685"/>
                </a:cubicBezTo>
                <a:lnTo>
                  <a:pt x="0" y="36068"/>
                </a:lnTo>
                <a:cubicBezTo>
                  <a:pt x="0" y="16162"/>
                  <a:pt x="16162" y="0"/>
                  <a:pt x="36068" y="0"/>
                </a:cubicBezTo>
                <a:close/>
              </a:path>
            </a:pathLst>
          </a:custGeom>
          <a:solidFill>
            <a:srgbClr val="112240"/>
          </a:solidFill>
          <a:ln/>
        </p:spPr>
      </p:sp>
      <p:sp>
        <p:nvSpPr>
          <p:cNvPr id="6" name="Shape 4"/>
          <p:cNvSpPr/>
          <p:nvPr/>
        </p:nvSpPr>
        <p:spPr>
          <a:xfrm>
            <a:off x="379026" y="1299517"/>
            <a:ext cx="36098" cy="3230745"/>
          </a:xfrm>
          <a:custGeom>
            <a:avLst/>
            <a:gdLst/>
            <a:ahLst/>
            <a:cxnLst/>
            <a:rect l="l" t="t" r="r" b="b"/>
            <a:pathLst>
              <a:path w="36098" h="3230745">
                <a:moveTo>
                  <a:pt x="36068" y="0"/>
                </a:moveTo>
                <a:lnTo>
                  <a:pt x="36068" y="0"/>
                </a:lnTo>
                <a:lnTo>
                  <a:pt x="36068" y="3230753"/>
                </a:lnTo>
                <a:lnTo>
                  <a:pt x="36068" y="3230753"/>
                </a:lnTo>
                <a:cubicBezTo>
                  <a:pt x="16148" y="3230753"/>
                  <a:pt x="0" y="3214605"/>
                  <a:pt x="0" y="3194685"/>
                </a:cubicBezTo>
                <a:lnTo>
                  <a:pt x="0" y="36068"/>
                </a:lnTo>
                <a:cubicBezTo>
                  <a:pt x="0" y="16162"/>
                  <a:pt x="16162" y="0"/>
                  <a:pt x="36068" y="0"/>
                </a:cubicBezTo>
                <a:close/>
              </a:path>
            </a:pathLst>
          </a:custGeom>
          <a:solidFill>
            <a:srgbClr val="FF6B6B"/>
          </a:solidFill>
          <a:ln/>
        </p:spPr>
      </p:sp>
      <p:sp>
        <p:nvSpPr>
          <p:cNvPr id="7" name="Shape 5"/>
          <p:cNvSpPr/>
          <p:nvPr/>
        </p:nvSpPr>
        <p:spPr>
          <a:xfrm>
            <a:off x="575307" y="1480006"/>
            <a:ext cx="157927" cy="180489"/>
          </a:xfrm>
          <a:custGeom>
            <a:avLst/>
            <a:gdLst/>
            <a:ahLst/>
            <a:cxnLst/>
            <a:rect l="l" t="t" r="r" b="b"/>
            <a:pathLst>
              <a:path w="157927" h="180489">
                <a:moveTo>
                  <a:pt x="130220" y="45122"/>
                </a:moveTo>
                <a:lnTo>
                  <a:pt x="118128" y="28201"/>
                </a:lnTo>
                <a:lnTo>
                  <a:pt x="39834" y="28201"/>
                </a:lnTo>
                <a:lnTo>
                  <a:pt x="27743" y="45122"/>
                </a:lnTo>
                <a:lnTo>
                  <a:pt x="130220" y="45122"/>
                </a:lnTo>
                <a:close/>
                <a:moveTo>
                  <a:pt x="0" y="52349"/>
                </a:moveTo>
                <a:cubicBezTo>
                  <a:pt x="0" y="47660"/>
                  <a:pt x="1481" y="43078"/>
                  <a:pt x="4195" y="39235"/>
                </a:cubicBezTo>
                <a:lnTo>
                  <a:pt x="21468" y="15088"/>
                </a:lnTo>
                <a:cubicBezTo>
                  <a:pt x="25698" y="9165"/>
                  <a:pt x="32537" y="5640"/>
                  <a:pt x="39799" y="5640"/>
                </a:cubicBezTo>
                <a:lnTo>
                  <a:pt x="118093" y="5640"/>
                </a:lnTo>
                <a:cubicBezTo>
                  <a:pt x="125390" y="5640"/>
                  <a:pt x="132229" y="9165"/>
                  <a:pt x="136459" y="15088"/>
                </a:cubicBezTo>
                <a:lnTo>
                  <a:pt x="153697" y="39235"/>
                </a:lnTo>
                <a:cubicBezTo>
                  <a:pt x="156447" y="43078"/>
                  <a:pt x="157892" y="47660"/>
                  <a:pt x="157892" y="52349"/>
                </a:cubicBezTo>
                <a:lnTo>
                  <a:pt x="157927" y="146647"/>
                </a:lnTo>
                <a:cubicBezTo>
                  <a:pt x="157927" y="159091"/>
                  <a:pt x="147810" y="169208"/>
                  <a:pt x="135366" y="169208"/>
                </a:cubicBezTo>
                <a:lnTo>
                  <a:pt x="22561" y="169208"/>
                </a:lnTo>
                <a:cubicBezTo>
                  <a:pt x="10117" y="169208"/>
                  <a:pt x="0" y="159091"/>
                  <a:pt x="0" y="146647"/>
                </a:cubicBezTo>
                <a:lnTo>
                  <a:pt x="0" y="52349"/>
                </a:lnTo>
                <a:close/>
              </a:path>
            </a:pathLst>
          </a:custGeom>
          <a:solidFill>
            <a:srgbClr val="FF6B6B"/>
          </a:solidFill>
          <a:ln/>
        </p:spPr>
      </p:sp>
      <p:sp>
        <p:nvSpPr>
          <p:cNvPr id="8" name="Text 6"/>
          <p:cNvSpPr/>
          <p:nvPr/>
        </p:nvSpPr>
        <p:spPr>
          <a:xfrm>
            <a:off x="767076" y="1443908"/>
            <a:ext cx="6362221" cy="252684"/>
          </a:xfrm>
          <a:prstGeom prst="rect">
            <a:avLst/>
          </a:prstGeom>
          <a:noFill/>
          <a:ln/>
        </p:spPr>
        <p:txBody>
          <a:bodyPr wrap="square" lIns="0" tIns="0" rIns="0" bIns="0" rtlCol="0" anchor="ctr"/>
          <a:lstStyle/>
          <a:p>
            <a:pPr>
              <a:lnSpc>
                <a:spcPct val="120000"/>
              </a:lnSpc>
            </a:pPr>
            <a:r>
              <a:rPr lang="en-US" sz="1421" b="1" dirty="0">
                <a:solidFill>
                  <a:srgbClr val="FF6B6B"/>
                </a:solidFill>
                <a:latin typeface="Liter" pitchFamily="34" charset="0"/>
                <a:ea typeface="Liter" pitchFamily="34" charset="-122"/>
                <a:cs typeface="Liter" pitchFamily="34" charset="-120"/>
              </a:rPr>
              <a:t>What is the Black Box Problem?</a:t>
            </a:r>
            <a:endParaRPr lang="en-US" sz="1600" dirty="0"/>
          </a:p>
        </p:txBody>
      </p:sp>
      <p:sp>
        <p:nvSpPr>
          <p:cNvPr id="9" name="Text 7"/>
          <p:cNvSpPr/>
          <p:nvPr/>
        </p:nvSpPr>
        <p:spPr>
          <a:xfrm>
            <a:off x="541466" y="1804885"/>
            <a:ext cx="6569782" cy="703905"/>
          </a:xfrm>
          <a:prstGeom prst="rect">
            <a:avLst/>
          </a:prstGeom>
          <a:noFill/>
          <a:ln/>
        </p:spPr>
        <p:txBody>
          <a:bodyPr wrap="square" lIns="0" tIns="0" rIns="0" bIns="0" rtlCol="0" anchor="ctr"/>
          <a:lstStyle/>
          <a:p>
            <a:pPr>
              <a:lnSpc>
                <a:spcPct val="140000"/>
              </a:lnSpc>
            </a:pPr>
            <a:r>
              <a:rPr lang="en-US" sz="1137" dirty="0">
                <a:solidFill>
                  <a:srgbClr val="F1FAEE"/>
                </a:solidFill>
                <a:latin typeface="Liter" pitchFamily="34" charset="0"/>
                <a:ea typeface="Liter" pitchFamily="34" charset="-122"/>
                <a:cs typeface="Liter" pitchFamily="34" charset="-120"/>
              </a:rPr>
              <a:t>CNNs provide </a:t>
            </a:r>
            <a:pPr>
              <a:lnSpc>
                <a:spcPct val="140000"/>
              </a:lnSpc>
            </a:pPr>
            <a:r>
              <a:rPr lang="en-US" sz="1137" b="1" dirty="0">
                <a:solidFill>
                  <a:srgbClr val="F1FAEE"/>
                </a:solidFill>
                <a:latin typeface="Liter" pitchFamily="34" charset="0"/>
                <a:ea typeface="Liter" pitchFamily="34" charset="-122"/>
                <a:cs typeface="Liter" pitchFamily="34" charset="-120"/>
              </a:rPr>
              <a:t>predictions without reasoning</a:t>
            </a:r>
            <a:pPr>
              <a:lnSpc>
                <a:spcPct val="140000"/>
              </a:lnSpc>
            </a:pPr>
            <a:r>
              <a:rPr lang="en-US" sz="1137" dirty="0">
                <a:solidFill>
                  <a:srgbClr val="F1FAEE"/>
                </a:solidFill>
                <a:latin typeface="Liter" pitchFamily="34" charset="0"/>
                <a:ea typeface="Liter" pitchFamily="34" charset="-122"/>
                <a:cs typeface="Liter" pitchFamily="34" charset="-120"/>
              </a:rPr>
              <a:t>. The internal decision-making process remains hidden, and clinicians cannot verify </a:t>
            </a:r>
            <a:pPr>
              <a:lnSpc>
                <a:spcPct val="140000"/>
              </a:lnSpc>
            </a:pPr>
            <a:r>
              <a:rPr lang="en-US" sz="1137" b="1" dirty="0">
                <a:solidFill>
                  <a:srgbClr val="00B4D8"/>
                </a:solidFill>
                <a:latin typeface="Liter" pitchFamily="34" charset="0"/>
                <a:ea typeface="Liter" pitchFamily="34" charset="-122"/>
                <a:cs typeface="Liter" pitchFamily="34" charset="-120"/>
              </a:rPr>
              <a:t>why</a:t>
            </a:r>
            <a:pPr>
              <a:lnSpc>
                <a:spcPct val="140000"/>
              </a:lnSpc>
            </a:pPr>
            <a:r>
              <a:rPr lang="en-US" sz="1137" dirty="0">
                <a:solidFill>
                  <a:srgbClr val="F1FAEE"/>
                </a:solidFill>
                <a:latin typeface="Liter" pitchFamily="34" charset="0"/>
                <a:ea typeface="Liter" pitchFamily="34" charset="-122"/>
                <a:cs typeface="Liter" pitchFamily="34" charset="-120"/>
              </a:rPr>
              <a:t> a prediction occurred. This creates a fundamental lack of trust and interpretability [9][10].</a:t>
            </a:r>
            <a:endParaRPr lang="en-US" sz="1600" dirty="0"/>
          </a:p>
        </p:txBody>
      </p:sp>
      <p:sp>
        <p:nvSpPr>
          <p:cNvPr id="10" name="Shape 8"/>
          <p:cNvSpPr/>
          <p:nvPr/>
        </p:nvSpPr>
        <p:spPr>
          <a:xfrm>
            <a:off x="541466" y="2617084"/>
            <a:ext cx="6497587" cy="1768788"/>
          </a:xfrm>
          <a:prstGeom prst="roundRect">
            <a:avLst>
              <a:gd name="adj" fmla="val 4082"/>
            </a:avLst>
          </a:prstGeom>
          <a:solidFill>
            <a:srgbClr val="0A192F"/>
          </a:solidFill>
          <a:ln/>
        </p:spPr>
      </p:sp>
      <p:sp>
        <p:nvSpPr>
          <p:cNvPr id="11" name="Shape 9"/>
          <p:cNvSpPr/>
          <p:nvPr/>
        </p:nvSpPr>
        <p:spPr>
          <a:xfrm>
            <a:off x="1727501" y="2732596"/>
            <a:ext cx="853711" cy="853711"/>
          </a:xfrm>
          <a:prstGeom prst="roundRect">
            <a:avLst>
              <a:gd name="adj" fmla="val 8457"/>
            </a:avLst>
          </a:prstGeom>
          <a:solidFill>
            <a:srgbClr val="000000">
              <a:alpha val="0"/>
            </a:srgbClr>
          </a:solidFill>
          <a:ln w="20320">
            <a:solidFill>
              <a:srgbClr val="3A86FF"/>
            </a:solidFill>
            <a:prstDash val="dash"/>
          </a:ln>
        </p:spPr>
      </p:sp>
      <p:sp>
        <p:nvSpPr>
          <p:cNvPr id="12" name="Shape 10"/>
          <p:cNvSpPr/>
          <p:nvPr/>
        </p:nvSpPr>
        <p:spPr>
          <a:xfrm>
            <a:off x="2011319" y="2996110"/>
            <a:ext cx="284269" cy="324879"/>
          </a:xfrm>
          <a:custGeom>
            <a:avLst/>
            <a:gdLst/>
            <a:ahLst/>
            <a:cxnLst/>
            <a:rect l="l" t="t" r="r" b="b"/>
            <a:pathLst>
              <a:path w="284269" h="324879">
                <a:moveTo>
                  <a:pt x="40610" y="20305"/>
                </a:moveTo>
                <a:cubicBezTo>
                  <a:pt x="18211" y="20305"/>
                  <a:pt x="0" y="38516"/>
                  <a:pt x="0" y="60915"/>
                </a:cubicBezTo>
                <a:lnTo>
                  <a:pt x="0" y="263964"/>
                </a:lnTo>
                <a:cubicBezTo>
                  <a:pt x="0" y="286363"/>
                  <a:pt x="18211" y="304574"/>
                  <a:pt x="40610" y="304574"/>
                </a:cubicBezTo>
                <a:lnTo>
                  <a:pt x="243660" y="304574"/>
                </a:lnTo>
                <a:cubicBezTo>
                  <a:pt x="266058" y="304574"/>
                  <a:pt x="284269" y="286363"/>
                  <a:pt x="284269" y="263964"/>
                </a:cubicBezTo>
                <a:lnTo>
                  <a:pt x="284269" y="60915"/>
                </a:lnTo>
                <a:cubicBezTo>
                  <a:pt x="284269" y="38516"/>
                  <a:pt x="266058" y="20305"/>
                  <a:pt x="243660" y="20305"/>
                </a:cubicBezTo>
                <a:lnTo>
                  <a:pt x="40610" y="20305"/>
                </a:lnTo>
                <a:close/>
                <a:moveTo>
                  <a:pt x="81220" y="71067"/>
                </a:moveTo>
                <a:cubicBezTo>
                  <a:pt x="98030" y="71067"/>
                  <a:pt x="111677" y="84715"/>
                  <a:pt x="111677" y="101525"/>
                </a:cubicBezTo>
                <a:cubicBezTo>
                  <a:pt x="111677" y="118335"/>
                  <a:pt x="98030" y="131982"/>
                  <a:pt x="81220" y="131982"/>
                </a:cubicBezTo>
                <a:cubicBezTo>
                  <a:pt x="64410" y="131982"/>
                  <a:pt x="50762" y="118335"/>
                  <a:pt x="50762" y="101525"/>
                </a:cubicBezTo>
                <a:cubicBezTo>
                  <a:pt x="50762" y="84715"/>
                  <a:pt x="64410" y="71067"/>
                  <a:pt x="81220" y="71067"/>
                </a:cubicBezTo>
                <a:close/>
                <a:moveTo>
                  <a:pt x="172592" y="142135"/>
                </a:moveTo>
                <a:cubicBezTo>
                  <a:pt x="177922" y="142135"/>
                  <a:pt x="182808" y="144927"/>
                  <a:pt x="185600" y="149432"/>
                </a:cubicBezTo>
                <a:lnTo>
                  <a:pt x="241439" y="240804"/>
                </a:lnTo>
                <a:cubicBezTo>
                  <a:pt x="244294" y="245500"/>
                  <a:pt x="244421" y="251401"/>
                  <a:pt x="241756" y="256223"/>
                </a:cubicBezTo>
                <a:cubicBezTo>
                  <a:pt x="239091" y="261046"/>
                  <a:pt x="233951" y="263964"/>
                  <a:pt x="228431" y="263964"/>
                </a:cubicBezTo>
                <a:lnTo>
                  <a:pt x="55839" y="263964"/>
                </a:lnTo>
                <a:cubicBezTo>
                  <a:pt x="50191" y="263964"/>
                  <a:pt x="44925" y="260792"/>
                  <a:pt x="42323" y="255779"/>
                </a:cubicBezTo>
                <a:cubicBezTo>
                  <a:pt x="39722" y="250766"/>
                  <a:pt x="40102" y="244675"/>
                  <a:pt x="43338" y="240043"/>
                </a:cubicBezTo>
                <a:lnTo>
                  <a:pt x="78872" y="189280"/>
                </a:lnTo>
                <a:cubicBezTo>
                  <a:pt x="81727" y="185219"/>
                  <a:pt x="86360" y="182808"/>
                  <a:pt x="91372" y="182808"/>
                </a:cubicBezTo>
                <a:cubicBezTo>
                  <a:pt x="96385" y="182808"/>
                  <a:pt x="101017" y="185219"/>
                  <a:pt x="103873" y="189280"/>
                </a:cubicBezTo>
                <a:lnTo>
                  <a:pt x="120624" y="213266"/>
                </a:lnTo>
                <a:lnTo>
                  <a:pt x="159584" y="149495"/>
                </a:lnTo>
                <a:cubicBezTo>
                  <a:pt x="162376" y="144990"/>
                  <a:pt x="167262" y="142198"/>
                  <a:pt x="172592" y="142198"/>
                </a:cubicBezTo>
                <a:close/>
              </a:path>
            </a:pathLst>
          </a:custGeom>
          <a:solidFill>
            <a:srgbClr val="3A86FF"/>
          </a:solidFill>
          <a:ln/>
        </p:spPr>
      </p:sp>
      <p:sp>
        <p:nvSpPr>
          <p:cNvPr id="13" name="Text 11"/>
          <p:cNvSpPr/>
          <p:nvPr/>
        </p:nvSpPr>
        <p:spPr>
          <a:xfrm>
            <a:off x="1688696" y="3663917"/>
            <a:ext cx="929516" cy="180489"/>
          </a:xfrm>
          <a:prstGeom prst="rect">
            <a:avLst/>
          </a:prstGeom>
          <a:noFill/>
          <a:ln/>
        </p:spPr>
        <p:txBody>
          <a:bodyPr wrap="square" lIns="0" tIns="0" rIns="0" bIns="0" rtlCol="0" anchor="ctr"/>
          <a:lstStyle/>
          <a:p>
            <a:pPr algn="ctr">
              <a:lnSpc>
                <a:spcPct val="120000"/>
              </a:lnSpc>
            </a:pPr>
            <a:r>
              <a:rPr lang="en-US" sz="995" b="1" dirty="0">
                <a:solidFill>
                  <a:srgbClr val="F1FAEE"/>
                </a:solidFill>
                <a:latin typeface="Liter" pitchFamily="34" charset="0"/>
                <a:ea typeface="Liter" pitchFamily="34" charset="-122"/>
                <a:cs typeface="Liter" pitchFamily="34" charset="-120"/>
              </a:rPr>
              <a:t>OCT Image</a:t>
            </a:r>
            <a:endParaRPr lang="en-US" sz="1600" dirty="0"/>
          </a:p>
        </p:txBody>
      </p:sp>
      <p:sp>
        <p:nvSpPr>
          <p:cNvPr id="14" name="Text 12"/>
          <p:cNvSpPr/>
          <p:nvPr/>
        </p:nvSpPr>
        <p:spPr>
          <a:xfrm>
            <a:off x="1693208" y="3844406"/>
            <a:ext cx="920491" cy="144391"/>
          </a:xfrm>
          <a:prstGeom prst="rect">
            <a:avLst/>
          </a:prstGeom>
          <a:noFill/>
          <a:ln/>
        </p:spPr>
        <p:txBody>
          <a:bodyPr wrap="square" lIns="0" tIns="0" rIns="0" bIns="0" rtlCol="0" anchor="ctr"/>
          <a:lstStyle/>
          <a:p>
            <a:pPr algn="ctr">
              <a:lnSpc>
                <a:spcPct val="110000"/>
              </a:lnSpc>
            </a:pPr>
            <a:r>
              <a:rPr lang="en-US" sz="853" dirty="0">
                <a:solidFill>
                  <a:srgbClr val="5C677D"/>
                </a:solidFill>
                <a:latin typeface="Liter" pitchFamily="34" charset="0"/>
                <a:ea typeface="Liter" pitchFamily="34" charset="-122"/>
                <a:cs typeface="Liter" pitchFamily="34" charset="-120"/>
              </a:rPr>
              <a:t>Input</a:t>
            </a:r>
            <a:endParaRPr lang="en-US" sz="1600" dirty="0"/>
          </a:p>
        </p:txBody>
      </p:sp>
      <p:sp>
        <p:nvSpPr>
          <p:cNvPr id="15" name="Shape 13"/>
          <p:cNvSpPr/>
          <p:nvPr/>
        </p:nvSpPr>
        <p:spPr>
          <a:xfrm>
            <a:off x="2839310" y="3221610"/>
            <a:ext cx="270733" cy="270733"/>
          </a:xfrm>
          <a:custGeom>
            <a:avLst/>
            <a:gdLst/>
            <a:ahLst/>
            <a:cxnLst/>
            <a:rect l="l" t="t" r="r" b="b"/>
            <a:pathLst>
              <a:path w="270733" h="270733">
                <a:moveTo>
                  <a:pt x="265762" y="147317"/>
                </a:moveTo>
                <a:cubicBezTo>
                  <a:pt x="272372" y="140707"/>
                  <a:pt x="272372" y="129973"/>
                  <a:pt x="265762" y="123363"/>
                </a:cubicBezTo>
                <a:lnTo>
                  <a:pt x="181158" y="38759"/>
                </a:lnTo>
                <a:cubicBezTo>
                  <a:pt x="174549" y="32150"/>
                  <a:pt x="163814" y="32150"/>
                  <a:pt x="157205" y="38759"/>
                </a:cubicBezTo>
                <a:cubicBezTo>
                  <a:pt x="150595" y="45369"/>
                  <a:pt x="150595" y="56103"/>
                  <a:pt x="157205" y="62713"/>
                </a:cubicBezTo>
                <a:lnTo>
                  <a:pt x="212938" y="118446"/>
                </a:lnTo>
                <a:lnTo>
                  <a:pt x="16921" y="118446"/>
                </a:lnTo>
                <a:cubicBezTo>
                  <a:pt x="7561" y="118446"/>
                  <a:pt x="0" y="126007"/>
                  <a:pt x="0" y="135366"/>
                </a:cubicBezTo>
                <a:cubicBezTo>
                  <a:pt x="0" y="144726"/>
                  <a:pt x="7561" y="152287"/>
                  <a:pt x="16921" y="152287"/>
                </a:cubicBezTo>
                <a:lnTo>
                  <a:pt x="212938" y="152287"/>
                </a:lnTo>
                <a:lnTo>
                  <a:pt x="157205" y="208020"/>
                </a:lnTo>
                <a:cubicBezTo>
                  <a:pt x="150595" y="214630"/>
                  <a:pt x="150595" y="225364"/>
                  <a:pt x="157205" y="231974"/>
                </a:cubicBezTo>
                <a:cubicBezTo>
                  <a:pt x="163814" y="238583"/>
                  <a:pt x="174549" y="238583"/>
                  <a:pt x="181158" y="231974"/>
                </a:cubicBezTo>
                <a:lnTo>
                  <a:pt x="265762" y="147370"/>
                </a:lnTo>
                <a:close/>
              </a:path>
            </a:pathLst>
          </a:custGeom>
          <a:solidFill>
            <a:srgbClr val="5C677D"/>
          </a:solidFill>
          <a:ln/>
        </p:spPr>
      </p:sp>
      <p:sp>
        <p:nvSpPr>
          <p:cNvPr id="16" name="Shape 14"/>
          <p:cNvSpPr/>
          <p:nvPr/>
        </p:nvSpPr>
        <p:spPr>
          <a:xfrm>
            <a:off x="3376264" y="2743426"/>
            <a:ext cx="830247" cy="830247"/>
          </a:xfrm>
          <a:prstGeom prst="roundRect">
            <a:avLst>
              <a:gd name="adj" fmla="val 8696"/>
            </a:avLst>
          </a:prstGeom>
          <a:solidFill>
            <a:srgbClr val="FF6B6B"/>
          </a:solidFill>
          <a:ln w="50800">
            <a:solidFill>
              <a:srgbClr val="FF6B6B"/>
            </a:solidFill>
            <a:prstDash val="solid"/>
          </a:ln>
        </p:spPr>
      </p:sp>
      <p:sp>
        <p:nvSpPr>
          <p:cNvPr id="17" name="Shape 15"/>
          <p:cNvSpPr/>
          <p:nvPr/>
        </p:nvSpPr>
        <p:spPr>
          <a:xfrm>
            <a:off x="3689862" y="2996110"/>
            <a:ext cx="203050" cy="324879"/>
          </a:xfrm>
          <a:custGeom>
            <a:avLst/>
            <a:gdLst/>
            <a:ahLst/>
            <a:cxnLst/>
            <a:rect l="l" t="t" r="r" b="b"/>
            <a:pathLst>
              <a:path w="203050" h="324879">
                <a:moveTo>
                  <a:pt x="40610" y="101525"/>
                </a:moveTo>
                <a:cubicBezTo>
                  <a:pt x="40610" y="67895"/>
                  <a:pt x="67895" y="40610"/>
                  <a:pt x="101525" y="40610"/>
                </a:cubicBezTo>
                <a:cubicBezTo>
                  <a:pt x="135155" y="40610"/>
                  <a:pt x="162440" y="67895"/>
                  <a:pt x="162440" y="101525"/>
                </a:cubicBezTo>
                <a:cubicBezTo>
                  <a:pt x="162440" y="128619"/>
                  <a:pt x="144736" y="151589"/>
                  <a:pt x="120243" y="159521"/>
                </a:cubicBezTo>
                <a:cubicBezTo>
                  <a:pt x="102223" y="165359"/>
                  <a:pt x="81220" y="181920"/>
                  <a:pt x="81220" y="208126"/>
                </a:cubicBezTo>
                <a:lnTo>
                  <a:pt x="81220" y="223355"/>
                </a:lnTo>
                <a:cubicBezTo>
                  <a:pt x="81220" y="234586"/>
                  <a:pt x="90294" y="243660"/>
                  <a:pt x="101525" y="243660"/>
                </a:cubicBezTo>
                <a:cubicBezTo>
                  <a:pt x="112756" y="243660"/>
                  <a:pt x="121830" y="234586"/>
                  <a:pt x="121830" y="223355"/>
                </a:cubicBezTo>
                <a:lnTo>
                  <a:pt x="121830" y="208126"/>
                </a:lnTo>
                <a:cubicBezTo>
                  <a:pt x="121830" y="207047"/>
                  <a:pt x="122210" y="205524"/>
                  <a:pt x="124051" y="203494"/>
                </a:cubicBezTo>
                <a:cubicBezTo>
                  <a:pt x="125954" y="201400"/>
                  <a:pt x="129063" y="199369"/>
                  <a:pt x="132744" y="198164"/>
                </a:cubicBezTo>
                <a:cubicBezTo>
                  <a:pt x="173544" y="185029"/>
                  <a:pt x="203050" y="146767"/>
                  <a:pt x="203050" y="101525"/>
                </a:cubicBezTo>
                <a:cubicBezTo>
                  <a:pt x="203050" y="45432"/>
                  <a:pt x="157617" y="0"/>
                  <a:pt x="101525" y="0"/>
                </a:cubicBezTo>
                <a:cubicBezTo>
                  <a:pt x="45432" y="0"/>
                  <a:pt x="0" y="45432"/>
                  <a:pt x="0" y="101525"/>
                </a:cubicBezTo>
                <a:cubicBezTo>
                  <a:pt x="0" y="112756"/>
                  <a:pt x="9074" y="121830"/>
                  <a:pt x="20305" y="121830"/>
                </a:cubicBezTo>
                <a:cubicBezTo>
                  <a:pt x="31536" y="121830"/>
                  <a:pt x="40610" y="112756"/>
                  <a:pt x="40610" y="101525"/>
                </a:cubicBezTo>
                <a:close/>
                <a:moveTo>
                  <a:pt x="101525" y="324879"/>
                </a:moveTo>
                <a:cubicBezTo>
                  <a:pt x="115548" y="324879"/>
                  <a:pt x="126906" y="313521"/>
                  <a:pt x="126906" y="299498"/>
                </a:cubicBezTo>
                <a:cubicBezTo>
                  <a:pt x="126906" y="285475"/>
                  <a:pt x="115548" y="274117"/>
                  <a:pt x="101525" y="274117"/>
                </a:cubicBezTo>
                <a:cubicBezTo>
                  <a:pt x="87502" y="274117"/>
                  <a:pt x="76144" y="285475"/>
                  <a:pt x="76144" y="299498"/>
                </a:cubicBezTo>
                <a:cubicBezTo>
                  <a:pt x="76144" y="313521"/>
                  <a:pt x="87502" y="324879"/>
                  <a:pt x="101525" y="324879"/>
                </a:cubicBezTo>
                <a:close/>
              </a:path>
            </a:pathLst>
          </a:custGeom>
          <a:solidFill>
            <a:srgbClr val="F1FAEE"/>
          </a:solidFill>
          <a:ln/>
        </p:spPr>
      </p:sp>
      <p:sp>
        <p:nvSpPr>
          <p:cNvPr id="18" name="Text 16"/>
          <p:cNvSpPr/>
          <p:nvPr/>
        </p:nvSpPr>
        <p:spPr>
          <a:xfrm>
            <a:off x="3326629" y="3663917"/>
            <a:ext cx="929516" cy="180489"/>
          </a:xfrm>
          <a:prstGeom prst="rect">
            <a:avLst/>
          </a:prstGeom>
          <a:noFill/>
          <a:ln/>
        </p:spPr>
        <p:txBody>
          <a:bodyPr wrap="square" lIns="0" tIns="0" rIns="0" bIns="0" rtlCol="0" anchor="ctr"/>
          <a:lstStyle/>
          <a:p>
            <a:pPr algn="ctr">
              <a:lnSpc>
                <a:spcPct val="120000"/>
              </a:lnSpc>
            </a:pPr>
            <a:r>
              <a:rPr lang="en-US" sz="995" b="1" dirty="0">
                <a:solidFill>
                  <a:srgbClr val="F1FAEE"/>
                </a:solidFill>
                <a:latin typeface="Liter" pitchFamily="34" charset="0"/>
                <a:ea typeface="Liter" pitchFamily="34" charset="-122"/>
                <a:cs typeface="Liter" pitchFamily="34" charset="-120"/>
              </a:rPr>
              <a:t>???</a:t>
            </a:r>
            <a:endParaRPr lang="en-US" sz="1600" dirty="0"/>
          </a:p>
        </p:txBody>
      </p:sp>
      <p:sp>
        <p:nvSpPr>
          <p:cNvPr id="19" name="Text 17"/>
          <p:cNvSpPr/>
          <p:nvPr/>
        </p:nvSpPr>
        <p:spPr>
          <a:xfrm>
            <a:off x="3331141" y="3844406"/>
            <a:ext cx="920491" cy="144391"/>
          </a:xfrm>
          <a:prstGeom prst="rect">
            <a:avLst/>
          </a:prstGeom>
          <a:noFill/>
          <a:ln/>
        </p:spPr>
        <p:txBody>
          <a:bodyPr wrap="square" lIns="0" tIns="0" rIns="0" bIns="0" rtlCol="0" anchor="ctr"/>
          <a:lstStyle/>
          <a:p>
            <a:pPr algn="ctr">
              <a:lnSpc>
                <a:spcPct val="110000"/>
              </a:lnSpc>
            </a:pPr>
            <a:r>
              <a:rPr lang="en-US" sz="853" dirty="0">
                <a:solidFill>
                  <a:srgbClr val="FF6B6B"/>
                </a:solidFill>
                <a:latin typeface="Liter" pitchFamily="34" charset="0"/>
                <a:ea typeface="Liter" pitchFamily="34" charset="-122"/>
                <a:cs typeface="Liter" pitchFamily="34" charset="-120"/>
              </a:rPr>
              <a:t>Hidden Process</a:t>
            </a:r>
            <a:endParaRPr lang="en-US" sz="1600" dirty="0"/>
          </a:p>
        </p:txBody>
      </p:sp>
      <p:sp>
        <p:nvSpPr>
          <p:cNvPr id="20" name="Shape 18"/>
          <p:cNvSpPr/>
          <p:nvPr/>
        </p:nvSpPr>
        <p:spPr>
          <a:xfrm>
            <a:off x="4477244" y="3221610"/>
            <a:ext cx="270733" cy="270733"/>
          </a:xfrm>
          <a:custGeom>
            <a:avLst/>
            <a:gdLst/>
            <a:ahLst/>
            <a:cxnLst/>
            <a:rect l="l" t="t" r="r" b="b"/>
            <a:pathLst>
              <a:path w="270733" h="270733">
                <a:moveTo>
                  <a:pt x="265762" y="147317"/>
                </a:moveTo>
                <a:cubicBezTo>
                  <a:pt x="272372" y="140707"/>
                  <a:pt x="272372" y="129973"/>
                  <a:pt x="265762" y="123363"/>
                </a:cubicBezTo>
                <a:lnTo>
                  <a:pt x="181158" y="38759"/>
                </a:lnTo>
                <a:cubicBezTo>
                  <a:pt x="174549" y="32150"/>
                  <a:pt x="163814" y="32150"/>
                  <a:pt x="157205" y="38759"/>
                </a:cubicBezTo>
                <a:cubicBezTo>
                  <a:pt x="150595" y="45369"/>
                  <a:pt x="150595" y="56103"/>
                  <a:pt x="157205" y="62713"/>
                </a:cubicBezTo>
                <a:lnTo>
                  <a:pt x="212938" y="118446"/>
                </a:lnTo>
                <a:lnTo>
                  <a:pt x="16921" y="118446"/>
                </a:lnTo>
                <a:cubicBezTo>
                  <a:pt x="7561" y="118446"/>
                  <a:pt x="0" y="126007"/>
                  <a:pt x="0" y="135366"/>
                </a:cubicBezTo>
                <a:cubicBezTo>
                  <a:pt x="0" y="144726"/>
                  <a:pt x="7561" y="152287"/>
                  <a:pt x="16921" y="152287"/>
                </a:cubicBezTo>
                <a:lnTo>
                  <a:pt x="212938" y="152287"/>
                </a:lnTo>
                <a:lnTo>
                  <a:pt x="157205" y="208020"/>
                </a:lnTo>
                <a:cubicBezTo>
                  <a:pt x="150595" y="214630"/>
                  <a:pt x="150595" y="225364"/>
                  <a:pt x="157205" y="231974"/>
                </a:cubicBezTo>
                <a:cubicBezTo>
                  <a:pt x="163814" y="238583"/>
                  <a:pt x="174549" y="238583"/>
                  <a:pt x="181158" y="231974"/>
                </a:cubicBezTo>
                <a:lnTo>
                  <a:pt x="265762" y="147370"/>
                </a:lnTo>
                <a:close/>
              </a:path>
            </a:pathLst>
          </a:custGeom>
          <a:solidFill>
            <a:srgbClr val="5C677D"/>
          </a:solidFill>
          <a:ln/>
        </p:spPr>
      </p:sp>
      <p:sp>
        <p:nvSpPr>
          <p:cNvPr id="21" name="Shape 19"/>
          <p:cNvSpPr/>
          <p:nvPr/>
        </p:nvSpPr>
        <p:spPr>
          <a:xfrm>
            <a:off x="5003368" y="2732596"/>
            <a:ext cx="853711" cy="853711"/>
          </a:xfrm>
          <a:prstGeom prst="roundRect">
            <a:avLst>
              <a:gd name="adj" fmla="val 8457"/>
            </a:avLst>
          </a:prstGeom>
          <a:solidFill>
            <a:srgbClr val="000000">
              <a:alpha val="0"/>
            </a:srgbClr>
          </a:solidFill>
          <a:ln w="20320">
            <a:solidFill>
              <a:srgbClr val="00B4D8"/>
            </a:solidFill>
            <a:prstDash val="solid"/>
          </a:ln>
        </p:spPr>
      </p:sp>
      <p:sp>
        <p:nvSpPr>
          <p:cNvPr id="22" name="Shape 20"/>
          <p:cNvSpPr/>
          <p:nvPr/>
        </p:nvSpPr>
        <p:spPr>
          <a:xfrm>
            <a:off x="5266881" y="2996110"/>
            <a:ext cx="324879" cy="324879"/>
          </a:xfrm>
          <a:custGeom>
            <a:avLst/>
            <a:gdLst/>
            <a:ahLst/>
            <a:cxnLst/>
            <a:rect l="l" t="t" r="r" b="b"/>
            <a:pathLst>
              <a:path w="324879" h="324879">
                <a:moveTo>
                  <a:pt x="20622" y="60915"/>
                </a:moveTo>
                <a:lnTo>
                  <a:pt x="20622" y="155777"/>
                </a:lnTo>
                <a:cubicBezTo>
                  <a:pt x="20622" y="166564"/>
                  <a:pt x="24874" y="176907"/>
                  <a:pt x="32488" y="184521"/>
                </a:cubicBezTo>
                <a:lnTo>
                  <a:pt x="154318" y="306351"/>
                </a:lnTo>
                <a:cubicBezTo>
                  <a:pt x="170181" y="322214"/>
                  <a:pt x="195879" y="322214"/>
                  <a:pt x="211743" y="306351"/>
                </a:cubicBezTo>
                <a:lnTo>
                  <a:pt x="306605" y="211489"/>
                </a:lnTo>
                <a:cubicBezTo>
                  <a:pt x="322468" y="195626"/>
                  <a:pt x="322468" y="169927"/>
                  <a:pt x="306605" y="154064"/>
                </a:cubicBezTo>
                <a:lnTo>
                  <a:pt x="184775" y="32234"/>
                </a:lnTo>
                <a:cubicBezTo>
                  <a:pt x="177161" y="24556"/>
                  <a:pt x="166881" y="20305"/>
                  <a:pt x="156094" y="20305"/>
                </a:cubicBezTo>
                <a:lnTo>
                  <a:pt x="61232" y="20305"/>
                </a:lnTo>
                <a:cubicBezTo>
                  <a:pt x="38833" y="20305"/>
                  <a:pt x="20622" y="38516"/>
                  <a:pt x="20622" y="60915"/>
                </a:cubicBezTo>
                <a:close/>
                <a:moveTo>
                  <a:pt x="91690" y="71067"/>
                </a:moveTo>
                <a:cubicBezTo>
                  <a:pt x="102896" y="71067"/>
                  <a:pt x="111995" y="80166"/>
                  <a:pt x="111995" y="91372"/>
                </a:cubicBezTo>
                <a:cubicBezTo>
                  <a:pt x="111995" y="102579"/>
                  <a:pt x="102896" y="111677"/>
                  <a:pt x="91690" y="111677"/>
                </a:cubicBezTo>
                <a:cubicBezTo>
                  <a:pt x="80483" y="111677"/>
                  <a:pt x="71385" y="102579"/>
                  <a:pt x="71385" y="91372"/>
                </a:cubicBezTo>
                <a:cubicBezTo>
                  <a:pt x="71385" y="80166"/>
                  <a:pt x="80483" y="71067"/>
                  <a:pt x="91690" y="71067"/>
                </a:cubicBezTo>
                <a:close/>
              </a:path>
            </a:pathLst>
          </a:custGeom>
          <a:solidFill>
            <a:srgbClr val="00B4D8"/>
          </a:solidFill>
          <a:ln/>
        </p:spPr>
      </p:sp>
      <p:sp>
        <p:nvSpPr>
          <p:cNvPr id="23" name="Text 21"/>
          <p:cNvSpPr/>
          <p:nvPr/>
        </p:nvSpPr>
        <p:spPr>
          <a:xfrm>
            <a:off x="4964563" y="3663917"/>
            <a:ext cx="929516" cy="180489"/>
          </a:xfrm>
          <a:prstGeom prst="rect">
            <a:avLst/>
          </a:prstGeom>
          <a:noFill/>
          <a:ln/>
        </p:spPr>
        <p:txBody>
          <a:bodyPr wrap="square" lIns="0" tIns="0" rIns="0" bIns="0" rtlCol="0" anchor="ctr"/>
          <a:lstStyle/>
          <a:p>
            <a:pPr algn="ctr">
              <a:lnSpc>
                <a:spcPct val="120000"/>
              </a:lnSpc>
            </a:pPr>
            <a:r>
              <a:rPr lang="en-US" sz="995" b="1" dirty="0">
                <a:solidFill>
                  <a:srgbClr val="F1FAEE"/>
                </a:solidFill>
                <a:latin typeface="Liter" pitchFamily="34" charset="0"/>
                <a:ea typeface="Liter" pitchFamily="34" charset="-122"/>
                <a:cs typeface="Liter" pitchFamily="34" charset="-120"/>
              </a:rPr>
              <a:t>"CNV"</a:t>
            </a:r>
            <a:endParaRPr lang="en-US" sz="1600" dirty="0"/>
          </a:p>
        </p:txBody>
      </p:sp>
      <p:sp>
        <p:nvSpPr>
          <p:cNvPr id="24" name="Text 22"/>
          <p:cNvSpPr/>
          <p:nvPr/>
        </p:nvSpPr>
        <p:spPr>
          <a:xfrm>
            <a:off x="4969075" y="3844406"/>
            <a:ext cx="920491" cy="144391"/>
          </a:xfrm>
          <a:prstGeom prst="rect">
            <a:avLst/>
          </a:prstGeom>
          <a:noFill/>
          <a:ln/>
        </p:spPr>
        <p:txBody>
          <a:bodyPr wrap="square" lIns="0" tIns="0" rIns="0" bIns="0" rtlCol="0" anchor="ctr"/>
          <a:lstStyle/>
          <a:p>
            <a:pPr algn="ctr">
              <a:lnSpc>
                <a:spcPct val="110000"/>
              </a:lnSpc>
            </a:pPr>
            <a:r>
              <a:rPr lang="en-US" sz="853" dirty="0">
                <a:solidFill>
                  <a:srgbClr val="5C677D"/>
                </a:solidFill>
                <a:latin typeface="Liter" pitchFamily="34" charset="0"/>
                <a:ea typeface="Liter" pitchFamily="34" charset="-122"/>
                <a:cs typeface="Liter" pitchFamily="34" charset="-120"/>
              </a:rPr>
              <a:t>Prediction</a:t>
            </a:r>
            <a:endParaRPr lang="en-US" sz="1600" dirty="0"/>
          </a:p>
        </p:txBody>
      </p:sp>
      <p:sp>
        <p:nvSpPr>
          <p:cNvPr id="25" name="Shape 23"/>
          <p:cNvSpPr/>
          <p:nvPr/>
        </p:nvSpPr>
        <p:spPr>
          <a:xfrm>
            <a:off x="2597794" y="4125855"/>
            <a:ext cx="126342" cy="126342"/>
          </a:xfrm>
          <a:custGeom>
            <a:avLst/>
            <a:gdLst/>
            <a:ahLst/>
            <a:cxnLst/>
            <a:rect l="l" t="t" r="r" b="b"/>
            <a:pathLst>
              <a:path w="126342" h="126342">
                <a:moveTo>
                  <a:pt x="63171" y="0"/>
                </a:moveTo>
                <a:cubicBezTo>
                  <a:pt x="66798" y="0"/>
                  <a:pt x="70130" y="1999"/>
                  <a:pt x="71857" y="5182"/>
                </a:cubicBezTo>
                <a:lnTo>
                  <a:pt x="125158" y="103887"/>
                </a:lnTo>
                <a:cubicBezTo>
                  <a:pt x="126811" y="106947"/>
                  <a:pt x="126737" y="110648"/>
                  <a:pt x="124960" y="113634"/>
                </a:cubicBezTo>
                <a:cubicBezTo>
                  <a:pt x="123183" y="116620"/>
                  <a:pt x="119951" y="118446"/>
                  <a:pt x="116472" y="118446"/>
                </a:cubicBezTo>
                <a:lnTo>
                  <a:pt x="9870" y="118446"/>
                </a:lnTo>
                <a:cubicBezTo>
                  <a:pt x="6391" y="118446"/>
                  <a:pt x="3183" y="116620"/>
                  <a:pt x="1382" y="113634"/>
                </a:cubicBezTo>
                <a:cubicBezTo>
                  <a:pt x="-419" y="110648"/>
                  <a:pt x="-469" y="106947"/>
                  <a:pt x="1184" y="103887"/>
                </a:cubicBezTo>
                <a:lnTo>
                  <a:pt x="54485" y="5182"/>
                </a:lnTo>
                <a:cubicBezTo>
                  <a:pt x="56212" y="1999"/>
                  <a:pt x="59544" y="0"/>
                  <a:pt x="63171" y="0"/>
                </a:cubicBezTo>
                <a:close/>
                <a:moveTo>
                  <a:pt x="63171" y="41456"/>
                </a:moveTo>
                <a:cubicBezTo>
                  <a:pt x="59889" y="41456"/>
                  <a:pt x="57249" y="44096"/>
                  <a:pt x="57249" y="47378"/>
                </a:cubicBezTo>
                <a:lnTo>
                  <a:pt x="57249" y="75016"/>
                </a:lnTo>
                <a:cubicBezTo>
                  <a:pt x="57249" y="78297"/>
                  <a:pt x="59889" y="80938"/>
                  <a:pt x="63171" y="80938"/>
                </a:cubicBezTo>
                <a:cubicBezTo>
                  <a:pt x="66453" y="80938"/>
                  <a:pt x="69093" y="78297"/>
                  <a:pt x="69093" y="75016"/>
                </a:cubicBezTo>
                <a:lnTo>
                  <a:pt x="69093" y="47378"/>
                </a:lnTo>
                <a:cubicBezTo>
                  <a:pt x="69093" y="44096"/>
                  <a:pt x="66453" y="41456"/>
                  <a:pt x="63171" y="41456"/>
                </a:cubicBezTo>
                <a:close/>
                <a:moveTo>
                  <a:pt x="69760" y="94756"/>
                </a:moveTo>
                <a:cubicBezTo>
                  <a:pt x="69909" y="92311"/>
                  <a:pt x="68690" y="89984"/>
                  <a:pt x="66593" y="88716"/>
                </a:cubicBezTo>
                <a:cubicBezTo>
                  <a:pt x="64497" y="87448"/>
                  <a:pt x="61870" y="87448"/>
                  <a:pt x="59773" y="88716"/>
                </a:cubicBezTo>
                <a:cubicBezTo>
                  <a:pt x="57677" y="89984"/>
                  <a:pt x="56457" y="92311"/>
                  <a:pt x="56607" y="94756"/>
                </a:cubicBezTo>
                <a:cubicBezTo>
                  <a:pt x="56457" y="97202"/>
                  <a:pt x="57677" y="99529"/>
                  <a:pt x="59773" y="100797"/>
                </a:cubicBezTo>
                <a:cubicBezTo>
                  <a:pt x="61870" y="102065"/>
                  <a:pt x="64497" y="102065"/>
                  <a:pt x="66593" y="100797"/>
                </a:cubicBezTo>
                <a:cubicBezTo>
                  <a:pt x="68690" y="99529"/>
                  <a:pt x="69909" y="97202"/>
                  <a:pt x="69760" y="94756"/>
                </a:cubicBezTo>
                <a:close/>
              </a:path>
            </a:pathLst>
          </a:custGeom>
          <a:solidFill>
            <a:srgbClr val="FF6B6B"/>
          </a:solidFill>
          <a:ln/>
        </p:spPr>
      </p:sp>
      <p:sp>
        <p:nvSpPr>
          <p:cNvPr id="26" name="Text 24"/>
          <p:cNvSpPr/>
          <p:nvPr/>
        </p:nvSpPr>
        <p:spPr>
          <a:xfrm>
            <a:off x="806263" y="4096979"/>
            <a:ext cx="6156082" cy="180489"/>
          </a:xfrm>
          <a:prstGeom prst="rect">
            <a:avLst/>
          </a:prstGeom>
          <a:noFill/>
          <a:ln/>
        </p:spPr>
        <p:txBody>
          <a:bodyPr wrap="square" lIns="0" tIns="0" rIns="0" bIns="0" rtlCol="0" anchor="ctr"/>
          <a:lstStyle/>
          <a:p>
            <a:pPr algn="ctr">
              <a:lnSpc>
                <a:spcPct val="120000"/>
              </a:lnSpc>
            </a:pPr>
            <a:r>
              <a:rPr lang="en-US" sz="995" b="1" dirty="0">
                <a:solidFill>
                  <a:srgbClr val="FF6B6B"/>
                </a:solidFill>
                <a:latin typeface="Liter" pitchFamily="34" charset="0"/>
                <a:ea typeface="Liter" pitchFamily="34" charset="-122"/>
                <a:cs typeface="Liter" pitchFamily="34" charset="-120"/>
              </a:rPr>
              <a:t>Deep learning behaves like a "black box"</a:t>
            </a:r>
            <a:endParaRPr lang="en-US" sz="1600" dirty="0"/>
          </a:p>
        </p:txBody>
      </p:sp>
      <p:sp>
        <p:nvSpPr>
          <p:cNvPr id="27" name="Shape 25"/>
          <p:cNvSpPr/>
          <p:nvPr/>
        </p:nvSpPr>
        <p:spPr>
          <a:xfrm>
            <a:off x="364587" y="4678152"/>
            <a:ext cx="3337233" cy="1523323"/>
          </a:xfrm>
          <a:prstGeom prst="roundRect">
            <a:avLst>
              <a:gd name="adj" fmla="val 4739"/>
            </a:avLst>
          </a:prstGeom>
          <a:solidFill>
            <a:srgbClr val="112240"/>
          </a:solidFill>
          <a:ln w="10160">
            <a:solidFill>
              <a:srgbClr val="3A86FF"/>
            </a:solidFill>
            <a:prstDash val="solid"/>
          </a:ln>
        </p:spPr>
      </p:sp>
      <p:sp>
        <p:nvSpPr>
          <p:cNvPr id="28" name="Text 26"/>
          <p:cNvSpPr/>
          <p:nvPr/>
        </p:nvSpPr>
        <p:spPr>
          <a:xfrm>
            <a:off x="512587" y="4826151"/>
            <a:ext cx="3113427" cy="216586"/>
          </a:xfrm>
          <a:prstGeom prst="rect">
            <a:avLst/>
          </a:prstGeom>
          <a:noFill/>
          <a:ln/>
        </p:spPr>
        <p:txBody>
          <a:bodyPr wrap="square" lIns="0" tIns="0" rIns="0" bIns="0" rtlCol="0" anchor="ctr"/>
          <a:lstStyle/>
          <a:p>
            <a:pPr>
              <a:lnSpc>
                <a:spcPct val="130000"/>
              </a:lnSpc>
            </a:pPr>
            <a:r>
              <a:rPr lang="en-US" sz="1137" b="1" dirty="0">
                <a:solidFill>
                  <a:srgbClr val="3A86FF"/>
                </a:solidFill>
                <a:latin typeface="Liter" pitchFamily="34" charset="0"/>
                <a:ea typeface="Liter" pitchFamily="34" charset="-122"/>
                <a:cs typeface="Liter" pitchFamily="34" charset="-120"/>
              </a:rPr>
              <a:t>Key Issues</a:t>
            </a:r>
            <a:endParaRPr lang="en-US" sz="1600" dirty="0"/>
          </a:p>
        </p:txBody>
      </p:sp>
      <p:sp>
        <p:nvSpPr>
          <p:cNvPr id="29" name="Shape 27"/>
          <p:cNvSpPr/>
          <p:nvPr/>
        </p:nvSpPr>
        <p:spPr>
          <a:xfrm>
            <a:off x="546429" y="5151031"/>
            <a:ext cx="94756" cy="126342"/>
          </a:xfrm>
          <a:custGeom>
            <a:avLst/>
            <a:gdLst/>
            <a:ahLst/>
            <a:cxnLst/>
            <a:rect l="l" t="t" r="r" b="b"/>
            <a:pathLst>
              <a:path w="94756" h="126342">
                <a:moveTo>
                  <a:pt x="13597" y="18112"/>
                </a:moveTo>
                <a:cubicBezTo>
                  <a:pt x="10512" y="15028"/>
                  <a:pt x="5503" y="15028"/>
                  <a:pt x="2418" y="18112"/>
                </a:cubicBezTo>
                <a:cubicBezTo>
                  <a:pt x="-666" y="21197"/>
                  <a:pt x="-666" y="26206"/>
                  <a:pt x="2418" y="29291"/>
                </a:cubicBezTo>
                <a:lnTo>
                  <a:pt x="36323" y="63171"/>
                </a:lnTo>
                <a:lnTo>
                  <a:pt x="2443" y="97076"/>
                </a:lnTo>
                <a:cubicBezTo>
                  <a:pt x="-642" y="100161"/>
                  <a:pt x="-642" y="105170"/>
                  <a:pt x="2443" y="108254"/>
                </a:cubicBezTo>
                <a:cubicBezTo>
                  <a:pt x="5527" y="111339"/>
                  <a:pt x="10537" y="111339"/>
                  <a:pt x="13621" y="108254"/>
                </a:cubicBezTo>
                <a:lnTo>
                  <a:pt x="47502" y="74349"/>
                </a:lnTo>
                <a:lnTo>
                  <a:pt x="81407" y="108230"/>
                </a:lnTo>
                <a:cubicBezTo>
                  <a:pt x="84491" y="111314"/>
                  <a:pt x="89500" y="111314"/>
                  <a:pt x="92585" y="108230"/>
                </a:cubicBezTo>
                <a:cubicBezTo>
                  <a:pt x="95669" y="105145"/>
                  <a:pt x="95669" y="100136"/>
                  <a:pt x="92585" y="97051"/>
                </a:cubicBezTo>
                <a:lnTo>
                  <a:pt x="58680" y="63171"/>
                </a:lnTo>
                <a:lnTo>
                  <a:pt x="92560" y="29266"/>
                </a:lnTo>
                <a:cubicBezTo>
                  <a:pt x="95645" y="26181"/>
                  <a:pt x="95645" y="21172"/>
                  <a:pt x="92560" y="18088"/>
                </a:cubicBezTo>
                <a:cubicBezTo>
                  <a:pt x="89476" y="15003"/>
                  <a:pt x="84467" y="15003"/>
                  <a:pt x="81382" y="18088"/>
                </a:cubicBezTo>
                <a:lnTo>
                  <a:pt x="47502" y="51993"/>
                </a:lnTo>
                <a:lnTo>
                  <a:pt x="13597" y="18112"/>
                </a:lnTo>
                <a:close/>
              </a:path>
            </a:pathLst>
          </a:custGeom>
          <a:solidFill>
            <a:srgbClr val="FF6B6B"/>
          </a:solidFill>
          <a:ln/>
        </p:spPr>
      </p:sp>
      <p:sp>
        <p:nvSpPr>
          <p:cNvPr id="30" name="Text 28"/>
          <p:cNvSpPr/>
          <p:nvPr/>
        </p:nvSpPr>
        <p:spPr>
          <a:xfrm>
            <a:off x="742710" y="5114933"/>
            <a:ext cx="1317566" cy="180489"/>
          </a:xfrm>
          <a:prstGeom prst="rect">
            <a:avLst/>
          </a:prstGeom>
          <a:noFill/>
          <a:ln/>
        </p:spPr>
        <p:txBody>
          <a:bodyPr wrap="square" lIns="0" tIns="0" rIns="0" bIns="0" rtlCol="0" anchor="ctr"/>
          <a:lstStyle/>
          <a:p>
            <a:pPr>
              <a:lnSpc>
                <a:spcPct val="120000"/>
              </a:lnSpc>
            </a:pPr>
            <a:r>
              <a:rPr lang="en-US" sz="995" dirty="0">
                <a:solidFill>
                  <a:srgbClr val="F1FAEE"/>
                </a:solidFill>
                <a:latin typeface="Liter" pitchFamily="34" charset="0"/>
                <a:ea typeface="Liter" pitchFamily="34" charset="-122"/>
                <a:cs typeface="Liter" pitchFamily="34" charset="-120"/>
              </a:rPr>
              <a:t>No reasoning provided</a:t>
            </a:r>
            <a:endParaRPr lang="en-US" sz="1600" dirty="0"/>
          </a:p>
        </p:txBody>
      </p:sp>
      <p:sp>
        <p:nvSpPr>
          <p:cNvPr id="31" name="Shape 29"/>
          <p:cNvSpPr/>
          <p:nvPr/>
        </p:nvSpPr>
        <p:spPr>
          <a:xfrm>
            <a:off x="546429" y="5403715"/>
            <a:ext cx="94756" cy="126342"/>
          </a:xfrm>
          <a:custGeom>
            <a:avLst/>
            <a:gdLst/>
            <a:ahLst/>
            <a:cxnLst/>
            <a:rect l="l" t="t" r="r" b="b"/>
            <a:pathLst>
              <a:path w="94756" h="126342">
                <a:moveTo>
                  <a:pt x="13597" y="18112"/>
                </a:moveTo>
                <a:cubicBezTo>
                  <a:pt x="10512" y="15028"/>
                  <a:pt x="5503" y="15028"/>
                  <a:pt x="2418" y="18112"/>
                </a:cubicBezTo>
                <a:cubicBezTo>
                  <a:pt x="-666" y="21197"/>
                  <a:pt x="-666" y="26206"/>
                  <a:pt x="2418" y="29291"/>
                </a:cubicBezTo>
                <a:lnTo>
                  <a:pt x="36323" y="63171"/>
                </a:lnTo>
                <a:lnTo>
                  <a:pt x="2443" y="97076"/>
                </a:lnTo>
                <a:cubicBezTo>
                  <a:pt x="-642" y="100161"/>
                  <a:pt x="-642" y="105170"/>
                  <a:pt x="2443" y="108254"/>
                </a:cubicBezTo>
                <a:cubicBezTo>
                  <a:pt x="5527" y="111339"/>
                  <a:pt x="10537" y="111339"/>
                  <a:pt x="13621" y="108254"/>
                </a:cubicBezTo>
                <a:lnTo>
                  <a:pt x="47502" y="74349"/>
                </a:lnTo>
                <a:lnTo>
                  <a:pt x="81407" y="108230"/>
                </a:lnTo>
                <a:cubicBezTo>
                  <a:pt x="84491" y="111314"/>
                  <a:pt x="89500" y="111314"/>
                  <a:pt x="92585" y="108230"/>
                </a:cubicBezTo>
                <a:cubicBezTo>
                  <a:pt x="95669" y="105145"/>
                  <a:pt x="95669" y="100136"/>
                  <a:pt x="92585" y="97051"/>
                </a:cubicBezTo>
                <a:lnTo>
                  <a:pt x="58680" y="63171"/>
                </a:lnTo>
                <a:lnTo>
                  <a:pt x="92560" y="29266"/>
                </a:lnTo>
                <a:cubicBezTo>
                  <a:pt x="95645" y="26181"/>
                  <a:pt x="95645" y="21172"/>
                  <a:pt x="92560" y="18088"/>
                </a:cubicBezTo>
                <a:cubicBezTo>
                  <a:pt x="89476" y="15003"/>
                  <a:pt x="84467" y="15003"/>
                  <a:pt x="81382" y="18088"/>
                </a:cubicBezTo>
                <a:lnTo>
                  <a:pt x="47502" y="51993"/>
                </a:lnTo>
                <a:lnTo>
                  <a:pt x="13597" y="18112"/>
                </a:lnTo>
                <a:close/>
              </a:path>
            </a:pathLst>
          </a:custGeom>
          <a:solidFill>
            <a:srgbClr val="FF6B6B"/>
          </a:solidFill>
          <a:ln/>
        </p:spPr>
      </p:sp>
      <p:sp>
        <p:nvSpPr>
          <p:cNvPr id="32" name="Text 30"/>
          <p:cNvSpPr/>
          <p:nvPr/>
        </p:nvSpPr>
        <p:spPr>
          <a:xfrm>
            <a:off x="742710" y="5367617"/>
            <a:ext cx="1317566" cy="180489"/>
          </a:xfrm>
          <a:prstGeom prst="rect">
            <a:avLst/>
          </a:prstGeom>
          <a:noFill/>
          <a:ln/>
        </p:spPr>
        <p:txBody>
          <a:bodyPr wrap="square" lIns="0" tIns="0" rIns="0" bIns="0" rtlCol="0" anchor="ctr"/>
          <a:lstStyle/>
          <a:p>
            <a:pPr>
              <a:lnSpc>
                <a:spcPct val="120000"/>
              </a:lnSpc>
            </a:pPr>
            <a:r>
              <a:rPr lang="en-US" sz="995" dirty="0">
                <a:solidFill>
                  <a:srgbClr val="F1FAEE"/>
                </a:solidFill>
                <a:latin typeface="Liter" pitchFamily="34" charset="0"/>
                <a:ea typeface="Liter" pitchFamily="34" charset="-122"/>
                <a:cs typeface="Liter" pitchFamily="34" charset="-120"/>
              </a:rPr>
              <a:t>Hidden decision layers</a:t>
            </a:r>
            <a:endParaRPr lang="en-US" sz="1600" dirty="0"/>
          </a:p>
        </p:txBody>
      </p:sp>
      <p:sp>
        <p:nvSpPr>
          <p:cNvPr id="33" name="Shape 31"/>
          <p:cNvSpPr/>
          <p:nvPr/>
        </p:nvSpPr>
        <p:spPr>
          <a:xfrm>
            <a:off x="546429" y="5656399"/>
            <a:ext cx="94756" cy="126342"/>
          </a:xfrm>
          <a:custGeom>
            <a:avLst/>
            <a:gdLst/>
            <a:ahLst/>
            <a:cxnLst/>
            <a:rect l="l" t="t" r="r" b="b"/>
            <a:pathLst>
              <a:path w="94756" h="126342">
                <a:moveTo>
                  <a:pt x="13597" y="18112"/>
                </a:moveTo>
                <a:cubicBezTo>
                  <a:pt x="10512" y="15028"/>
                  <a:pt x="5503" y="15028"/>
                  <a:pt x="2418" y="18112"/>
                </a:cubicBezTo>
                <a:cubicBezTo>
                  <a:pt x="-666" y="21197"/>
                  <a:pt x="-666" y="26206"/>
                  <a:pt x="2418" y="29291"/>
                </a:cubicBezTo>
                <a:lnTo>
                  <a:pt x="36323" y="63171"/>
                </a:lnTo>
                <a:lnTo>
                  <a:pt x="2443" y="97076"/>
                </a:lnTo>
                <a:cubicBezTo>
                  <a:pt x="-642" y="100161"/>
                  <a:pt x="-642" y="105170"/>
                  <a:pt x="2443" y="108254"/>
                </a:cubicBezTo>
                <a:cubicBezTo>
                  <a:pt x="5527" y="111339"/>
                  <a:pt x="10537" y="111339"/>
                  <a:pt x="13621" y="108254"/>
                </a:cubicBezTo>
                <a:lnTo>
                  <a:pt x="47502" y="74349"/>
                </a:lnTo>
                <a:lnTo>
                  <a:pt x="81407" y="108230"/>
                </a:lnTo>
                <a:cubicBezTo>
                  <a:pt x="84491" y="111314"/>
                  <a:pt x="89500" y="111314"/>
                  <a:pt x="92585" y="108230"/>
                </a:cubicBezTo>
                <a:cubicBezTo>
                  <a:pt x="95669" y="105145"/>
                  <a:pt x="95669" y="100136"/>
                  <a:pt x="92585" y="97051"/>
                </a:cubicBezTo>
                <a:lnTo>
                  <a:pt x="58680" y="63171"/>
                </a:lnTo>
                <a:lnTo>
                  <a:pt x="92560" y="29266"/>
                </a:lnTo>
                <a:cubicBezTo>
                  <a:pt x="95645" y="26181"/>
                  <a:pt x="95645" y="21172"/>
                  <a:pt x="92560" y="18088"/>
                </a:cubicBezTo>
                <a:cubicBezTo>
                  <a:pt x="89476" y="15003"/>
                  <a:pt x="84467" y="15003"/>
                  <a:pt x="81382" y="18088"/>
                </a:cubicBezTo>
                <a:lnTo>
                  <a:pt x="47502" y="51993"/>
                </a:lnTo>
                <a:lnTo>
                  <a:pt x="13597" y="18112"/>
                </a:lnTo>
                <a:close/>
              </a:path>
            </a:pathLst>
          </a:custGeom>
          <a:solidFill>
            <a:srgbClr val="FF6B6B"/>
          </a:solidFill>
          <a:ln/>
        </p:spPr>
      </p:sp>
      <p:sp>
        <p:nvSpPr>
          <p:cNvPr id="34" name="Text 32"/>
          <p:cNvSpPr/>
          <p:nvPr/>
        </p:nvSpPr>
        <p:spPr>
          <a:xfrm>
            <a:off x="742710" y="5620301"/>
            <a:ext cx="1389762" cy="180489"/>
          </a:xfrm>
          <a:prstGeom prst="rect">
            <a:avLst/>
          </a:prstGeom>
          <a:noFill/>
          <a:ln/>
        </p:spPr>
        <p:txBody>
          <a:bodyPr wrap="square" lIns="0" tIns="0" rIns="0" bIns="0" rtlCol="0" anchor="ctr"/>
          <a:lstStyle/>
          <a:p>
            <a:pPr>
              <a:lnSpc>
                <a:spcPct val="120000"/>
              </a:lnSpc>
            </a:pPr>
            <a:r>
              <a:rPr lang="en-US" sz="995" dirty="0">
                <a:solidFill>
                  <a:srgbClr val="F1FAEE"/>
                </a:solidFill>
                <a:latin typeface="Liter" pitchFamily="34" charset="0"/>
                <a:ea typeface="Liter" pitchFamily="34" charset="-122"/>
                <a:cs typeface="Liter" pitchFamily="34" charset="-120"/>
              </a:rPr>
              <a:t>Unverifiable predictions</a:t>
            </a:r>
            <a:endParaRPr lang="en-US" sz="1600" dirty="0"/>
          </a:p>
        </p:txBody>
      </p:sp>
      <p:sp>
        <p:nvSpPr>
          <p:cNvPr id="35" name="Shape 33"/>
          <p:cNvSpPr/>
          <p:nvPr/>
        </p:nvSpPr>
        <p:spPr>
          <a:xfrm>
            <a:off x="546429" y="5909082"/>
            <a:ext cx="94756" cy="126342"/>
          </a:xfrm>
          <a:custGeom>
            <a:avLst/>
            <a:gdLst/>
            <a:ahLst/>
            <a:cxnLst/>
            <a:rect l="l" t="t" r="r" b="b"/>
            <a:pathLst>
              <a:path w="94756" h="126342">
                <a:moveTo>
                  <a:pt x="13597" y="18112"/>
                </a:moveTo>
                <a:cubicBezTo>
                  <a:pt x="10512" y="15028"/>
                  <a:pt x="5503" y="15028"/>
                  <a:pt x="2418" y="18112"/>
                </a:cubicBezTo>
                <a:cubicBezTo>
                  <a:pt x="-666" y="21197"/>
                  <a:pt x="-666" y="26206"/>
                  <a:pt x="2418" y="29291"/>
                </a:cubicBezTo>
                <a:lnTo>
                  <a:pt x="36323" y="63171"/>
                </a:lnTo>
                <a:lnTo>
                  <a:pt x="2443" y="97076"/>
                </a:lnTo>
                <a:cubicBezTo>
                  <a:pt x="-642" y="100161"/>
                  <a:pt x="-642" y="105170"/>
                  <a:pt x="2443" y="108254"/>
                </a:cubicBezTo>
                <a:cubicBezTo>
                  <a:pt x="5527" y="111339"/>
                  <a:pt x="10537" y="111339"/>
                  <a:pt x="13621" y="108254"/>
                </a:cubicBezTo>
                <a:lnTo>
                  <a:pt x="47502" y="74349"/>
                </a:lnTo>
                <a:lnTo>
                  <a:pt x="81407" y="108230"/>
                </a:lnTo>
                <a:cubicBezTo>
                  <a:pt x="84491" y="111314"/>
                  <a:pt x="89500" y="111314"/>
                  <a:pt x="92585" y="108230"/>
                </a:cubicBezTo>
                <a:cubicBezTo>
                  <a:pt x="95669" y="105145"/>
                  <a:pt x="95669" y="100136"/>
                  <a:pt x="92585" y="97051"/>
                </a:cubicBezTo>
                <a:lnTo>
                  <a:pt x="58680" y="63171"/>
                </a:lnTo>
                <a:lnTo>
                  <a:pt x="92560" y="29266"/>
                </a:lnTo>
                <a:cubicBezTo>
                  <a:pt x="95645" y="26181"/>
                  <a:pt x="95645" y="21172"/>
                  <a:pt x="92560" y="18088"/>
                </a:cubicBezTo>
                <a:cubicBezTo>
                  <a:pt x="89476" y="15003"/>
                  <a:pt x="84467" y="15003"/>
                  <a:pt x="81382" y="18088"/>
                </a:cubicBezTo>
                <a:lnTo>
                  <a:pt x="47502" y="51993"/>
                </a:lnTo>
                <a:lnTo>
                  <a:pt x="13597" y="18112"/>
                </a:lnTo>
                <a:close/>
              </a:path>
            </a:pathLst>
          </a:custGeom>
          <a:solidFill>
            <a:srgbClr val="FF6B6B"/>
          </a:solidFill>
          <a:ln/>
        </p:spPr>
      </p:sp>
      <p:sp>
        <p:nvSpPr>
          <p:cNvPr id="36" name="Text 34"/>
          <p:cNvSpPr/>
          <p:nvPr/>
        </p:nvSpPr>
        <p:spPr>
          <a:xfrm>
            <a:off x="742710" y="5872985"/>
            <a:ext cx="1164151" cy="180489"/>
          </a:xfrm>
          <a:prstGeom prst="rect">
            <a:avLst/>
          </a:prstGeom>
          <a:noFill/>
          <a:ln/>
        </p:spPr>
        <p:txBody>
          <a:bodyPr wrap="square" lIns="0" tIns="0" rIns="0" bIns="0" rtlCol="0" anchor="ctr"/>
          <a:lstStyle/>
          <a:p>
            <a:pPr>
              <a:lnSpc>
                <a:spcPct val="120000"/>
              </a:lnSpc>
            </a:pPr>
            <a:r>
              <a:rPr lang="en-US" sz="995" dirty="0">
                <a:solidFill>
                  <a:srgbClr val="F1FAEE"/>
                </a:solidFill>
                <a:latin typeface="Liter" pitchFamily="34" charset="0"/>
                <a:ea typeface="Liter" pitchFamily="34" charset="-122"/>
                <a:cs typeface="Liter" pitchFamily="34" charset="-120"/>
              </a:rPr>
              <a:t>Lack of clinical trust</a:t>
            </a:r>
            <a:endParaRPr lang="en-US" sz="1600" dirty="0"/>
          </a:p>
        </p:txBody>
      </p:sp>
      <p:sp>
        <p:nvSpPr>
          <p:cNvPr id="37" name="Shape 35"/>
          <p:cNvSpPr/>
          <p:nvPr/>
        </p:nvSpPr>
        <p:spPr>
          <a:xfrm>
            <a:off x="3849143" y="4678152"/>
            <a:ext cx="3337233" cy="1523323"/>
          </a:xfrm>
          <a:prstGeom prst="roundRect">
            <a:avLst>
              <a:gd name="adj" fmla="val 4739"/>
            </a:avLst>
          </a:prstGeom>
          <a:solidFill>
            <a:srgbClr val="112240"/>
          </a:solidFill>
          <a:ln w="10160">
            <a:solidFill>
              <a:srgbClr val="00B4D8"/>
            </a:solidFill>
            <a:prstDash val="solid"/>
          </a:ln>
        </p:spPr>
      </p:sp>
      <p:sp>
        <p:nvSpPr>
          <p:cNvPr id="38" name="Text 36"/>
          <p:cNvSpPr/>
          <p:nvPr/>
        </p:nvSpPr>
        <p:spPr>
          <a:xfrm>
            <a:off x="3997144" y="4826151"/>
            <a:ext cx="3113427" cy="216586"/>
          </a:xfrm>
          <a:prstGeom prst="rect">
            <a:avLst/>
          </a:prstGeom>
          <a:noFill/>
          <a:ln/>
        </p:spPr>
        <p:txBody>
          <a:bodyPr wrap="square" lIns="0" tIns="0" rIns="0" bIns="0" rtlCol="0" anchor="ctr"/>
          <a:lstStyle/>
          <a:p>
            <a:pPr>
              <a:lnSpc>
                <a:spcPct val="130000"/>
              </a:lnSpc>
            </a:pPr>
            <a:r>
              <a:rPr lang="en-US" sz="1137" b="1" dirty="0">
                <a:solidFill>
                  <a:srgbClr val="00B4D8"/>
                </a:solidFill>
                <a:latin typeface="Liter" pitchFamily="34" charset="0"/>
                <a:ea typeface="Liter" pitchFamily="34" charset="-122"/>
                <a:cs typeface="Liter" pitchFamily="34" charset="-120"/>
              </a:rPr>
              <a:t>Clinical Impact</a:t>
            </a:r>
            <a:endParaRPr lang="en-US" sz="1600" dirty="0"/>
          </a:p>
        </p:txBody>
      </p:sp>
      <p:sp>
        <p:nvSpPr>
          <p:cNvPr id="39" name="Shape 37"/>
          <p:cNvSpPr/>
          <p:nvPr/>
        </p:nvSpPr>
        <p:spPr>
          <a:xfrm>
            <a:off x="4023089" y="5151031"/>
            <a:ext cx="110549" cy="126342"/>
          </a:xfrm>
          <a:custGeom>
            <a:avLst/>
            <a:gdLst/>
            <a:ahLst/>
            <a:cxnLst/>
            <a:rect l="l" t="t" r="r" b="b"/>
            <a:pathLst>
              <a:path w="110549" h="126342">
                <a:moveTo>
                  <a:pt x="107292" y="17298"/>
                </a:moveTo>
                <a:cubicBezTo>
                  <a:pt x="110821" y="19864"/>
                  <a:pt x="111610" y="24800"/>
                  <a:pt x="109044" y="28328"/>
                </a:cubicBezTo>
                <a:lnTo>
                  <a:pt x="45873" y="115188"/>
                </a:lnTo>
                <a:cubicBezTo>
                  <a:pt x="44516" y="117064"/>
                  <a:pt x="42418" y="118224"/>
                  <a:pt x="40099" y="118421"/>
                </a:cubicBezTo>
                <a:cubicBezTo>
                  <a:pt x="37779" y="118618"/>
                  <a:pt x="35534" y="117755"/>
                  <a:pt x="33905" y="116126"/>
                </a:cubicBezTo>
                <a:lnTo>
                  <a:pt x="2320" y="84541"/>
                </a:lnTo>
                <a:cubicBezTo>
                  <a:pt x="-765" y="81456"/>
                  <a:pt x="-765" y="76447"/>
                  <a:pt x="2320" y="73362"/>
                </a:cubicBezTo>
                <a:cubicBezTo>
                  <a:pt x="5404" y="70278"/>
                  <a:pt x="10413" y="70278"/>
                  <a:pt x="13498" y="73362"/>
                </a:cubicBezTo>
                <a:lnTo>
                  <a:pt x="38544" y="98409"/>
                </a:lnTo>
                <a:lnTo>
                  <a:pt x="96286" y="19025"/>
                </a:lnTo>
                <a:cubicBezTo>
                  <a:pt x="98853" y="15497"/>
                  <a:pt x="103788" y="14707"/>
                  <a:pt x="107317" y="17273"/>
                </a:cubicBezTo>
                <a:close/>
              </a:path>
            </a:pathLst>
          </a:custGeom>
          <a:solidFill>
            <a:srgbClr val="00B4D8"/>
          </a:solidFill>
          <a:ln/>
        </p:spPr>
      </p:sp>
      <p:sp>
        <p:nvSpPr>
          <p:cNvPr id="40" name="Text 38"/>
          <p:cNvSpPr/>
          <p:nvPr/>
        </p:nvSpPr>
        <p:spPr>
          <a:xfrm>
            <a:off x="4227267" y="5114933"/>
            <a:ext cx="1362688" cy="180489"/>
          </a:xfrm>
          <a:prstGeom prst="rect">
            <a:avLst/>
          </a:prstGeom>
          <a:noFill/>
          <a:ln/>
        </p:spPr>
        <p:txBody>
          <a:bodyPr wrap="square" lIns="0" tIns="0" rIns="0" bIns="0" rtlCol="0" anchor="ctr"/>
          <a:lstStyle/>
          <a:p>
            <a:pPr>
              <a:lnSpc>
                <a:spcPct val="120000"/>
              </a:lnSpc>
            </a:pPr>
            <a:r>
              <a:rPr lang="en-US" sz="995" dirty="0">
                <a:solidFill>
                  <a:srgbClr val="F1FAEE"/>
                </a:solidFill>
                <a:latin typeface="Liter" pitchFamily="34" charset="0"/>
                <a:ea typeface="Liter" pitchFamily="34" charset="-122"/>
                <a:cs typeface="Liter" pitchFamily="34" charset="-120"/>
              </a:rPr>
              <a:t>Cannot verify diagnosis</a:t>
            </a:r>
            <a:endParaRPr lang="en-US" sz="1600" dirty="0"/>
          </a:p>
        </p:txBody>
      </p:sp>
      <p:sp>
        <p:nvSpPr>
          <p:cNvPr id="41" name="Shape 39"/>
          <p:cNvSpPr/>
          <p:nvPr/>
        </p:nvSpPr>
        <p:spPr>
          <a:xfrm>
            <a:off x="4023089" y="5403715"/>
            <a:ext cx="110549" cy="126342"/>
          </a:xfrm>
          <a:custGeom>
            <a:avLst/>
            <a:gdLst/>
            <a:ahLst/>
            <a:cxnLst/>
            <a:rect l="l" t="t" r="r" b="b"/>
            <a:pathLst>
              <a:path w="110549" h="126342">
                <a:moveTo>
                  <a:pt x="107292" y="17298"/>
                </a:moveTo>
                <a:cubicBezTo>
                  <a:pt x="110821" y="19864"/>
                  <a:pt x="111610" y="24800"/>
                  <a:pt x="109044" y="28328"/>
                </a:cubicBezTo>
                <a:lnTo>
                  <a:pt x="45873" y="115188"/>
                </a:lnTo>
                <a:cubicBezTo>
                  <a:pt x="44516" y="117064"/>
                  <a:pt x="42418" y="118224"/>
                  <a:pt x="40099" y="118421"/>
                </a:cubicBezTo>
                <a:cubicBezTo>
                  <a:pt x="37779" y="118618"/>
                  <a:pt x="35534" y="117755"/>
                  <a:pt x="33905" y="116126"/>
                </a:cubicBezTo>
                <a:lnTo>
                  <a:pt x="2320" y="84541"/>
                </a:lnTo>
                <a:cubicBezTo>
                  <a:pt x="-765" y="81456"/>
                  <a:pt x="-765" y="76447"/>
                  <a:pt x="2320" y="73362"/>
                </a:cubicBezTo>
                <a:cubicBezTo>
                  <a:pt x="5404" y="70278"/>
                  <a:pt x="10413" y="70278"/>
                  <a:pt x="13498" y="73362"/>
                </a:cubicBezTo>
                <a:lnTo>
                  <a:pt x="38544" y="98409"/>
                </a:lnTo>
                <a:lnTo>
                  <a:pt x="96286" y="19025"/>
                </a:lnTo>
                <a:cubicBezTo>
                  <a:pt x="98853" y="15497"/>
                  <a:pt x="103788" y="14707"/>
                  <a:pt x="107317" y="17273"/>
                </a:cubicBezTo>
                <a:close/>
              </a:path>
            </a:pathLst>
          </a:custGeom>
          <a:solidFill>
            <a:srgbClr val="00B4D8"/>
          </a:solidFill>
          <a:ln/>
        </p:spPr>
      </p:sp>
      <p:sp>
        <p:nvSpPr>
          <p:cNvPr id="42" name="Text 40"/>
          <p:cNvSpPr/>
          <p:nvPr/>
        </p:nvSpPr>
        <p:spPr>
          <a:xfrm>
            <a:off x="4227267" y="5367617"/>
            <a:ext cx="1389762" cy="180489"/>
          </a:xfrm>
          <a:prstGeom prst="rect">
            <a:avLst/>
          </a:prstGeom>
          <a:noFill/>
          <a:ln/>
        </p:spPr>
        <p:txBody>
          <a:bodyPr wrap="square" lIns="0" tIns="0" rIns="0" bIns="0" rtlCol="0" anchor="ctr"/>
          <a:lstStyle/>
          <a:p>
            <a:pPr>
              <a:lnSpc>
                <a:spcPct val="120000"/>
              </a:lnSpc>
            </a:pPr>
            <a:r>
              <a:rPr lang="en-US" sz="995" dirty="0">
                <a:solidFill>
                  <a:srgbClr val="F1FAEE"/>
                </a:solidFill>
                <a:latin typeface="Liter" pitchFamily="34" charset="0"/>
                <a:ea typeface="Liter" pitchFamily="34" charset="-122"/>
                <a:cs typeface="Liter" pitchFamily="34" charset="-120"/>
              </a:rPr>
              <a:t>Risk of wrong reasoning</a:t>
            </a:r>
            <a:endParaRPr lang="en-US" sz="1600" dirty="0"/>
          </a:p>
        </p:txBody>
      </p:sp>
      <p:sp>
        <p:nvSpPr>
          <p:cNvPr id="43" name="Shape 41"/>
          <p:cNvSpPr/>
          <p:nvPr/>
        </p:nvSpPr>
        <p:spPr>
          <a:xfrm>
            <a:off x="4023089" y="5656399"/>
            <a:ext cx="110549" cy="126342"/>
          </a:xfrm>
          <a:custGeom>
            <a:avLst/>
            <a:gdLst/>
            <a:ahLst/>
            <a:cxnLst/>
            <a:rect l="l" t="t" r="r" b="b"/>
            <a:pathLst>
              <a:path w="110549" h="126342">
                <a:moveTo>
                  <a:pt x="107292" y="17298"/>
                </a:moveTo>
                <a:cubicBezTo>
                  <a:pt x="110821" y="19864"/>
                  <a:pt x="111610" y="24800"/>
                  <a:pt x="109044" y="28328"/>
                </a:cubicBezTo>
                <a:lnTo>
                  <a:pt x="45873" y="115188"/>
                </a:lnTo>
                <a:cubicBezTo>
                  <a:pt x="44516" y="117064"/>
                  <a:pt x="42418" y="118224"/>
                  <a:pt x="40099" y="118421"/>
                </a:cubicBezTo>
                <a:cubicBezTo>
                  <a:pt x="37779" y="118618"/>
                  <a:pt x="35534" y="117755"/>
                  <a:pt x="33905" y="116126"/>
                </a:cubicBezTo>
                <a:lnTo>
                  <a:pt x="2320" y="84541"/>
                </a:lnTo>
                <a:cubicBezTo>
                  <a:pt x="-765" y="81456"/>
                  <a:pt x="-765" y="76447"/>
                  <a:pt x="2320" y="73362"/>
                </a:cubicBezTo>
                <a:cubicBezTo>
                  <a:pt x="5404" y="70278"/>
                  <a:pt x="10413" y="70278"/>
                  <a:pt x="13498" y="73362"/>
                </a:cubicBezTo>
                <a:lnTo>
                  <a:pt x="38544" y="98409"/>
                </a:lnTo>
                <a:lnTo>
                  <a:pt x="96286" y="19025"/>
                </a:lnTo>
                <a:cubicBezTo>
                  <a:pt x="98853" y="15497"/>
                  <a:pt x="103788" y="14707"/>
                  <a:pt x="107317" y="17273"/>
                </a:cubicBezTo>
                <a:close/>
              </a:path>
            </a:pathLst>
          </a:custGeom>
          <a:solidFill>
            <a:srgbClr val="00B4D8"/>
          </a:solidFill>
          <a:ln/>
        </p:spPr>
      </p:sp>
      <p:sp>
        <p:nvSpPr>
          <p:cNvPr id="44" name="Text 42"/>
          <p:cNvSpPr/>
          <p:nvPr/>
        </p:nvSpPr>
        <p:spPr>
          <a:xfrm>
            <a:off x="4227267" y="5620301"/>
            <a:ext cx="1119029" cy="180489"/>
          </a:xfrm>
          <a:prstGeom prst="rect">
            <a:avLst/>
          </a:prstGeom>
          <a:noFill/>
          <a:ln/>
        </p:spPr>
        <p:txBody>
          <a:bodyPr wrap="square" lIns="0" tIns="0" rIns="0" bIns="0" rtlCol="0" anchor="ctr"/>
          <a:lstStyle/>
          <a:p>
            <a:pPr>
              <a:lnSpc>
                <a:spcPct val="120000"/>
              </a:lnSpc>
            </a:pPr>
            <a:r>
              <a:rPr lang="en-US" sz="995" dirty="0">
                <a:solidFill>
                  <a:srgbClr val="F1FAEE"/>
                </a:solidFill>
                <a:latin typeface="Liter" pitchFamily="34" charset="0"/>
                <a:ea typeface="Liter" pitchFamily="34" charset="-122"/>
                <a:cs typeface="Liter" pitchFamily="34" charset="-120"/>
              </a:rPr>
              <a:t>Regulatory barriers</a:t>
            </a:r>
            <a:endParaRPr lang="en-US" sz="1600" dirty="0"/>
          </a:p>
        </p:txBody>
      </p:sp>
      <p:sp>
        <p:nvSpPr>
          <p:cNvPr id="45" name="Shape 43"/>
          <p:cNvSpPr/>
          <p:nvPr/>
        </p:nvSpPr>
        <p:spPr>
          <a:xfrm>
            <a:off x="4023089" y="5909082"/>
            <a:ext cx="110549" cy="126342"/>
          </a:xfrm>
          <a:custGeom>
            <a:avLst/>
            <a:gdLst/>
            <a:ahLst/>
            <a:cxnLst/>
            <a:rect l="l" t="t" r="r" b="b"/>
            <a:pathLst>
              <a:path w="110549" h="126342">
                <a:moveTo>
                  <a:pt x="107292" y="17298"/>
                </a:moveTo>
                <a:cubicBezTo>
                  <a:pt x="110821" y="19864"/>
                  <a:pt x="111610" y="24800"/>
                  <a:pt x="109044" y="28328"/>
                </a:cubicBezTo>
                <a:lnTo>
                  <a:pt x="45873" y="115188"/>
                </a:lnTo>
                <a:cubicBezTo>
                  <a:pt x="44516" y="117064"/>
                  <a:pt x="42418" y="118224"/>
                  <a:pt x="40099" y="118421"/>
                </a:cubicBezTo>
                <a:cubicBezTo>
                  <a:pt x="37779" y="118618"/>
                  <a:pt x="35534" y="117755"/>
                  <a:pt x="33905" y="116126"/>
                </a:cubicBezTo>
                <a:lnTo>
                  <a:pt x="2320" y="84541"/>
                </a:lnTo>
                <a:cubicBezTo>
                  <a:pt x="-765" y="81456"/>
                  <a:pt x="-765" y="76447"/>
                  <a:pt x="2320" y="73362"/>
                </a:cubicBezTo>
                <a:cubicBezTo>
                  <a:pt x="5404" y="70278"/>
                  <a:pt x="10413" y="70278"/>
                  <a:pt x="13498" y="73362"/>
                </a:cubicBezTo>
                <a:lnTo>
                  <a:pt x="38544" y="98409"/>
                </a:lnTo>
                <a:lnTo>
                  <a:pt x="96286" y="19025"/>
                </a:lnTo>
                <a:cubicBezTo>
                  <a:pt x="98853" y="15497"/>
                  <a:pt x="103788" y="14707"/>
                  <a:pt x="107317" y="17273"/>
                </a:cubicBezTo>
                <a:close/>
              </a:path>
            </a:pathLst>
          </a:custGeom>
          <a:solidFill>
            <a:srgbClr val="00B4D8"/>
          </a:solidFill>
          <a:ln/>
        </p:spPr>
      </p:sp>
      <p:sp>
        <p:nvSpPr>
          <p:cNvPr id="46" name="Text 44"/>
          <p:cNvSpPr/>
          <p:nvPr/>
        </p:nvSpPr>
        <p:spPr>
          <a:xfrm>
            <a:off x="4227267" y="5872985"/>
            <a:ext cx="1371713" cy="180489"/>
          </a:xfrm>
          <a:prstGeom prst="rect">
            <a:avLst/>
          </a:prstGeom>
          <a:noFill/>
          <a:ln/>
        </p:spPr>
        <p:txBody>
          <a:bodyPr wrap="square" lIns="0" tIns="0" rIns="0" bIns="0" rtlCol="0" anchor="ctr"/>
          <a:lstStyle/>
          <a:p>
            <a:pPr>
              <a:lnSpc>
                <a:spcPct val="120000"/>
              </a:lnSpc>
            </a:pPr>
            <a:r>
              <a:rPr lang="en-US" sz="995" dirty="0">
                <a:solidFill>
                  <a:srgbClr val="F1FAEE"/>
                </a:solidFill>
                <a:latin typeface="Liter" pitchFamily="34" charset="0"/>
                <a:ea typeface="Liter" pitchFamily="34" charset="-122"/>
                <a:cs typeface="Liter" pitchFamily="34" charset="-120"/>
              </a:rPr>
              <a:t>Patient safety concerns</a:t>
            </a:r>
            <a:endParaRPr lang="en-US" sz="1600" dirty="0"/>
          </a:p>
        </p:txBody>
      </p:sp>
      <p:sp>
        <p:nvSpPr>
          <p:cNvPr id="47" name="Shape 45"/>
          <p:cNvSpPr/>
          <p:nvPr/>
        </p:nvSpPr>
        <p:spPr>
          <a:xfrm>
            <a:off x="7337310" y="1306737"/>
            <a:ext cx="4490555" cy="3055671"/>
          </a:xfrm>
          <a:prstGeom prst="roundRect">
            <a:avLst>
              <a:gd name="adj" fmla="val 2363"/>
            </a:avLst>
          </a:prstGeom>
          <a:solidFill>
            <a:srgbClr val="000000">
              <a:alpha val="0"/>
            </a:srgbClr>
          </a:solidFill>
          <a:ln w="20320">
            <a:solidFill>
              <a:srgbClr val="FF6B6B"/>
            </a:solidFill>
            <a:prstDash val="solid"/>
          </a:ln>
        </p:spPr>
      </p:sp>
      <p:pic>
        <p:nvPicPr>
          <p:cNvPr id="48" name="Image 0" descr="https://kimi-web-img.moonshot.cn/img/pub-e93d5c9fdf134c89830082377f6df465.r2.dev/2807bd939cf87a0d2bfca81691a3a569e3ee27c1.webp">    </p:cNvPr>
          <p:cNvPicPr>
            <a:picLocks noChangeAspect="1"/>
          </p:cNvPicPr>
          <p:nvPr/>
        </p:nvPicPr>
        <p:blipFill>
          <a:blip r:embed="rId1"/>
          <a:srcRect l="9828" r="9828" t="0" b="0"/>
          <a:stretch/>
        </p:blipFill>
        <p:spPr>
          <a:xfrm>
            <a:off x="7344530" y="1313957"/>
            <a:ext cx="4476115" cy="3041232"/>
          </a:xfrm>
          <a:prstGeom prst="roundRect">
            <a:avLst>
              <a:gd name="adj" fmla="val 2374"/>
            </a:avLst>
          </a:prstGeom>
        </p:spPr>
      </p:pic>
      <p:sp>
        <p:nvSpPr>
          <p:cNvPr id="49" name="Shape 46"/>
          <p:cNvSpPr/>
          <p:nvPr/>
        </p:nvSpPr>
        <p:spPr>
          <a:xfrm>
            <a:off x="7333700" y="4519661"/>
            <a:ext cx="4492359" cy="837467"/>
          </a:xfrm>
          <a:prstGeom prst="roundRect">
            <a:avLst>
              <a:gd name="adj" fmla="val 8621"/>
            </a:avLst>
          </a:prstGeom>
          <a:solidFill>
            <a:srgbClr val="112240"/>
          </a:solidFill>
          <a:ln w="10160">
            <a:solidFill>
              <a:srgbClr val="FF6B6B"/>
            </a:solidFill>
            <a:prstDash val="solid"/>
          </a:ln>
        </p:spPr>
      </p:sp>
      <p:sp>
        <p:nvSpPr>
          <p:cNvPr id="50" name="Text 47"/>
          <p:cNvSpPr/>
          <p:nvPr/>
        </p:nvSpPr>
        <p:spPr>
          <a:xfrm>
            <a:off x="7481701" y="4667660"/>
            <a:ext cx="4259529" cy="180489"/>
          </a:xfrm>
          <a:prstGeom prst="rect">
            <a:avLst/>
          </a:prstGeom>
          <a:noFill/>
          <a:ln/>
        </p:spPr>
        <p:txBody>
          <a:bodyPr wrap="square" lIns="0" tIns="0" rIns="0" bIns="0" rtlCol="0" anchor="ctr"/>
          <a:lstStyle/>
          <a:p>
            <a:pPr>
              <a:lnSpc>
                <a:spcPct val="120000"/>
              </a:lnSpc>
            </a:pPr>
            <a:r>
              <a:rPr lang="en-US" sz="995" b="1" dirty="0">
                <a:solidFill>
                  <a:srgbClr val="FF6B6B"/>
                </a:solidFill>
                <a:latin typeface="Liter" pitchFamily="34" charset="0"/>
                <a:ea typeface="Liter" pitchFamily="34" charset="-122"/>
                <a:cs typeface="Liter" pitchFamily="34" charset="-120"/>
              </a:rPr>
              <a:t>Black Box AI Concept</a:t>
            </a:r>
            <a:endParaRPr lang="en-US" sz="1600" dirty="0"/>
          </a:p>
        </p:txBody>
      </p:sp>
      <p:sp>
        <p:nvSpPr>
          <p:cNvPr id="51" name="Text 48"/>
          <p:cNvSpPr/>
          <p:nvPr/>
        </p:nvSpPr>
        <p:spPr>
          <a:xfrm>
            <a:off x="7481701" y="4920344"/>
            <a:ext cx="4250505" cy="288782"/>
          </a:xfrm>
          <a:prstGeom prst="rect">
            <a:avLst/>
          </a:prstGeom>
          <a:noFill/>
          <a:ln/>
        </p:spPr>
        <p:txBody>
          <a:bodyPr wrap="square" lIns="0" tIns="0" rIns="0" bIns="0" rtlCol="0" anchor="ctr"/>
          <a:lstStyle/>
          <a:p>
            <a:pPr>
              <a:lnSpc>
                <a:spcPct val="110000"/>
              </a:lnSpc>
            </a:pPr>
            <a:r>
              <a:rPr lang="en-US" sz="853" dirty="0">
                <a:solidFill>
                  <a:srgbClr val="F1FAEE"/>
                </a:solidFill>
                <a:latin typeface="Liter" pitchFamily="34" charset="0"/>
                <a:ea typeface="Liter" pitchFamily="34" charset="-122"/>
                <a:cs typeface="Liter" pitchFamily="34" charset="-120"/>
              </a:rPr>
              <a:t>Input data enters, prediction exits, but the internal reasoning remains opaque and uninterpretable</a:t>
            </a:r>
            <a:endParaRPr lang="en-US" sz="1600" dirty="0"/>
          </a:p>
        </p:txBody>
      </p:sp>
      <p:sp>
        <p:nvSpPr>
          <p:cNvPr id="52" name="Shape 49"/>
          <p:cNvSpPr/>
          <p:nvPr/>
        </p:nvSpPr>
        <p:spPr>
          <a:xfrm>
            <a:off x="7333700" y="5508510"/>
            <a:ext cx="4492359" cy="693076"/>
          </a:xfrm>
          <a:prstGeom prst="roundRect">
            <a:avLst>
              <a:gd name="adj" fmla="val 10417"/>
            </a:avLst>
          </a:prstGeom>
          <a:solidFill>
            <a:srgbClr val="112240"/>
          </a:solidFill>
          <a:ln w="10160">
            <a:solidFill>
              <a:srgbClr val="3A86FF"/>
            </a:solidFill>
            <a:prstDash val="solid"/>
          </a:ln>
        </p:spPr>
      </p:sp>
      <p:sp>
        <p:nvSpPr>
          <p:cNvPr id="53" name="Text 50"/>
          <p:cNvSpPr/>
          <p:nvPr/>
        </p:nvSpPr>
        <p:spPr>
          <a:xfrm>
            <a:off x="7481701" y="5656513"/>
            <a:ext cx="4259529" cy="180489"/>
          </a:xfrm>
          <a:prstGeom prst="rect">
            <a:avLst/>
          </a:prstGeom>
          <a:noFill/>
          <a:ln/>
        </p:spPr>
        <p:txBody>
          <a:bodyPr wrap="square" lIns="0" tIns="0" rIns="0" bIns="0" rtlCol="0" anchor="ctr"/>
          <a:lstStyle/>
          <a:p>
            <a:pPr>
              <a:lnSpc>
                <a:spcPct val="120000"/>
              </a:lnSpc>
            </a:pPr>
            <a:r>
              <a:rPr lang="en-US" sz="995" b="1" dirty="0">
                <a:solidFill>
                  <a:srgbClr val="3A86FF"/>
                </a:solidFill>
                <a:latin typeface="Liter" pitchFamily="34" charset="0"/>
                <a:ea typeface="Liter" pitchFamily="34" charset="-122"/>
                <a:cs typeface="Liter" pitchFamily="34" charset="-120"/>
              </a:rPr>
              <a:t>Hidden Layers</a:t>
            </a:r>
            <a:endParaRPr lang="en-US" sz="1600" dirty="0"/>
          </a:p>
        </p:txBody>
      </p:sp>
      <p:sp>
        <p:nvSpPr>
          <p:cNvPr id="54" name="Text 51"/>
          <p:cNvSpPr/>
          <p:nvPr/>
        </p:nvSpPr>
        <p:spPr>
          <a:xfrm>
            <a:off x="7481701" y="5909197"/>
            <a:ext cx="4250505" cy="144391"/>
          </a:xfrm>
          <a:prstGeom prst="rect">
            <a:avLst/>
          </a:prstGeom>
          <a:noFill/>
          <a:ln/>
        </p:spPr>
        <p:txBody>
          <a:bodyPr wrap="square" lIns="0" tIns="0" rIns="0" bIns="0" rtlCol="0" anchor="ctr"/>
          <a:lstStyle/>
          <a:p>
            <a:pPr>
              <a:lnSpc>
                <a:spcPct val="110000"/>
              </a:lnSpc>
            </a:pPr>
            <a:r>
              <a:rPr lang="en-US" sz="853" dirty="0">
                <a:solidFill>
                  <a:srgbClr val="F1FAEE"/>
                </a:solidFill>
                <a:latin typeface="Liter" pitchFamily="34" charset="0"/>
                <a:ea typeface="Liter" pitchFamily="34" charset="-122"/>
                <a:cs typeface="Liter" pitchFamily="34" charset="-120"/>
              </a:rPr>
              <a:t>Multiple convolutional layers extract features but don't explain their decisions</a:t>
            </a:r>
            <a:endParaRPr lang="en-US" sz="1600" dirty="0"/>
          </a:p>
        </p:txBody>
      </p:sp>
      <p:sp>
        <p:nvSpPr>
          <p:cNvPr id="55" name="Shape 52"/>
          <p:cNvSpPr/>
          <p:nvPr/>
        </p:nvSpPr>
        <p:spPr>
          <a:xfrm>
            <a:off x="379026" y="6349473"/>
            <a:ext cx="11451997" cy="505368"/>
          </a:xfrm>
          <a:custGeom>
            <a:avLst/>
            <a:gdLst/>
            <a:ahLst/>
            <a:cxnLst/>
            <a:rect l="l" t="t" r="r" b="b"/>
            <a:pathLst>
              <a:path w="11451997" h="505368">
                <a:moveTo>
                  <a:pt x="36068" y="0"/>
                </a:moveTo>
                <a:lnTo>
                  <a:pt x="11379835" y="0"/>
                </a:lnTo>
                <a:cubicBezTo>
                  <a:pt x="11419675" y="0"/>
                  <a:pt x="11451971" y="32296"/>
                  <a:pt x="11451971" y="72136"/>
                </a:cubicBezTo>
                <a:lnTo>
                  <a:pt x="11451971" y="433197"/>
                </a:lnTo>
                <a:cubicBezTo>
                  <a:pt x="11451971" y="473037"/>
                  <a:pt x="11419675" y="505333"/>
                  <a:pt x="11379835" y="505333"/>
                </a:cubicBezTo>
                <a:lnTo>
                  <a:pt x="36068" y="505333"/>
                </a:lnTo>
                <a:cubicBezTo>
                  <a:pt x="16148" y="505333"/>
                  <a:pt x="0" y="489185"/>
                  <a:pt x="0" y="469265"/>
                </a:cubicBezTo>
                <a:lnTo>
                  <a:pt x="0" y="36068"/>
                </a:lnTo>
                <a:cubicBezTo>
                  <a:pt x="0" y="16162"/>
                  <a:pt x="16162" y="0"/>
                  <a:pt x="36068" y="0"/>
                </a:cubicBezTo>
                <a:close/>
              </a:path>
            </a:pathLst>
          </a:custGeom>
          <a:solidFill>
            <a:srgbClr val="FF6B6B">
              <a:alpha val="10196"/>
            </a:srgbClr>
          </a:solidFill>
          <a:ln/>
        </p:spPr>
      </p:sp>
      <p:sp>
        <p:nvSpPr>
          <p:cNvPr id="56" name="Shape 53"/>
          <p:cNvSpPr/>
          <p:nvPr/>
        </p:nvSpPr>
        <p:spPr>
          <a:xfrm>
            <a:off x="379026" y="6349473"/>
            <a:ext cx="36098" cy="505368"/>
          </a:xfrm>
          <a:custGeom>
            <a:avLst/>
            <a:gdLst/>
            <a:ahLst/>
            <a:cxnLst/>
            <a:rect l="l" t="t" r="r" b="b"/>
            <a:pathLst>
              <a:path w="36098" h="505368">
                <a:moveTo>
                  <a:pt x="36068" y="0"/>
                </a:moveTo>
                <a:lnTo>
                  <a:pt x="36068" y="0"/>
                </a:lnTo>
                <a:lnTo>
                  <a:pt x="36068" y="505333"/>
                </a:lnTo>
                <a:lnTo>
                  <a:pt x="36068" y="505333"/>
                </a:lnTo>
                <a:cubicBezTo>
                  <a:pt x="16148" y="505333"/>
                  <a:pt x="0" y="489185"/>
                  <a:pt x="0" y="469265"/>
                </a:cubicBezTo>
                <a:lnTo>
                  <a:pt x="0" y="36068"/>
                </a:lnTo>
                <a:cubicBezTo>
                  <a:pt x="0" y="16162"/>
                  <a:pt x="16162" y="0"/>
                  <a:pt x="36068" y="0"/>
                </a:cubicBezTo>
                <a:close/>
              </a:path>
            </a:pathLst>
          </a:custGeom>
          <a:solidFill>
            <a:srgbClr val="FF6B6B"/>
          </a:solidFill>
          <a:ln/>
        </p:spPr>
      </p:sp>
      <p:sp>
        <p:nvSpPr>
          <p:cNvPr id="57" name="Shape 54"/>
          <p:cNvSpPr/>
          <p:nvPr/>
        </p:nvSpPr>
        <p:spPr>
          <a:xfrm>
            <a:off x="559514" y="6522743"/>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72195" y="49634"/>
                </a:moveTo>
                <a:cubicBezTo>
                  <a:pt x="67204" y="49634"/>
                  <a:pt x="63171" y="53667"/>
                  <a:pt x="63171" y="58659"/>
                </a:cubicBezTo>
                <a:cubicBezTo>
                  <a:pt x="63171" y="62410"/>
                  <a:pt x="60153" y="65427"/>
                  <a:pt x="56403" y="65427"/>
                </a:cubicBezTo>
                <a:cubicBezTo>
                  <a:pt x="52652" y="65427"/>
                  <a:pt x="49634" y="62410"/>
                  <a:pt x="49634" y="58659"/>
                </a:cubicBezTo>
                <a:cubicBezTo>
                  <a:pt x="49634" y="46194"/>
                  <a:pt x="59730" y="36098"/>
                  <a:pt x="72195" y="36098"/>
                </a:cubicBezTo>
                <a:cubicBezTo>
                  <a:pt x="84660" y="36098"/>
                  <a:pt x="94756" y="46194"/>
                  <a:pt x="94756" y="58659"/>
                </a:cubicBezTo>
                <a:cubicBezTo>
                  <a:pt x="94756" y="71970"/>
                  <a:pt x="84604" y="77610"/>
                  <a:pt x="78964" y="79669"/>
                </a:cubicBezTo>
                <a:lnTo>
                  <a:pt x="78964" y="80740"/>
                </a:lnTo>
                <a:cubicBezTo>
                  <a:pt x="78964" y="84491"/>
                  <a:pt x="75946" y="87509"/>
                  <a:pt x="72195" y="87509"/>
                </a:cubicBezTo>
                <a:cubicBezTo>
                  <a:pt x="68445" y="87509"/>
                  <a:pt x="65427" y="84491"/>
                  <a:pt x="65427" y="80740"/>
                </a:cubicBezTo>
                <a:lnTo>
                  <a:pt x="65427" y="78456"/>
                </a:lnTo>
                <a:cubicBezTo>
                  <a:pt x="65427" y="72675"/>
                  <a:pt x="69601" y="68529"/>
                  <a:pt x="73916" y="67119"/>
                </a:cubicBezTo>
                <a:cubicBezTo>
                  <a:pt x="75721" y="66527"/>
                  <a:pt x="77638" y="65568"/>
                  <a:pt x="79048" y="64214"/>
                </a:cubicBezTo>
                <a:cubicBezTo>
                  <a:pt x="80261" y="63030"/>
                  <a:pt x="81220" y="61394"/>
                  <a:pt x="81220" y="58687"/>
                </a:cubicBezTo>
                <a:cubicBezTo>
                  <a:pt x="81220" y="53695"/>
                  <a:pt x="77187" y="49663"/>
                  <a:pt x="72195" y="49663"/>
                </a:cubicBezTo>
                <a:close/>
                <a:moveTo>
                  <a:pt x="63171" y="103781"/>
                </a:moveTo>
                <a:cubicBezTo>
                  <a:pt x="63171" y="98800"/>
                  <a:pt x="67215" y="94756"/>
                  <a:pt x="72195" y="94756"/>
                </a:cubicBezTo>
                <a:cubicBezTo>
                  <a:pt x="77176" y="94756"/>
                  <a:pt x="81220" y="98800"/>
                  <a:pt x="81220" y="103781"/>
                </a:cubicBezTo>
                <a:cubicBezTo>
                  <a:pt x="81220" y="108762"/>
                  <a:pt x="77176" y="112805"/>
                  <a:pt x="72195" y="112805"/>
                </a:cubicBezTo>
                <a:cubicBezTo>
                  <a:pt x="67215" y="112805"/>
                  <a:pt x="63171" y="108762"/>
                  <a:pt x="63171" y="103781"/>
                </a:cubicBezTo>
                <a:close/>
              </a:path>
            </a:pathLst>
          </a:custGeom>
          <a:solidFill>
            <a:srgbClr val="FF6B6B"/>
          </a:solidFill>
          <a:ln/>
        </p:spPr>
      </p:sp>
      <p:sp>
        <p:nvSpPr>
          <p:cNvPr id="58" name="Text 55"/>
          <p:cNvSpPr/>
          <p:nvPr/>
        </p:nvSpPr>
        <p:spPr>
          <a:xfrm>
            <a:off x="773255" y="6493864"/>
            <a:ext cx="10985572" cy="216586"/>
          </a:xfrm>
          <a:prstGeom prst="rect">
            <a:avLst/>
          </a:prstGeom>
          <a:noFill/>
          <a:ln/>
        </p:spPr>
        <p:txBody>
          <a:bodyPr wrap="square" lIns="0" tIns="0" rIns="0" bIns="0" rtlCol="0" anchor="ctr"/>
          <a:lstStyle/>
          <a:p>
            <a:pPr>
              <a:lnSpc>
                <a:spcPct val="130000"/>
              </a:lnSpc>
            </a:pPr>
            <a:r>
              <a:rPr lang="en-US" sz="1137" b="1" dirty="0">
                <a:solidFill>
                  <a:srgbClr val="FF6B6B"/>
                </a:solidFill>
                <a:latin typeface="Liter" pitchFamily="34" charset="0"/>
                <a:ea typeface="Liter" pitchFamily="34" charset="-122"/>
                <a:cs typeface="Liter" pitchFamily="34" charset="-120"/>
              </a:rPr>
              <a:t>Interactive Prompt: What if AI highlights the wrong retinal region but still predicts correctly?</a:t>
            </a:r>
            <a:endParaRPr lang="en-US" sz="1600" dirty="0"/>
          </a:p>
        </p:txBody>
      </p:sp>
      <p:sp>
        <p:nvSpPr>
          <p:cNvPr id="59" name="Text 56"/>
          <p:cNvSpPr/>
          <p:nvPr/>
        </p:nvSpPr>
        <p:spPr>
          <a:xfrm>
            <a:off x="360977" y="6569897"/>
            <a:ext cx="2508791" cy="144391"/>
          </a:xfrm>
          <a:prstGeom prst="rect">
            <a:avLst/>
          </a:prstGeom>
          <a:noFill/>
          <a:ln/>
        </p:spPr>
        <p:txBody>
          <a:bodyPr wrap="square" lIns="0" tIns="0" rIns="0" bIns="0" rtlCol="0" anchor="ctr"/>
          <a:lstStyle/>
          <a:p>
            <a:pPr>
              <a:lnSpc>
                <a:spcPct val="110000"/>
              </a:lnSpc>
            </a:pPr>
            <a:r>
              <a:rPr lang="en-US" sz="853"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60" name="Text 57"/>
          <p:cNvSpPr/>
          <p:nvPr/>
        </p:nvSpPr>
        <p:spPr>
          <a:xfrm>
            <a:off x="11505693" y="6569897"/>
            <a:ext cx="379026" cy="144391"/>
          </a:xfrm>
          <a:prstGeom prst="rect">
            <a:avLst/>
          </a:prstGeom>
          <a:noFill/>
          <a:ln/>
        </p:spPr>
        <p:txBody>
          <a:bodyPr wrap="square" lIns="0" tIns="0" rIns="0" bIns="0" rtlCol="0" anchor="ctr"/>
          <a:lstStyle/>
          <a:p>
            <a:pPr>
              <a:lnSpc>
                <a:spcPct val="110000"/>
              </a:lnSpc>
            </a:pPr>
            <a:r>
              <a:rPr lang="en-US" sz="853" dirty="0">
                <a:solidFill>
                  <a:srgbClr val="5C677D"/>
                </a:solidFill>
                <a:latin typeface="Liter" pitchFamily="34" charset="0"/>
                <a:ea typeface="Liter" pitchFamily="34" charset="-122"/>
                <a:cs typeface="Liter" pitchFamily="34" charset="-120"/>
              </a:rPr>
              <a:t>Slide 8</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36099" y="336099"/>
            <a:ext cx="11587021" cy="201660"/>
          </a:xfrm>
          <a:prstGeom prst="rect">
            <a:avLst/>
          </a:prstGeom>
          <a:noFill/>
          <a:ln/>
        </p:spPr>
        <p:txBody>
          <a:bodyPr wrap="square" lIns="0" tIns="0" rIns="0" bIns="0" rtlCol="0" anchor="ctr"/>
          <a:lstStyle/>
          <a:p>
            <a:pPr>
              <a:lnSpc>
                <a:spcPct val="130000"/>
              </a:lnSpc>
            </a:pPr>
            <a:r>
              <a:rPr lang="en-US" sz="1059" b="1" spc="53" kern="0" dirty="0">
                <a:solidFill>
                  <a:srgbClr val="00B4D8"/>
                </a:solidFill>
                <a:latin typeface="Liter" pitchFamily="34" charset="0"/>
                <a:ea typeface="Liter" pitchFamily="34" charset="-122"/>
                <a:cs typeface="Liter" pitchFamily="34" charset="-120"/>
              </a:rPr>
              <a:t>Solution Approach</a:t>
            </a:r>
            <a:endParaRPr lang="en-US" sz="1600" dirty="0"/>
          </a:p>
        </p:txBody>
      </p:sp>
      <p:sp>
        <p:nvSpPr>
          <p:cNvPr id="3" name="Text 1"/>
          <p:cNvSpPr/>
          <p:nvPr/>
        </p:nvSpPr>
        <p:spPr>
          <a:xfrm>
            <a:off x="336099" y="604979"/>
            <a:ext cx="11671046" cy="336099"/>
          </a:xfrm>
          <a:prstGeom prst="rect">
            <a:avLst/>
          </a:prstGeom>
          <a:noFill/>
          <a:ln/>
        </p:spPr>
        <p:txBody>
          <a:bodyPr wrap="square" lIns="0" tIns="0" rIns="0" bIns="0" rtlCol="0" anchor="ctr"/>
          <a:lstStyle/>
          <a:p>
            <a:pPr>
              <a:lnSpc>
                <a:spcPct val="90000"/>
              </a:lnSpc>
            </a:pPr>
            <a:r>
              <a:rPr lang="en-US" sz="2382" b="1" dirty="0">
                <a:solidFill>
                  <a:srgbClr val="F1FAEE"/>
                </a:solidFill>
                <a:latin typeface="Oranienbaum" pitchFamily="34" charset="0"/>
                <a:ea typeface="Oranienbaum" pitchFamily="34" charset="-122"/>
                <a:cs typeface="Oranienbaum" pitchFamily="34" charset="-120"/>
              </a:rPr>
              <a:t>Explainable AI (XAI)</a:t>
            </a:r>
            <a:endParaRPr lang="en-US" sz="1600" dirty="0"/>
          </a:p>
        </p:txBody>
      </p:sp>
      <p:sp>
        <p:nvSpPr>
          <p:cNvPr id="4" name="Shape 2"/>
          <p:cNvSpPr/>
          <p:nvPr/>
        </p:nvSpPr>
        <p:spPr>
          <a:xfrm>
            <a:off x="336099" y="1041908"/>
            <a:ext cx="806638" cy="3361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52904" y="1243567"/>
            <a:ext cx="5638065" cy="2688794"/>
          </a:xfrm>
          <a:custGeom>
            <a:avLst/>
            <a:gdLst/>
            <a:ahLst/>
            <a:cxnLst/>
            <a:rect l="l" t="t" r="r" b="b"/>
            <a:pathLst>
              <a:path w="5638065" h="2688794">
                <a:moveTo>
                  <a:pt x="33655" y="0"/>
                </a:moveTo>
                <a:lnTo>
                  <a:pt x="5570855" y="0"/>
                </a:lnTo>
                <a:cubicBezTo>
                  <a:pt x="5607959" y="0"/>
                  <a:pt x="5638038" y="30079"/>
                  <a:pt x="5638038" y="67183"/>
                </a:cubicBezTo>
                <a:lnTo>
                  <a:pt x="5638038" y="2621534"/>
                </a:lnTo>
                <a:cubicBezTo>
                  <a:pt x="5638072" y="2639374"/>
                  <a:pt x="5631008" y="2656495"/>
                  <a:pt x="5618406" y="2669122"/>
                </a:cubicBezTo>
                <a:cubicBezTo>
                  <a:pt x="5605803" y="2681748"/>
                  <a:pt x="5588695" y="2688844"/>
                  <a:pt x="5570855" y="2688844"/>
                </a:cubicBezTo>
                <a:lnTo>
                  <a:pt x="33655" y="2688844"/>
                </a:lnTo>
                <a:cubicBezTo>
                  <a:pt x="15068" y="2688844"/>
                  <a:pt x="0" y="2673776"/>
                  <a:pt x="0" y="2655189"/>
                </a:cubicBezTo>
                <a:lnTo>
                  <a:pt x="0" y="33655"/>
                </a:lnTo>
                <a:cubicBezTo>
                  <a:pt x="0" y="15080"/>
                  <a:pt x="15080" y="0"/>
                  <a:pt x="33655" y="0"/>
                </a:cubicBezTo>
                <a:close/>
              </a:path>
            </a:pathLst>
          </a:custGeom>
          <a:solidFill>
            <a:srgbClr val="112240"/>
          </a:solidFill>
          <a:ln/>
        </p:spPr>
      </p:sp>
      <p:sp>
        <p:nvSpPr>
          <p:cNvPr id="6" name="Shape 4"/>
          <p:cNvSpPr/>
          <p:nvPr/>
        </p:nvSpPr>
        <p:spPr>
          <a:xfrm>
            <a:off x="352904" y="1243567"/>
            <a:ext cx="33610" cy="2688794"/>
          </a:xfrm>
          <a:custGeom>
            <a:avLst/>
            <a:gdLst/>
            <a:ahLst/>
            <a:cxnLst/>
            <a:rect l="l" t="t" r="r" b="b"/>
            <a:pathLst>
              <a:path w="33610" h="2688794">
                <a:moveTo>
                  <a:pt x="33655" y="0"/>
                </a:moveTo>
                <a:lnTo>
                  <a:pt x="33655" y="0"/>
                </a:lnTo>
                <a:lnTo>
                  <a:pt x="33655" y="2688844"/>
                </a:lnTo>
                <a:lnTo>
                  <a:pt x="33655" y="2688844"/>
                </a:lnTo>
                <a:cubicBezTo>
                  <a:pt x="15068" y="2688844"/>
                  <a:pt x="0" y="2673776"/>
                  <a:pt x="0" y="2655189"/>
                </a:cubicBezTo>
                <a:lnTo>
                  <a:pt x="0" y="33655"/>
                </a:lnTo>
                <a:cubicBezTo>
                  <a:pt x="0" y="15080"/>
                  <a:pt x="15080" y="0"/>
                  <a:pt x="33655" y="0"/>
                </a:cubicBezTo>
                <a:close/>
              </a:path>
            </a:pathLst>
          </a:custGeom>
          <a:solidFill>
            <a:srgbClr val="00B4D8"/>
          </a:solidFill>
          <a:ln/>
        </p:spPr>
      </p:sp>
      <p:sp>
        <p:nvSpPr>
          <p:cNvPr id="7" name="Shape 5"/>
          <p:cNvSpPr/>
          <p:nvPr/>
        </p:nvSpPr>
        <p:spPr>
          <a:xfrm>
            <a:off x="579771" y="1445227"/>
            <a:ext cx="126037" cy="168050"/>
          </a:xfrm>
          <a:custGeom>
            <a:avLst/>
            <a:gdLst/>
            <a:ahLst/>
            <a:cxnLst/>
            <a:rect l="l" t="t" r="r" b="b"/>
            <a:pathLst>
              <a:path w="126037" h="168050">
                <a:moveTo>
                  <a:pt x="96136" y="126037"/>
                </a:moveTo>
                <a:cubicBezTo>
                  <a:pt x="98532" y="118718"/>
                  <a:pt x="103324" y="112088"/>
                  <a:pt x="108740" y="106377"/>
                </a:cubicBezTo>
                <a:cubicBezTo>
                  <a:pt x="119473" y="95086"/>
                  <a:pt x="126037" y="79824"/>
                  <a:pt x="126037" y="63019"/>
                </a:cubicBezTo>
                <a:cubicBezTo>
                  <a:pt x="126037" y="28227"/>
                  <a:pt x="97810" y="0"/>
                  <a:pt x="63019" y="0"/>
                </a:cubicBezTo>
                <a:cubicBezTo>
                  <a:pt x="28227" y="0"/>
                  <a:pt x="0" y="28227"/>
                  <a:pt x="0" y="63019"/>
                </a:cubicBezTo>
                <a:cubicBezTo>
                  <a:pt x="0" y="79824"/>
                  <a:pt x="6564" y="95086"/>
                  <a:pt x="17297" y="106377"/>
                </a:cubicBezTo>
                <a:cubicBezTo>
                  <a:pt x="22713" y="112088"/>
                  <a:pt x="27538" y="118718"/>
                  <a:pt x="29901" y="126037"/>
                </a:cubicBezTo>
                <a:lnTo>
                  <a:pt x="96103" y="126037"/>
                </a:lnTo>
                <a:close/>
                <a:moveTo>
                  <a:pt x="94528" y="141792"/>
                </a:moveTo>
                <a:lnTo>
                  <a:pt x="31509" y="141792"/>
                </a:lnTo>
                <a:lnTo>
                  <a:pt x="31509" y="147043"/>
                </a:lnTo>
                <a:cubicBezTo>
                  <a:pt x="31509" y="161551"/>
                  <a:pt x="43260" y="173301"/>
                  <a:pt x="57767" y="173301"/>
                </a:cubicBezTo>
                <a:lnTo>
                  <a:pt x="68270" y="173301"/>
                </a:lnTo>
                <a:cubicBezTo>
                  <a:pt x="82778" y="173301"/>
                  <a:pt x="94528" y="161551"/>
                  <a:pt x="94528" y="147043"/>
                </a:cubicBezTo>
                <a:lnTo>
                  <a:pt x="94528" y="141792"/>
                </a:lnTo>
                <a:close/>
                <a:moveTo>
                  <a:pt x="60393" y="36761"/>
                </a:moveTo>
                <a:cubicBezTo>
                  <a:pt x="47330" y="36761"/>
                  <a:pt x="36761" y="47330"/>
                  <a:pt x="36761" y="60393"/>
                </a:cubicBezTo>
                <a:cubicBezTo>
                  <a:pt x="36761" y="64758"/>
                  <a:pt x="33249" y="68270"/>
                  <a:pt x="28884" y="68270"/>
                </a:cubicBezTo>
                <a:cubicBezTo>
                  <a:pt x="24518" y="68270"/>
                  <a:pt x="21006" y="64758"/>
                  <a:pt x="21006" y="60393"/>
                </a:cubicBezTo>
                <a:cubicBezTo>
                  <a:pt x="21006" y="38632"/>
                  <a:pt x="38632" y="21006"/>
                  <a:pt x="60393" y="21006"/>
                </a:cubicBezTo>
                <a:cubicBezTo>
                  <a:pt x="64758" y="21006"/>
                  <a:pt x="68270" y="24518"/>
                  <a:pt x="68270" y="28884"/>
                </a:cubicBezTo>
                <a:cubicBezTo>
                  <a:pt x="68270" y="33249"/>
                  <a:pt x="64758" y="36761"/>
                  <a:pt x="60393" y="36761"/>
                </a:cubicBezTo>
                <a:close/>
              </a:path>
            </a:pathLst>
          </a:custGeom>
          <a:solidFill>
            <a:srgbClr val="00B4D8"/>
          </a:solidFill>
          <a:ln/>
        </p:spPr>
      </p:sp>
      <p:sp>
        <p:nvSpPr>
          <p:cNvPr id="8" name="Text 6"/>
          <p:cNvSpPr/>
          <p:nvPr/>
        </p:nvSpPr>
        <p:spPr>
          <a:xfrm>
            <a:off x="747821" y="1411617"/>
            <a:ext cx="5159123" cy="235269"/>
          </a:xfrm>
          <a:prstGeom prst="rect">
            <a:avLst/>
          </a:prstGeom>
          <a:noFill/>
          <a:ln/>
        </p:spPr>
        <p:txBody>
          <a:bodyPr wrap="square" lIns="0" tIns="0" rIns="0" bIns="0" rtlCol="0" anchor="ctr"/>
          <a:lstStyle/>
          <a:p>
            <a:pPr>
              <a:lnSpc>
                <a:spcPct val="120000"/>
              </a:lnSpc>
            </a:pPr>
            <a:r>
              <a:rPr lang="en-US" sz="1323" b="1" dirty="0">
                <a:solidFill>
                  <a:srgbClr val="00B4D8"/>
                </a:solidFill>
                <a:latin typeface="Liter" pitchFamily="34" charset="0"/>
                <a:ea typeface="Liter" pitchFamily="34" charset="-122"/>
                <a:cs typeface="Liter" pitchFamily="34" charset="-120"/>
              </a:rPr>
              <a:t>What is XAI?</a:t>
            </a:r>
            <a:endParaRPr lang="en-US" sz="1600" dirty="0"/>
          </a:p>
        </p:txBody>
      </p:sp>
      <p:sp>
        <p:nvSpPr>
          <p:cNvPr id="9" name="Text 7"/>
          <p:cNvSpPr/>
          <p:nvPr/>
        </p:nvSpPr>
        <p:spPr>
          <a:xfrm>
            <a:off x="537759" y="1747716"/>
            <a:ext cx="5352380" cy="436929"/>
          </a:xfrm>
          <a:prstGeom prst="rect">
            <a:avLst/>
          </a:prstGeom>
          <a:noFill/>
          <a:ln/>
        </p:spPr>
        <p:txBody>
          <a:bodyPr wrap="square" lIns="0" tIns="0" rIns="0" bIns="0" rtlCol="0" anchor="ctr"/>
          <a:lstStyle/>
          <a:p>
            <a:pPr>
              <a:lnSpc>
                <a:spcPct val="140000"/>
              </a:lnSpc>
            </a:pPr>
            <a:r>
              <a:rPr lang="en-US" sz="1059" b="1" dirty="0">
                <a:solidFill>
                  <a:srgbClr val="F1FAEE"/>
                </a:solidFill>
                <a:latin typeface="Liter" pitchFamily="34" charset="0"/>
                <a:ea typeface="Liter" pitchFamily="34" charset="-122"/>
                <a:cs typeface="Liter" pitchFamily="34" charset="-120"/>
              </a:rPr>
              <a:t>Explainable AI (XAI)</a:t>
            </a:r>
            <a:pPr>
              <a:lnSpc>
                <a:spcPct val="140000"/>
              </a:lnSpc>
            </a:pPr>
            <a:r>
              <a:rPr lang="en-US" sz="1059" dirty="0">
                <a:solidFill>
                  <a:srgbClr val="F1FAEE"/>
                </a:solidFill>
                <a:latin typeface="Liter" pitchFamily="34" charset="0"/>
                <a:ea typeface="Liter" pitchFamily="34" charset="-122"/>
                <a:cs typeface="Liter" pitchFamily="34" charset="-120"/>
              </a:rPr>
              <a:t> converts black-box systems into interpretable systems. It helps </a:t>
            </a:r>
            <a:pPr>
              <a:lnSpc>
                <a:spcPct val="140000"/>
              </a:lnSpc>
            </a:pPr>
            <a:r>
              <a:rPr lang="en-US" sz="1059" b="1" dirty="0">
                <a:solidFill>
                  <a:srgbClr val="00B4D8"/>
                </a:solidFill>
                <a:latin typeface="Liter" pitchFamily="34" charset="0"/>
                <a:ea typeface="Liter" pitchFamily="34" charset="-122"/>
                <a:cs typeface="Liter" pitchFamily="34" charset="-120"/>
              </a:rPr>
              <a:t>visualize model reasoning</a:t>
            </a:r>
            <a:pPr>
              <a:lnSpc>
                <a:spcPct val="140000"/>
              </a:lnSpc>
            </a:pPr>
            <a:r>
              <a:rPr lang="en-US" sz="1059" dirty="0">
                <a:solidFill>
                  <a:srgbClr val="F1FAEE"/>
                </a:solidFill>
                <a:latin typeface="Liter" pitchFamily="34" charset="0"/>
                <a:ea typeface="Liter" pitchFamily="34" charset="-122"/>
                <a:cs typeface="Liter" pitchFamily="34" charset="-120"/>
              </a:rPr>
              <a:t> and improves clinical trust and transparency [9][10].</a:t>
            </a:r>
            <a:endParaRPr lang="en-US" sz="1600" dirty="0"/>
          </a:p>
        </p:txBody>
      </p:sp>
      <p:sp>
        <p:nvSpPr>
          <p:cNvPr id="10" name="Shape 8"/>
          <p:cNvSpPr/>
          <p:nvPr/>
        </p:nvSpPr>
        <p:spPr>
          <a:xfrm>
            <a:off x="537759" y="2319085"/>
            <a:ext cx="5285161" cy="1445227"/>
          </a:xfrm>
          <a:prstGeom prst="roundRect">
            <a:avLst>
              <a:gd name="adj" fmla="val 4651"/>
            </a:avLst>
          </a:prstGeom>
          <a:solidFill>
            <a:srgbClr val="0A192F"/>
          </a:solidFill>
          <a:ln/>
        </p:spPr>
      </p:sp>
      <p:sp>
        <p:nvSpPr>
          <p:cNvPr id="11" name="Shape 9"/>
          <p:cNvSpPr/>
          <p:nvPr/>
        </p:nvSpPr>
        <p:spPr>
          <a:xfrm>
            <a:off x="1461717" y="2460246"/>
            <a:ext cx="660435" cy="660435"/>
          </a:xfrm>
          <a:prstGeom prst="roundRect">
            <a:avLst>
              <a:gd name="adj" fmla="val 10178"/>
            </a:avLst>
          </a:prstGeom>
          <a:solidFill>
            <a:srgbClr val="000000">
              <a:alpha val="0"/>
            </a:srgbClr>
          </a:solidFill>
          <a:ln w="20320">
            <a:solidFill>
              <a:srgbClr val="3A86FF"/>
            </a:solidFill>
            <a:prstDash val="solid"/>
          </a:ln>
        </p:spPr>
      </p:sp>
      <p:sp>
        <p:nvSpPr>
          <p:cNvPr id="12" name="Shape 10"/>
          <p:cNvSpPr/>
          <p:nvPr/>
        </p:nvSpPr>
        <p:spPr>
          <a:xfrm>
            <a:off x="1651403" y="2663586"/>
            <a:ext cx="283584" cy="252074"/>
          </a:xfrm>
          <a:custGeom>
            <a:avLst/>
            <a:gdLst/>
            <a:ahLst/>
            <a:cxnLst/>
            <a:rect l="l" t="t" r="r" b="b"/>
            <a:pathLst>
              <a:path w="283584" h="252074">
                <a:moveTo>
                  <a:pt x="122099" y="43325"/>
                </a:moveTo>
                <a:lnTo>
                  <a:pt x="161485" y="43325"/>
                </a:lnTo>
                <a:lnTo>
                  <a:pt x="161485" y="66957"/>
                </a:lnTo>
                <a:lnTo>
                  <a:pt x="122099" y="66957"/>
                </a:lnTo>
                <a:lnTo>
                  <a:pt x="122099" y="43325"/>
                </a:lnTo>
                <a:close/>
                <a:moveTo>
                  <a:pt x="118160" y="15755"/>
                </a:moveTo>
                <a:cubicBezTo>
                  <a:pt x="105113" y="15755"/>
                  <a:pt x="94528" y="26340"/>
                  <a:pt x="94528" y="39387"/>
                </a:cubicBezTo>
                <a:lnTo>
                  <a:pt x="94528" y="70896"/>
                </a:lnTo>
                <a:cubicBezTo>
                  <a:pt x="94528" y="83943"/>
                  <a:pt x="105113" y="94528"/>
                  <a:pt x="118160" y="94528"/>
                </a:cubicBezTo>
                <a:lnTo>
                  <a:pt x="126037" y="94528"/>
                </a:lnTo>
                <a:lnTo>
                  <a:pt x="126037" y="110283"/>
                </a:lnTo>
                <a:lnTo>
                  <a:pt x="15755" y="110283"/>
                </a:lnTo>
                <a:cubicBezTo>
                  <a:pt x="7040" y="110283"/>
                  <a:pt x="0" y="117323"/>
                  <a:pt x="0" y="126037"/>
                </a:cubicBezTo>
                <a:cubicBezTo>
                  <a:pt x="0" y="134752"/>
                  <a:pt x="7040" y="141792"/>
                  <a:pt x="15755" y="141792"/>
                </a:cubicBezTo>
                <a:lnTo>
                  <a:pt x="63019" y="141792"/>
                </a:lnTo>
                <a:lnTo>
                  <a:pt x="63019" y="157547"/>
                </a:lnTo>
                <a:lnTo>
                  <a:pt x="55141" y="157547"/>
                </a:lnTo>
                <a:cubicBezTo>
                  <a:pt x="42094" y="157547"/>
                  <a:pt x="31509" y="168132"/>
                  <a:pt x="31509" y="181178"/>
                </a:cubicBezTo>
                <a:lnTo>
                  <a:pt x="31509" y="212688"/>
                </a:lnTo>
                <a:cubicBezTo>
                  <a:pt x="31509" y="225735"/>
                  <a:pt x="42094" y="236320"/>
                  <a:pt x="55141" y="236320"/>
                </a:cubicBezTo>
                <a:lnTo>
                  <a:pt x="102405" y="236320"/>
                </a:lnTo>
                <a:cubicBezTo>
                  <a:pt x="115452" y="236320"/>
                  <a:pt x="126037" y="225735"/>
                  <a:pt x="126037" y="212688"/>
                </a:cubicBezTo>
                <a:lnTo>
                  <a:pt x="126037" y="181178"/>
                </a:lnTo>
                <a:cubicBezTo>
                  <a:pt x="126037" y="168132"/>
                  <a:pt x="115452" y="157547"/>
                  <a:pt x="102405" y="157547"/>
                </a:cubicBezTo>
                <a:lnTo>
                  <a:pt x="94528" y="157547"/>
                </a:lnTo>
                <a:lnTo>
                  <a:pt x="94528" y="141792"/>
                </a:lnTo>
                <a:lnTo>
                  <a:pt x="189056" y="141792"/>
                </a:lnTo>
                <a:lnTo>
                  <a:pt x="189056" y="157547"/>
                </a:lnTo>
                <a:lnTo>
                  <a:pt x="181178" y="157547"/>
                </a:lnTo>
                <a:cubicBezTo>
                  <a:pt x="168132" y="157547"/>
                  <a:pt x="157547" y="168132"/>
                  <a:pt x="157547" y="181178"/>
                </a:cubicBezTo>
                <a:lnTo>
                  <a:pt x="157547" y="212688"/>
                </a:lnTo>
                <a:cubicBezTo>
                  <a:pt x="157547" y="225735"/>
                  <a:pt x="168132" y="236320"/>
                  <a:pt x="181178" y="236320"/>
                </a:cubicBezTo>
                <a:lnTo>
                  <a:pt x="228442" y="236320"/>
                </a:lnTo>
                <a:cubicBezTo>
                  <a:pt x="241489" y="236320"/>
                  <a:pt x="252074" y="225735"/>
                  <a:pt x="252074" y="212688"/>
                </a:cubicBezTo>
                <a:lnTo>
                  <a:pt x="252074" y="181178"/>
                </a:lnTo>
                <a:cubicBezTo>
                  <a:pt x="252074" y="168132"/>
                  <a:pt x="241489" y="157547"/>
                  <a:pt x="228442" y="157547"/>
                </a:cubicBezTo>
                <a:lnTo>
                  <a:pt x="220565" y="157547"/>
                </a:lnTo>
                <a:lnTo>
                  <a:pt x="220565" y="141792"/>
                </a:lnTo>
                <a:lnTo>
                  <a:pt x="267829" y="141792"/>
                </a:lnTo>
                <a:cubicBezTo>
                  <a:pt x="276543" y="141792"/>
                  <a:pt x="283584" y="134752"/>
                  <a:pt x="283584" y="126037"/>
                </a:cubicBezTo>
                <a:cubicBezTo>
                  <a:pt x="283584" y="117323"/>
                  <a:pt x="276543" y="110283"/>
                  <a:pt x="267829" y="110283"/>
                </a:cubicBezTo>
                <a:lnTo>
                  <a:pt x="157547" y="110283"/>
                </a:lnTo>
                <a:lnTo>
                  <a:pt x="157547" y="94528"/>
                </a:lnTo>
                <a:lnTo>
                  <a:pt x="165424" y="94528"/>
                </a:lnTo>
                <a:cubicBezTo>
                  <a:pt x="178471" y="94528"/>
                  <a:pt x="189056" y="83943"/>
                  <a:pt x="189056" y="70896"/>
                </a:cubicBezTo>
                <a:lnTo>
                  <a:pt x="189056" y="39387"/>
                </a:lnTo>
                <a:cubicBezTo>
                  <a:pt x="189056" y="26340"/>
                  <a:pt x="178471" y="15755"/>
                  <a:pt x="165424" y="15755"/>
                </a:cubicBezTo>
                <a:lnTo>
                  <a:pt x="118160" y="15755"/>
                </a:lnTo>
                <a:close/>
                <a:moveTo>
                  <a:pt x="220565" y="185117"/>
                </a:moveTo>
                <a:lnTo>
                  <a:pt x="224504" y="185117"/>
                </a:lnTo>
                <a:lnTo>
                  <a:pt x="224504" y="208749"/>
                </a:lnTo>
                <a:lnTo>
                  <a:pt x="185117" y="208749"/>
                </a:lnTo>
                <a:lnTo>
                  <a:pt x="185117" y="185117"/>
                </a:lnTo>
                <a:lnTo>
                  <a:pt x="220565" y="185117"/>
                </a:lnTo>
                <a:close/>
                <a:moveTo>
                  <a:pt x="94528" y="185117"/>
                </a:moveTo>
                <a:lnTo>
                  <a:pt x="98467" y="185117"/>
                </a:lnTo>
                <a:lnTo>
                  <a:pt x="98467" y="208749"/>
                </a:lnTo>
                <a:lnTo>
                  <a:pt x="59080" y="208749"/>
                </a:lnTo>
                <a:lnTo>
                  <a:pt x="59080" y="185117"/>
                </a:lnTo>
                <a:lnTo>
                  <a:pt x="94528" y="185117"/>
                </a:lnTo>
                <a:close/>
              </a:path>
            </a:pathLst>
          </a:custGeom>
          <a:solidFill>
            <a:srgbClr val="3A86FF"/>
          </a:solidFill>
          <a:ln/>
        </p:spPr>
      </p:sp>
      <p:sp>
        <p:nvSpPr>
          <p:cNvPr id="13" name="Text 11"/>
          <p:cNvSpPr/>
          <p:nvPr/>
        </p:nvSpPr>
        <p:spPr>
          <a:xfrm>
            <a:off x="1425586" y="3192943"/>
            <a:ext cx="731016" cy="168050"/>
          </a:xfrm>
          <a:prstGeom prst="rect">
            <a:avLst/>
          </a:prstGeom>
          <a:noFill/>
          <a:ln/>
        </p:spPr>
        <p:txBody>
          <a:bodyPr wrap="square" lIns="0" tIns="0" rIns="0" bIns="0" rtlCol="0" anchor="ctr"/>
          <a:lstStyle/>
          <a:p>
            <a:pPr algn="ctr">
              <a:lnSpc>
                <a:spcPct val="120000"/>
              </a:lnSpc>
            </a:pPr>
            <a:r>
              <a:rPr lang="en-US" sz="926" b="1" dirty="0">
                <a:solidFill>
                  <a:srgbClr val="F1FAEE"/>
                </a:solidFill>
                <a:latin typeface="Liter" pitchFamily="34" charset="0"/>
                <a:ea typeface="Liter" pitchFamily="34" charset="-122"/>
                <a:cs typeface="Liter" pitchFamily="34" charset="-120"/>
              </a:rPr>
              <a:t>CNN Model</a:t>
            </a:r>
            <a:endParaRPr lang="en-US" sz="1600" dirty="0"/>
          </a:p>
        </p:txBody>
      </p:sp>
      <p:sp>
        <p:nvSpPr>
          <p:cNvPr id="14" name="Shape 12"/>
          <p:cNvSpPr/>
          <p:nvPr/>
        </p:nvSpPr>
        <p:spPr>
          <a:xfrm>
            <a:off x="2362463" y="2781221"/>
            <a:ext cx="252074" cy="252074"/>
          </a:xfrm>
          <a:custGeom>
            <a:avLst/>
            <a:gdLst/>
            <a:ahLst/>
            <a:cxnLst/>
            <a:rect l="l" t="t" r="r" b="b"/>
            <a:pathLst>
              <a:path w="252074" h="252074">
                <a:moveTo>
                  <a:pt x="247447" y="137164"/>
                </a:moveTo>
                <a:cubicBezTo>
                  <a:pt x="253601" y="131010"/>
                  <a:pt x="253601" y="121015"/>
                  <a:pt x="247447" y="114861"/>
                </a:cubicBezTo>
                <a:lnTo>
                  <a:pt x="168673" y="36088"/>
                </a:lnTo>
                <a:cubicBezTo>
                  <a:pt x="162519" y="29934"/>
                  <a:pt x="152525" y="29934"/>
                  <a:pt x="146371" y="36088"/>
                </a:cubicBezTo>
                <a:cubicBezTo>
                  <a:pt x="140216" y="42242"/>
                  <a:pt x="140216" y="52237"/>
                  <a:pt x="146371" y="58391"/>
                </a:cubicBezTo>
                <a:lnTo>
                  <a:pt x="198262" y="110283"/>
                </a:lnTo>
                <a:lnTo>
                  <a:pt x="15755" y="110283"/>
                </a:lnTo>
                <a:cubicBezTo>
                  <a:pt x="7040" y="110283"/>
                  <a:pt x="0" y="117323"/>
                  <a:pt x="0" y="126037"/>
                </a:cubicBezTo>
                <a:cubicBezTo>
                  <a:pt x="0" y="134752"/>
                  <a:pt x="7040" y="141792"/>
                  <a:pt x="15755" y="141792"/>
                </a:cubicBezTo>
                <a:lnTo>
                  <a:pt x="198262" y="141792"/>
                </a:lnTo>
                <a:lnTo>
                  <a:pt x="146371" y="193684"/>
                </a:lnTo>
                <a:cubicBezTo>
                  <a:pt x="140216" y="199838"/>
                  <a:pt x="140216" y="209832"/>
                  <a:pt x="146371" y="215986"/>
                </a:cubicBezTo>
                <a:cubicBezTo>
                  <a:pt x="152525" y="222141"/>
                  <a:pt x="162519" y="222141"/>
                  <a:pt x="168673" y="215986"/>
                </a:cubicBezTo>
                <a:lnTo>
                  <a:pt x="247447" y="137213"/>
                </a:lnTo>
                <a:close/>
              </a:path>
            </a:pathLst>
          </a:custGeom>
          <a:solidFill>
            <a:srgbClr val="5C677D"/>
          </a:solidFill>
          <a:ln/>
        </p:spPr>
      </p:sp>
      <p:sp>
        <p:nvSpPr>
          <p:cNvPr id="15" name="Shape 13"/>
          <p:cNvSpPr/>
          <p:nvPr/>
        </p:nvSpPr>
        <p:spPr>
          <a:xfrm>
            <a:off x="2852327" y="2460246"/>
            <a:ext cx="660435" cy="660435"/>
          </a:xfrm>
          <a:prstGeom prst="roundRect">
            <a:avLst>
              <a:gd name="adj" fmla="val 10178"/>
            </a:avLst>
          </a:prstGeom>
          <a:solidFill>
            <a:srgbClr val="000000">
              <a:alpha val="0"/>
            </a:srgbClr>
          </a:solidFill>
          <a:ln w="20320">
            <a:solidFill>
              <a:srgbClr val="00B4D8"/>
            </a:solidFill>
            <a:prstDash val="solid"/>
          </a:ln>
        </p:spPr>
      </p:sp>
      <p:sp>
        <p:nvSpPr>
          <p:cNvPr id="16" name="Shape 14"/>
          <p:cNvSpPr/>
          <p:nvPr/>
        </p:nvSpPr>
        <p:spPr>
          <a:xfrm>
            <a:off x="3073523" y="2663586"/>
            <a:ext cx="220565" cy="252074"/>
          </a:xfrm>
          <a:custGeom>
            <a:avLst/>
            <a:gdLst/>
            <a:ahLst/>
            <a:cxnLst/>
            <a:rect l="l" t="t" r="r" b="b"/>
            <a:pathLst>
              <a:path w="220565" h="252074">
                <a:moveTo>
                  <a:pt x="79019" y="-12998"/>
                </a:moveTo>
                <a:cubicBezTo>
                  <a:pt x="83598" y="-16838"/>
                  <a:pt x="90343" y="-16690"/>
                  <a:pt x="94725" y="-12554"/>
                </a:cubicBezTo>
                <a:cubicBezTo>
                  <a:pt x="100781" y="-6843"/>
                  <a:pt x="106196" y="-542"/>
                  <a:pt x="111415" y="5859"/>
                </a:cubicBezTo>
                <a:cubicBezTo>
                  <a:pt x="118061" y="13982"/>
                  <a:pt x="126037" y="24715"/>
                  <a:pt x="133718" y="37467"/>
                </a:cubicBezTo>
                <a:cubicBezTo>
                  <a:pt x="136278" y="34119"/>
                  <a:pt x="138641" y="31165"/>
                  <a:pt x="140709" y="28654"/>
                </a:cubicBezTo>
                <a:cubicBezTo>
                  <a:pt x="141250" y="28014"/>
                  <a:pt x="141792" y="27324"/>
                  <a:pt x="142333" y="26635"/>
                </a:cubicBezTo>
                <a:cubicBezTo>
                  <a:pt x="146223" y="21810"/>
                  <a:pt x="151048" y="15755"/>
                  <a:pt x="157497" y="15755"/>
                </a:cubicBezTo>
                <a:cubicBezTo>
                  <a:pt x="164095" y="15755"/>
                  <a:pt x="168722" y="21613"/>
                  <a:pt x="172661" y="26635"/>
                </a:cubicBezTo>
                <a:cubicBezTo>
                  <a:pt x="173301" y="27472"/>
                  <a:pt x="173941" y="28260"/>
                  <a:pt x="174581" y="28998"/>
                </a:cubicBezTo>
                <a:cubicBezTo>
                  <a:pt x="179652" y="35103"/>
                  <a:pt x="186397" y="43916"/>
                  <a:pt x="193142" y="54797"/>
                </a:cubicBezTo>
                <a:cubicBezTo>
                  <a:pt x="206534" y="76410"/>
                  <a:pt x="220516" y="107181"/>
                  <a:pt x="220516" y="141743"/>
                </a:cubicBezTo>
                <a:cubicBezTo>
                  <a:pt x="220516" y="202644"/>
                  <a:pt x="171135" y="252025"/>
                  <a:pt x="110233" y="252025"/>
                </a:cubicBezTo>
                <a:cubicBezTo>
                  <a:pt x="49332" y="252025"/>
                  <a:pt x="0" y="202693"/>
                  <a:pt x="0" y="141792"/>
                </a:cubicBezTo>
                <a:cubicBezTo>
                  <a:pt x="0" y="96940"/>
                  <a:pt x="20235" y="58095"/>
                  <a:pt x="39633" y="31017"/>
                </a:cubicBezTo>
                <a:cubicBezTo>
                  <a:pt x="49430" y="17379"/>
                  <a:pt x="59178" y="6450"/>
                  <a:pt x="66514" y="-1034"/>
                </a:cubicBezTo>
                <a:cubicBezTo>
                  <a:pt x="70551" y="-5169"/>
                  <a:pt x="74638" y="-9256"/>
                  <a:pt x="79069" y="-12948"/>
                </a:cubicBezTo>
                <a:close/>
                <a:moveTo>
                  <a:pt x="111120" y="204810"/>
                </a:moveTo>
                <a:cubicBezTo>
                  <a:pt x="123576" y="204810"/>
                  <a:pt x="134604" y="201364"/>
                  <a:pt x="144992" y="194471"/>
                </a:cubicBezTo>
                <a:cubicBezTo>
                  <a:pt x="165719" y="179997"/>
                  <a:pt x="171283" y="151048"/>
                  <a:pt x="158827" y="128302"/>
                </a:cubicBezTo>
                <a:cubicBezTo>
                  <a:pt x="156611" y="123871"/>
                  <a:pt x="150949" y="123576"/>
                  <a:pt x="147749" y="127317"/>
                </a:cubicBezTo>
                <a:lnTo>
                  <a:pt x="135342" y="141743"/>
                </a:lnTo>
                <a:cubicBezTo>
                  <a:pt x="132093" y="145484"/>
                  <a:pt x="126234" y="145386"/>
                  <a:pt x="123182" y="141496"/>
                </a:cubicBezTo>
                <a:cubicBezTo>
                  <a:pt x="114664" y="130616"/>
                  <a:pt x="99008" y="110775"/>
                  <a:pt x="91032" y="100633"/>
                </a:cubicBezTo>
                <a:cubicBezTo>
                  <a:pt x="88374" y="97236"/>
                  <a:pt x="83549" y="96694"/>
                  <a:pt x="80447" y="99697"/>
                </a:cubicBezTo>
                <a:cubicBezTo>
                  <a:pt x="71438" y="108461"/>
                  <a:pt x="55092" y="127662"/>
                  <a:pt x="55092" y="151048"/>
                </a:cubicBezTo>
                <a:cubicBezTo>
                  <a:pt x="55092" y="184822"/>
                  <a:pt x="80004" y="204810"/>
                  <a:pt x="111070" y="204810"/>
                </a:cubicBezTo>
                <a:close/>
              </a:path>
            </a:pathLst>
          </a:custGeom>
          <a:solidFill>
            <a:srgbClr val="00B4D8"/>
          </a:solidFill>
          <a:ln/>
        </p:spPr>
      </p:sp>
      <p:sp>
        <p:nvSpPr>
          <p:cNvPr id="17" name="Text 15"/>
          <p:cNvSpPr/>
          <p:nvPr/>
        </p:nvSpPr>
        <p:spPr>
          <a:xfrm>
            <a:off x="2816197" y="3192943"/>
            <a:ext cx="731016" cy="168050"/>
          </a:xfrm>
          <a:prstGeom prst="rect">
            <a:avLst/>
          </a:prstGeom>
          <a:noFill/>
          <a:ln/>
        </p:spPr>
        <p:txBody>
          <a:bodyPr wrap="square" lIns="0" tIns="0" rIns="0" bIns="0" rtlCol="0" anchor="ctr"/>
          <a:lstStyle/>
          <a:p>
            <a:pPr algn="ctr">
              <a:lnSpc>
                <a:spcPct val="120000"/>
              </a:lnSpc>
            </a:pPr>
            <a:r>
              <a:rPr lang="en-US" sz="926" b="1" dirty="0">
                <a:solidFill>
                  <a:srgbClr val="F1FAEE"/>
                </a:solidFill>
                <a:latin typeface="Liter" pitchFamily="34" charset="0"/>
                <a:ea typeface="Liter" pitchFamily="34" charset="-122"/>
                <a:cs typeface="Liter" pitchFamily="34" charset="-120"/>
              </a:rPr>
              <a:t>Heatmap</a:t>
            </a:r>
            <a:endParaRPr lang="en-US" sz="1600" dirty="0"/>
          </a:p>
        </p:txBody>
      </p:sp>
      <p:sp>
        <p:nvSpPr>
          <p:cNvPr id="18" name="Shape 16"/>
          <p:cNvSpPr/>
          <p:nvPr/>
        </p:nvSpPr>
        <p:spPr>
          <a:xfrm>
            <a:off x="3753073" y="2781221"/>
            <a:ext cx="252074" cy="252074"/>
          </a:xfrm>
          <a:custGeom>
            <a:avLst/>
            <a:gdLst/>
            <a:ahLst/>
            <a:cxnLst/>
            <a:rect l="l" t="t" r="r" b="b"/>
            <a:pathLst>
              <a:path w="252074" h="252074">
                <a:moveTo>
                  <a:pt x="247447" y="137164"/>
                </a:moveTo>
                <a:cubicBezTo>
                  <a:pt x="253601" y="131010"/>
                  <a:pt x="253601" y="121015"/>
                  <a:pt x="247447" y="114861"/>
                </a:cubicBezTo>
                <a:lnTo>
                  <a:pt x="168673" y="36088"/>
                </a:lnTo>
                <a:cubicBezTo>
                  <a:pt x="162519" y="29934"/>
                  <a:pt x="152525" y="29934"/>
                  <a:pt x="146371" y="36088"/>
                </a:cubicBezTo>
                <a:cubicBezTo>
                  <a:pt x="140216" y="42242"/>
                  <a:pt x="140216" y="52237"/>
                  <a:pt x="146371" y="58391"/>
                </a:cubicBezTo>
                <a:lnTo>
                  <a:pt x="198262" y="110283"/>
                </a:lnTo>
                <a:lnTo>
                  <a:pt x="15755" y="110283"/>
                </a:lnTo>
                <a:cubicBezTo>
                  <a:pt x="7040" y="110283"/>
                  <a:pt x="0" y="117323"/>
                  <a:pt x="0" y="126037"/>
                </a:cubicBezTo>
                <a:cubicBezTo>
                  <a:pt x="0" y="134752"/>
                  <a:pt x="7040" y="141792"/>
                  <a:pt x="15755" y="141792"/>
                </a:cubicBezTo>
                <a:lnTo>
                  <a:pt x="198262" y="141792"/>
                </a:lnTo>
                <a:lnTo>
                  <a:pt x="146371" y="193684"/>
                </a:lnTo>
                <a:cubicBezTo>
                  <a:pt x="140216" y="199838"/>
                  <a:pt x="140216" y="209832"/>
                  <a:pt x="146371" y="215986"/>
                </a:cubicBezTo>
                <a:cubicBezTo>
                  <a:pt x="152525" y="222141"/>
                  <a:pt x="162519" y="222141"/>
                  <a:pt x="168673" y="215986"/>
                </a:cubicBezTo>
                <a:lnTo>
                  <a:pt x="247447" y="137213"/>
                </a:lnTo>
                <a:close/>
              </a:path>
            </a:pathLst>
          </a:custGeom>
          <a:solidFill>
            <a:srgbClr val="5C677D"/>
          </a:solidFill>
          <a:ln/>
        </p:spPr>
      </p:sp>
      <p:sp>
        <p:nvSpPr>
          <p:cNvPr id="19" name="Shape 17"/>
          <p:cNvSpPr/>
          <p:nvPr/>
        </p:nvSpPr>
        <p:spPr>
          <a:xfrm>
            <a:off x="4242938" y="2460246"/>
            <a:ext cx="660435" cy="660435"/>
          </a:xfrm>
          <a:prstGeom prst="roundRect">
            <a:avLst>
              <a:gd name="adj" fmla="val 10178"/>
            </a:avLst>
          </a:prstGeom>
          <a:solidFill>
            <a:srgbClr val="000000">
              <a:alpha val="0"/>
            </a:srgbClr>
          </a:solidFill>
          <a:ln w="20320">
            <a:solidFill>
              <a:srgbClr val="00B4D8"/>
            </a:solidFill>
            <a:prstDash val="solid"/>
          </a:ln>
        </p:spPr>
      </p:sp>
      <p:sp>
        <p:nvSpPr>
          <p:cNvPr id="20" name="Shape 18"/>
          <p:cNvSpPr/>
          <p:nvPr/>
        </p:nvSpPr>
        <p:spPr>
          <a:xfrm>
            <a:off x="4448379" y="2663586"/>
            <a:ext cx="252074" cy="252074"/>
          </a:xfrm>
          <a:custGeom>
            <a:avLst/>
            <a:gdLst/>
            <a:ahLst/>
            <a:cxnLst/>
            <a:rect l="l" t="t" r="r" b="b"/>
            <a:pathLst>
              <a:path w="252074" h="252074">
                <a:moveTo>
                  <a:pt x="126037" y="236320"/>
                </a:moveTo>
                <a:cubicBezTo>
                  <a:pt x="195653" y="236320"/>
                  <a:pt x="252074" y="183394"/>
                  <a:pt x="252074" y="118160"/>
                </a:cubicBezTo>
                <a:cubicBezTo>
                  <a:pt x="252074" y="52926"/>
                  <a:pt x="195653" y="0"/>
                  <a:pt x="126037" y="0"/>
                </a:cubicBezTo>
                <a:cubicBezTo>
                  <a:pt x="56421" y="0"/>
                  <a:pt x="0" y="52926"/>
                  <a:pt x="0" y="118160"/>
                </a:cubicBezTo>
                <a:cubicBezTo>
                  <a:pt x="0" y="144894"/>
                  <a:pt x="9453" y="169510"/>
                  <a:pt x="25404" y="189302"/>
                </a:cubicBezTo>
                <a:lnTo>
                  <a:pt x="1379" y="234744"/>
                </a:lnTo>
                <a:cubicBezTo>
                  <a:pt x="-985" y="239175"/>
                  <a:pt x="-246" y="244591"/>
                  <a:pt x="3151" y="248283"/>
                </a:cubicBezTo>
                <a:cubicBezTo>
                  <a:pt x="6548" y="251976"/>
                  <a:pt x="11914" y="253108"/>
                  <a:pt x="16493" y="251139"/>
                </a:cubicBezTo>
                <a:lnTo>
                  <a:pt x="74785" y="226178"/>
                </a:lnTo>
                <a:cubicBezTo>
                  <a:pt x="90442" y="232677"/>
                  <a:pt x="107772" y="236320"/>
                  <a:pt x="126037" y="236320"/>
                </a:cubicBezTo>
                <a:close/>
                <a:moveTo>
                  <a:pt x="63019" y="102405"/>
                </a:moveTo>
                <a:cubicBezTo>
                  <a:pt x="71714" y="102405"/>
                  <a:pt x="78773" y="109465"/>
                  <a:pt x="78773" y="118160"/>
                </a:cubicBezTo>
                <a:cubicBezTo>
                  <a:pt x="78773" y="126855"/>
                  <a:pt x="71714" y="133915"/>
                  <a:pt x="63019" y="133915"/>
                </a:cubicBezTo>
                <a:cubicBezTo>
                  <a:pt x="54323" y="133915"/>
                  <a:pt x="47264" y="126855"/>
                  <a:pt x="47264" y="118160"/>
                </a:cubicBezTo>
                <a:cubicBezTo>
                  <a:pt x="47264" y="109465"/>
                  <a:pt x="54323" y="102405"/>
                  <a:pt x="63019" y="102405"/>
                </a:cubicBezTo>
                <a:close/>
                <a:moveTo>
                  <a:pt x="126037" y="102405"/>
                </a:moveTo>
                <a:cubicBezTo>
                  <a:pt x="134732" y="102405"/>
                  <a:pt x="141792" y="109465"/>
                  <a:pt x="141792" y="118160"/>
                </a:cubicBezTo>
                <a:cubicBezTo>
                  <a:pt x="141792" y="126855"/>
                  <a:pt x="134732" y="133915"/>
                  <a:pt x="126037" y="133915"/>
                </a:cubicBezTo>
                <a:cubicBezTo>
                  <a:pt x="117342" y="133915"/>
                  <a:pt x="110283" y="126855"/>
                  <a:pt x="110283" y="118160"/>
                </a:cubicBezTo>
                <a:cubicBezTo>
                  <a:pt x="110283" y="109465"/>
                  <a:pt x="117342" y="102405"/>
                  <a:pt x="126037" y="102405"/>
                </a:cubicBezTo>
                <a:close/>
                <a:moveTo>
                  <a:pt x="173301" y="118160"/>
                </a:moveTo>
                <a:cubicBezTo>
                  <a:pt x="173301" y="109465"/>
                  <a:pt x="180361" y="102405"/>
                  <a:pt x="189056" y="102405"/>
                </a:cubicBezTo>
                <a:cubicBezTo>
                  <a:pt x="197751" y="102405"/>
                  <a:pt x="204810" y="109465"/>
                  <a:pt x="204810" y="118160"/>
                </a:cubicBezTo>
                <a:cubicBezTo>
                  <a:pt x="204810" y="126855"/>
                  <a:pt x="197751" y="133915"/>
                  <a:pt x="189056" y="133915"/>
                </a:cubicBezTo>
                <a:cubicBezTo>
                  <a:pt x="180361" y="133915"/>
                  <a:pt x="173301" y="126855"/>
                  <a:pt x="173301" y="118160"/>
                </a:cubicBezTo>
                <a:close/>
              </a:path>
            </a:pathLst>
          </a:custGeom>
          <a:solidFill>
            <a:srgbClr val="00B4D8"/>
          </a:solidFill>
          <a:ln/>
        </p:spPr>
      </p:sp>
      <p:sp>
        <p:nvSpPr>
          <p:cNvPr id="21" name="Text 19"/>
          <p:cNvSpPr/>
          <p:nvPr/>
        </p:nvSpPr>
        <p:spPr>
          <a:xfrm>
            <a:off x="4206807" y="3192943"/>
            <a:ext cx="731016" cy="168050"/>
          </a:xfrm>
          <a:prstGeom prst="rect">
            <a:avLst/>
          </a:prstGeom>
          <a:noFill/>
          <a:ln/>
        </p:spPr>
        <p:txBody>
          <a:bodyPr wrap="square" lIns="0" tIns="0" rIns="0" bIns="0" rtlCol="0" anchor="ctr"/>
          <a:lstStyle/>
          <a:p>
            <a:pPr algn="ctr">
              <a:lnSpc>
                <a:spcPct val="120000"/>
              </a:lnSpc>
            </a:pPr>
            <a:r>
              <a:rPr lang="en-US" sz="926" b="1" dirty="0">
                <a:solidFill>
                  <a:srgbClr val="F1FAEE"/>
                </a:solidFill>
                <a:latin typeface="Liter" pitchFamily="34" charset="0"/>
                <a:ea typeface="Liter" pitchFamily="34" charset="-122"/>
                <a:cs typeface="Liter" pitchFamily="34" charset="-120"/>
              </a:rPr>
              <a:t>Explanation</a:t>
            </a:r>
            <a:endParaRPr lang="en-US" sz="1600" dirty="0"/>
          </a:p>
        </p:txBody>
      </p:sp>
      <p:sp>
        <p:nvSpPr>
          <p:cNvPr id="22" name="Shape 20"/>
          <p:cNvSpPr/>
          <p:nvPr/>
        </p:nvSpPr>
        <p:spPr>
          <a:xfrm>
            <a:off x="2121626" y="3488712"/>
            <a:ext cx="117635" cy="117635"/>
          </a:xfrm>
          <a:custGeom>
            <a:avLst/>
            <a:gdLst/>
            <a:ahLst/>
            <a:cxnLst/>
            <a:rect l="l" t="t" r="r" b="b"/>
            <a:pathLst>
              <a:path w="117635" h="117635">
                <a:moveTo>
                  <a:pt x="58817" y="117635"/>
                </a:moveTo>
                <a:cubicBezTo>
                  <a:pt x="91280" y="117635"/>
                  <a:pt x="117635" y="91280"/>
                  <a:pt x="117635" y="58817"/>
                </a:cubicBezTo>
                <a:cubicBezTo>
                  <a:pt x="117635" y="26355"/>
                  <a:pt x="91280" y="0"/>
                  <a:pt x="58817" y="0"/>
                </a:cubicBezTo>
                <a:cubicBezTo>
                  <a:pt x="26355" y="0"/>
                  <a:pt x="0" y="26355"/>
                  <a:pt x="0" y="58817"/>
                </a:cubicBezTo>
                <a:cubicBezTo>
                  <a:pt x="0" y="91280"/>
                  <a:pt x="26355" y="117635"/>
                  <a:pt x="58817" y="117635"/>
                </a:cubicBezTo>
                <a:close/>
                <a:moveTo>
                  <a:pt x="78209" y="48869"/>
                </a:moveTo>
                <a:lnTo>
                  <a:pt x="59828" y="78278"/>
                </a:lnTo>
                <a:cubicBezTo>
                  <a:pt x="58863" y="79817"/>
                  <a:pt x="57209" y="80782"/>
                  <a:pt x="55394" y="80874"/>
                </a:cubicBezTo>
                <a:cubicBezTo>
                  <a:pt x="53579" y="80966"/>
                  <a:pt x="51833" y="80139"/>
                  <a:pt x="50753" y="78668"/>
                </a:cubicBezTo>
                <a:lnTo>
                  <a:pt x="39725" y="63964"/>
                </a:lnTo>
                <a:cubicBezTo>
                  <a:pt x="37887" y="61528"/>
                  <a:pt x="38392" y="58082"/>
                  <a:pt x="40828" y="56244"/>
                </a:cubicBezTo>
                <a:cubicBezTo>
                  <a:pt x="43263" y="54406"/>
                  <a:pt x="46709" y="54912"/>
                  <a:pt x="48547" y="57347"/>
                </a:cubicBezTo>
                <a:lnTo>
                  <a:pt x="54751" y="65618"/>
                </a:lnTo>
                <a:lnTo>
                  <a:pt x="68858" y="43033"/>
                </a:lnTo>
                <a:cubicBezTo>
                  <a:pt x="70466" y="40460"/>
                  <a:pt x="73866" y="39656"/>
                  <a:pt x="76463" y="41287"/>
                </a:cubicBezTo>
                <a:cubicBezTo>
                  <a:pt x="79059" y="42918"/>
                  <a:pt x="79840" y="46296"/>
                  <a:pt x="78209" y="48892"/>
                </a:cubicBezTo>
                <a:close/>
              </a:path>
            </a:pathLst>
          </a:custGeom>
          <a:solidFill>
            <a:srgbClr val="00B4D8"/>
          </a:solidFill>
          <a:ln/>
        </p:spPr>
      </p:sp>
      <p:sp>
        <p:nvSpPr>
          <p:cNvPr id="23" name="Text 21"/>
          <p:cNvSpPr/>
          <p:nvPr/>
        </p:nvSpPr>
        <p:spPr>
          <a:xfrm>
            <a:off x="816271" y="3461822"/>
            <a:ext cx="4901617" cy="168050"/>
          </a:xfrm>
          <a:prstGeom prst="rect">
            <a:avLst/>
          </a:prstGeom>
          <a:noFill/>
          <a:ln/>
        </p:spPr>
        <p:txBody>
          <a:bodyPr wrap="square" lIns="0" tIns="0" rIns="0" bIns="0" rtlCol="0" anchor="ctr"/>
          <a:lstStyle/>
          <a:p>
            <a:pPr algn="ctr">
              <a:lnSpc>
                <a:spcPct val="120000"/>
              </a:lnSpc>
            </a:pPr>
            <a:r>
              <a:rPr lang="en-US" sz="926" b="1" dirty="0">
                <a:solidFill>
                  <a:srgbClr val="00B4D8"/>
                </a:solidFill>
                <a:latin typeface="Liter" pitchFamily="34" charset="0"/>
                <a:ea typeface="Liter" pitchFamily="34" charset="-122"/>
                <a:cs typeface="Liter" pitchFamily="34" charset="-120"/>
              </a:rPr>
              <a:t>XAI: From Black Box to Transparent AI</a:t>
            </a:r>
            <a:endParaRPr lang="en-US" sz="1600" dirty="0"/>
          </a:p>
        </p:txBody>
      </p:sp>
      <p:sp>
        <p:nvSpPr>
          <p:cNvPr id="24" name="Shape 22"/>
          <p:cNvSpPr/>
          <p:nvPr/>
        </p:nvSpPr>
        <p:spPr>
          <a:xfrm>
            <a:off x="339460" y="4103772"/>
            <a:ext cx="5653189" cy="1737633"/>
          </a:xfrm>
          <a:prstGeom prst="roundRect">
            <a:avLst>
              <a:gd name="adj" fmla="val 3868"/>
            </a:avLst>
          </a:prstGeom>
          <a:solidFill>
            <a:srgbClr val="112240"/>
          </a:solidFill>
          <a:ln w="10160">
            <a:solidFill>
              <a:srgbClr val="3A86FF"/>
            </a:solidFill>
            <a:prstDash val="solid"/>
          </a:ln>
        </p:spPr>
      </p:sp>
      <p:sp>
        <p:nvSpPr>
          <p:cNvPr id="25" name="Text 23"/>
          <p:cNvSpPr/>
          <p:nvPr/>
        </p:nvSpPr>
        <p:spPr>
          <a:xfrm>
            <a:off x="477261" y="4241575"/>
            <a:ext cx="5453210" cy="235269"/>
          </a:xfrm>
          <a:prstGeom prst="rect">
            <a:avLst/>
          </a:prstGeom>
          <a:noFill/>
          <a:ln/>
        </p:spPr>
        <p:txBody>
          <a:bodyPr wrap="square" lIns="0" tIns="0" rIns="0" bIns="0" rtlCol="0" anchor="ctr"/>
          <a:lstStyle/>
          <a:p>
            <a:pPr>
              <a:lnSpc>
                <a:spcPct val="130000"/>
              </a:lnSpc>
            </a:pPr>
            <a:r>
              <a:rPr lang="en-US" sz="1191" b="1" dirty="0">
                <a:solidFill>
                  <a:srgbClr val="3A86FF"/>
                </a:solidFill>
                <a:latin typeface="Liter" pitchFamily="34" charset="0"/>
                <a:ea typeface="Liter" pitchFamily="34" charset="-122"/>
                <a:cs typeface="Liter" pitchFamily="34" charset="-120"/>
              </a:rPr>
              <a:t>How XAI Works for Retinal Imaging</a:t>
            </a:r>
            <a:endParaRPr lang="en-US" sz="1600" dirty="0"/>
          </a:p>
        </p:txBody>
      </p:sp>
      <p:sp>
        <p:nvSpPr>
          <p:cNvPr id="26" name="Text 24"/>
          <p:cNvSpPr/>
          <p:nvPr/>
        </p:nvSpPr>
        <p:spPr>
          <a:xfrm>
            <a:off x="477261" y="4577674"/>
            <a:ext cx="5436405" cy="386514"/>
          </a:xfrm>
          <a:prstGeom prst="rect">
            <a:avLst/>
          </a:prstGeom>
          <a:noFill/>
          <a:ln/>
        </p:spPr>
        <p:txBody>
          <a:bodyPr wrap="square" lIns="0" tIns="0" rIns="0" bIns="0" rtlCol="0" anchor="ctr"/>
          <a:lstStyle/>
          <a:p>
            <a:pPr>
              <a:lnSpc>
                <a:spcPct val="140000"/>
              </a:lnSpc>
            </a:pPr>
            <a:r>
              <a:rPr lang="en-US" sz="926" dirty="0">
                <a:solidFill>
                  <a:srgbClr val="F1FAEE"/>
                </a:solidFill>
                <a:latin typeface="Liter" pitchFamily="34" charset="0"/>
                <a:ea typeface="Liter" pitchFamily="34" charset="-122"/>
                <a:cs typeface="Liter" pitchFamily="34" charset="-120"/>
              </a:rPr>
              <a:t>XAI identifies </a:t>
            </a:r>
            <a:pPr>
              <a:lnSpc>
                <a:spcPct val="140000"/>
              </a:lnSpc>
            </a:pPr>
            <a:r>
              <a:rPr lang="en-US" sz="926" b="1" dirty="0">
                <a:solidFill>
                  <a:srgbClr val="F1FAEE"/>
                </a:solidFill>
                <a:latin typeface="Liter" pitchFamily="34" charset="0"/>
                <a:ea typeface="Liter" pitchFamily="34" charset="-122"/>
                <a:cs typeface="Liter" pitchFamily="34" charset="-120"/>
              </a:rPr>
              <a:t>retinal regions influencing prediction</a:t>
            </a:r>
            <a:pPr>
              <a:lnSpc>
                <a:spcPct val="140000"/>
              </a:lnSpc>
            </a:pPr>
            <a:r>
              <a:rPr lang="en-US" sz="926" dirty="0">
                <a:solidFill>
                  <a:srgbClr val="F1FAEE"/>
                </a:solidFill>
                <a:latin typeface="Liter" pitchFamily="34" charset="0"/>
                <a:ea typeface="Liter" pitchFamily="34" charset="-122"/>
                <a:cs typeface="Liter" pitchFamily="34" charset="-120"/>
              </a:rPr>
              <a:t> by generating heatmaps over input images. These heatmaps highlight areas that significantly contribute to the model's decision [2][6][9].</a:t>
            </a:r>
            <a:endParaRPr lang="en-US" sz="1600" dirty="0"/>
          </a:p>
        </p:txBody>
      </p:sp>
      <p:sp>
        <p:nvSpPr>
          <p:cNvPr id="27" name="Shape 25"/>
          <p:cNvSpPr/>
          <p:nvPr/>
        </p:nvSpPr>
        <p:spPr>
          <a:xfrm>
            <a:off x="477261" y="5060817"/>
            <a:ext cx="2638379" cy="638589"/>
          </a:xfrm>
          <a:prstGeom prst="roundRect">
            <a:avLst>
              <a:gd name="adj" fmla="val 10526"/>
            </a:avLst>
          </a:prstGeom>
          <a:solidFill>
            <a:srgbClr val="3A86FF"/>
          </a:solidFill>
          <a:ln/>
        </p:spPr>
      </p:sp>
      <p:sp>
        <p:nvSpPr>
          <p:cNvPr id="28" name="Shape 26"/>
          <p:cNvSpPr/>
          <p:nvPr/>
        </p:nvSpPr>
        <p:spPr>
          <a:xfrm>
            <a:off x="1682387" y="5161647"/>
            <a:ext cx="226867" cy="201660"/>
          </a:xfrm>
          <a:custGeom>
            <a:avLst/>
            <a:gdLst/>
            <a:ahLst/>
            <a:cxnLst/>
            <a:rect l="l" t="t" r="r" b="b"/>
            <a:pathLst>
              <a:path w="226867" h="201660">
                <a:moveTo>
                  <a:pt x="113433" y="12604"/>
                </a:moveTo>
                <a:cubicBezTo>
                  <a:pt x="81609" y="12604"/>
                  <a:pt x="56126" y="27098"/>
                  <a:pt x="37575" y="44349"/>
                </a:cubicBezTo>
                <a:cubicBezTo>
                  <a:pt x="19142" y="61483"/>
                  <a:pt x="6814" y="81924"/>
                  <a:pt x="945" y="95985"/>
                </a:cubicBezTo>
                <a:cubicBezTo>
                  <a:pt x="-354" y="99097"/>
                  <a:pt x="-354" y="102563"/>
                  <a:pt x="945" y="105674"/>
                </a:cubicBezTo>
                <a:cubicBezTo>
                  <a:pt x="6814" y="119735"/>
                  <a:pt x="19142" y="140216"/>
                  <a:pt x="37575" y="157310"/>
                </a:cubicBezTo>
                <a:cubicBezTo>
                  <a:pt x="56126" y="174522"/>
                  <a:pt x="81609" y="189056"/>
                  <a:pt x="113433" y="189056"/>
                </a:cubicBezTo>
                <a:cubicBezTo>
                  <a:pt x="145258" y="189056"/>
                  <a:pt x="170741" y="174562"/>
                  <a:pt x="189292" y="157310"/>
                </a:cubicBezTo>
                <a:cubicBezTo>
                  <a:pt x="207725" y="140177"/>
                  <a:pt x="220053" y="119735"/>
                  <a:pt x="225922" y="105674"/>
                </a:cubicBezTo>
                <a:cubicBezTo>
                  <a:pt x="227221" y="102563"/>
                  <a:pt x="227221" y="99097"/>
                  <a:pt x="225922" y="95985"/>
                </a:cubicBezTo>
                <a:cubicBezTo>
                  <a:pt x="220053" y="81924"/>
                  <a:pt x="207725" y="61443"/>
                  <a:pt x="189292" y="44349"/>
                </a:cubicBezTo>
                <a:cubicBezTo>
                  <a:pt x="170741" y="27137"/>
                  <a:pt x="145258" y="12604"/>
                  <a:pt x="113433" y="12604"/>
                </a:cubicBezTo>
                <a:close/>
                <a:moveTo>
                  <a:pt x="56717" y="100830"/>
                </a:moveTo>
                <a:cubicBezTo>
                  <a:pt x="56717" y="69527"/>
                  <a:pt x="82131" y="44113"/>
                  <a:pt x="113433" y="44113"/>
                </a:cubicBezTo>
                <a:cubicBezTo>
                  <a:pt x="144736" y="44113"/>
                  <a:pt x="170150" y="69527"/>
                  <a:pt x="170150" y="100830"/>
                </a:cubicBezTo>
                <a:cubicBezTo>
                  <a:pt x="170150" y="132133"/>
                  <a:pt x="144736" y="157547"/>
                  <a:pt x="113433" y="157547"/>
                </a:cubicBezTo>
                <a:cubicBezTo>
                  <a:pt x="82131" y="157547"/>
                  <a:pt x="56717" y="132133"/>
                  <a:pt x="56717" y="100830"/>
                </a:cubicBezTo>
                <a:close/>
                <a:moveTo>
                  <a:pt x="113433" y="75622"/>
                </a:moveTo>
                <a:cubicBezTo>
                  <a:pt x="113433" y="89526"/>
                  <a:pt x="102130" y="100830"/>
                  <a:pt x="88226" y="100830"/>
                </a:cubicBezTo>
                <a:cubicBezTo>
                  <a:pt x="83697" y="100830"/>
                  <a:pt x="79443" y="99648"/>
                  <a:pt x="75740" y="97521"/>
                </a:cubicBezTo>
                <a:cubicBezTo>
                  <a:pt x="75347" y="101814"/>
                  <a:pt x="75701" y="106226"/>
                  <a:pt x="76883" y="110598"/>
                </a:cubicBezTo>
                <a:cubicBezTo>
                  <a:pt x="82279" y="130764"/>
                  <a:pt x="103035" y="142737"/>
                  <a:pt x="123201" y="137341"/>
                </a:cubicBezTo>
                <a:cubicBezTo>
                  <a:pt x="143367" y="131945"/>
                  <a:pt x="155341" y="111188"/>
                  <a:pt x="149945" y="91023"/>
                </a:cubicBezTo>
                <a:cubicBezTo>
                  <a:pt x="145140" y="73023"/>
                  <a:pt x="128085" y="61561"/>
                  <a:pt x="110125" y="63137"/>
                </a:cubicBezTo>
                <a:cubicBezTo>
                  <a:pt x="112213" y="66800"/>
                  <a:pt x="113433" y="71053"/>
                  <a:pt x="113433" y="75622"/>
                </a:cubicBezTo>
                <a:close/>
              </a:path>
            </a:pathLst>
          </a:custGeom>
          <a:solidFill>
            <a:srgbClr val="F1FAEE"/>
          </a:solidFill>
          <a:ln/>
        </p:spPr>
      </p:sp>
      <p:sp>
        <p:nvSpPr>
          <p:cNvPr id="29" name="Text 27"/>
          <p:cNvSpPr/>
          <p:nvPr/>
        </p:nvSpPr>
        <p:spPr>
          <a:xfrm>
            <a:off x="548682" y="5430526"/>
            <a:ext cx="2495537" cy="168050"/>
          </a:xfrm>
          <a:prstGeom prst="rect">
            <a:avLst/>
          </a:prstGeom>
          <a:noFill/>
          <a:ln/>
        </p:spPr>
        <p:txBody>
          <a:bodyPr wrap="square" lIns="0" tIns="0" rIns="0" bIns="0" rtlCol="0" anchor="ctr"/>
          <a:lstStyle/>
          <a:p>
            <a:pPr algn="ctr">
              <a:lnSpc>
                <a:spcPct val="120000"/>
              </a:lnSpc>
            </a:pPr>
            <a:r>
              <a:rPr lang="en-US" sz="926" b="1" dirty="0">
                <a:solidFill>
                  <a:srgbClr val="F1FAEE"/>
                </a:solidFill>
                <a:latin typeface="Liter" pitchFamily="34" charset="0"/>
                <a:ea typeface="Liter" pitchFamily="34" charset="-122"/>
                <a:cs typeface="Liter" pitchFamily="34" charset="-120"/>
              </a:rPr>
              <a:t>Visual Evidence</a:t>
            </a:r>
            <a:endParaRPr lang="en-US" sz="1600" dirty="0"/>
          </a:p>
        </p:txBody>
      </p:sp>
      <p:sp>
        <p:nvSpPr>
          <p:cNvPr id="30" name="Shape 28"/>
          <p:cNvSpPr/>
          <p:nvPr/>
        </p:nvSpPr>
        <p:spPr>
          <a:xfrm>
            <a:off x="3215314" y="5060817"/>
            <a:ext cx="2638379" cy="638589"/>
          </a:xfrm>
          <a:prstGeom prst="roundRect">
            <a:avLst>
              <a:gd name="adj" fmla="val 10526"/>
            </a:avLst>
          </a:prstGeom>
          <a:solidFill>
            <a:srgbClr val="00B4D8"/>
          </a:solidFill>
          <a:ln/>
        </p:spPr>
      </p:sp>
      <p:sp>
        <p:nvSpPr>
          <p:cNvPr id="31" name="Shape 29"/>
          <p:cNvSpPr/>
          <p:nvPr/>
        </p:nvSpPr>
        <p:spPr>
          <a:xfrm>
            <a:off x="4433044" y="5161647"/>
            <a:ext cx="201660" cy="201660"/>
          </a:xfrm>
          <a:custGeom>
            <a:avLst/>
            <a:gdLst/>
            <a:ahLst/>
            <a:cxnLst/>
            <a:rect l="l" t="t" r="r" b="b"/>
            <a:pathLst>
              <a:path w="201660" h="201660">
                <a:moveTo>
                  <a:pt x="100830" y="0"/>
                </a:moveTo>
                <a:cubicBezTo>
                  <a:pt x="102642" y="0"/>
                  <a:pt x="104453" y="394"/>
                  <a:pt x="106108" y="1142"/>
                </a:cubicBezTo>
                <a:lnTo>
                  <a:pt x="180312" y="32612"/>
                </a:lnTo>
                <a:cubicBezTo>
                  <a:pt x="188977" y="36275"/>
                  <a:pt x="195436" y="44822"/>
                  <a:pt x="195397" y="55141"/>
                </a:cubicBezTo>
                <a:cubicBezTo>
                  <a:pt x="195200" y="94213"/>
                  <a:pt x="179130" y="165700"/>
                  <a:pt x="111267" y="198194"/>
                </a:cubicBezTo>
                <a:cubicBezTo>
                  <a:pt x="104690" y="201344"/>
                  <a:pt x="97049" y="201344"/>
                  <a:pt x="90471" y="198194"/>
                </a:cubicBezTo>
                <a:cubicBezTo>
                  <a:pt x="22569" y="165700"/>
                  <a:pt x="6538" y="94213"/>
                  <a:pt x="6341" y="55141"/>
                </a:cubicBezTo>
                <a:cubicBezTo>
                  <a:pt x="6302" y="44822"/>
                  <a:pt x="12761" y="36275"/>
                  <a:pt x="21426" y="32612"/>
                </a:cubicBezTo>
                <a:lnTo>
                  <a:pt x="95591" y="1142"/>
                </a:lnTo>
                <a:cubicBezTo>
                  <a:pt x="97246" y="394"/>
                  <a:pt x="99018" y="0"/>
                  <a:pt x="100830" y="0"/>
                </a:cubicBezTo>
                <a:close/>
                <a:moveTo>
                  <a:pt x="100830" y="26310"/>
                </a:moveTo>
                <a:lnTo>
                  <a:pt x="100830" y="175231"/>
                </a:lnTo>
                <a:cubicBezTo>
                  <a:pt x="155183" y="148921"/>
                  <a:pt x="169796" y="90629"/>
                  <a:pt x="170150" y="55732"/>
                </a:cubicBezTo>
                <a:lnTo>
                  <a:pt x="100830" y="26350"/>
                </a:lnTo>
                <a:lnTo>
                  <a:pt x="100830" y="26350"/>
                </a:lnTo>
                <a:close/>
              </a:path>
            </a:pathLst>
          </a:custGeom>
          <a:solidFill>
            <a:srgbClr val="F1FAEE"/>
          </a:solidFill>
          <a:ln/>
        </p:spPr>
      </p:sp>
      <p:sp>
        <p:nvSpPr>
          <p:cNvPr id="32" name="Text 30"/>
          <p:cNvSpPr/>
          <p:nvPr/>
        </p:nvSpPr>
        <p:spPr>
          <a:xfrm>
            <a:off x="3286736" y="5430526"/>
            <a:ext cx="2495537" cy="168050"/>
          </a:xfrm>
          <a:prstGeom prst="rect">
            <a:avLst/>
          </a:prstGeom>
          <a:noFill/>
          <a:ln/>
        </p:spPr>
        <p:txBody>
          <a:bodyPr wrap="square" lIns="0" tIns="0" rIns="0" bIns="0" rtlCol="0" anchor="ctr"/>
          <a:lstStyle/>
          <a:p>
            <a:pPr algn="ctr">
              <a:lnSpc>
                <a:spcPct val="120000"/>
              </a:lnSpc>
            </a:pPr>
            <a:r>
              <a:rPr lang="en-US" sz="926" b="1" dirty="0">
                <a:solidFill>
                  <a:srgbClr val="F1FAEE"/>
                </a:solidFill>
                <a:latin typeface="Liter" pitchFamily="34" charset="0"/>
                <a:ea typeface="Liter" pitchFamily="34" charset="-122"/>
                <a:cs typeface="Liter" pitchFamily="34" charset="-120"/>
              </a:rPr>
              <a:t>Clinical Trust</a:t>
            </a:r>
            <a:endParaRPr lang="en-US" sz="1600" dirty="0"/>
          </a:p>
        </p:txBody>
      </p:sp>
      <p:sp>
        <p:nvSpPr>
          <p:cNvPr id="33" name="Shape 31"/>
          <p:cNvSpPr/>
          <p:nvPr/>
        </p:nvSpPr>
        <p:spPr>
          <a:xfrm>
            <a:off x="6202081" y="1250289"/>
            <a:ext cx="5643106" cy="2248504"/>
          </a:xfrm>
          <a:prstGeom prst="roundRect">
            <a:avLst>
              <a:gd name="adj" fmla="val 2990"/>
            </a:avLst>
          </a:prstGeom>
          <a:solidFill>
            <a:srgbClr val="000000">
              <a:alpha val="0"/>
            </a:srgbClr>
          </a:solidFill>
          <a:ln w="20320">
            <a:solidFill>
              <a:srgbClr val="00B4D8"/>
            </a:solidFill>
            <a:prstDash val="solid"/>
          </a:ln>
        </p:spPr>
      </p:sp>
      <p:pic>
        <p:nvPicPr>
          <p:cNvPr id="34" name="Image 0" descr="https://kimi-web-img.moonshot.cn/img/ars.els-cdn.com/2c4c643d3864c24d4ea3327ec5d569d0c7fc5909.jpg">    </p:cNvPr>
          <p:cNvPicPr>
            <a:picLocks noChangeAspect="1"/>
          </p:cNvPicPr>
          <p:nvPr/>
        </p:nvPicPr>
        <p:blipFill>
          <a:blip r:embed="rId1"/>
          <a:srcRect l="2576" r="2576" t="0" b="0"/>
          <a:stretch/>
        </p:blipFill>
        <p:spPr>
          <a:xfrm>
            <a:off x="6208803" y="1257012"/>
            <a:ext cx="5629662" cy="2235060"/>
          </a:xfrm>
          <a:prstGeom prst="roundRect">
            <a:avLst>
              <a:gd name="adj" fmla="val 3008"/>
            </a:avLst>
          </a:prstGeom>
        </p:spPr>
      </p:pic>
      <p:sp>
        <p:nvSpPr>
          <p:cNvPr id="35" name="Shape 32"/>
          <p:cNvSpPr/>
          <p:nvPr/>
        </p:nvSpPr>
        <p:spPr>
          <a:xfrm>
            <a:off x="6198720" y="3673670"/>
            <a:ext cx="5653189" cy="645311"/>
          </a:xfrm>
          <a:prstGeom prst="roundRect">
            <a:avLst>
              <a:gd name="adj" fmla="val 10417"/>
            </a:avLst>
          </a:prstGeom>
          <a:solidFill>
            <a:srgbClr val="112240"/>
          </a:solidFill>
          <a:ln w="10160">
            <a:solidFill>
              <a:srgbClr val="00B4D8"/>
            </a:solidFill>
            <a:prstDash val="solid"/>
          </a:ln>
        </p:spPr>
      </p:sp>
      <p:sp>
        <p:nvSpPr>
          <p:cNvPr id="36" name="Text 33"/>
          <p:cNvSpPr/>
          <p:nvPr/>
        </p:nvSpPr>
        <p:spPr>
          <a:xfrm>
            <a:off x="6336521" y="3811473"/>
            <a:ext cx="5436405" cy="168050"/>
          </a:xfrm>
          <a:prstGeom prst="rect">
            <a:avLst/>
          </a:prstGeom>
          <a:noFill/>
          <a:ln/>
        </p:spPr>
        <p:txBody>
          <a:bodyPr wrap="square" lIns="0" tIns="0" rIns="0" bIns="0" rtlCol="0" anchor="ctr"/>
          <a:lstStyle/>
          <a:p>
            <a:pPr>
              <a:lnSpc>
                <a:spcPct val="120000"/>
              </a:lnSpc>
            </a:pPr>
            <a:r>
              <a:rPr lang="en-US" sz="926" b="1" dirty="0">
                <a:solidFill>
                  <a:srgbClr val="00B4D8"/>
                </a:solidFill>
                <a:latin typeface="Liter" pitchFamily="34" charset="0"/>
                <a:ea typeface="Liter" pitchFamily="34" charset="-122"/>
                <a:cs typeface="Liter" pitchFamily="34" charset="-120"/>
              </a:rPr>
              <a:t>Retinal Heatmap Examples</a:t>
            </a:r>
            <a:endParaRPr lang="en-US" sz="1600" dirty="0"/>
          </a:p>
        </p:txBody>
      </p:sp>
      <p:sp>
        <p:nvSpPr>
          <p:cNvPr id="37" name="Text 34"/>
          <p:cNvSpPr/>
          <p:nvPr/>
        </p:nvSpPr>
        <p:spPr>
          <a:xfrm>
            <a:off x="6336521" y="4046742"/>
            <a:ext cx="5428003" cy="134440"/>
          </a:xfrm>
          <a:prstGeom prst="rect">
            <a:avLst/>
          </a:prstGeom>
          <a:noFill/>
          <a:ln/>
        </p:spPr>
        <p:txBody>
          <a:bodyPr wrap="square" lIns="0" tIns="0" rIns="0" bIns="0" rtlCol="0" anchor="ctr"/>
          <a:lstStyle/>
          <a:p>
            <a:pPr>
              <a:lnSpc>
                <a:spcPct val="110000"/>
              </a:lnSpc>
            </a:pPr>
            <a:r>
              <a:rPr lang="en-US" sz="794" dirty="0">
                <a:solidFill>
                  <a:srgbClr val="F1FAEE"/>
                </a:solidFill>
                <a:latin typeface="Liter" pitchFamily="34" charset="0"/>
                <a:ea typeface="Liter" pitchFamily="34" charset="-122"/>
                <a:cs typeface="Liter" pitchFamily="34" charset="-120"/>
              </a:rPr>
              <a:t>Grad-CAM highlights diagnostic regions: CNV (subretinal areas), DME (macular fluid), Drusen (perifoveal deposits) [2][6]</a:t>
            </a:r>
            <a:endParaRPr lang="en-US" sz="1600" dirty="0"/>
          </a:p>
        </p:txBody>
      </p:sp>
      <p:sp>
        <p:nvSpPr>
          <p:cNvPr id="38" name="Shape 35"/>
          <p:cNvSpPr/>
          <p:nvPr/>
        </p:nvSpPr>
        <p:spPr>
          <a:xfrm>
            <a:off x="6198720" y="4493646"/>
            <a:ext cx="5653189" cy="1418339"/>
          </a:xfrm>
          <a:prstGeom prst="roundRect">
            <a:avLst>
              <a:gd name="adj" fmla="val 4739"/>
            </a:avLst>
          </a:prstGeom>
          <a:solidFill>
            <a:srgbClr val="112240"/>
          </a:solidFill>
          <a:ln w="10160">
            <a:solidFill>
              <a:srgbClr val="3A86FF"/>
            </a:solidFill>
            <a:prstDash val="solid"/>
          </a:ln>
        </p:spPr>
      </p:sp>
      <p:sp>
        <p:nvSpPr>
          <p:cNvPr id="39" name="Text 36"/>
          <p:cNvSpPr/>
          <p:nvPr/>
        </p:nvSpPr>
        <p:spPr>
          <a:xfrm>
            <a:off x="6336521" y="4631449"/>
            <a:ext cx="5444808" cy="201660"/>
          </a:xfrm>
          <a:prstGeom prst="rect">
            <a:avLst/>
          </a:prstGeom>
          <a:noFill/>
          <a:ln/>
        </p:spPr>
        <p:txBody>
          <a:bodyPr wrap="square" lIns="0" tIns="0" rIns="0" bIns="0" rtlCol="0" anchor="ctr"/>
          <a:lstStyle/>
          <a:p>
            <a:pPr>
              <a:lnSpc>
                <a:spcPct val="130000"/>
              </a:lnSpc>
            </a:pPr>
            <a:r>
              <a:rPr lang="en-US" sz="1059" b="1" dirty="0">
                <a:solidFill>
                  <a:srgbClr val="3A86FF"/>
                </a:solidFill>
                <a:latin typeface="Liter" pitchFamily="34" charset="0"/>
                <a:ea typeface="Liter" pitchFamily="34" charset="-122"/>
                <a:cs typeface="Liter" pitchFamily="34" charset="-120"/>
              </a:rPr>
              <a:t>XAI Benefits in Healthcare</a:t>
            </a:r>
            <a:endParaRPr lang="en-US" sz="1600" dirty="0"/>
          </a:p>
        </p:txBody>
      </p:sp>
      <p:sp>
        <p:nvSpPr>
          <p:cNvPr id="40" name="Shape 37"/>
          <p:cNvSpPr/>
          <p:nvPr/>
        </p:nvSpPr>
        <p:spPr>
          <a:xfrm>
            <a:off x="6360678" y="4933939"/>
            <a:ext cx="102930" cy="117635"/>
          </a:xfrm>
          <a:custGeom>
            <a:avLst/>
            <a:gdLst/>
            <a:ahLst/>
            <a:cxnLst/>
            <a:rect l="l" t="t" r="r" b="b"/>
            <a:pathLst>
              <a:path w="102930" h="117635">
                <a:moveTo>
                  <a:pt x="99898" y="16106"/>
                </a:moveTo>
                <a:cubicBezTo>
                  <a:pt x="103183" y="18495"/>
                  <a:pt x="103918" y="23090"/>
                  <a:pt x="101529" y="26376"/>
                </a:cubicBezTo>
                <a:lnTo>
                  <a:pt x="42712" y="107250"/>
                </a:lnTo>
                <a:cubicBezTo>
                  <a:pt x="41448" y="108996"/>
                  <a:pt x="39495" y="110076"/>
                  <a:pt x="37335" y="110260"/>
                </a:cubicBezTo>
                <a:cubicBezTo>
                  <a:pt x="35176" y="110443"/>
                  <a:pt x="33085" y="109639"/>
                  <a:pt x="31568" y="108123"/>
                </a:cubicBezTo>
                <a:lnTo>
                  <a:pt x="2160" y="78714"/>
                </a:lnTo>
                <a:cubicBezTo>
                  <a:pt x="-712" y="75842"/>
                  <a:pt x="-712" y="71178"/>
                  <a:pt x="2160" y="68306"/>
                </a:cubicBezTo>
                <a:cubicBezTo>
                  <a:pt x="5032" y="65434"/>
                  <a:pt x="9696" y="65434"/>
                  <a:pt x="12568" y="68306"/>
                </a:cubicBezTo>
                <a:lnTo>
                  <a:pt x="35888" y="91626"/>
                </a:lnTo>
                <a:lnTo>
                  <a:pt x="89651" y="17714"/>
                </a:lnTo>
                <a:cubicBezTo>
                  <a:pt x="92040" y="14429"/>
                  <a:pt x="96635" y="13693"/>
                  <a:pt x="99921" y="16083"/>
                </a:cubicBezTo>
                <a:close/>
              </a:path>
            </a:pathLst>
          </a:custGeom>
          <a:solidFill>
            <a:srgbClr val="00B4D8"/>
          </a:solidFill>
          <a:ln/>
        </p:spPr>
      </p:sp>
      <p:sp>
        <p:nvSpPr>
          <p:cNvPr id="41" name="Text 38"/>
          <p:cNvSpPr/>
          <p:nvPr/>
        </p:nvSpPr>
        <p:spPr>
          <a:xfrm>
            <a:off x="6550784" y="4900329"/>
            <a:ext cx="1747716" cy="168050"/>
          </a:xfrm>
          <a:prstGeom prst="rect">
            <a:avLst/>
          </a:prstGeom>
          <a:noFill/>
          <a:ln/>
        </p:spPr>
        <p:txBody>
          <a:bodyPr wrap="square" lIns="0" tIns="0" rIns="0" bIns="0" rtlCol="0" anchor="ctr"/>
          <a:lstStyle/>
          <a:p>
            <a:pPr>
              <a:lnSpc>
                <a:spcPct val="120000"/>
              </a:lnSpc>
            </a:pPr>
            <a:r>
              <a:rPr lang="en-US" sz="926" dirty="0">
                <a:solidFill>
                  <a:srgbClr val="F1FAEE"/>
                </a:solidFill>
                <a:latin typeface="Liter" pitchFamily="34" charset="0"/>
                <a:ea typeface="Liter" pitchFamily="34" charset="-122"/>
                <a:cs typeface="Liter" pitchFamily="34" charset="-120"/>
              </a:rPr>
              <a:t>Clinical validation of AI decisions</a:t>
            </a:r>
            <a:endParaRPr lang="en-US" sz="1600" dirty="0"/>
          </a:p>
        </p:txBody>
      </p:sp>
      <p:sp>
        <p:nvSpPr>
          <p:cNvPr id="42" name="Shape 39"/>
          <p:cNvSpPr/>
          <p:nvPr/>
        </p:nvSpPr>
        <p:spPr>
          <a:xfrm>
            <a:off x="6360678" y="5169208"/>
            <a:ext cx="102930" cy="117635"/>
          </a:xfrm>
          <a:custGeom>
            <a:avLst/>
            <a:gdLst/>
            <a:ahLst/>
            <a:cxnLst/>
            <a:rect l="l" t="t" r="r" b="b"/>
            <a:pathLst>
              <a:path w="102930" h="117635">
                <a:moveTo>
                  <a:pt x="99898" y="16106"/>
                </a:moveTo>
                <a:cubicBezTo>
                  <a:pt x="103183" y="18495"/>
                  <a:pt x="103918" y="23090"/>
                  <a:pt x="101529" y="26376"/>
                </a:cubicBezTo>
                <a:lnTo>
                  <a:pt x="42712" y="107250"/>
                </a:lnTo>
                <a:cubicBezTo>
                  <a:pt x="41448" y="108996"/>
                  <a:pt x="39495" y="110076"/>
                  <a:pt x="37335" y="110260"/>
                </a:cubicBezTo>
                <a:cubicBezTo>
                  <a:pt x="35176" y="110443"/>
                  <a:pt x="33085" y="109639"/>
                  <a:pt x="31568" y="108123"/>
                </a:cubicBezTo>
                <a:lnTo>
                  <a:pt x="2160" y="78714"/>
                </a:lnTo>
                <a:cubicBezTo>
                  <a:pt x="-712" y="75842"/>
                  <a:pt x="-712" y="71178"/>
                  <a:pt x="2160" y="68306"/>
                </a:cubicBezTo>
                <a:cubicBezTo>
                  <a:pt x="5032" y="65434"/>
                  <a:pt x="9696" y="65434"/>
                  <a:pt x="12568" y="68306"/>
                </a:cubicBezTo>
                <a:lnTo>
                  <a:pt x="35888" y="91626"/>
                </a:lnTo>
                <a:lnTo>
                  <a:pt x="89651" y="17714"/>
                </a:lnTo>
                <a:cubicBezTo>
                  <a:pt x="92040" y="14429"/>
                  <a:pt x="96635" y="13693"/>
                  <a:pt x="99921" y="16083"/>
                </a:cubicBezTo>
                <a:close/>
              </a:path>
            </a:pathLst>
          </a:custGeom>
          <a:solidFill>
            <a:srgbClr val="00B4D8"/>
          </a:solidFill>
          <a:ln/>
        </p:spPr>
      </p:sp>
      <p:sp>
        <p:nvSpPr>
          <p:cNvPr id="43" name="Text 40"/>
          <p:cNvSpPr/>
          <p:nvPr/>
        </p:nvSpPr>
        <p:spPr>
          <a:xfrm>
            <a:off x="6550784" y="5135598"/>
            <a:ext cx="1831741" cy="168050"/>
          </a:xfrm>
          <a:prstGeom prst="rect">
            <a:avLst/>
          </a:prstGeom>
          <a:noFill/>
          <a:ln/>
        </p:spPr>
        <p:txBody>
          <a:bodyPr wrap="square" lIns="0" tIns="0" rIns="0" bIns="0" rtlCol="0" anchor="ctr"/>
          <a:lstStyle/>
          <a:p>
            <a:pPr>
              <a:lnSpc>
                <a:spcPct val="120000"/>
              </a:lnSpc>
            </a:pPr>
            <a:r>
              <a:rPr lang="en-US" sz="926" dirty="0">
                <a:solidFill>
                  <a:srgbClr val="F1FAEE"/>
                </a:solidFill>
                <a:latin typeface="Liter" pitchFamily="34" charset="0"/>
                <a:ea typeface="Liter" pitchFamily="34" charset="-122"/>
                <a:cs typeface="Liter" pitchFamily="34" charset="-120"/>
              </a:rPr>
              <a:t>Error detection in model reasoning</a:t>
            </a:r>
            <a:endParaRPr lang="en-US" sz="1600" dirty="0"/>
          </a:p>
        </p:txBody>
      </p:sp>
      <p:sp>
        <p:nvSpPr>
          <p:cNvPr id="44" name="Shape 41"/>
          <p:cNvSpPr/>
          <p:nvPr/>
        </p:nvSpPr>
        <p:spPr>
          <a:xfrm>
            <a:off x="6360678" y="5404477"/>
            <a:ext cx="102930" cy="117635"/>
          </a:xfrm>
          <a:custGeom>
            <a:avLst/>
            <a:gdLst/>
            <a:ahLst/>
            <a:cxnLst/>
            <a:rect l="l" t="t" r="r" b="b"/>
            <a:pathLst>
              <a:path w="102930" h="117635">
                <a:moveTo>
                  <a:pt x="99898" y="16106"/>
                </a:moveTo>
                <a:cubicBezTo>
                  <a:pt x="103183" y="18495"/>
                  <a:pt x="103918" y="23090"/>
                  <a:pt x="101529" y="26376"/>
                </a:cubicBezTo>
                <a:lnTo>
                  <a:pt x="42712" y="107250"/>
                </a:lnTo>
                <a:cubicBezTo>
                  <a:pt x="41448" y="108996"/>
                  <a:pt x="39495" y="110076"/>
                  <a:pt x="37335" y="110260"/>
                </a:cubicBezTo>
                <a:cubicBezTo>
                  <a:pt x="35176" y="110443"/>
                  <a:pt x="33085" y="109639"/>
                  <a:pt x="31568" y="108123"/>
                </a:cubicBezTo>
                <a:lnTo>
                  <a:pt x="2160" y="78714"/>
                </a:lnTo>
                <a:cubicBezTo>
                  <a:pt x="-712" y="75842"/>
                  <a:pt x="-712" y="71178"/>
                  <a:pt x="2160" y="68306"/>
                </a:cubicBezTo>
                <a:cubicBezTo>
                  <a:pt x="5032" y="65434"/>
                  <a:pt x="9696" y="65434"/>
                  <a:pt x="12568" y="68306"/>
                </a:cubicBezTo>
                <a:lnTo>
                  <a:pt x="35888" y="91626"/>
                </a:lnTo>
                <a:lnTo>
                  <a:pt x="89651" y="17714"/>
                </a:lnTo>
                <a:cubicBezTo>
                  <a:pt x="92040" y="14429"/>
                  <a:pt x="96635" y="13693"/>
                  <a:pt x="99921" y="16083"/>
                </a:cubicBezTo>
                <a:close/>
              </a:path>
            </a:pathLst>
          </a:custGeom>
          <a:solidFill>
            <a:srgbClr val="00B4D8"/>
          </a:solidFill>
          <a:ln/>
        </p:spPr>
      </p:sp>
      <p:sp>
        <p:nvSpPr>
          <p:cNvPr id="45" name="Text 42"/>
          <p:cNvSpPr/>
          <p:nvPr/>
        </p:nvSpPr>
        <p:spPr>
          <a:xfrm>
            <a:off x="6550784" y="5370868"/>
            <a:ext cx="1588069" cy="168050"/>
          </a:xfrm>
          <a:prstGeom prst="rect">
            <a:avLst/>
          </a:prstGeom>
          <a:noFill/>
          <a:ln/>
        </p:spPr>
        <p:txBody>
          <a:bodyPr wrap="square" lIns="0" tIns="0" rIns="0" bIns="0" rtlCol="0" anchor="ctr"/>
          <a:lstStyle/>
          <a:p>
            <a:pPr>
              <a:lnSpc>
                <a:spcPct val="120000"/>
              </a:lnSpc>
            </a:pPr>
            <a:r>
              <a:rPr lang="en-US" sz="926" dirty="0">
                <a:solidFill>
                  <a:srgbClr val="F1FAEE"/>
                </a:solidFill>
                <a:latin typeface="Liter" pitchFamily="34" charset="0"/>
                <a:ea typeface="Liter" pitchFamily="34" charset="-122"/>
                <a:cs typeface="Liter" pitchFamily="34" charset="-120"/>
              </a:rPr>
              <a:t>Regulatory compliance (FDA)</a:t>
            </a:r>
            <a:endParaRPr lang="en-US" sz="1600" dirty="0"/>
          </a:p>
        </p:txBody>
      </p:sp>
      <p:sp>
        <p:nvSpPr>
          <p:cNvPr id="46" name="Shape 43"/>
          <p:cNvSpPr/>
          <p:nvPr/>
        </p:nvSpPr>
        <p:spPr>
          <a:xfrm>
            <a:off x="6360678" y="5639747"/>
            <a:ext cx="102930" cy="117635"/>
          </a:xfrm>
          <a:custGeom>
            <a:avLst/>
            <a:gdLst/>
            <a:ahLst/>
            <a:cxnLst/>
            <a:rect l="l" t="t" r="r" b="b"/>
            <a:pathLst>
              <a:path w="102930" h="117635">
                <a:moveTo>
                  <a:pt x="99898" y="16106"/>
                </a:moveTo>
                <a:cubicBezTo>
                  <a:pt x="103183" y="18495"/>
                  <a:pt x="103918" y="23090"/>
                  <a:pt x="101529" y="26376"/>
                </a:cubicBezTo>
                <a:lnTo>
                  <a:pt x="42712" y="107250"/>
                </a:lnTo>
                <a:cubicBezTo>
                  <a:pt x="41448" y="108996"/>
                  <a:pt x="39495" y="110076"/>
                  <a:pt x="37335" y="110260"/>
                </a:cubicBezTo>
                <a:cubicBezTo>
                  <a:pt x="35176" y="110443"/>
                  <a:pt x="33085" y="109639"/>
                  <a:pt x="31568" y="108123"/>
                </a:cubicBezTo>
                <a:lnTo>
                  <a:pt x="2160" y="78714"/>
                </a:lnTo>
                <a:cubicBezTo>
                  <a:pt x="-712" y="75842"/>
                  <a:pt x="-712" y="71178"/>
                  <a:pt x="2160" y="68306"/>
                </a:cubicBezTo>
                <a:cubicBezTo>
                  <a:pt x="5032" y="65434"/>
                  <a:pt x="9696" y="65434"/>
                  <a:pt x="12568" y="68306"/>
                </a:cubicBezTo>
                <a:lnTo>
                  <a:pt x="35888" y="91626"/>
                </a:lnTo>
                <a:lnTo>
                  <a:pt x="89651" y="17714"/>
                </a:lnTo>
                <a:cubicBezTo>
                  <a:pt x="92040" y="14429"/>
                  <a:pt x="96635" y="13693"/>
                  <a:pt x="99921" y="16083"/>
                </a:cubicBezTo>
                <a:close/>
              </a:path>
            </a:pathLst>
          </a:custGeom>
          <a:solidFill>
            <a:srgbClr val="00B4D8"/>
          </a:solidFill>
          <a:ln/>
        </p:spPr>
      </p:sp>
      <p:sp>
        <p:nvSpPr>
          <p:cNvPr id="47" name="Text 44"/>
          <p:cNvSpPr/>
          <p:nvPr/>
        </p:nvSpPr>
        <p:spPr>
          <a:xfrm>
            <a:off x="6550784" y="5606137"/>
            <a:ext cx="1251970" cy="168050"/>
          </a:xfrm>
          <a:prstGeom prst="rect">
            <a:avLst/>
          </a:prstGeom>
          <a:noFill/>
          <a:ln/>
        </p:spPr>
        <p:txBody>
          <a:bodyPr wrap="square" lIns="0" tIns="0" rIns="0" bIns="0" rtlCol="0" anchor="ctr"/>
          <a:lstStyle/>
          <a:p>
            <a:pPr>
              <a:lnSpc>
                <a:spcPct val="120000"/>
              </a:lnSpc>
            </a:pPr>
            <a:r>
              <a:rPr lang="en-US" sz="926" dirty="0">
                <a:solidFill>
                  <a:srgbClr val="F1FAEE"/>
                </a:solidFill>
                <a:latin typeface="Liter" pitchFamily="34" charset="0"/>
                <a:ea typeface="Liter" pitchFamily="34" charset="-122"/>
                <a:cs typeface="Liter" pitchFamily="34" charset="-120"/>
              </a:rPr>
              <a:t>Patient communication</a:t>
            </a:r>
            <a:endParaRPr lang="en-US" sz="1600" dirty="0"/>
          </a:p>
        </p:txBody>
      </p:sp>
      <p:sp>
        <p:nvSpPr>
          <p:cNvPr id="48" name="Shape 45"/>
          <p:cNvSpPr/>
          <p:nvPr/>
        </p:nvSpPr>
        <p:spPr>
          <a:xfrm>
            <a:off x="352904" y="6049786"/>
            <a:ext cx="11502997" cy="470539"/>
          </a:xfrm>
          <a:custGeom>
            <a:avLst/>
            <a:gdLst/>
            <a:ahLst/>
            <a:cxnLst/>
            <a:rect l="l" t="t" r="r" b="b"/>
            <a:pathLst>
              <a:path w="11502997" h="470539">
                <a:moveTo>
                  <a:pt x="33655" y="0"/>
                </a:moveTo>
                <a:lnTo>
                  <a:pt x="11435715" y="0"/>
                </a:lnTo>
                <a:cubicBezTo>
                  <a:pt x="11453555" y="-34"/>
                  <a:pt x="11470676" y="7030"/>
                  <a:pt x="11483303" y="19632"/>
                </a:cubicBezTo>
                <a:cubicBezTo>
                  <a:pt x="11495929" y="32235"/>
                  <a:pt x="11503025" y="49343"/>
                  <a:pt x="11503025" y="67183"/>
                </a:cubicBezTo>
                <a:lnTo>
                  <a:pt x="11503025" y="403352"/>
                </a:lnTo>
                <a:cubicBezTo>
                  <a:pt x="11503025" y="421192"/>
                  <a:pt x="11495929" y="438300"/>
                  <a:pt x="11483303" y="450903"/>
                </a:cubicBezTo>
                <a:cubicBezTo>
                  <a:pt x="11470676" y="463505"/>
                  <a:pt x="11453555" y="470569"/>
                  <a:pt x="11435715" y="470535"/>
                </a:cubicBezTo>
                <a:lnTo>
                  <a:pt x="33655" y="470535"/>
                </a:lnTo>
                <a:cubicBezTo>
                  <a:pt x="15068" y="470535"/>
                  <a:pt x="0" y="455467"/>
                  <a:pt x="0" y="436880"/>
                </a:cubicBezTo>
                <a:lnTo>
                  <a:pt x="0" y="33655"/>
                </a:lnTo>
                <a:cubicBezTo>
                  <a:pt x="0" y="15080"/>
                  <a:pt x="15080" y="0"/>
                  <a:pt x="33655" y="0"/>
                </a:cubicBezTo>
                <a:close/>
              </a:path>
            </a:pathLst>
          </a:custGeom>
          <a:solidFill>
            <a:srgbClr val="00B4D8">
              <a:alpha val="10196"/>
            </a:srgbClr>
          </a:solidFill>
          <a:ln/>
        </p:spPr>
      </p:sp>
      <p:sp>
        <p:nvSpPr>
          <p:cNvPr id="49" name="Shape 46"/>
          <p:cNvSpPr/>
          <p:nvPr/>
        </p:nvSpPr>
        <p:spPr>
          <a:xfrm>
            <a:off x="352904" y="6049786"/>
            <a:ext cx="33610" cy="470539"/>
          </a:xfrm>
          <a:custGeom>
            <a:avLst/>
            <a:gdLst/>
            <a:ahLst/>
            <a:cxnLst/>
            <a:rect l="l" t="t" r="r" b="b"/>
            <a:pathLst>
              <a:path w="33610" h="470539">
                <a:moveTo>
                  <a:pt x="33655" y="0"/>
                </a:moveTo>
                <a:lnTo>
                  <a:pt x="33655" y="0"/>
                </a:lnTo>
                <a:lnTo>
                  <a:pt x="33655" y="470535"/>
                </a:lnTo>
                <a:lnTo>
                  <a:pt x="33655" y="470535"/>
                </a:lnTo>
                <a:cubicBezTo>
                  <a:pt x="15068" y="470535"/>
                  <a:pt x="0" y="455467"/>
                  <a:pt x="0" y="436880"/>
                </a:cubicBezTo>
                <a:lnTo>
                  <a:pt x="0" y="33655"/>
                </a:lnTo>
                <a:cubicBezTo>
                  <a:pt x="0" y="15080"/>
                  <a:pt x="15080" y="0"/>
                  <a:pt x="33655" y="0"/>
                </a:cubicBezTo>
                <a:close/>
              </a:path>
            </a:pathLst>
          </a:custGeom>
          <a:solidFill>
            <a:srgbClr val="00B4D8"/>
          </a:solidFill>
          <a:ln/>
        </p:spPr>
      </p:sp>
      <p:sp>
        <p:nvSpPr>
          <p:cNvPr id="50" name="Shape 47"/>
          <p:cNvSpPr/>
          <p:nvPr/>
        </p:nvSpPr>
        <p:spPr>
          <a:xfrm>
            <a:off x="520954" y="6211116"/>
            <a:ext cx="134440" cy="134440"/>
          </a:xfrm>
          <a:custGeom>
            <a:avLst/>
            <a:gdLst/>
            <a:ahLst/>
            <a:cxnLst/>
            <a:rect l="l" t="t" r="r" b="b"/>
            <a:pathLst>
              <a:path w="134440" h="134440">
                <a:moveTo>
                  <a:pt x="67220" y="134440"/>
                </a:moveTo>
                <a:cubicBezTo>
                  <a:pt x="104319" y="134440"/>
                  <a:pt x="134440" y="104319"/>
                  <a:pt x="134440" y="67220"/>
                </a:cubicBezTo>
                <a:cubicBezTo>
                  <a:pt x="134440" y="30120"/>
                  <a:pt x="104319" y="0"/>
                  <a:pt x="67220" y="0"/>
                </a:cubicBezTo>
                <a:cubicBezTo>
                  <a:pt x="30120" y="0"/>
                  <a:pt x="0" y="30120"/>
                  <a:pt x="0" y="67220"/>
                </a:cubicBezTo>
                <a:cubicBezTo>
                  <a:pt x="0" y="104319"/>
                  <a:pt x="30120" y="134440"/>
                  <a:pt x="67220" y="134440"/>
                </a:cubicBezTo>
                <a:close/>
                <a:moveTo>
                  <a:pt x="67220" y="46214"/>
                </a:moveTo>
                <a:cubicBezTo>
                  <a:pt x="62572" y="46214"/>
                  <a:pt x="58817" y="49969"/>
                  <a:pt x="58817" y="54616"/>
                </a:cubicBezTo>
                <a:cubicBezTo>
                  <a:pt x="58817" y="58108"/>
                  <a:pt x="56008" y="60918"/>
                  <a:pt x="52516" y="60918"/>
                </a:cubicBezTo>
                <a:cubicBezTo>
                  <a:pt x="49023" y="60918"/>
                  <a:pt x="46214" y="58108"/>
                  <a:pt x="46214" y="54616"/>
                </a:cubicBezTo>
                <a:cubicBezTo>
                  <a:pt x="46214" y="43010"/>
                  <a:pt x="55614" y="33610"/>
                  <a:pt x="67220" y="33610"/>
                </a:cubicBezTo>
                <a:cubicBezTo>
                  <a:pt x="78826" y="33610"/>
                  <a:pt x="88226" y="43010"/>
                  <a:pt x="88226" y="54616"/>
                </a:cubicBezTo>
                <a:cubicBezTo>
                  <a:pt x="88226" y="67010"/>
                  <a:pt x="78773" y="72261"/>
                  <a:pt x="73522" y="74178"/>
                </a:cubicBezTo>
                <a:lnTo>
                  <a:pt x="73522" y="75176"/>
                </a:lnTo>
                <a:cubicBezTo>
                  <a:pt x="73522" y="78668"/>
                  <a:pt x="70712" y="81478"/>
                  <a:pt x="67220" y="81478"/>
                </a:cubicBezTo>
                <a:cubicBezTo>
                  <a:pt x="63728" y="81478"/>
                  <a:pt x="60918" y="78668"/>
                  <a:pt x="60918" y="75176"/>
                </a:cubicBezTo>
                <a:lnTo>
                  <a:pt x="60918" y="73049"/>
                </a:lnTo>
                <a:cubicBezTo>
                  <a:pt x="60918" y="67666"/>
                  <a:pt x="64804" y="63806"/>
                  <a:pt x="68822" y="62493"/>
                </a:cubicBezTo>
                <a:cubicBezTo>
                  <a:pt x="70502" y="61942"/>
                  <a:pt x="72288" y="61049"/>
                  <a:pt x="73600" y="59789"/>
                </a:cubicBezTo>
                <a:cubicBezTo>
                  <a:pt x="74730" y="58686"/>
                  <a:pt x="75622" y="57163"/>
                  <a:pt x="75622" y="54642"/>
                </a:cubicBezTo>
                <a:cubicBezTo>
                  <a:pt x="75622" y="49995"/>
                  <a:pt x="71867" y="46240"/>
                  <a:pt x="67220" y="46240"/>
                </a:cubicBezTo>
                <a:close/>
                <a:moveTo>
                  <a:pt x="58817" y="96629"/>
                </a:moveTo>
                <a:cubicBezTo>
                  <a:pt x="58817" y="91991"/>
                  <a:pt x="62582" y="88226"/>
                  <a:pt x="67220" y="88226"/>
                </a:cubicBezTo>
                <a:cubicBezTo>
                  <a:pt x="71857" y="88226"/>
                  <a:pt x="75622" y="91991"/>
                  <a:pt x="75622" y="96629"/>
                </a:cubicBezTo>
                <a:cubicBezTo>
                  <a:pt x="75622" y="101266"/>
                  <a:pt x="71857" y="105031"/>
                  <a:pt x="67220" y="105031"/>
                </a:cubicBezTo>
                <a:cubicBezTo>
                  <a:pt x="62582" y="105031"/>
                  <a:pt x="58817" y="101266"/>
                  <a:pt x="58817" y="96629"/>
                </a:cubicBezTo>
                <a:close/>
              </a:path>
            </a:pathLst>
          </a:custGeom>
          <a:solidFill>
            <a:srgbClr val="00B4D8"/>
          </a:solidFill>
          <a:ln/>
        </p:spPr>
      </p:sp>
      <p:sp>
        <p:nvSpPr>
          <p:cNvPr id="51" name="Text 48"/>
          <p:cNvSpPr/>
          <p:nvPr/>
        </p:nvSpPr>
        <p:spPr>
          <a:xfrm>
            <a:off x="716672" y="6184226"/>
            <a:ext cx="11072009" cy="201660"/>
          </a:xfrm>
          <a:prstGeom prst="rect">
            <a:avLst/>
          </a:prstGeom>
          <a:noFill/>
          <a:ln/>
        </p:spPr>
        <p:txBody>
          <a:bodyPr wrap="square" lIns="0" tIns="0" rIns="0" bIns="0" rtlCol="0" anchor="ctr"/>
          <a:lstStyle/>
          <a:p>
            <a:pPr>
              <a:lnSpc>
                <a:spcPct val="130000"/>
              </a:lnSpc>
            </a:pPr>
            <a:r>
              <a:rPr lang="en-US" sz="1059" b="1" dirty="0">
                <a:solidFill>
                  <a:srgbClr val="00B4D8"/>
                </a:solidFill>
                <a:latin typeface="Liter" pitchFamily="34" charset="0"/>
                <a:ea typeface="Liter" pitchFamily="34" charset="-122"/>
                <a:cs typeface="Liter" pitchFamily="34" charset="-120"/>
              </a:rPr>
              <a:t>Transition Question: How can we visualize what the CNN is actually looking at?</a:t>
            </a:r>
            <a:endParaRPr lang="en-US" sz="1600" dirty="0"/>
          </a:p>
        </p:txBody>
      </p:sp>
      <p:sp>
        <p:nvSpPr>
          <p:cNvPr id="52" name="Text 49"/>
          <p:cNvSpPr/>
          <p:nvPr/>
        </p:nvSpPr>
        <p:spPr>
          <a:xfrm>
            <a:off x="336099" y="6587652"/>
            <a:ext cx="2335890" cy="134440"/>
          </a:xfrm>
          <a:prstGeom prst="rect">
            <a:avLst/>
          </a:prstGeom>
          <a:noFill/>
          <a:ln/>
        </p:spPr>
        <p:txBody>
          <a:bodyPr wrap="square" lIns="0" tIns="0" rIns="0" bIns="0" rtlCol="0" anchor="ctr"/>
          <a:lstStyle/>
          <a:p>
            <a:pPr>
              <a:lnSpc>
                <a:spcPct val="110000"/>
              </a:lnSpc>
            </a:pPr>
            <a:r>
              <a:rPr lang="en-US" sz="794"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53" name="Text 50"/>
          <p:cNvSpPr/>
          <p:nvPr/>
        </p:nvSpPr>
        <p:spPr>
          <a:xfrm>
            <a:off x="11550891" y="6587652"/>
            <a:ext cx="352904" cy="134440"/>
          </a:xfrm>
          <a:prstGeom prst="rect">
            <a:avLst/>
          </a:prstGeom>
          <a:noFill/>
          <a:ln/>
        </p:spPr>
        <p:txBody>
          <a:bodyPr wrap="square" lIns="0" tIns="0" rIns="0" bIns="0" rtlCol="0" anchor="ctr"/>
          <a:lstStyle/>
          <a:p>
            <a:pPr>
              <a:lnSpc>
                <a:spcPct val="110000"/>
              </a:lnSpc>
            </a:pPr>
            <a:r>
              <a:rPr lang="en-US" sz="794" dirty="0">
                <a:solidFill>
                  <a:srgbClr val="5C677D"/>
                </a:solidFill>
                <a:latin typeface="Liter" pitchFamily="34" charset="0"/>
                <a:ea typeface="Liter" pitchFamily="34" charset="-122"/>
                <a:cs typeface="Liter" pitchFamily="34" charset="-120"/>
              </a:rPr>
              <a:t>Slide 9</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50" kern="0" dirty="0">
                <a:solidFill>
                  <a:srgbClr val="00B4D8"/>
                </a:solidFill>
                <a:latin typeface="Liter" pitchFamily="34" charset="0"/>
                <a:ea typeface="Liter" pitchFamily="34" charset="-122"/>
                <a:cs typeface="Liter" pitchFamily="34" charset="-120"/>
              </a:rPr>
              <a:t>XAI Methods</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F1FAEE"/>
                </a:solidFill>
                <a:latin typeface="Oranienbaum" pitchFamily="34" charset="0"/>
                <a:ea typeface="Oranienbaum" pitchFamily="34" charset="-122"/>
                <a:cs typeface="Oranienbaum" pitchFamily="34" charset="-120"/>
              </a:rPr>
              <a:t>CAM-Based XAI Methods</a:t>
            </a:r>
            <a:endParaRPr lang="en-US" sz="1600" dirty="0"/>
          </a:p>
        </p:txBody>
      </p:sp>
      <p:sp>
        <p:nvSpPr>
          <p:cNvPr id="4" name="Shape 2"/>
          <p:cNvSpPr/>
          <p:nvPr/>
        </p:nvSpPr>
        <p:spPr>
          <a:xfrm>
            <a:off x="317500" y="984250"/>
            <a:ext cx="762000" cy="3175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20675" y="1146175"/>
            <a:ext cx="11547475" cy="3094038"/>
          </a:xfrm>
          <a:prstGeom prst="roundRect">
            <a:avLst>
              <a:gd name="adj" fmla="val 2052"/>
            </a:avLst>
          </a:prstGeom>
          <a:solidFill>
            <a:srgbClr val="112240"/>
          </a:solidFill>
          <a:ln w="10160">
            <a:solidFill>
              <a:srgbClr val="3A86FF"/>
            </a:solidFill>
            <a:prstDash val="solid"/>
          </a:ln>
        </p:spPr>
      </p:sp>
      <p:sp>
        <p:nvSpPr>
          <p:cNvPr id="6" name="Shape 4"/>
          <p:cNvSpPr/>
          <p:nvPr/>
        </p:nvSpPr>
        <p:spPr>
          <a:xfrm>
            <a:off x="470694" y="1316040"/>
            <a:ext cx="142875" cy="142875"/>
          </a:xfrm>
          <a:custGeom>
            <a:avLst/>
            <a:gdLst/>
            <a:ahLst/>
            <a:cxnLst/>
            <a:rect l="l" t="t" r="r" b="b"/>
            <a:pathLst>
              <a:path w="142875" h="142875">
                <a:moveTo>
                  <a:pt x="11162" y="13395"/>
                </a:moveTo>
                <a:cubicBezTo>
                  <a:pt x="7451" y="13395"/>
                  <a:pt x="4465" y="16380"/>
                  <a:pt x="4465" y="20092"/>
                </a:cubicBezTo>
                <a:lnTo>
                  <a:pt x="4465" y="33486"/>
                </a:lnTo>
                <a:cubicBezTo>
                  <a:pt x="4465" y="37198"/>
                  <a:pt x="7451" y="40184"/>
                  <a:pt x="11162" y="40184"/>
                </a:cubicBezTo>
                <a:lnTo>
                  <a:pt x="24557" y="40184"/>
                </a:lnTo>
                <a:cubicBezTo>
                  <a:pt x="28268" y="40184"/>
                  <a:pt x="31254" y="37198"/>
                  <a:pt x="31254" y="33486"/>
                </a:cubicBezTo>
                <a:lnTo>
                  <a:pt x="31254" y="20092"/>
                </a:lnTo>
                <a:cubicBezTo>
                  <a:pt x="31254" y="16380"/>
                  <a:pt x="28268" y="13395"/>
                  <a:pt x="24557" y="13395"/>
                </a:cubicBezTo>
                <a:lnTo>
                  <a:pt x="11162" y="13395"/>
                </a:lnTo>
                <a:close/>
                <a:moveTo>
                  <a:pt x="53578" y="17859"/>
                </a:moveTo>
                <a:cubicBezTo>
                  <a:pt x="48639" y="17859"/>
                  <a:pt x="44648" y="21850"/>
                  <a:pt x="44648" y="26789"/>
                </a:cubicBezTo>
                <a:cubicBezTo>
                  <a:pt x="44648" y="31728"/>
                  <a:pt x="48639" y="35719"/>
                  <a:pt x="53578" y="35719"/>
                </a:cubicBezTo>
                <a:lnTo>
                  <a:pt x="133945" y="35719"/>
                </a:lnTo>
                <a:cubicBezTo>
                  <a:pt x="138885" y="35719"/>
                  <a:pt x="142875" y="31728"/>
                  <a:pt x="142875" y="26789"/>
                </a:cubicBezTo>
                <a:cubicBezTo>
                  <a:pt x="142875" y="21850"/>
                  <a:pt x="138885" y="17859"/>
                  <a:pt x="133945" y="17859"/>
                </a:cubicBezTo>
                <a:lnTo>
                  <a:pt x="53578" y="17859"/>
                </a:lnTo>
                <a:close/>
                <a:moveTo>
                  <a:pt x="53578" y="62508"/>
                </a:moveTo>
                <a:cubicBezTo>
                  <a:pt x="48639" y="62508"/>
                  <a:pt x="44648" y="66498"/>
                  <a:pt x="44648" y="71438"/>
                </a:cubicBezTo>
                <a:cubicBezTo>
                  <a:pt x="44648" y="76377"/>
                  <a:pt x="48639" y="80367"/>
                  <a:pt x="53578" y="80367"/>
                </a:cubicBezTo>
                <a:lnTo>
                  <a:pt x="133945" y="80367"/>
                </a:lnTo>
                <a:cubicBezTo>
                  <a:pt x="138885" y="80367"/>
                  <a:pt x="142875" y="76377"/>
                  <a:pt x="142875" y="71438"/>
                </a:cubicBezTo>
                <a:cubicBezTo>
                  <a:pt x="142875" y="66498"/>
                  <a:pt x="138885" y="62508"/>
                  <a:pt x="133945" y="62508"/>
                </a:cubicBezTo>
                <a:lnTo>
                  <a:pt x="53578" y="62508"/>
                </a:lnTo>
                <a:close/>
                <a:moveTo>
                  <a:pt x="53578" y="107156"/>
                </a:moveTo>
                <a:cubicBezTo>
                  <a:pt x="48639" y="107156"/>
                  <a:pt x="44648" y="111147"/>
                  <a:pt x="44648" y="116086"/>
                </a:cubicBezTo>
                <a:cubicBezTo>
                  <a:pt x="44648" y="121025"/>
                  <a:pt x="48639" y="125016"/>
                  <a:pt x="53578" y="125016"/>
                </a:cubicBezTo>
                <a:lnTo>
                  <a:pt x="133945" y="125016"/>
                </a:lnTo>
                <a:cubicBezTo>
                  <a:pt x="138885" y="125016"/>
                  <a:pt x="142875" y="121025"/>
                  <a:pt x="142875" y="116086"/>
                </a:cubicBezTo>
                <a:cubicBezTo>
                  <a:pt x="142875" y="111147"/>
                  <a:pt x="138885" y="107156"/>
                  <a:pt x="133945" y="107156"/>
                </a:cubicBezTo>
                <a:lnTo>
                  <a:pt x="53578" y="107156"/>
                </a:lnTo>
                <a:close/>
                <a:moveTo>
                  <a:pt x="4465" y="64740"/>
                </a:moveTo>
                <a:lnTo>
                  <a:pt x="4465" y="78135"/>
                </a:lnTo>
                <a:cubicBezTo>
                  <a:pt x="4465" y="81846"/>
                  <a:pt x="7451" y="84832"/>
                  <a:pt x="11162" y="84832"/>
                </a:cubicBezTo>
                <a:lnTo>
                  <a:pt x="24557" y="84832"/>
                </a:lnTo>
                <a:cubicBezTo>
                  <a:pt x="28268" y="84832"/>
                  <a:pt x="31254" y="81846"/>
                  <a:pt x="31254" y="78135"/>
                </a:cubicBezTo>
                <a:lnTo>
                  <a:pt x="31254" y="64740"/>
                </a:lnTo>
                <a:cubicBezTo>
                  <a:pt x="31254" y="61029"/>
                  <a:pt x="28268" y="58043"/>
                  <a:pt x="24557" y="58043"/>
                </a:cubicBezTo>
                <a:lnTo>
                  <a:pt x="11162" y="58043"/>
                </a:lnTo>
                <a:cubicBezTo>
                  <a:pt x="7451" y="58043"/>
                  <a:pt x="4465" y="61029"/>
                  <a:pt x="4465" y="64740"/>
                </a:cubicBezTo>
                <a:close/>
                <a:moveTo>
                  <a:pt x="11162" y="102691"/>
                </a:moveTo>
                <a:cubicBezTo>
                  <a:pt x="7451" y="102691"/>
                  <a:pt x="4465" y="105677"/>
                  <a:pt x="4465" y="109389"/>
                </a:cubicBezTo>
                <a:lnTo>
                  <a:pt x="4465" y="122783"/>
                </a:lnTo>
                <a:cubicBezTo>
                  <a:pt x="4465" y="126495"/>
                  <a:pt x="7451" y="129480"/>
                  <a:pt x="11162" y="129480"/>
                </a:cubicBezTo>
                <a:lnTo>
                  <a:pt x="24557" y="129480"/>
                </a:lnTo>
                <a:cubicBezTo>
                  <a:pt x="28268" y="129480"/>
                  <a:pt x="31254" y="126495"/>
                  <a:pt x="31254" y="122783"/>
                </a:cubicBezTo>
                <a:lnTo>
                  <a:pt x="31254" y="109389"/>
                </a:lnTo>
                <a:cubicBezTo>
                  <a:pt x="31254" y="105677"/>
                  <a:pt x="28268" y="102691"/>
                  <a:pt x="24557" y="102691"/>
                </a:cubicBezTo>
                <a:lnTo>
                  <a:pt x="11162" y="102691"/>
                </a:lnTo>
                <a:close/>
              </a:path>
            </a:pathLst>
          </a:custGeom>
          <a:solidFill>
            <a:srgbClr val="3A86FF"/>
          </a:solidFill>
          <a:ln/>
        </p:spPr>
      </p:sp>
      <p:sp>
        <p:nvSpPr>
          <p:cNvPr id="7" name="Text 5"/>
          <p:cNvSpPr/>
          <p:nvPr/>
        </p:nvSpPr>
        <p:spPr>
          <a:xfrm>
            <a:off x="633412" y="1276352"/>
            <a:ext cx="11176000" cy="222250"/>
          </a:xfrm>
          <a:prstGeom prst="rect">
            <a:avLst/>
          </a:prstGeom>
          <a:noFill/>
          <a:ln/>
        </p:spPr>
        <p:txBody>
          <a:bodyPr wrap="square" lIns="0" tIns="0" rIns="0" bIns="0" rtlCol="0" anchor="ctr"/>
          <a:lstStyle/>
          <a:p>
            <a:pPr>
              <a:lnSpc>
                <a:spcPct val="130000"/>
              </a:lnSpc>
            </a:pPr>
            <a:r>
              <a:rPr lang="en-US" sz="1125" b="1" dirty="0">
                <a:solidFill>
                  <a:srgbClr val="3A86FF"/>
                </a:solidFill>
                <a:latin typeface="Liter" pitchFamily="34" charset="0"/>
                <a:ea typeface="Liter" pitchFamily="34" charset="-122"/>
                <a:cs typeface="Liter" pitchFamily="34" charset="-120"/>
              </a:rPr>
              <a:t>Family of CAM-Based Methods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0850" y="1593852"/>
          <a:ext cx="11287125" cy="2325688"/>
        </p:xfrm>
        <a:graphic>
          <a:graphicData uri="http://schemas.openxmlformats.org/drawingml/2006/table">
            <a:tbl>
              <a:tblPr/>
              <a:tblGrid>
                <a:gridCol w="2008187"/>
                <a:gridCol w="3651250"/>
                <a:gridCol w="3603625"/>
                <a:gridCol w="2024062"/>
              </a:tblGrid>
              <a:tr h="290711">
                <a:tc>
                  <a:txBody>
                    <a:bodyPr/>
                    <a:lstStyle/>
                    <a:p>
                      <a:pPr algn="l"/>
                      <a:r>
                        <a:rPr lang="en-US" sz="800" b="1" u="none" dirty="0">
                          <a:solidFill>
                            <a:srgbClr val="F1FAEE"/>
                          </a:solidFill>
                          <a:latin typeface="微软雅黑" pitchFamily="34" charset="0"/>
                          <a:ea typeface="微软雅黑" pitchFamily="34" charset="-122"/>
                          <a:cs typeface="微软雅黑" pitchFamily="34" charset="-120"/>
                        </a:rPr>
                        <a:t>Method</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3A86FF"/>
                    </a:solidFill>
                  </a:tcPr>
                </a:tc>
                <a:tc>
                  <a:txBody>
                    <a:bodyPr/>
                    <a:lstStyle/>
                    <a:p>
                      <a:pPr algn="l"/>
                      <a:r>
                        <a:rPr lang="en-US" sz="800" b="1" u="none" dirty="0">
                          <a:solidFill>
                            <a:srgbClr val="F1FAEE"/>
                          </a:solidFill>
                          <a:latin typeface="微软雅黑" pitchFamily="34" charset="0"/>
                          <a:ea typeface="微软雅黑" pitchFamily="34" charset="-122"/>
                          <a:cs typeface="微软雅黑" pitchFamily="34" charset="-120"/>
                        </a:rPr>
                        <a:t>Approach</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3A86FF"/>
                    </a:solidFill>
                  </a:tcPr>
                </a:tc>
                <a:tc>
                  <a:txBody>
                    <a:bodyPr/>
                    <a:lstStyle/>
                    <a:p>
                      <a:pPr algn="l"/>
                      <a:r>
                        <a:rPr lang="en-US" sz="800" b="1" u="none" dirty="0">
                          <a:solidFill>
                            <a:srgbClr val="F1FAEE"/>
                          </a:solidFill>
                          <a:latin typeface="微软雅黑" pitchFamily="34" charset="0"/>
                          <a:ea typeface="微软雅黑" pitchFamily="34" charset="-122"/>
                          <a:cs typeface="微软雅黑" pitchFamily="34" charset="-120"/>
                        </a:rPr>
                        <a:t>Key Feature</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3A86FF"/>
                    </a:solidFill>
                  </a:tcPr>
                </a:tc>
                <a:tc>
                  <a:txBody>
                    <a:bodyPr/>
                    <a:lstStyle/>
                    <a:p>
                      <a:pPr algn="ctr"/>
                      <a:r>
                        <a:rPr lang="en-US" sz="800" b="1" u="none" dirty="0">
                          <a:solidFill>
                            <a:srgbClr val="F1FAEE"/>
                          </a:solidFill>
                          <a:latin typeface="微软雅黑" pitchFamily="34" charset="0"/>
                          <a:ea typeface="微软雅黑" pitchFamily="34" charset="-122"/>
                          <a:cs typeface="微软雅黑" pitchFamily="34" charset="-120"/>
                        </a:rPr>
                        <a:t>Clinical Use</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3A86FF"/>
                    </a:solidFill>
                  </a:tcPr>
                </a:tc>
              </a:tr>
              <a:tr h="290711">
                <a:tc>
                  <a:txBody>
                    <a:bodyPr/>
                    <a:lstStyle/>
                    <a:p>
                      <a:r>
                        <a:rPr lang="en-US" sz="800" b="1" u="none" dirty="0">
                          <a:solidFill>
                            <a:srgbClr val="3A86FF"/>
                          </a:solidFill>
                          <a:latin typeface="微软雅黑" pitchFamily="34" charset="0"/>
                          <a:ea typeface="微软雅黑" pitchFamily="34" charset="-122"/>
                          <a:cs typeface="微软雅黑" pitchFamily="34" charset="-120"/>
                        </a:rPr>
                        <a:t>CAM</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Global average pooling</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Class-specific weights</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pPr algn="ctr"/>
                      <a:r>
                        <a:rPr lang="en-US" sz="800" u="none" dirty="0">
                          <a:solidFill>
                            <a:srgbClr val="F1FAEE"/>
                          </a:solidFill>
                          <a:latin typeface="微软雅黑" pitchFamily="34" charset="0"/>
                          <a:ea typeface="微软雅黑" pitchFamily="34" charset="-122"/>
                          <a:cs typeface="微软雅黑" pitchFamily="34" charset="-120"/>
                        </a:rPr>
                        <a:t>Limited</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290711">
                <a:tc>
                  <a:txBody>
                    <a:bodyPr/>
                    <a:lstStyle/>
                    <a:p>
                      <a:r>
                        <a:rPr lang="en-US" sz="800" b="1" u="none" dirty="0">
                          <a:solidFill>
                            <a:srgbClr val="00B4D8"/>
                          </a:solidFill>
                          <a:latin typeface="微软雅黑" pitchFamily="34" charset="0"/>
                          <a:ea typeface="微软雅黑" pitchFamily="34" charset="-122"/>
                          <a:cs typeface="微软雅黑" pitchFamily="34" charset="-120"/>
                        </a:rPr>
                        <a:t>Grad-CAM</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Gradient-weighted</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Uses gradients as weights</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pPr algn="ctr"/>
                      <a:r>
                        <a:rPr lang="en-US" sz="800" u="none" dirty="0">
                          <a:solidFill>
                            <a:srgbClr val="F1FAEE"/>
                          </a:solidFill>
                          <a:latin typeface="微软雅黑" pitchFamily="34" charset="0"/>
                          <a:ea typeface="微软雅黑" pitchFamily="34" charset="-122"/>
                          <a:cs typeface="微软雅黑" pitchFamily="34" charset="-120"/>
                        </a:rPr>
                        <a:t>Widely Used</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r>
              <a:tr h="290711">
                <a:tc>
                  <a:txBody>
                    <a:bodyPr/>
                    <a:lstStyle/>
                    <a:p>
                      <a:r>
                        <a:rPr lang="en-US" sz="800" b="1" u="none" dirty="0">
                          <a:solidFill>
                            <a:srgbClr val="3A86FF"/>
                          </a:solidFill>
                          <a:latin typeface="微软雅黑" pitchFamily="34" charset="0"/>
                          <a:ea typeface="微软雅黑" pitchFamily="34" charset="-122"/>
                          <a:cs typeface="微软雅黑" pitchFamily="34" charset="-120"/>
                        </a:rPr>
                        <a:t>Grad-CAM++</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Weighted gradients</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Better localization</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pPr algn="ctr"/>
                      <a:r>
                        <a:rPr lang="en-US" sz="800" u="none" dirty="0">
                          <a:solidFill>
                            <a:srgbClr val="F1FAEE"/>
                          </a:solidFill>
                          <a:latin typeface="微软雅黑" pitchFamily="34" charset="0"/>
                          <a:ea typeface="微软雅黑" pitchFamily="34" charset="-122"/>
                          <a:cs typeface="微软雅黑" pitchFamily="34" charset="-120"/>
                        </a:rPr>
                        <a:t>Moderate</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290711">
                <a:tc>
                  <a:txBody>
                    <a:bodyPr/>
                    <a:lstStyle/>
                    <a:p>
                      <a:r>
                        <a:rPr lang="en-US" sz="800" b="1" u="none" dirty="0">
                          <a:solidFill>
                            <a:srgbClr val="3A86FF"/>
                          </a:solidFill>
                          <a:latin typeface="微软雅黑" pitchFamily="34" charset="0"/>
                          <a:ea typeface="微软雅黑" pitchFamily="34" charset="-122"/>
                          <a:cs typeface="微软雅黑" pitchFamily="34" charset="-120"/>
                        </a:rPr>
                        <a:t>Score-CAM</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Score-based</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Gradient-free</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pPr algn="ctr"/>
                      <a:r>
                        <a:rPr lang="en-US" sz="800" u="none" dirty="0">
                          <a:solidFill>
                            <a:srgbClr val="F1FAEE"/>
                          </a:solidFill>
                          <a:latin typeface="微软雅黑" pitchFamily="34" charset="0"/>
                          <a:ea typeface="微软雅黑" pitchFamily="34" charset="-122"/>
                          <a:cs typeface="微软雅黑" pitchFamily="34" charset="-120"/>
                        </a:rPr>
                        <a:t>Emerging</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r>
              <a:tr h="290711">
                <a:tc>
                  <a:txBody>
                    <a:bodyPr/>
                    <a:lstStyle/>
                    <a:p>
                      <a:r>
                        <a:rPr lang="en-US" sz="800" b="1" u="none" dirty="0">
                          <a:solidFill>
                            <a:srgbClr val="3A86FF"/>
                          </a:solidFill>
                          <a:latin typeface="微软雅黑" pitchFamily="34" charset="0"/>
                          <a:ea typeface="微软雅黑" pitchFamily="34" charset="-122"/>
                          <a:cs typeface="微软雅黑" pitchFamily="34" charset="-120"/>
                        </a:rPr>
                        <a:t>LayerCAM</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Layer-wise</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Multi-layer extraction</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pPr algn="ctr"/>
                      <a:r>
                        <a:rPr lang="en-US" sz="800" u="none" dirty="0">
                          <a:solidFill>
                            <a:srgbClr val="F1FAEE"/>
                          </a:solidFill>
                          <a:latin typeface="微软雅黑" pitchFamily="34" charset="0"/>
                          <a:ea typeface="微软雅黑" pitchFamily="34" charset="-122"/>
                          <a:cs typeface="微软雅黑" pitchFamily="34" charset="-120"/>
                        </a:rPr>
                        <a:t>Moderate</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290711">
                <a:tc>
                  <a:txBody>
                    <a:bodyPr/>
                    <a:lstStyle/>
                    <a:p>
                      <a:r>
                        <a:rPr lang="en-US" sz="800" b="1" u="none" dirty="0">
                          <a:solidFill>
                            <a:srgbClr val="3A86FF"/>
                          </a:solidFill>
                          <a:latin typeface="微软雅黑" pitchFamily="34" charset="0"/>
                          <a:ea typeface="微软雅黑" pitchFamily="34" charset="-122"/>
                          <a:cs typeface="微软雅黑" pitchFamily="34" charset="-120"/>
                        </a:rPr>
                        <a:t>Eigen-CAM</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Eigenvalue decomposition</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Principal components</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pPr algn="ctr"/>
                      <a:r>
                        <a:rPr lang="en-US" sz="800" u="none" dirty="0">
                          <a:solidFill>
                            <a:srgbClr val="F1FAEE"/>
                          </a:solidFill>
                          <a:latin typeface="微软雅黑" pitchFamily="34" charset="0"/>
                          <a:ea typeface="微软雅黑" pitchFamily="34" charset="-122"/>
                          <a:cs typeface="微软雅黑" pitchFamily="34" charset="-120"/>
                        </a:rPr>
                        <a:t>Limited</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r>
              <a:tr h="290711">
                <a:tc>
                  <a:txBody>
                    <a:bodyPr/>
                    <a:lstStyle/>
                    <a:p>
                      <a:r>
                        <a:rPr lang="en-US" sz="800" b="1" u="none" dirty="0">
                          <a:solidFill>
                            <a:srgbClr val="3A86FF"/>
                          </a:solidFill>
                          <a:latin typeface="微软雅黑" pitchFamily="34" charset="0"/>
                          <a:ea typeface="微软雅黑" pitchFamily="34" charset="-122"/>
                          <a:cs typeface="微软雅黑" pitchFamily="34" charset="-120"/>
                        </a:rPr>
                        <a:t>XGrad-CAM</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112240"/>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Extended gradients</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112240"/>
                    </a:solidFill>
                  </a:tcPr>
                </a:tc>
                <a:tc>
                  <a:txBody>
                    <a:bodyPr/>
                    <a:lstStyle/>
                    <a:p>
                      <a:r>
                        <a:rPr lang="en-US" sz="800" u="none" dirty="0">
                          <a:solidFill>
                            <a:srgbClr val="F1FAEE"/>
                          </a:solidFill>
                          <a:latin typeface="微软雅黑" pitchFamily="34" charset="0"/>
                          <a:ea typeface="微软雅黑" pitchFamily="34" charset="-122"/>
                          <a:cs typeface="微软雅黑" pitchFamily="34" charset="-120"/>
                        </a:rPr>
                        <a:t>Improved sensitivity</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112240"/>
                    </a:solidFill>
                  </a:tcPr>
                </a:tc>
                <a:tc>
                  <a:txBody>
                    <a:bodyPr/>
                    <a:lstStyle/>
                    <a:p>
                      <a:pPr algn="ctr"/>
                      <a:r>
                        <a:rPr lang="en-US" sz="800" u="none" dirty="0">
                          <a:solidFill>
                            <a:srgbClr val="F1FAEE"/>
                          </a:solidFill>
                          <a:latin typeface="微软雅黑" pitchFamily="34" charset="0"/>
                          <a:ea typeface="微软雅黑" pitchFamily="34" charset="-122"/>
                          <a:cs typeface="微软雅黑" pitchFamily="34" charset="-120"/>
                        </a:rPr>
                        <a:t>Limited</a:t>
                      </a:r>
                      <a:endParaRPr lang="en-US" sz="800" dirty="0">
                        <a:latin typeface="微软雅黑" charset="0"/>
                        <a:ea typeface="微软雅黑" charset="0"/>
                        <a:cs typeface="微软雅黑"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112240"/>
                    </a:solidFill>
                  </a:tcPr>
                </a:tc>
              </a:tr>
            </a:tbl>
          </a:graphicData>
        </a:graphic>
      </p:graphicFrame>
      <p:sp>
        <p:nvSpPr>
          <p:cNvPr id="9" name="Text 6"/>
          <p:cNvSpPr/>
          <p:nvPr/>
        </p:nvSpPr>
        <p:spPr>
          <a:xfrm>
            <a:off x="450850" y="3981451"/>
            <a:ext cx="11334750"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Sources: [10] Persada et al. 2026, [12] Vandersmissen &amp; Oramas 2024</a:t>
            </a:r>
            <a:endParaRPr lang="en-US" sz="1600" dirty="0"/>
          </a:p>
        </p:txBody>
      </p:sp>
      <p:sp>
        <p:nvSpPr>
          <p:cNvPr id="10" name="Shape 7"/>
          <p:cNvSpPr/>
          <p:nvPr/>
        </p:nvSpPr>
        <p:spPr>
          <a:xfrm>
            <a:off x="333375" y="4368702"/>
            <a:ext cx="5667375" cy="4484688"/>
          </a:xfrm>
          <a:custGeom>
            <a:avLst/>
            <a:gdLst/>
            <a:ahLst/>
            <a:cxnLst/>
            <a:rect l="l" t="t" r="r" b="b"/>
            <a:pathLst>
              <a:path w="5667375" h="4484688">
                <a:moveTo>
                  <a:pt x="31750" y="0"/>
                </a:moveTo>
                <a:lnTo>
                  <a:pt x="5603875" y="0"/>
                </a:lnTo>
                <a:cubicBezTo>
                  <a:pt x="5638922" y="0"/>
                  <a:pt x="5667375" y="28453"/>
                  <a:pt x="5667375" y="63500"/>
                </a:cubicBezTo>
                <a:lnTo>
                  <a:pt x="5667375" y="4421124"/>
                </a:lnTo>
                <a:cubicBezTo>
                  <a:pt x="5667409" y="4437987"/>
                  <a:pt x="5660733" y="4454171"/>
                  <a:pt x="5648821" y="4466107"/>
                </a:cubicBezTo>
                <a:cubicBezTo>
                  <a:pt x="5636909" y="4478043"/>
                  <a:pt x="5620738" y="4484751"/>
                  <a:pt x="5603875" y="4484751"/>
                </a:cubicBezTo>
                <a:lnTo>
                  <a:pt x="31750" y="4484751"/>
                </a:lnTo>
                <a:cubicBezTo>
                  <a:pt x="14227" y="4484751"/>
                  <a:pt x="0" y="4470524"/>
                  <a:pt x="0" y="4453001"/>
                </a:cubicBezTo>
                <a:lnTo>
                  <a:pt x="0" y="31750"/>
                </a:lnTo>
                <a:cubicBezTo>
                  <a:pt x="0" y="14227"/>
                  <a:pt x="14227" y="0"/>
                  <a:pt x="31750" y="0"/>
                </a:cubicBezTo>
                <a:close/>
              </a:path>
            </a:pathLst>
          </a:custGeom>
          <a:solidFill>
            <a:srgbClr val="112240"/>
          </a:solidFill>
          <a:ln/>
        </p:spPr>
      </p:sp>
      <p:sp>
        <p:nvSpPr>
          <p:cNvPr id="11" name="Shape 8"/>
          <p:cNvSpPr/>
          <p:nvPr/>
        </p:nvSpPr>
        <p:spPr>
          <a:xfrm>
            <a:off x="333375" y="4368702"/>
            <a:ext cx="31750" cy="4484688"/>
          </a:xfrm>
          <a:custGeom>
            <a:avLst/>
            <a:gdLst/>
            <a:ahLst/>
            <a:cxnLst/>
            <a:rect l="l" t="t" r="r" b="b"/>
            <a:pathLst>
              <a:path w="31750" h="4484688">
                <a:moveTo>
                  <a:pt x="31750" y="0"/>
                </a:moveTo>
                <a:lnTo>
                  <a:pt x="31750" y="0"/>
                </a:lnTo>
                <a:lnTo>
                  <a:pt x="31750" y="4484751"/>
                </a:lnTo>
                <a:lnTo>
                  <a:pt x="31750" y="4484751"/>
                </a:lnTo>
                <a:cubicBezTo>
                  <a:pt x="14227" y="4484751"/>
                  <a:pt x="0" y="4470524"/>
                  <a:pt x="0" y="4453001"/>
                </a:cubicBezTo>
                <a:lnTo>
                  <a:pt x="0" y="31750"/>
                </a:lnTo>
                <a:cubicBezTo>
                  <a:pt x="0" y="14227"/>
                  <a:pt x="14227" y="0"/>
                  <a:pt x="31750" y="0"/>
                </a:cubicBezTo>
                <a:close/>
              </a:path>
            </a:pathLst>
          </a:custGeom>
          <a:solidFill>
            <a:srgbClr val="00B4D8"/>
          </a:solidFill>
          <a:ln/>
        </p:spPr>
      </p:sp>
      <p:sp>
        <p:nvSpPr>
          <p:cNvPr id="12" name="Shape 9"/>
          <p:cNvSpPr/>
          <p:nvPr/>
        </p:nvSpPr>
        <p:spPr>
          <a:xfrm>
            <a:off x="487164" y="4535390"/>
            <a:ext cx="160734" cy="142875"/>
          </a:xfrm>
          <a:custGeom>
            <a:avLst/>
            <a:gdLst/>
            <a:ahLst/>
            <a:cxnLst/>
            <a:rect l="l" t="t" r="r" b="b"/>
            <a:pathLst>
              <a:path w="160734" h="142875">
                <a:moveTo>
                  <a:pt x="86367" y="-5274"/>
                </a:moveTo>
                <a:cubicBezTo>
                  <a:pt x="85223" y="-7507"/>
                  <a:pt x="82907" y="-8930"/>
                  <a:pt x="80395" y="-8930"/>
                </a:cubicBezTo>
                <a:cubicBezTo>
                  <a:pt x="77884" y="-8930"/>
                  <a:pt x="75567" y="-7507"/>
                  <a:pt x="74423" y="-5274"/>
                </a:cubicBezTo>
                <a:lnTo>
                  <a:pt x="53885" y="34965"/>
                </a:lnTo>
                <a:lnTo>
                  <a:pt x="9265" y="42053"/>
                </a:lnTo>
                <a:cubicBezTo>
                  <a:pt x="6781" y="42444"/>
                  <a:pt x="4716" y="44202"/>
                  <a:pt x="3935" y="46602"/>
                </a:cubicBezTo>
                <a:cubicBezTo>
                  <a:pt x="3153" y="49002"/>
                  <a:pt x="3795" y="51625"/>
                  <a:pt x="5553" y="53411"/>
                </a:cubicBezTo>
                <a:lnTo>
                  <a:pt x="37477" y="85362"/>
                </a:lnTo>
                <a:lnTo>
                  <a:pt x="30445" y="129983"/>
                </a:lnTo>
                <a:cubicBezTo>
                  <a:pt x="30054" y="132466"/>
                  <a:pt x="31086" y="134978"/>
                  <a:pt x="33124" y="136457"/>
                </a:cubicBezTo>
                <a:cubicBezTo>
                  <a:pt x="35161" y="137936"/>
                  <a:pt x="37840" y="138159"/>
                  <a:pt x="40100" y="137015"/>
                </a:cubicBezTo>
                <a:lnTo>
                  <a:pt x="80395" y="116532"/>
                </a:lnTo>
                <a:lnTo>
                  <a:pt x="120662" y="137015"/>
                </a:lnTo>
                <a:cubicBezTo>
                  <a:pt x="122895" y="138159"/>
                  <a:pt x="125602" y="137936"/>
                  <a:pt x="127639" y="136457"/>
                </a:cubicBezTo>
                <a:cubicBezTo>
                  <a:pt x="129676" y="134978"/>
                  <a:pt x="130708" y="132494"/>
                  <a:pt x="130318" y="129983"/>
                </a:cubicBezTo>
                <a:lnTo>
                  <a:pt x="123258" y="85362"/>
                </a:lnTo>
                <a:lnTo>
                  <a:pt x="155181" y="53411"/>
                </a:lnTo>
                <a:cubicBezTo>
                  <a:pt x="156967" y="51625"/>
                  <a:pt x="157581" y="49002"/>
                  <a:pt x="156800" y="46602"/>
                </a:cubicBezTo>
                <a:cubicBezTo>
                  <a:pt x="156018" y="44202"/>
                  <a:pt x="153981" y="42444"/>
                  <a:pt x="151470" y="42053"/>
                </a:cubicBezTo>
                <a:lnTo>
                  <a:pt x="106877" y="34965"/>
                </a:lnTo>
                <a:lnTo>
                  <a:pt x="86367" y="-5274"/>
                </a:lnTo>
                <a:close/>
              </a:path>
            </a:pathLst>
          </a:custGeom>
          <a:solidFill>
            <a:srgbClr val="00B4D8"/>
          </a:solidFill>
          <a:ln/>
        </p:spPr>
      </p:sp>
      <p:sp>
        <p:nvSpPr>
          <p:cNvPr id="13" name="Text 10"/>
          <p:cNvSpPr/>
          <p:nvPr/>
        </p:nvSpPr>
        <p:spPr>
          <a:xfrm>
            <a:off x="658813" y="4495702"/>
            <a:ext cx="5286375" cy="222250"/>
          </a:xfrm>
          <a:prstGeom prst="rect">
            <a:avLst/>
          </a:prstGeom>
          <a:noFill/>
          <a:ln/>
        </p:spPr>
        <p:txBody>
          <a:bodyPr wrap="square" lIns="0" tIns="0" rIns="0" bIns="0" rtlCol="0" anchor="ctr"/>
          <a:lstStyle/>
          <a:p>
            <a:pPr>
              <a:lnSpc>
                <a:spcPct val="130000"/>
              </a:lnSpc>
            </a:pPr>
            <a:r>
              <a:rPr lang="en-US" sz="1125" b="1" dirty="0">
                <a:solidFill>
                  <a:srgbClr val="00B4D8"/>
                </a:solidFill>
                <a:latin typeface="Liter" pitchFamily="34" charset="0"/>
                <a:ea typeface="Liter" pitchFamily="34" charset="-122"/>
                <a:cs typeface="Liter" pitchFamily="34" charset="-120"/>
              </a:rPr>
              <a:t>Why Grad-CAM?</a:t>
            </a:r>
            <a:endParaRPr lang="en-US" sz="1600" dirty="0"/>
          </a:p>
        </p:txBody>
      </p:sp>
      <p:sp>
        <p:nvSpPr>
          <p:cNvPr id="14" name="Shape 11"/>
          <p:cNvSpPr/>
          <p:nvPr/>
        </p:nvSpPr>
        <p:spPr>
          <a:xfrm>
            <a:off x="499070" y="4844952"/>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00B4D8"/>
          </a:solidFill>
          <a:ln/>
        </p:spPr>
      </p:sp>
      <p:sp>
        <p:nvSpPr>
          <p:cNvPr id="15" name="Text 12"/>
          <p:cNvSpPr/>
          <p:nvPr/>
        </p:nvSpPr>
        <p:spPr>
          <a:xfrm>
            <a:off x="678656" y="4813202"/>
            <a:ext cx="1841500"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Most widely used</a:t>
            </a:r>
            <a:pPr>
              <a:lnSpc>
                <a:spcPct val="120000"/>
              </a:lnSpc>
            </a:pPr>
            <a:r>
              <a:rPr lang="en-US" sz="875" dirty="0">
                <a:solidFill>
                  <a:srgbClr val="F1FAEE"/>
                </a:solidFill>
                <a:latin typeface="Liter" pitchFamily="34" charset="0"/>
                <a:ea typeface="Liter" pitchFamily="34" charset="-122"/>
                <a:cs typeface="Liter" pitchFamily="34" charset="-120"/>
              </a:rPr>
              <a:t> in medical imaging</a:t>
            </a:r>
            <a:endParaRPr lang="en-US" sz="1600" dirty="0"/>
          </a:p>
        </p:txBody>
      </p:sp>
      <p:sp>
        <p:nvSpPr>
          <p:cNvPr id="16" name="Shape 13"/>
          <p:cNvSpPr/>
          <p:nvPr/>
        </p:nvSpPr>
        <p:spPr>
          <a:xfrm>
            <a:off x="499070" y="5067202"/>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00B4D8"/>
          </a:solidFill>
          <a:ln/>
        </p:spPr>
      </p:sp>
      <p:sp>
        <p:nvSpPr>
          <p:cNvPr id="17" name="Text 14"/>
          <p:cNvSpPr/>
          <p:nvPr/>
        </p:nvSpPr>
        <p:spPr>
          <a:xfrm>
            <a:off x="678656" y="5035452"/>
            <a:ext cx="2317750"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Lightweight</a:t>
            </a:r>
            <a:pPr>
              <a:lnSpc>
                <a:spcPct val="120000"/>
              </a:lnSpc>
            </a:pPr>
            <a:r>
              <a:rPr lang="en-US" sz="875" dirty="0">
                <a:solidFill>
                  <a:srgbClr val="F1FAEE"/>
                </a:solidFill>
                <a:latin typeface="Liter" pitchFamily="34" charset="0"/>
                <a:ea typeface="Liter" pitchFamily="34" charset="-122"/>
                <a:cs typeface="Liter" pitchFamily="34" charset="-120"/>
              </a:rPr>
              <a:t> - minimal computational overhead</a:t>
            </a:r>
            <a:endParaRPr lang="en-US" sz="1600" dirty="0"/>
          </a:p>
        </p:txBody>
      </p:sp>
      <p:sp>
        <p:nvSpPr>
          <p:cNvPr id="18" name="Shape 15"/>
          <p:cNvSpPr/>
          <p:nvPr/>
        </p:nvSpPr>
        <p:spPr>
          <a:xfrm>
            <a:off x="499070" y="5289452"/>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00B4D8"/>
          </a:solidFill>
          <a:ln/>
        </p:spPr>
      </p:sp>
      <p:sp>
        <p:nvSpPr>
          <p:cNvPr id="19" name="Text 16"/>
          <p:cNvSpPr/>
          <p:nvPr/>
        </p:nvSpPr>
        <p:spPr>
          <a:xfrm>
            <a:off x="678656" y="5257702"/>
            <a:ext cx="2532063"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Easy CNN integration</a:t>
            </a:r>
            <a:pPr>
              <a:lnSpc>
                <a:spcPct val="120000"/>
              </a:lnSpc>
            </a:pPr>
            <a:r>
              <a:rPr lang="en-US" sz="875" dirty="0">
                <a:solidFill>
                  <a:srgbClr val="F1FAEE"/>
                </a:solidFill>
                <a:latin typeface="Liter" pitchFamily="34" charset="0"/>
                <a:ea typeface="Liter" pitchFamily="34" charset="-122"/>
                <a:cs typeface="Liter" pitchFamily="34" charset="-120"/>
              </a:rPr>
              <a:t> - works with any architecture</a:t>
            </a:r>
            <a:endParaRPr lang="en-US" sz="1600" dirty="0"/>
          </a:p>
        </p:txBody>
      </p:sp>
      <p:sp>
        <p:nvSpPr>
          <p:cNvPr id="20" name="Shape 17"/>
          <p:cNvSpPr/>
          <p:nvPr/>
        </p:nvSpPr>
        <p:spPr>
          <a:xfrm>
            <a:off x="499070" y="5511702"/>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00B4D8"/>
          </a:solidFill>
          <a:ln/>
        </p:spPr>
      </p:sp>
      <p:sp>
        <p:nvSpPr>
          <p:cNvPr id="21" name="Text 18"/>
          <p:cNvSpPr/>
          <p:nvPr/>
        </p:nvSpPr>
        <p:spPr>
          <a:xfrm>
            <a:off x="678656" y="5479952"/>
            <a:ext cx="1658938"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Clinically interpretable</a:t>
            </a:r>
            <a:pPr>
              <a:lnSpc>
                <a:spcPct val="120000"/>
              </a:lnSpc>
            </a:pPr>
            <a:r>
              <a:rPr lang="en-US" sz="875" dirty="0">
                <a:solidFill>
                  <a:srgbClr val="F1FAEE"/>
                </a:solidFill>
                <a:latin typeface="Liter" pitchFamily="34" charset="0"/>
                <a:ea typeface="Liter" pitchFamily="34" charset="-122"/>
                <a:cs typeface="Liter" pitchFamily="34" charset="-120"/>
              </a:rPr>
              <a:t> heatmaps</a:t>
            </a:r>
            <a:endParaRPr lang="en-US" sz="1600" dirty="0"/>
          </a:p>
        </p:txBody>
      </p:sp>
      <p:sp>
        <p:nvSpPr>
          <p:cNvPr id="22" name="Shape 19"/>
          <p:cNvSpPr/>
          <p:nvPr/>
        </p:nvSpPr>
        <p:spPr>
          <a:xfrm>
            <a:off x="499070" y="5733952"/>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00B4D8"/>
          </a:solidFill>
          <a:ln/>
        </p:spPr>
      </p:sp>
      <p:sp>
        <p:nvSpPr>
          <p:cNvPr id="23" name="Text 20"/>
          <p:cNvSpPr/>
          <p:nvPr/>
        </p:nvSpPr>
        <p:spPr>
          <a:xfrm>
            <a:off x="678656" y="5702202"/>
            <a:ext cx="2365375"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Strong performance</a:t>
            </a:r>
            <a:pPr>
              <a:lnSpc>
                <a:spcPct val="120000"/>
              </a:lnSpc>
            </a:pPr>
            <a:r>
              <a:rPr lang="en-US" sz="875" dirty="0">
                <a:solidFill>
                  <a:srgbClr val="F1FAEE"/>
                </a:solidFill>
                <a:latin typeface="Liter" pitchFamily="34" charset="0"/>
                <a:ea typeface="Liter" pitchFamily="34" charset="-122"/>
                <a:cs typeface="Liter" pitchFamily="34" charset="-120"/>
              </a:rPr>
              <a:t> in retinal imaging [2][6][9]</a:t>
            </a:r>
            <a:endParaRPr lang="en-US" sz="1600" dirty="0"/>
          </a:p>
        </p:txBody>
      </p:sp>
      <p:sp>
        <p:nvSpPr>
          <p:cNvPr id="24" name="Shape 21"/>
          <p:cNvSpPr/>
          <p:nvPr/>
        </p:nvSpPr>
        <p:spPr>
          <a:xfrm>
            <a:off x="6197600" y="4375052"/>
            <a:ext cx="5672137" cy="3822700"/>
          </a:xfrm>
          <a:prstGeom prst="roundRect">
            <a:avLst>
              <a:gd name="adj" fmla="val 1661"/>
            </a:avLst>
          </a:prstGeom>
          <a:solidFill>
            <a:srgbClr val="000000">
              <a:alpha val="0"/>
            </a:srgbClr>
          </a:solidFill>
          <a:ln w="20320">
            <a:solidFill>
              <a:srgbClr val="00B4D8"/>
            </a:solidFill>
            <a:prstDash val="solid"/>
          </a:ln>
        </p:spPr>
      </p:sp>
      <p:pic>
        <p:nvPicPr>
          <p:cNvPr id="25" name="Image 0" descr="https://kimi-web-img.moonshot.cn/img/ars.els-cdn.com/ef0b338a3d19c067ff9f0fb9182742c9dff16767.jpg">    </p:cNvPr>
          <p:cNvPicPr>
            <a:picLocks noChangeAspect="1"/>
          </p:cNvPicPr>
          <p:nvPr/>
        </p:nvPicPr>
        <p:blipFill>
          <a:blip r:embed="rId1"/>
          <a:srcRect l="0" r="0" t="43" b="43"/>
          <a:stretch/>
        </p:blipFill>
        <p:spPr>
          <a:xfrm>
            <a:off x="6203950" y="4381403"/>
            <a:ext cx="5659438" cy="3810000"/>
          </a:xfrm>
          <a:prstGeom prst="roundRect">
            <a:avLst>
              <a:gd name="adj" fmla="val 1667"/>
            </a:avLst>
          </a:prstGeom>
        </p:spPr>
      </p:pic>
      <p:sp>
        <p:nvSpPr>
          <p:cNvPr id="26" name="Shape 22"/>
          <p:cNvSpPr/>
          <p:nvPr/>
        </p:nvSpPr>
        <p:spPr>
          <a:xfrm>
            <a:off x="6194425" y="8336461"/>
            <a:ext cx="5673725" cy="514350"/>
          </a:xfrm>
          <a:prstGeom prst="roundRect">
            <a:avLst>
              <a:gd name="adj" fmla="val 12346"/>
            </a:avLst>
          </a:prstGeom>
          <a:solidFill>
            <a:srgbClr val="112240"/>
          </a:solidFill>
          <a:ln w="10160">
            <a:solidFill>
              <a:srgbClr val="00B4D8"/>
            </a:solidFill>
            <a:prstDash val="solid"/>
          </a:ln>
        </p:spPr>
      </p:sp>
      <p:sp>
        <p:nvSpPr>
          <p:cNvPr id="27" name="Text 23"/>
          <p:cNvSpPr/>
          <p:nvPr/>
        </p:nvSpPr>
        <p:spPr>
          <a:xfrm>
            <a:off x="6292850" y="8434884"/>
            <a:ext cx="5532438" cy="158750"/>
          </a:xfrm>
          <a:prstGeom prst="rect">
            <a:avLst/>
          </a:prstGeom>
          <a:noFill/>
          <a:ln/>
        </p:spPr>
        <p:txBody>
          <a:bodyPr wrap="square" lIns="0" tIns="0" rIns="0" bIns="0" rtlCol="0" anchor="ctr"/>
          <a:lstStyle/>
          <a:p>
            <a:pPr>
              <a:lnSpc>
                <a:spcPct val="120000"/>
              </a:lnSpc>
            </a:pPr>
            <a:r>
              <a:rPr lang="en-US" sz="875" b="1" dirty="0">
                <a:solidFill>
                  <a:srgbClr val="00B4D8"/>
                </a:solidFill>
                <a:latin typeface="Liter" pitchFamily="34" charset="0"/>
                <a:ea typeface="Liter" pitchFamily="34" charset="-122"/>
                <a:cs typeface="Liter" pitchFamily="34" charset="-120"/>
              </a:rPr>
              <a:t>Grad-CAM Principle</a:t>
            </a:r>
            <a:endParaRPr lang="en-US" sz="1600" dirty="0"/>
          </a:p>
        </p:txBody>
      </p:sp>
      <p:sp>
        <p:nvSpPr>
          <p:cNvPr id="28" name="Text 24"/>
          <p:cNvSpPr/>
          <p:nvPr/>
        </p:nvSpPr>
        <p:spPr>
          <a:xfrm>
            <a:off x="6292850" y="8625384"/>
            <a:ext cx="5524500" cy="127000"/>
          </a:xfrm>
          <a:prstGeom prst="rect">
            <a:avLst/>
          </a:prstGeom>
          <a:noFill/>
          <a:ln/>
        </p:spPr>
        <p:txBody>
          <a:bodyPr wrap="square" lIns="0" tIns="0" rIns="0" bIns="0" rtlCol="0" anchor="ctr"/>
          <a:lstStyle/>
          <a:p>
            <a:pPr>
              <a:lnSpc>
                <a:spcPct val="110000"/>
              </a:lnSpc>
            </a:pPr>
            <a:r>
              <a:rPr lang="en-US" sz="750" dirty="0">
                <a:solidFill>
                  <a:srgbClr val="F1FAEE"/>
                </a:solidFill>
                <a:latin typeface="Liter" pitchFamily="34" charset="0"/>
                <a:ea typeface="Liter" pitchFamily="34" charset="-122"/>
                <a:cs typeface="Liter" pitchFamily="34" charset="-120"/>
              </a:rPr>
              <a:t>Uses gradients of predicted class scores with respect to feature maps to indicate spatial importance [10]</a:t>
            </a:r>
            <a:endParaRPr lang="en-US" sz="1600" dirty="0"/>
          </a:p>
        </p:txBody>
      </p:sp>
      <p:sp>
        <p:nvSpPr>
          <p:cNvPr id="29" name="Shape 25"/>
          <p:cNvSpPr/>
          <p:nvPr/>
        </p:nvSpPr>
        <p:spPr>
          <a:xfrm>
            <a:off x="333375" y="8980886"/>
            <a:ext cx="11541125" cy="444500"/>
          </a:xfrm>
          <a:custGeom>
            <a:avLst/>
            <a:gdLst/>
            <a:ahLst/>
            <a:cxnLst/>
            <a:rect l="l" t="t" r="r" b="b"/>
            <a:pathLst>
              <a:path w="11541125" h="444500">
                <a:moveTo>
                  <a:pt x="31750" y="0"/>
                </a:moveTo>
                <a:lnTo>
                  <a:pt x="11477625" y="0"/>
                </a:lnTo>
                <a:cubicBezTo>
                  <a:pt x="11512672" y="0"/>
                  <a:pt x="11541125" y="28453"/>
                  <a:pt x="11541125" y="63500"/>
                </a:cubicBezTo>
                <a:lnTo>
                  <a:pt x="11541125" y="381000"/>
                </a:lnTo>
                <a:cubicBezTo>
                  <a:pt x="11541125" y="416047"/>
                  <a:pt x="11512672" y="444500"/>
                  <a:pt x="11477625" y="444500"/>
                </a:cubicBezTo>
                <a:lnTo>
                  <a:pt x="31750" y="444500"/>
                </a:lnTo>
                <a:cubicBezTo>
                  <a:pt x="14227" y="444500"/>
                  <a:pt x="0" y="430273"/>
                  <a:pt x="0" y="412750"/>
                </a:cubicBezTo>
                <a:lnTo>
                  <a:pt x="0" y="31750"/>
                </a:lnTo>
                <a:cubicBezTo>
                  <a:pt x="0" y="14227"/>
                  <a:pt x="14227" y="0"/>
                  <a:pt x="31750" y="0"/>
                </a:cubicBezTo>
                <a:close/>
              </a:path>
            </a:pathLst>
          </a:custGeom>
          <a:solidFill>
            <a:srgbClr val="00B4D8">
              <a:alpha val="10196"/>
            </a:srgbClr>
          </a:solidFill>
          <a:ln/>
        </p:spPr>
      </p:sp>
      <p:sp>
        <p:nvSpPr>
          <p:cNvPr id="30" name="Shape 26"/>
          <p:cNvSpPr/>
          <p:nvPr/>
        </p:nvSpPr>
        <p:spPr>
          <a:xfrm>
            <a:off x="333375" y="8980886"/>
            <a:ext cx="31750" cy="444500"/>
          </a:xfrm>
          <a:custGeom>
            <a:avLst/>
            <a:gdLst/>
            <a:ahLst/>
            <a:cxnLst/>
            <a:rect l="l" t="t" r="r" b="b"/>
            <a:pathLst>
              <a:path w="31750" h="444500">
                <a:moveTo>
                  <a:pt x="31750" y="0"/>
                </a:moveTo>
                <a:lnTo>
                  <a:pt x="31750" y="0"/>
                </a:lnTo>
                <a:lnTo>
                  <a:pt x="31750" y="444500"/>
                </a:lnTo>
                <a:lnTo>
                  <a:pt x="31750" y="444500"/>
                </a:lnTo>
                <a:cubicBezTo>
                  <a:pt x="14227" y="444500"/>
                  <a:pt x="0" y="430273"/>
                  <a:pt x="0" y="412750"/>
                </a:cubicBezTo>
                <a:lnTo>
                  <a:pt x="0" y="31750"/>
                </a:lnTo>
                <a:cubicBezTo>
                  <a:pt x="0" y="14227"/>
                  <a:pt x="14227" y="0"/>
                  <a:pt x="31750" y="0"/>
                </a:cubicBezTo>
                <a:close/>
              </a:path>
            </a:pathLst>
          </a:custGeom>
          <a:solidFill>
            <a:srgbClr val="00B4D8"/>
          </a:solidFill>
          <a:ln/>
        </p:spPr>
      </p:sp>
      <p:sp>
        <p:nvSpPr>
          <p:cNvPr id="31" name="Shape 27"/>
          <p:cNvSpPr/>
          <p:nvPr/>
        </p:nvSpPr>
        <p:spPr>
          <a:xfrm>
            <a:off x="492125" y="913328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63500" y="43656"/>
                </a:moveTo>
                <a:cubicBezTo>
                  <a:pt x="59110" y="43656"/>
                  <a:pt x="55563" y="47203"/>
                  <a:pt x="55563" y="51594"/>
                </a:cubicBezTo>
                <a:cubicBezTo>
                  <a:pt x="55563" y="54893"/>
                  <a:pt x="52908" y="57547"/>
                  <a:pt x="49609" y="57547"/>
                </a:cubicBezTo>
                <a:cubicBezTo>
                  <a:pt x="46310" y="57547"/>
                  <a:pt x="43656" y="54893"/>
                  <a:pt x="43656" y="51594"/>
                </a:cubicBezTo>
                <a:cubicBezTo>
                  <a:pt x="43656" y="40630"/>
                  <a:pt x="52536" y="31750"/>
                  <a:pt x="63500" y="31750"/>
                </a:cubicBezTo>
                <a:cubicBezTo>
                  <a:pt x="74464" y="31750"/>
                  <a:pt x="83344" y="40630"/>
                  <a:pt x="83344" y="51594"/>
                </a:cubicBezTo>
                <a:cubicBezTo>
                  <a:pt x="83344" y="63302"/>
                  <a:pt x="74414" y="68263"/>
                  <a:pt x="69453" y="70073"/>
                </a:cubicBezTo>
                <a:lnTo>
                  <a:pt x="69453" y="71016"/>
                </a:lnTo>
                <a:cubicBezTo>
                  <a:pt x="69453" y="74315"/>
                  <a:pt x="66799" y="76969"/>
                  <a:pt x="63500" y="76969"/>
                </a:cubicBezTo>
                <a:cubicBezTo>
                  <a:pt x="60201" y="76969"/>
                  <a:pt x="57547" y="74315"/>
                  <a:pt x="57547" y="71016"/>
                </a:cubicBezTo>
                <a:lnTo>
                  <a:pt x="57547" y="69007"/>
                </a:lnTo>
                <a:cubicBezTo>
                  <a:pt x="57547" y="63922"/>
                  <a:pt x="61218" y="60275"/>
                  <a:pt x="65013" y="59035"/>
                </a:cubicBezTo>
                <a:cubicBezTo>
                  <a:pt x="66601" y="58514"/>
                  <a:pt x="68287" y="57671"/>
                  <a:pt x="69528" y="56480"/>
                </a:cubicBezTo>
                <a:cubicBezTo>
                  <a:pt x="70594" y="55438"/>
                  <a:pt x="71438" y="54000"/>
                  <a:pt x="71438" y="51619"/>
                </a:cubicBezTo>
                <a:cubicBezTo>
                  <a:pt x="71438" y="47228"/>
                  <a:pt x="67890" y="43681"/>
                  <a:pt x="63500" y="43681"/>
                </a:cubicBezTo>
                <a:close/>
                <a:moveTo>
                  <a:pt x="55563" y="91281"/>
                </a:moveTo>
                <a:cubicBezTo>
                  <a:pt x="55563" y="86900"/>
                  <a:pt x="59119" y="83344"/>
                  <a:pt x="63500" y="83344"/>
                </a:cubicBezTo>
                <a:cubicBezTo>
                  <a:pt x="67881" y="83344"/>
                  <a:pt x="71438" y="86900"/>
                  <a:pt x="71438" y="91281"/>
                </a:cubicBezTo>
                <a:cubicBezTo>
                  <a:pt x="71438" y="95662"/>
                  <a:pt x="67881" y="99219"/>
                  <a:pt x="63500" y="99219"/>
                </a:cubicBezTo>
                <a:cubicBezTo>
                  <a:pt x="59119" y="99219"/>
                  <a:pt x="55563" y="95662"/>
                  <a:pt x="55563" y="91281"/>
                </a:cubicBezTo>
                <a:close/>
              </a:path>
            </a:pathLst>
          </a:custGeom>
          <a:solidFill>
            <a:srgbClr val="00B4D8"/>
          </a:solidFill>
          <a:ln/>
        </p:spPr>
      </p:sp>
      <p:sp>
        <p:nvSpPr>
          <p:cNvPr id="32" name="Text 28"/>
          <p:cNvSpPr/>
          <p:nvPr/>
        </p:nvSpPr>
        <p:spPr>
          <a:xfrm>
            <a:off x="674688" y="9107886"/>
            <a:ext cx="11136313" cy="190500"/>
          </a:xfrm>
          <a:prstGeom prst="rect">
            <a:avLst/>
          </a:prstGeom>
          <a:noFill/>
          <a:ln/>
        </p:spPr>
        <p:txBody>
          <a:bodyPr wrap="square" lIns="0" tIns="0" rIns="0" bIns="0" rtlCol="0" anchor="ctr"/>
          <a:lstStyle/>
          <a:p>
            <a:pPr>
              <a:lnSpc>
                <a:spcPct val="130000"/>
              </a:lnSpc>
            </a:pPr>
            <a:r>
              <a:rPr lang="en-US" sz="1000" b="1" dirty="0">
                <a:solidFill>
                  <a:srgbClr val="00B4D8"/>
                </a:solidFill>
                <a:latin typeface="Liter" pitchFamily="34" charset="0"/>
                <a:ea typeface="Liter" pitchFamily="34" charset="-122"/>
                <a:cs typeface="Liter" pitchFamily="34" charset="-120"/>
              </a:rPr>
              <a:t>Interactive Prompt: Does highlighting regions automatically mean the explanation is reliable?</a:t>
            </a:r>
            <a:endParaRPr lang="en-US" sz="1600" dirty="0"/>
          </a:p>
        </p:txBody>
      </p:sp>
      <p:sp>
        <p:nvSpPr>
          <p:cNvPr id="33" name="Text 29"/>
          <p:cNvSpPr/>
          <p:nvPr/>
        </p:nvSpPr>
        <p:spPr>
          <a:xfrm>
            <a:off x="317500" y="6604101"/>
            <a:ext cx="2206625"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34" name="Text 30"/>
          <p:cNvSpPr/>
          <p:nvPr/>
        </p:nvSpPr>
        <p:spPr>
          <a:xfrm>
            <a:off x="11547178" y="6604101"/>
            <a:ext cx="373063"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Slide 10</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64757" y="364757"/>
            <a:ext cx="11535438" cy="218854"/>
          </a:xfrm>
          <a:prstGeom prst="rect">
            <a:avLst/>
          </a:prstGeom>
          <a:noFill/>
          <a:ln/>
        </p:spPr>
        <p:txBody>
          <a:bodyPr wrap="square" lIns="0" tIns="0" rIns="0" bIns="0" rtlCol="0" anchor="ctr"/>
          <a:lstStyle/>
          <a:p>
            <a:pPr>
              <a:lnSpc>
                <a:spcPct val="130000"/>
              </a:lnSpc>
            </a:pPr>
            <a:r>
              <a:rPr lang="en-US" sz="1149" b="1" spc="57" kern="0" dirty="0">
                <a:solidFill>
                  <a:srgbClr val="00B4D8"/>
                </a:solidFill>
                <a:latin typeface="Liter" pitchFamily="34" charset="0"/>
                <a:ea typeface="Liter" pitchFamily="34" charset="-122"/>
                <a:cs typeface="Liter" pitchFamily="34" charset="-120"/>
              </a:rPr>
              <a:t>Problem Analysis</a:t>
            </a:r>
            <a:endParaRPr lang="en-US" sz="1600" dirty="0"/>
          </a:p>
        </p:txBody>
      </p:sp>
      <p:sp>
        <p:nvSpPr>
          <p:cNvPr id="3" name="Text 1"/>
          <p:cNvSpPr/>
          <p:nvPr/>
        </p:nvSpPr>
        <p:spPr>
          <a:xfrm>
            <a:off x="364757" y="620087"/>
            <a:ext cx="11626627" cy="364757"/>
          </a:xfrm>
          <a:prstGeom prst="rect">
            <a:avLst/>
          </a:prstGeom>
          <a:noFill/>
          <a:ln/>
        </p:spPr>
        <p:txBody>
          <a:bodyPr wrap="square" lIns="0" tIns="0" rIns="0" bIns="0" rtlCol="0" anchor="ctr"/>
          <a:lstStyle/>
          <a:p>
            <a:pPr>
              <a:lnSpc>
                <a:spcPct val="90000"/>
              </a:lnSpc>
            </a:pPr>
            <a:r>
              <a:rPr lang="en-US" sz="2585" b="1" dirty="0">
                <a:solidFill>
                  <a:srgbClr val="F1FAEE"/>
                </a:solidFill>
                <a:latin typeface="Oranienbaum" pitchFamily="34" charset="0"/>
                <a:ea typeface="Oranienbaum" pitchFamily="34" charset="-122"/>
                <a:cs typeface="Oranienbaum" pitchFamily="34" charset="-120"/>
              </a:rPr>
              <a:t>Limitations of Standard Grad-CAM</a:t>
            </a:r>
            <a:endParaRPr lang="en-US" sz="1600" dirty="0"/>
          </a:p>
        </p:txBody>
      </p:sp>
      <p:sp>
        <p:nvSpPr>
          <p:cNvPr id="4" name="Shape 2"/>
          <p:cNvSpPr/>
          <p:nvPr/>
        </p:nvSpPr>
        <p:spPr>
          <a:xfrm>
            <a:off x="364757" y="1057795"/>
            <a:ext cx="875417" cy="36476"/>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82995" y="1167222"/>
            <a:ext cx="3702283" cy="1714358"/>
          </a:xfrm>
          <a:custGeom>
            <a:avLst/>
            <a:gdLst/>
            <a:ahLst/>
            <a:cxnLst/>
            <a:rect l="l" t="t" r="r" b="b"/>
            <a:pathLst>
              <a:path w="3702283" h="1714358">
                <a:moveTo>
                  <a:pt x="36449" y="0"/>
                </a:moveTo>
                <a:lnTo>
                  <a:pt x="3629279" y="0"/>
                </a:lnTo>
                <a:cubicBezTo>
                  <a:pt x="3648635" y="-34"/>
                  <a:pt x="3667209" y="7632"/>
                  <a:pt x="3680908" y="21306"/>
                </a:cubicBezTo>
                <a:cubicBezTo>
                  <a:pt x="3694606" y="34981"/>
                  <a:pt x="3702304" y="53542"/>
                  <a:pt x="3702304" y="72898"/>
                </a:cubicBezTo>
                <a:lnTo>
                  <a:pt x="3702304" y="1641475"/>
                </a:lnTo>
                <a:cubicBezTo>
                  <a:pt x="3702304" y="1660831"/>
                  <a:pt x="3694606" y="1679392"/>
                  <a:pt x="3680908" y="1693067"/>
                </a:cubicBezTo>
                <a:cubicBezTo>
                  <a:pt x="3667209" y="1706741"/>
                  <a:pt x="3648635" y="1714407"/>
                  <a:pt x="3629279" y="1714373"/>
                </a:cubicBezTo>
                <a:lnTo>
                  <a:pt x="36449" y="1714373"/>
                </a:lnTo>
                <a:cubicBezTo>
                  <a:pt x="16319" y="1714373"/>
                  <a:pt x="0" y="1698054"/>
                  <a:pt x="0" y="1677924"/>
                </a:cubicBezTo>
                <a:lnTo>
                  <a:pt x="0" y="36449"/>
                </a:lnTo>
                <a:cubicBezTo>
                  <a:pt x="0" y="16319"/>
                  <a:pt x="16319" y="0"/>
                  <a:pt x="36449" y="0"/>
                </a:cubicBezTo>
                <a:close/>
              </a:path>
            </a:pathLst>
          </a:custGeom>
          <a:solidFill>
            <a:srgbClr val="112240"/>
          </a:solidFill>
          <a:ln/>
        </p:spPr>
      </p:sp>
      <p:sp>
        <p:nvSpPr>
          <p:cNvPr id="6" name="Shape 4"/>
          <p:cNvSpPr/>
          <p:nvPr/>
        </p:nvSpPr>
        <p:spPr>
          <a:xfrm>
            <a:off x="382995" y="1167222"/>
            <a:ext cx="36476" cy="1714358"/>
          </a:xfrm>
          <a:custGeom>
            <a:avLst/>
            <a:gdLst/>
            <a:ahLst/>
            <a:cxnLst/>
            <a:rect l="l" t="t" r="r" b="b"/>
            <a:pathLst>
              <a:path w="36476" h="1714358">
                <a:moveTo>
                  <a:pt x="36449" y="0"/>
                </a:moveTo>
                <a:lnTo>
                  <a:pt x="36449" y="0"/>
                </a:lnTo>
                <a:lnTo>
                  <a:pt x="36449" y="1714373"/>
                </a:lnTo>
                <a:lnTo>
                  <a:pt x="36449" y="1714373"/>
                </a:lnTo>
                <a:cubicBezTo>
                  <a:pt x="16319" y="1714373"/>
                  <a:pt x="0" y="1698054"/>
                  <a:pt x="0" y="1677924"/>
                </a:cubicBezTo>
                <a:lnTo>
                  <a:pt x="0" y="36449"/>
                </a:lnTo>
                <a:cubicBezTo>
                  <a:pt x="0" y="16319"/>
                  <a:pt x="16319" y="0"/>
                  <a:pt x="36449" y="0"/>
                </a:cubicBezTo>
                <a:close/>
              </a:path>
            </a:pathLst>
          </a:custGeom>
          <a:solidFill>
            <a:srgbClr val="FF6B6B"/>
          </a:solidFill>
          <a:ln/>
        </p:spPr>
      </p:sp>
      <p:sp>
        <p:nvSpPr>
          <p:cNvPr id="7" name="Shape 5"/>
          <p:cNvSpPr/>
          <p:nvPr/>
        </p:nvSpPr>
        <p:spPr>
          <a:xfrm>
            <a:off x="510660" y="1276649"/>
            <a:ext cx="291806" cy="291806"/>
          </a:xfrm>
          <a:prstGeom prst="roundRect">
            <a:avLst>
              <a:gd name="adj" fmla="val 50000"/>
            </a:avLst>
          </a:prstGeom>
          <a:solidFill>
            <a:srgbClr val="FF6B6B"/>
          </a:solidFill>
          <a:ln/>
        </p:spPr>
      </p:sp>
      <p:sp>
        <p:nvSpPr>
          <p:cNvPr id="8" name="Text 6"/>
          <p:cNvSpPr/>
          <p:nvPr/>
        </p:nvSpPr>
        <p:spPr>
          <a:xfrm>
            <a:off x="627382" y="1313125"/>
            <a:ext cx="127665" cy="218854"/>
          </a:xfrm>
          <a:prstGeom prst="rect">
            <a:avLst/>
          </a:prstGeom>
          <a:noFill/>
          <a:ln/>
        </p:spPr>
        <p:txBody>
          <a:bodyPr wrap="square" lIns="0" tIns="0" rIns="0" bIns="0" rtlCol="0" anchor="ctr"/>
          <a:lstStyle/>
          <a:p>
            <a:pPr>
              <a:lnSpc>
                <a:spcPct val="130000"/>
              </a:lnSpc>
            </a:pPr>
            <a:r>
              <a:rPr lang="en-US" sz="1149" b="1" dirty="0">
                <a:solidFill>
                  <a:srgbClr val="F1FAEE"/>
                </a:solidFill>
                <a:latin typeface="Liter" pitchFamily="34" charset="0"/>
                <a:ea typeface="Liter" pitchFamily="34" charset="-122"/>
                <a:cs typeface="Liter" pitchFamily="34" charset="-120"/>
              </a:rPr>
              <a:t>1</a:t>
            </a:r>
            <a:endParaRPr lang="en-US" sz="1600" dirty="0"/>
          </a:p>
        </p:txBody>
      </p:sp>
      <p:sp>
        <p:nvSpPr>
          <p:cNvPr id="9" name="Text 7"/>
          <p:cNvSpPr/>
          <p:nvPr/>
        </p:nvSpPr>
        <p:spPr>
          <a:xfrm>
            <a:off x="875417" y="1294887"/>
            <a:ext cx="1924093" cy="255330"/>
          </a:xfrm>
          <a:prstGeom prst="rect">
            <a:avLst/>
          </a:prstGeom>
          <a:noFill/>
          <a:ln/>
        </p:spPr>
        <p:txBody>
          <a:bodyPr wrap="square" lIns="0" tIns="0" rIns="0" bIns="0" rtlCol="0" anchor="ctr"/>
          <a:lstStyle/>
          <a:p>
            <a:pPr>
              <a:lnSpc>
                <a:spcPct val="130000"/>
              </a:lnSpc>
            </a:pPr>
            <a:r>
              <a:rPr lang="en-US" sz="1292" b="1" dirty="0">
                <a:solidFill>
                  <a:srgbClr val="FF6B6B"/>
                </a:solidFill>
                <a:latin typeface="Liter" pitchFamily="34" charset="0"/>
                <a:ea typeface="Liter" pitchFamily="34" charset="-122"/>
                <a:cs typeface="Liter" pitchFamily="34" charset="-120"/>
              </a:rPr>
              <a:t>Coarse Spatial Resolution</a:t>
            </a:r>
            <a:endParaRPr lang="en-US" sz="1600" dirty="0"/>
          </a:p>
        </p:txBody>
      </p:sp>
      <p:sp>
        <p:nvSpPr>
          <p:cNvPr id="10" name="Text 8"/>
          <p:cNvSpPr/>
          <p:nvPr/>
        </p:nvSpPr>
        <p:spPr>
          <a:xfrm>
            <a:off x="510660" y="1641406"/>
            <a:ext cx="3529023" cy="528898"/>
          </a:xfrm>
          <a:prstGeom prst="rect">
            <a:avLst/>
          </a:prstGeom>
          <a:noFill/>
          <a:ln/>
        </p:spPr>
        <p:txBody>
          <a:bodyPr wrap="square" lIns="0" tIns="0" rIns="0" bIns="0" rtlCol="0" anchor="ctr"/>
          <a:lstStyle/>
          <a:p>
            <a:pPr>
              <a:lnSpc>
                <a:spcPct val="110000"/>
              </a:lnSpc>
            </a:pPr>
            <a:r>
              <a:rPr lang="en-US" sz="1005" dirty="0">
                <a:solidFill>
                  <a:srgbClr val="F1FAEE"/>
                </a:solidFill>
                <a:latin typeface="Liter" pitchFamily="34" charset="0"/>
                <a:ea typeface="Liter" pitchFamily="34" charset="-122"/>
                <a:cs typeface="Liter" pitchFamily="34" charset="-120"/>
              </a:rPr>
              <a:t>Last convolution layer outputs 7×7 feature maps. Upsampling to 224×224 requires </a:t>
            </a:r>
            <a:pPr>
              <a:lnSpc>
                <a:spcPct val="110000"/>
              </a:lnSpc>
            </a:pPr>
            <a:r>
              <a:rPr lang="en-US" sz="1005" b="1" dirty="0">
                <a:solidFill>
                  <a:srgbClr val="FF6B6B"/>
                </a:solidFill>
                <a:latin typeface="Liter" pitchFamily="34" charset="0"/>
                <a:ea typeface="Liter" pitchFamily="34" charset="-122"/>
                <a:cs typeface="Liter" pitchFamily="34" charset="-120"/>
              </a:rPr>
              <a:t>32× bilinear interpolation</a:t>
            </a:r>
            <a:pPr>
              <a:lnSpc>
                <a:spcPct val="110000"/>
              </a:lnSpc>
            </a:pPr>
            <a:r>
              <a:rPr lang="en-US" sz="1005" dirty="0">
                <a:solidFill>
                  <a:srgbClr val="F1FAEE"/>
                </a:solidFill>
                <a:latin typeface="Liter" pitchFamily="34" charset="0"/>
                <a:ea typeface="Liter" pitchFamily="34" charset="-122"/>
                <a:cs typeface="Liter" pitchFamily="34" charset="-120"/>
              </a:rPr>
              <a:t> , producing smooth, blurry results [10][12].</a:t>
            </a:r>
            <a:endParaRPr lang="en-US" sz="1600" dirty="0"/>
          </a:p>
        </p:txBody>
      </p:sp>
      <p:sp>
        <p:nvSpPr>
          <p:cNvPr id="11" name="Shape 9"/>
          <p:cNvSpPr/>
          <p:nvPr/>
        </p:nvSpPr>
        <p:spPr>
          <a:xfrm>
            <a:off x="510660" y="2240975"/>
            <a:ext cx="3465191" cy="291806"/>
          </a:xfrm>
          <a:prstGeom prst="roundRect">
            <a:avLst>
              <a:gd name="adj" fmla="val 12500"/>
            </a:avLst>
          </a:prstGeom>
          <a:solidFill>
            <a:srgbClr val="0A192F"/>
          </a:solidFill>
          <a:ln/>
        </p:spPr>
      </p:sp>
      <p:sp>
        <p:nvSpPr>
          <p:cNvPr id="12" name="Text 10"/>
          <p:cNvSpPr/>
          <p:nvPr/>
        </p:nvSpPr>
        <p:spPr>
          <a:xfrm>
            <a:off x="583611" y="2313927"/>
            <a:ext cx="3374001" cy="145903"/>
          </a:xfrm>
          <a:prstGeom prst="rect">
            <a:avLst/>
          </a:prstGeom>
          <a:noFill/>
          <a:ln/>
        </p:spPr>
        <p:txBody>
          <a:bodyPr wrap="square" lIns="0" tIns="0" rIns="0" bIns="0" rtlCol="0" anchor="ctr"/>
          <a:lstStyle/>
          <a:p>
            <a:pPr>
              <a:lnSpc>
                <a:spcPct val="110000"/>
              </a:lnSpc>
            </a:pPr>
            <a:r>
              <a:rPr lang="en-US" sz="862" dirty="0">
                <a:solidFill>
                  <a:srgbClr val="5C677D"/>
                </a:solidFill>
                <a:latin typeface="Liter" pitchFamily="34" charset="0"/>
                <a:ea typeface="Liter" pitchFamily="34" charset="-122"/>
                <a:cs typeface="Liter" pitchFamily="34" charset="-120"/>
              </a:rPr>
              <a:t>Problem: 49 spatial regions → interpolation obscures true localization</a:t>
            </a:r>
            <a:endParaRPr lang="en-US" sz="1600" dirty="0"/>
          </a:p>
        </p:txBody>
      </p:sp>
      <p:sp>
        <p:nvSpPr>
          <p:cNvPr id="13" name="Shape 11"/>
          <p:cNvSpPr/>
          <p:nvPr/>
        </p:nvSpPr>
        <p:spPr>
          <a:xfrm>
            <a:off x="4252040" y="1167222"/>
            <a:ext cx="3702283" cy="1714358"/>
          </a:xfrm>
          <a:custGeom>
            <a:avLst/>
            <a:gdLst/>
            <a:ahLst/>
            <a:cxnLst/>
            <a:rect l="l" t="t" r="r" b="b"/>
            <a:pathLst>
              <a:path w="3702283" h="1714358">
                <a:moveTo>
                  <a:pt x="36449" y="0"/>
                </a:moveTo>
                <a:lnTo>
                  <a:pt x="3629279" y="0"/>
                </a:lnTo>
                <a:cubicBezTo>
                  <a:pt x="3648635" y="-34"/>
                  <a:pt x="3667209" y="7632"/>
                  <a:pt x="3680908" y="21306"/>
                </a:cubicBezTo>
                <a:cubicBezTo>
                  <a:pt x="3694606" y="34981"/>
                  <a:pt x="3702304" y="53542"/>
                  <a:pt x="3702304" y="72898"/>
                </a:cubicBezTo>
                <a:lnTo>
                  <a:pt x="3702304" y="1641475"/>
                </a:lnTo>
                <a:cubicBezTo>
                  <a:pt x="3702304" y="1660831"/>
                  <a:pt x="3694606" y="1679392"/>
                  <a:pt x="3680908" y="1693067"/>
                </a:cubicBezTo>
                <a:cubicBezTo>
                  <a:pt x="3667209" y="1706741"/>
                  <a:pt x="3648635" y="1714407"/>
                  <a:pt x="3629279" y="1714373"/>
                </a:cubicBezTo>
                <a:lnTo>
                  <a:pt x="36449" y="1714373"/>
                </a:lnTo>
                <a:cubicBezTo>
                  <a:pt x="16319" y="1714373"/>
                  <a:pt x="0" y="1698054"/>
                  <a:pt x="0" y="1677924"/>
                </a:cubicBezTo>
                <a:lnTo>
                  <a:pt x="0" y="36449"/>
                </a:lnTo>
                <a:cubicBezTo>
                  <a:pt x="0" y="16319"/>
                  <a:pt x="16319" y="0"/>
                  <a:pt x="36449" y="0"/>
                </a:cubicBezTo>
                <a:close/>
              </a:path>
            </a:pathLst>
          </a:custGeom>
          <a:solidFill>
            <a:srgbClr val="112240"/>
          </a:solidFill>
          <a:ln/>
        </p:spPr>
      </p:sp>
      <p:sp>
        <p:nvSpPr>
          <p:cNvPr id="14" name="Shape 12"/>
          <p:cNvSpPr/>
          <p:nvPr/>
        </p:nvSpPr>
        <p:spPr>
          <a:xfrm>
            <a:off x="4252040" y="1167222"/>
            <a:ext cx="36476" cy="1714358"/>
          </a:xfrm>
          <a:custGeom>
            <a:avLst/>
            <a:gdLst/>
            <a:ahLst/>
            <a:cxnLst/>
            <a:rect l="l" t="t" r="r" b="b"/>
            <a:pathLst>
              <a:path w="36476" h="1714358">
                <a:moveTo>
                  <a:pt x="36449" y="0"/>
                </a:moveTo>
                <a:lnTo>
                  <a:pt x="36449" y="0"/>
                </a:lnTo>
                <a:lnTo>
                  <a:pt x="36449" y="1714373"/>
                </a:lnTo>
                <a:lnTo>
                  <a:pt x="36449" y="1714373"/>
                </a:lnTo>
                <a:cubicBezTo>
                  <a:pt x="16319" y="1714373"/>
                  <a:pt x="0" y="1698054"/>
                  <a:pt x="0" y="1677924"/>
                </a:cubicBezTo>
                <a:lnTo>
                  <a:pt x="0" y="36449"/>
                </a:lnTo>
                <a:cubicBezTo>
                  <a:pt x="0" y="16319"/>
                  <a:pt x="16319" y="0"/>
                  <a:pt x="36449" y="0"/>
                </a:cubicBezTo>
                <a:close/>
              </a:path>
            </a:pathLst>
          </a:custGeom>
          <a:solidFill>
            <a:srgbClr val="FF6B6B"/>
          </a:solidFill>
          <a:ln/>
        </p:spPr>
      </p:sp>
      <p:sp>
        <p:nvSpPr>
          <p:cNvPr id="15" name="Shape 13"/>
          <p:cNvSpPr/>
          <p:nvPr/>
        </p:nvSpPr>
        <p:spPr>
          <a:xfrm>
            <a:off x="4379705" y="1276649"/>
            <a:ext cx="291806" cy="291806"/>
          </a:xfrm>
          <a:prstGeom prst="roundRect">
            <a:avLst>
              <a:gd name="adj" fmla="val 50000"/>
            </a:avLst>
          </a:prstGeom>
          <a:solidFill>
            <a:srgbClr val="FF6B6B"/>
          </a:solidFill>
          <a:ln/>
        </p:spPr>
      </p:sp>
      <p:sp>
        <p:nvSpPr>
          <p:cNvPr id="16" name="Text 14"/>
          <p:cNvSpPr/>
          <p:nvPr/>
        </p:nvSpPr>
        <p:spPr>
          <a:xfrm>
            <a:off x="4483205" y="1313125"/>
            <a:ext cx="155022" cy="218854"/>
          </a:xfrm>
          <a:prstGeom prst="rect">
            <a:avLst/>
          </a:prstGeom>
          <a:noFill/>
          <a:ln/>
        </p:spPr>
        <p:txBody>
          <a:bodyPr wrap="square" lIns="0" tIns="0" rIns="0" bIns="0" rtlCol="0" anchor="ctr"/>
          <a:lstStyle/>
          <a:p>
            <a:pPr>
              <a:lnSpc>
                <a:spcPct val="130000"/>
              </a:lnSpc>
            </a:pPr>
            <a:r>
              <a:rPr lang="en-US" sz="1149" b="1" dirty="0">
                <a:solidFill>
                  <a:srgbClr val="F1FAEE"/>
                </a:solidFill>
                <a:latin typeface="Liter" pitchFamily="34" charset="0"/>
                <a:ea typeface="Liter" pitchFamily="34" charset="-122"/>
                <a:cs typeface="Liter" pitchFamily="34" charset="-120"/>
              </a:rPr>
              <a:t>2</a:t>
            </a:r>
            <a:endParaRPr lang="en-US" sz="1600" dirty="0"/>
          </a:p>
        </p:txBody>
      </p:sp>
      <p:sp>
        <p:nvSpPr>
          <p:cNvPr id="17" name="Text 15"/>
          <p:cNvSpPr/>
          <p:nvPr/>
        </p:nvSpPr>
        <p:spPr>
          <a:xfrm>
            <a:off x="4744462" y="1294887"/>
            <a:ext cx="2042639" cy="255330"/>
          </a:xfrm>
          <a:prstGeom prst="rect">
            <a:avLst/>
          </a:prstGeom>
          <a:noFill/>
          <a:ln/>
        </p:spPr>
        <p:txBody>
          <a:bodyPr wrap="square" lIns="0" tIns="0" rIns="0" bIns="0" rtlCol="0" anchor="ctr"/>
          <a:lstStyle/>
          <a:p>
            <a:pPr>
              <a:lnSpc>
                <a:spcPct val="130000"/>
              </a:lnSpc>
            </a:pPr>
            <a:r>
              <a:rPr lang="en-US" sz="1292" b="1" dirty="0">
                <a:solidFill>
                  <a:srgbClr val="FF6B6B"/>
                </a:solidFill>
                <a:latin typeface="Liter" pitchFamily="34" charset="0"/>
                <a:ea typeface="Liter" pitchFamily="34" charset="-122"/>
                <a:cs typeface="Liter" pitchFamily="34" charset="-120"/>
              </a:rPr>
              <a:t>Poor Boundary Localization</a:t>
            </a:r>
            <a:endParaRPr lang="en-US" sz="1600" dirty="0"/>
          </a:p>
        </p:txBody>
      </p:sp>
      <p:sp>
        <p:nvSpPr>
          <p:cNvPr id="18" name="Text 16"/>
          <p:cNvSpPr/>
          <p:nvPr/>
        </p:nvSpPr>
        <p:spPr>
          <a:xfrm>
            <a:off x="4379705" y="1641406"/>
            <a:ext cx="3529023" cy="528898"/>
          </a:xfrm>
          <a:prstGeom prst="rect">
            <a:avLst/>
          </a:prstGeom>
          <a:noFill/>
          <a:ln/>
        </p:spPr>
        <p:txBody>
          <a:bodyPr wrap="square" lIns="0" tIns="0" rIns="0" bIns="0" rtlCol="0" anchor="ctr"/>
          <a:lstStyle/>
          <a:p>
            <a:pPr>
              <a:lnSpc>
                <a:spcPct val="110000"/>
              </a:lnSpc>
            </a:pPr>
            <a:r>
              <a:rPr lang="en-US" sz="1005" dirty="0">
                <a:solidFill>
                  <a:srgbClr val="F1FAEE"/>
                </a:solidFill>
                <a:latin typeface="Liter" pitchFamily="34" charset="0"/>
                <a:ea typeface="Liter" pitchFamily="34" charset="-122"/>
                <a:cs typeface="Liter" pitchFamily="34" charset="-120"/>
              </a:rPr>
              <a:t>Heatmaps show model's </a:t>
            </a:r>
            <a:pPr>
              <a:lnSpc>
                <a:spcPct val="110000"/>
              </a:lnSpc>
            </a:pPr>
            <a:r>
              <a:rPr lang="en-US" sz="1005" b="1" dirty="0">
                <a:solidFill>
                  <a:srgbClr val="F1FAEE"/>
                </a:solidFill>
                <a:latin typeface="Liter" pitchFamily="34" charset="0"/>
                <a:ea typeface="Liter" pitchFamily="34" charset="-122"/>
                <a:cs typeface="Liter" pitchFamily="34" charset="-120"/>
              </a:rPr>
              <a:t>attention</a:t>
            </a:r>
            <a:pPr>
              <a:lnSpc>
                <a:spcPct val="110000"/>
              </a:lnSpc>
            </a:pPr>
            <a:r>
              <a:rPr lang="en-US" sz="1005" dirty="0">
                <a:solidFill>
                  <a:srgbClr val="F1FAEE"/>
                </a:solidFill>
                <a:latin typeface="Liter" pitchFamily="34" charset="0"/>
                <a:ea typeface="Liter" pitchFamily="34" charset="-122"/>
                <a:cs typeface="Liter" pitchFamily="34" charset="-120"/>
              </a:rPr>
              <a:t> , not actual </a:t>
            </a:r>
            <a:pPr>
              <a:lnSpc>
                <a:spcPct val="110000"/>
              </a:lnSpc>
            </a:pPr>
            <a:r>
              <a:rPr lang="en-US" sz="1005" b="1" dirty="0">
                <a:solidFill>
                  <a:srgbClr val="FF6B6B"/>
                </a:solidFill>
                <a:latin typeface="Liter" pitchFamily="34" charset="0"/>
                <a:ea typeface="Liter" pitchFamily="34" charset="-122"/>
                <a:cs typeface="Liter" pitchFamily="34" charset="-120"/>
              </a:rPr>
              <a:t>pixel-wise segmentation</a:t>
            </a:r>
            <a:pPr>
              <a:lnSpc>
                <a:spcPct val="110000"/>
              </a:lnSpc>
            </a:pPr>
            <a:r>
              <a:rPr lang="en-US" sz="1005" dirty="0">
                <a:solidFill>
                  <a:srgbClr val="F1FAEE"/>
                </a:solidFill>
                <a:latin typeface="Liter" pitchFamily="34" charset="0"/>
                <a:ea typeface="Liter" pitchFamily="34" charset="-122"/>
                <a:cs typeface="Liter" pitchFamily="34" charset="-120"/>
              </a:rPr>
              <a:t> . Cannot guarantee pixel-level accuracy [10][15].</a:t>
            </a:r>
            <a:endParaRPr lang="en-US" sz="1600" dirty="0"/>
          </a:p>
        </p:txBody>
      </p:sp>
      <p:sp>
        <p:nvSpPr>
          <p:cNvPr id="19" name="Shape 17"/>
          <p:cNvSpPr/>
          <p:nvPr/>
        </p:nvSpPr>
        <p:spPr>
          <a:xfrm>
            <a:off x="4379705" y="2240975"/>
            <a:ext cx="3465191" cy="291806"/>
          </a:xfrm>
          <a:prstGeom prst="roundRect">
            <a:avLst>
              <a:gd name="adj" fmla="val 12500"/>
            </a:avLst>
          </a:prstGeom>
          <a:solidFill>
            <a:srgbClr val="0A192F"/>
          </a:solidFill>
          <a:ln/>
        </p:spPr>
      </p:sp>
      <p:sp>
        <p:nvSpPr>
          <p:cNvPr id="20" name="Text 18"/>
          <p:cNvSpPr/>
          <p:nvPr/>
        </p:nvSpPr>
        <p:spPr>
          <a:xfrm>
            <a:off x="4452656" y="2313927"/>
            <a:ext cx="3374001" cy="145903"/>
          </a:xfrm>
          <a:prstGeom prst="rect">
            <a:avLst/>
          </a:prstGeom>
          <a:noFill/>
          <a:ln/>
        </p:spPr>
        <p:txBody>
          <a:bodyPr wrap="square" lIns="0" tIns="0" rIns="0" bIns="0" rtlCol="0" anchor="ctr"/>
          <a:lstStyle/>
          <a:p>
            <a:pPr>
              <a:lnSpc>
                <a:spcPct val="110000"/>
              </a:lnSpc>
            </a:pPr>
            <a:r>
              <a:rPr lang="en-US" sz="862" dirty="0">
                <a:solidFill>
                  <a:srgbClr val="5C677D"/>
                </a:solidFill>
                <a:latin typeface="Liter" pitchFamily="34" charset="0"/>
                <a:ea typeface="Liter" pitchFamily="34" charset="-122"/>
                <a:cs typeface="Liter" pitchFamily="34" charset="-120"/>
              </a:rPr>
              <a:t>Problem: Unrealistic attribution, fails for precise tissue localization</a:t>
            </a:r>
            <a:endParaRPr lang="en-US" sz="1600" dirty="0"/>
          </a:p>
        </p:txBody>
      </p:sp>
      <p:sp>
        <p:nvSpPr>
          <p:cNvPr id="21" name="Shape 19"/>
          <p:cNvSpPr/>
          <p:nvPr/>
        </p:nvSpPr>
        <p:spPr>
          <a:xfrm>
            <a:off x="382995" y="3025087"/>
            <a:ext cx="3702283" cy="1714358"/>
          </a:xfrm>
          <a:custGeom>
            <a:avLst/>
            <a:gdLst/>
            <a:ahLst/>
            <a:cxnLst/>
            <a:rect l="l" t="t" r="r" b="b"/>
            <a:pathLst>
              <a:path w="3702283" h="1714358">
                <a:moveTo>
                  <a:pt x="36449" y="0"/>
                </a:moveTo>
                <a:lnTo>
                  <a:pt x="3629279" y="0"/>
                </a:lnTo>
                <a:cubicBezTo>
                  <a:pt x="3648635" y="-34"/>
                  <a:pt x="3667209" y="7632"/>
                  <a:pt x="3680908" y="21306"/>
                </a:cubicBezTo>
                <a:cubicBezTo>
                  <a:pt x="3694606" y="34981"/>
                  <a:pt x="3702304" y="53542"/>
                  <a:pt x="3702304" y="72898"/>
                </a:cubicBezTo>
                <a:lnTo>
                  <a:pt x="3702304" y="1641475"/>
                </a:lnTo>
                <a:cubicBezTo>
                  <a:pt x="3702304" y="1660831"/>
                  <a:pt x="3694606" y="1679392"/>
                  <a:pt x="3680908" y="1693067"/>
                </a:cubicBezTo>
                <a:cubicBezTo>
                  <a:pt x="3667209" y="1706741"/>
                  <a:pt x="3648635" y="1714407"/>
                  <a:pt x="3629279" y="1714373"/>
                </a:cubicBezTo>
                <a:lnTo>
                  <a:pt x="36449" y="1714373"/>
                </a:lnTo>
                <a:cubicBezTo>
                  <a:pt x="16319" y="1714373"/>
                  <a:pt x="0" y="1698054"/>
                  <a:pt x="0" y="1677924"/>
                </a:cubicBezTo>
                <a:lnTo>
                  <a:pt x="0" y="36449"/>
                </a:lnTo>
                <a:cubicBezTo>
                  <a:pt x="0" y="16319"/>
                  <a:pt x="16319" y="0"/>
                  <a:pt x="36449" y="0"/>
                </a:cubicBezTo>
                <a:close/>
              </a:path>
            </a:pathLst>
          </a:custGeom>
          <a:solidFill>
            <a:srgbClr val="112240"/>
          </a:solidFill>
          <a:ln/>
        </p:spPr>
      </p:sp>
      <p:sp>
        <p:nvSpPr>
          <p:cNvPr id="22" name="Shape 20"/>
          <p:cNvSpPr/>
          <p:nvPr/>
        </p:nvSpPr>
        <p:spPr>
          <a:xfrm>
            <a:off x="382995" y="3025087"/>
            <a:ext cx="36476" cy="1714358"/>
          </a:xfrm>
          <a:custGeom>
            <a:avLst/>
            <a:gdLst/>
            <a:ahLst/>
            <a:cxnLst/>
            <a:rect l="l" t="t" r="r" b="b"/>
            <a:pathLst>
              <a:path w="36476" h="1714358">
                <a:moveTo>
                  <a:pt x="36449" y="0"/>
                </a:moveTo>
                <a:lnTo>
                  <a:pt x="36449" y="0"/>
                </a:lnTo>
                <a:lnTo>
                  <a:pt x="36449" y="1714373"/>
                </a:lnTo>
                <a:lnTo>
                  <a:pt x="36449" y="1714373"/>
                </a:lnTo>
                <a:cubicBezTo>
                  <a:pt x="16319" y="1714373"/>
                  <a:pt x="0" y="1698054"/>
                  <a:pt x="0" y="1677924"/>
                </a:cubicBezTo>
                <a:lnTo>
                  <a:pt x="0" y="36449"/>
                </a:lnTo>
                <a:cubicBezTo>
                  <a:pt x="0" y="16319"/>
                  <a:pt x="16319" y="0"/>
                  <a:pt x="36449" y="0"/>
                </a:cubicBezTo>
                <a:close/>
              </a:path>
            </a:pathLst>
          </a:custGeom>
          <a:solidFill>
            <a:srgbClr val="FF6B6B"/>
          </a:solidFill>
          <a:ln/>
        </p:spPr>
      </p:sp>
      <p:sp>
        <p:nvSpPr>
          <p:cNvPr id="23" name="Shape 21"/>
          <p:cNvSpPr/>
          <p:nvPr/>
        </p:nvSpPr>
        <p:spPr>
          <a:xfrm>
            <a:off x="510660" y="3134514"/>
            <a:ext cx="291806" cy="291806"/>
          </a:xfrm>
          <a:prstGeom prst="roundRect">
            <a:avLst>
              <a:gd name="adj" fmla="val 50000"/>
            </a:avLst>
          </a:prstGeom>
          <a:solidFill>
            <a:srgbClr val="FF6B6B"/>
          </a:solidFill>
          <a:ln/>
        </p:spPr>
      </p:sp>
      <p:sp>
        <p:nvSpPr>
          <p:cNvPr id="24" name="Text 22"/>
          <p:cNvSpPr/>
          <p:nvPr/>
        </p:nvSpPr>
        <p:spPr>
          <a:xfrm>
            <a:off x="613476" y="3170990"/>
            <a:ext cx="155022" cy="218854"/>
          </a:xfrm>
          <a:prstGeom prst="rect">
            <a:avLst/>
          </a:prstGeom>
          <a:noFill/>
          <a:ln/>
        </p:spPr>
        <p:txBody>
          <a:bodyPr wrap="square" lIns="0" tIns="0" rIns="0" bIns="0" rtlCol="0" anchor="ctr"/>
          <a:lstStyle/>
          <a:p>
            <a:pPr>
              <a:lnSpc>
                <a:spcPct val="130000"/>
              </a:lnSpc>
            </a:pPr>
            <a:r>
              <a:rPr lang="en-US" sz="1149" b="1" dirty="0">
                <a:solidFill>
                  <a:srgbClr val="F1FAEE"/>
                </a:solidFill>
                <a:latin typeface="Liter" pitchFamily="34" charset="0"/>
                <a:ea typeface="Liter" pitchFamily="34" charset="-122"/>
                <a:cs typeface="Liter" pitchFamily="34" charset="-120"/>
              </a:rPr>
              <a:t>3</a:t>
            </a:r>
            <a:endParaRPr lang="en-US" sz="1600" dirty="0"/>
          </a:p>
        </p:txBody>
      </p:sp>
      <p:sp>
        <p:nvSpPr>
          <p:cNvPr id="25" name="Text 23"/>
          <p:cNvSpPr/>
          <p:nvPr/>
        </p:nvSpPr>
        <p:spPr>
          <a:xfrm>
            <a:off x="875417" y="3152752"/>
            <a:ext cx="1276649" cy="255330"/>
          </a:xfrm>
          <a:prstGeom prst="rect">
            <a:avLst/>
          </a:prstGeom>
          <a:noFill/>
          <a:ln/>
        </p:spPr>
        <p:txBody>
          <a:bodyPr wrap="square" lIns="0" tIns="0" rIns="0" bIns="0" rtlCol="0" anchor="ctr"/>
          <a:lstStyle/>
          <a:p>
            <a:pPr>
              <a:lnSpc>
                <a:spcPct val="130000"/>
              </a:lnSpc>
            </a:pPr>
            <a:r>
              <a:rPr lang="en-US" sz="1292" b="1" dirty="0">
                <a:solidFill>
                  <a:srgbClr val="FF6B6B"/>
                </a:solidFill>
                <a:latin typeface="Liter" pitchFamily="34" charset="0"/>
                <a:ea typeface="Liter" pitchFamily="34" charset="-122"/>
                <a:cs typeface="Liter" pitchFamily="34" charset="-120"/>
              </a:rPr>
              <a:t>Noisy Heatmaps</a:t>
            </a:r>
            <a:endParaRPr lang="en-US" sz="1600" dirty="0"/>
          </a:p>
        </p:txBody>
      </p:sp>
      <p:sp>
        <p:nvSpPr>
          <p:cNvPr id="26" name="Text 24"/>
          <p:cNvSpPr/>
          <p:nvPr/>
        </p:nvSpPr>
        <p:spPr>
          <a:xfrm>
            <a:off x="510660" y="3499271"/>
            <a:ext cx="3529023" cy="355638"/>
          </a:xfrm>
          <a:prstGeom prst="rect">
            <a:avLst/>
          </a:prstGeom>
          <a:noFill/>
          <a:ln/>
        </p:spPr>
        <p:txBody>
          <a:bodyPr wrap="square" lIns="0" tIns="0" rIns="0" bIns="0" rtlCol="0" anchor="ctr"/>
          <a:lstStyle/>
          <a:p>
            <a:pPr>
              <a:lnSpc>
                <a:spcPct val="110000"/>
              </a:lnSpc>
            </a:pPr>
            <a:r>
              <a:rPr lang="en-US" sz="1005" dirty="0">
                <a:solidFill>
                  <a:srgbClr val="F1FAEE"/>
                </a:solidFill>
                <a:latin typeface="Liter" pitchFamily="34" charset="0"/>
                <a:ea typeface="Liter" pitchFamily="34" charset="-122"/>
                <a:cs typeface="Liter" pitchFamily="34" charset="-120"/>
              </a:rPr>
              <a:t>Gradients are </a:t>
            </a:r>
            <a:pPr>
              <a:lnSpc>
                <a:spcPct val="110000"/>
              </a:lnSpc>
            </a:pPr>
            <a:r>
              <a:rPr lang="en-US" sz="1005" b="1" dirty="0">
                <a:solidFill>
                  <a:srgbClr val="F1FAEE"/>
                </a:solidFill>
                <a:latin typeface="Liter" pitchFamily="34" charset="0"/>
                <a:ea typeface="Liter" pitchFamily="34" charset="-122"/>
                <a:cs typeface="Liter" pitchFamily="34" charset="-120"/>
              </a:rPr>
              <a:t>sparse</a:t>
            </a:r>
            <a:pPr>
              <a:lnSpc>
                <a:spcPct val="110000"/>
              </a:lnSpc>
            </a:pPr>
            <a:r>
              <a:rPr lang="en-US" sz="1005" dirty="0">
                <a:solidFill>
                  <a:srgbClr val="F1FAEE"/>
                </a:solidFill>
                <a:latin typeface="Liter" pitchFamily="34" charset="0"/>
                <a:ea typeface="Liter" pitchFamily="34" charset="-122"/>
                <a:cs typeface="Liter" pitchFamily="34" charset="-120"/>
              </a:rPr>
              <a:t> by nature. Explanations are coarse due to upsampling of very small feature maps [10][12].</a:t>
            </a:r>
            <a:endParaRPr lang="en-US" sz="1600" dirty="0"/>
          </a:p>
        </p:txBody>
      </p:sp>
      <p:sp>
        <p:nvSpPr>
          <p:cNvPr id="27" name="Shape 25"/>
          <p:cNvSpPr/>
          <p:nvPr/>
        </p:nvSpPr>
        <p:spPr>
          <a:xfrm>
            <a:off x="510660" y="3923301"/>
            <a:ext cx="3465191" cy="291806"/>
          </a:xfrm>
          <a:prstGeom prst="roundRect">
            <a:avLst>
              <a:gd name="adj" fmla="val 12500"/>
            </a:avLst>
          </a:prstGeom>
          <a:solidFill>
            <a:srgbClr val="0A192F"/>
          </a:solidFill>
          <a:ln/>
        </p:spPr>
      </p:sp>
      <p:sp>
        <p:nvSpPr>
          <p:cNvPr id="28" name="Text 26"/>
          <p:cNvSpPr/>
          <p:nvPr/>
        </p:nvSpPr>
        <p:spPr>
          <a:xfrm>
            <a:off x="583611" y="3996252"/>
            <a:ext cx="3374001" cy="145903"/>
          </a:xfrm>
          <a:prstGeom prst="rect">
            <a:avLst/>
          </a:prstGeom>
          <a:noFill/>
          <a:ln/>
        </p:spPr>
        <p:txBody>
          <a:bodyPr wrap="square" lIns="0" tIns="0" rIns="0" bIns="0" rtlCol="0" anchor="ctr"/>
          <a:lstStyle/>
          <a:p>
            <a:pPr>
              <a:lnSpc>
                <a:spcPct val="110000"/>
              </a:lnSpc>
            </a:pPr>
            <a:r>
              <a:rPr lang="en-US" sz="862" dirty="0">
                <a:solidFill>
                  <a:srgbClr val="5C677D"/>
                </a:solidFill>
                <a:latin typeface="Liter" pitchFamily="34" charset="0"/>
                <a:ea typeface="Liter" pitchFamily="34" charset="-122"/>
                <a:cs typeface="Liter" pitchFamily="34" charset="-120"/>
              </a:rPr>
              <a:t>Problem: "Halo" artifacts around diagnostic features</a:t>
            </a:r>
            <a:endParaRPr lang="en-US" sz="1600" dirty="0"/>
          </a:p>
        </p:txBody>
      </p:sp>
      <p:sp>
        <p:nvSpPr>
          <p:cNvPr id="29" name="Shape 27"/>
          <p:cNvSpPr/>
          <p:nvPr/>
        </p:nvSpPr>
        <p:spPr>
          <a:xfrm>
            <a:off x="4252040" y="3025087"/>
            <a:ext cx="3702283" cy="1714358"/>
          </a:xfrm>
          <a:custGeom>
            <a:avLst/>
            <a:gdLst/>
            <a:ahLst/>
            <a:cxnLst/>
            <a:rect l="l" t="t" r="r" b="b"/>
            <a:pathLst>
              <a:path w="3702283" h="1714358">
                <a:moveTo>
                  <a:pt x="36449" y="0"/>
                </a:moveTo>
                <a:lnTo>
                  <a:pt x="3629279" y="0"/>
                </a:lnTo>
                <a:cubicBezTo>
                  <a:pt x="3648635" y="-34"/>
                  <a:pt x="3667209" y="7632"/>
                  <a:pt x="3680908" y="21306"/>
                </a:cubicBezTo>
                <a:cubicBezTo>
                  <a:pt x="3694606" y="34981"/>
                  <a:pt x="3702304" y="53542"/>
                  <a:pt x="3702304" y="72898"/>
                </a:cubicBezTo>
                <a:lnTo>
                  <a:pt x="3702304" y="1641475"/>
                </a:lnTo>
                <a:cubicBezTo>
                  <a:pt x="3702304" y="1660831"/>
                  <a:pt x="3694606" y="1679392"/>
                  <a:pt x="3680908" y="1693067"/>
                </a:cubicBezTo>
                <a:cubicBezTo>
                  <a:pt x="3667209" y="1706741"/>
                  <a:pt x="3648635" y="1714407"/>
                  <a:pt x="3629279" y="1714373"/>
                </a:cubicBezTo>
                <a:lnTo>
                  <a:pt x="36449" y="1714373"/>
                </a:lnTo>
                <a:cubicBezTo>
                  <a:pt x="16319" y="1714373"/>
                  <a:pt x="0" y="1698054"/>
                  <a:pt x="0" y="1677924"/>
                </a:cubicBezTo>
                <a:lnTo>
                  <a:pt x="0" y="36449"/>
                </a:lnTo>
                <a:cubicBezTo>
                  <a:pt x="0" y="16319"/>
                  <a:pt x="16319" y="0"/>
                  <a:pt x="36449" y="0"/>
                </a:cubicBezTo>
                <a:close/>
              </a:path>
            </a:pathLst>
          </a:custGeom>
          <a:solidFill>
            <a:srgbClr val="112240"/>
          </a:solidFill>
          <a:ln/>
        </p:spPr>
      </p:sp>
      <p:sp>
        <p:nvSpPr>
          <p:cNvPr id="30" name="Shape 28"/>
          <p:cNvSpPr/>
          <p:nvPr/>
        </p:nvSpPr>
        <p:spPr>
          <a:xfrm>
            <a:off x="4252040" y="3025087"/>
            <a:ext cx="36476" cy="1714358"/>
          </a:xfrm>
          <a:custGeom>
            <a:avLst/>
            <a:gdLst/>
            <a:ahLst/>
            <a:cxnLst/>
            <a:rect l="l" t="t" r="r" b="b"/>
            <a:pathLst>
              <a:path w="36476" h="1714358">
                <a:moveTo>
                  <a:pt x="36449" y="0"/>
                </a:moveTo>
                <a:lnTo>
                  <a:pt x="36449" y="0"/>
                </a:lnTo>
                <a:lnTo>
                  <a:pt x="36449" y="1714373"/>
                </a:lnTo>
                <a:lnTo>
                  <a:pt x="36449" y="1714373"/>
                </a:lnTo>
                <a:cubicBezTo>
                  <a:pt x="16319" y="1714373"/>
                  <a:pt x="0" y="1698054"/>
                  <a:pt x="0" y="1677924"/>
                </a:cubicBezTo>
                <a:lnTo>
                  <a:pt x="0" y="36449"/>
                </a:lnTo>
                <a:cubicBezTo>
                  <a:pt x="0" y="16319"/>
                  <a:pt x="16319" y="0"/>
                  <a:pt x="36449" y="0"/>
                </a:cubicBezTo>
                <a:close/>
              </a:path>
            </a:pathLst>
          </a:custGeom>
          <a:solidFill>
            <a:srgbClr val="FF6B6B"/>
          </a:solidFill>
          <a:ln/>
        </p:spPr>
      </p:sp>
      <p:sp>
        <p:nvSpPr>
          <p:cNvPr id="31" name="Shape 29"/>
          <p:cNvSpPr/>
          <p:nvPr/>
        </p:nvSpPr>
        <p:spPr>
          <a:xfrm>
            <a:off x="4379705" y="3134514"/>
            <a:ext cx="291806" cy="291806"/>
          </a:xfrm>
          <a:prstGeom prst="roundRect">
            <a:avLst>
              <a:gd name="adj" fmla="val 50000"/>
            </a:avLst>
          </a:prstGeom>
          <a:solidFill>
            <a:srgbClr val="FF6B6B"/>
          </a:solidFill>
          <a:ln/>
        </p:spPr>
      </p:sp>
      <p:sp>
        <p:nvSpPr>
          <p:cNvPr id="32" name="Text 30"/>
          <p:cNvSpPr/>
          <p:nvPr/>
        </p:nvSpPr>
        <p:spPr>
          <a:xfrm>
            <a:off x="4482635" y="3170990"/>
            <a:ext cx="155022" cy="218854"/>
          </a:xfrm>
          <a:prstGeom prst="rect">
            <a:avLst/>
          </a:prstGeom>
          <a:noFill/>
          <a:ln/>
        </p:spPr>
        <p:txBody>
          <a:bodyPr wrap="square" lIns="0" tIns="0" rIns="0" bIns="0" rtlCol="0" anchor="ctr"/>
          <a:lstStyle/>
          <a:p>
            <a:pPr>
              <a:lnSpc>
                <a:spcPct val="130000"/>
              </a:lnSpc>
            </a:pPr>
            <a:r>
              <a:rPr lang="en-US" sz="1149" b="1" dirty="0">
                <a:solidFill>
                  <a:srgbClr val="F1FAEE"/>
                </a:solidFill>
                <a:latin typeface="Liter" pitchFamily="34" charset="0"/>
                <a:ea typeface="Liter" pitchFamily="34" charset="-122"/>
                <a:cs typeface="Liter" pitchFamily="34" charset="-120"/>
              </a:rPr>
              <a:t>4</a:t>
            </a:r>
            <a:endParaRPr lang="en-US" sz="1600" dirty="0"/>
          </a:p>
        </p:txBody>
      </p:sp>
      <p:sp>
        <p:nvSpPr>
          <p:cNvPr id="33" name="Text 31"/>
          <p:cNvSpPr/>
          <p:nvPr/>
        </p:nvSpPr>
        <p:spPr>
          <a:xfrm>
            <a:off x="4744462" y="3152752"/>
            <a:ext cx="1969687" cy="255330"/>
          </a:xfrm>
          <a:prstGeom prst="rect">
            <a:avLst/>
          </a:prstGeom>
          <a:noFill/>
          <a:ln/>
        </p:spPr>
        <p:txBody>
          <a:bodyPr wrap="square" lIns="0" tIns="0" rIns="0" bIns="0" rtlCol="0" anchor="ctr"/>
          <a:lstStyle/>
          <a:p>
            <a:pPr>
              <a:lnSpc>
                <a:spcPct val="130000"/>
              </a:lnSpc>
            </a:pPr>
            <a:r>
              <a:rPr lang="en-US" sz="1292" b="1" dirty="0">
                <a:solidFill>
                  <a:srgbClr val="FF6B6B"/>
                </a:solidFill>
                <a:latin typeface="Liter" pitchFamily="34" charset="0"/>
                <a:ea typeface="Liter" pitchFamily="34" charset="-122"/>
                <a:cs typeface="Liter" pitchFamily="34" charset="-120"/>
              </a:rPr>
              <a:t>No Quantitative Validation</a:t>
            </a:r>
            <a:endParaRPr lang="en-US" sz="1600" dirty="0"/>
          </a:p>
        </p:txBody>
      </p:sp>
      <p:sp>
        <p:nvSpPr>
          <p:cNvPr id="34" name="Text 32"/>
          <p:cNvSpPr/>
          <p:nvPr/>
        </p:nvSpPr>
        <p:spPr>
          <a:xfrm>
            <a:off x="4379705" y="3499271"/>
            <a:ext cx="3529023" cy="528898"/>
          </a:xfrm>
          <a:prstGeom prst="rect">
            <a:avLst/>
          </a:prstGeom>
          <a:noFill/>
          <a:ln/>
        </p:spPr>
        <p:txBody>
          <a:bodyPr wrap="square" lIns="0" tIns="0" rIns="0" bIns="0" rtlCol="0" anchor="ctr"/>
          <a:lstStyle/>
          <a:p>
            <a:pPr>
              <a:lnSpc>
                <a:spcPct val="110000"/>
              </a:lnSpc>
            </a:pPr>
            <a:r>
              <a:rPr lang="en-US" sz="1005" b="1" dirty="0">
                <a:solidFill>
                  <a:srgbClr val="F1FAEE"/>
                </a:solidFill>
                <a:latin typeface="Liter" pitchFamily="34" charset="0"/>
                <a:ea typeface="Liter" pitchFamily="34" charset="-122"/>
                <a:cs typeface="Liter" pitchFamily="34" charset="-120"/>
              </a:rPr>
              <a:t>No mechanism</a:t>
            </a:r>
            <a:pPr>
              <a:lnSpc>
                <a:spcPct val="110000"/>
              </a:lnSpc>
            </a:pPr>
            <a:r>
              <a:rPr lang="en-US" sz="1005" dirty="0">
                <a:solidFill>
                  <a:srgbClr val="F1FAEE"/>
                </a:solidFill>
                <a:latin typeface="Liter" pitchFamily="34" charset="0"/>
                <a:ea typeface="Liter" pitchFamily="34" charset="-122"/>
                <a:cs typeface="Liter" pitchFamily="34" charset="-120"/>
              </a:rPr>
              <a:t> verifying highlighted regions are truly diagnostic. Heatmaps are </a:t>
            </a:r>
            <a:pPr>
              <a:lnSpc>
                <a:spcPct val="110000"/>
              </a:lnSpc>
            </a:pPr>
            <a:r>
              <a:rPr lang="en-US" sz="1005" b="1" dirty="0">
                <a:solidFill>
                  <a:srgbClr val="FF6B6B"/>
                </a:solidFill>
                <a:latin typeface="Liter" pitchFamily="34" charset="0"/>
                <a:ea typeface="Liter" pitchFamily="34" charset="-122"/>
                <a:cs typeface="Liter" pitchFamily="34" charset="-120"/>
              </a:rPr>
              <a:t>post-hoc visualizations</a:t>
            </a:r>
            <a:pPr>
              <a:lnSpc>
                <a:spcPct val="110000"/>
              </a:lnSpc>
            </a:pPr>
            <a:r>
              <a:rPr lang="en-US" sz="1005" dirty="0">
                <a:solidFill>
                  <a:srgbClr val="F1FAEE"/>
                </a:solidFill>
                <a:latin typeface="Liter" pitchFamily="34" charset="0"/>
                <a:ea typeface="Liter" pitchFamily="34" charset="-122"/>
                <a:cs typeface="Liter" pitchFamily="34" charset="-120"/>
              </a:rPr>
              <a:t> without guarantees [10][15].</a:t>
            </a:r>
            <a:endParaRPr lang="en-US" sz="1600" dirty="0"/>
          </a:p>
        </p:txBody>
      </p:sp>
      <p:sp>
        <p:nvSpPr>
          <p:cNvPr id="35" name="Shape 33"/>
          <p:cNvSpPr/>
          <p:nvPr/>
        </p:nvSpPr>
        <p:spPr>
          <a:xfrm>
            <a:off x="4379705" y="4098840"/>
            <a:ext cx="3465191" cy="291806"/>
          </a:xfrm>
          <a:prstGeom prst="roundRect">
            <a:avLst>
              <a:gd name="adj" fmla="val 12500"/>
            </a:avLst>
          </a:prstGeom>
          <a:solidFill>
            <a:srgbClr val="0A192F"/>
          </a:solidFill>
          <a:ln/>
        </p:spPr>
      </p:sp>
      <p:sp>
        <p:nvSpPr>
          <p:cNvPr id="36" name="Text 34"/>
          <p:cNvSpPr/>
          <p:nvPr/>
        </p:nvSpPr>
        <p:spPr>
          <a:xfrm>
            <a:off x="4452656" y="4171791"/>
            <a:ext cx="3374001" cy="145903"/>
          </a:xfrm>
          <a:prstGeom prst="rect">
            <a:avLst/>
          </a:prstGeom>
          <a:noFill/>
          <a:ln/>
        </p:spPr>
        <p:txBody>
          <a:bodyPr wrap="square" lIns="0" tIns="0" rIns="0" bIns="0" rtlCol="0" anchor="ctr"/>
          <a:lstStyle/>
          <a:p>
            <a:pPr>
              <a:lnSpc>
                <a:spcPct val="110000"/>
              </a:lnSpc>
            </a:pPr>
            <a:r>
              <a:rPr lang="en-US" sz="862" dirty="0">
                <a:solidFill>
                  <a:srgbClr val="5C677D"/>
                </a:solidFill>
                <a:latin typeface="Liter" pitchFamily="34" charset="0"/>
                <a:ea typeface="Liter" pitchFamily="34" charset="-122"/>
                <a:cs typeface="Liter" pitchFamily="34" charset="-120"/>
              </a:rPr>
              <a:t>Problem: Cannot assess clinical relevance of explanations</a:t>
            </a:r>
            <a:endParaRPr lang="en-US" sz="1600" dirty="0"/>
          </a:p>
        </p:txBody>
      </p:sp>
      <p:sp>
        <p:nvSpPr>
          <p:cNvPr id="37" name="Shape 35"/>
          <p:cNvSpPr/>
          <p:nvPr/>
        </p:nvSpPr>
        <p:spPr>
          <a:xfrm>
            <a:off x="382995" y="4882961"/>
            <a:ext cx="7577825" cy="1176341"/>
          </a:xfrm>
          <a:custGeom>
            <a:avLst/>
            <a:gdLst/>
            <a:ahLst/>
            <a:cxnLst/>
            <a:rect l="l" t="t" r="r" b="b"/>
            <a:pathLst>
              <a:path w="7577825" h="1176341">
                <a:moveTo>
                  <a:pt x="36449" y="0"/>
                </a:moveTo>
                <a:lnTo>
                  <a:pt x="7504811" y="0"/>
                </a:lnTo>
                <a:cubicBezTo>
                  <a:pt x="7524167" y="-34"/>
                  <a:pt x="7542741" y="7632"/>
                  <a:pt x="7556440" y="21306"/>
                </a:cubicBezTo>
                <a:cubicBezTo>
                  <a:pt x="7570138" y="34981"/>
                  <a:pt x="7577836" y="53542"/>
                  <a:pt x="7577836" y="72898"/>
                </a:cubicBezTo>
                <a:lnTo>
                  <a:pt x="7577836" y="1103376"/>
                </a:lnTo>
                <a:cubicBezTo>
                  <a:pt x="7577870" y="1122754"/>
                  <a:pt x="7570187" y="1141348"/>
                  <a:pt x="7556485" y="1155050"/>
                </a:cubicBezTo>
                <a:cubicBezTo>
                  <a:pt x="7542783" y="1168752"/>
                  <a:pt x="7524189" y="1176435"/>
                  <a:pt x="7504811" y="1176401"/>
                </a:cubicBezTo>
                <a:lnTo>
                  <a:pt x="36449" y="1176401"/>
                </a:lnTo>
                <a:cubicBezTo>
                  <a:pt x="26760" y="1176401"/>
                  <a:pt x="17470" y="1172543"/>
                  <a:pt x="10631" y="1165680"/>
                </a:cubicBezTo>
                <a:cubicBezTo>
                  <a:pt x="3791" y="1158817"/>
                  <a:pt x="-34" y="1149514"/>
                  <a:pt x="0" y="1139825"/>
                </a:cubicBezTo>
                <a:lnTo>
                  <a:pt x="0" y="36449"/>
                </a:lnTo>
                <a:cubicBezTo>
                  <a:pt x="0" y="16319"/>
                  <a:pt x="16319" y="0"/>
                  <a:pt x="36449" y="0"/>
                </a:cubicBezTo>
                <a:close/>
              </a:path>
            </a:pathLst>
          </a:custGeom>
          <a:solidFill>
            <a:srgbClr val="112240"/>
          </a:solidFill>
          <a:ln/>
        </p:spPr>
      </p:sp>
      <p:sp>
        <p:nvSpPr>
          <p:cNvPr id="38" name="Shape 36"/>
          <p:cNvSpPr/>
          <p:nvPr/>
        </p:nvSpPr>
        <p:spPr>
          <a:xfrm>
            <a:off x="382995" y="4882961"/>
            <a:ext cx="36476" cy="1176341"/>
          </a:xfrm>
          <a:custGeom>
            <a:avLst/>
            <a:gdLst/>
            <a:ahLst/>
            <a:cxnLst/>
            <a:rect l="l" t="t" r="r" b="b"/>
            <a:pathLst>
              <a:path w="36476" h="1176341">
                <a:moveTo>
                  <a:pt x="36449" y="0"/>
                </a:moveTo>
                <a:lnTo>
                  <a:pt x="36449" y="0"/>
                </a:lnTo>
                <a:lnTo>
                  <a:pt x="36449" y="1176401"/>
                </a:lnTo>
                <a:lnTo>
                  <a:pt x="36449" y="1176401"/>
                </a:lnTo>
                <a:cubicBezTo>
                  <a:pt x="26760" y="1176401"/>
                  <a:pt x="17470" y="1172543"/>
                  <a:pt x="10631" y="1165680"/>
                </a:cubicBezTo>
                <a:cubicBezTo>
                  <a:pt x="3791" y="1158817"/>
                  <a:pt x="-34" y="1149514"/>
                  <a:pt x="0" y="1139825"/>
                </a:cubicBezTo>
                <a:lnTo>
                  <a:pt x="0" y="36449"/>
                </a:lnTo>
                <a:cubicBezTo>
                  <a:pt x="0" y="16319"/>
                  <a:pt x="16319" y="0"/>
                  <a:pt x="36449" y="0"/>
                </a:cubicBezTo>
                <a:close/>
              </a:path>
            </a:pathLst>
          </a:custGeom>
          <a:solidFill>
            <a:srgbClr val="FF6B6B"/>
          </a:solidFill>
          <a:ln/>
        </p:spPr>
      </p:sp>
      <p:sp>
        <p:nvSpPr>
          <p:cNvPr id="39" name="Shape 37"/>
          <p:cNvSpPr/>
          <p:nvPr/>
        </p:nvSpPr>
        <p:spPr>
          <a:xfrm>
            <a:off x="510660" y="4992388"/>
            <a:ext cx="291806" cy="291806"/>
          </a:xfrm>
          <a:prstGeom prst="roundRect">
            <a:avLst>
              <a:gd name="adj" fmla="val 50000"/>
            </a:avLst>
          </a:prstGeom>
          <a:solidFill>
            <a:srgbClr val="FF6B6B"/>
          </a:solidFill>
          <a:ln/>
        </p:spPr>
      </p:sp>
      <p:sp>
        <p:nvSpPr>
          <p:cNvPr id="40" name="Text 38"/>
          <p:cNvSpPr/>
          <p:nvPr/>
        </p:nvSpPr>
        <p:spPr>
          <a:xfrm>
            <a:off x="614501" y="5028863"/>
            <a:ext cx="155022" cy="218854"/>
          </a:xfrm>
          <a:prstGeom prst="rect">
            <a:avLst/>
          </a:prstGeom>
          <a:noFill/>
          <a:ln/>
        </p:spPr>
        <p:txBody>
          <a:bodyPr wrap="square" lIns="0" tIns="0" rIns="0" bIns="0" rtlCol="0" anchor="ctr"/>
          <a:lstStyle/>
          <a:p>
            <a:pPr>
              <a:lnSpc>
                <a:spcPct val="130000"/>
              </a:lnSpc>
            </a:pPr>
            <a:r>
              <a:rPr lang="en-US" sz="1149" b="1" dirty="0">
                <a:solidFill>
                  <a:srgbClr val="F1FAEE"/>
                </a:solidFill>
                <a:latin typeface="Liter" pitchFamily="34" charset="0"/>
                <a:ea typeface="Liter" pitchFamily="34" charset="-122"/>
                <a:cs typeface="Liter" pitchFamily="34" charset="-120"/>
              </a:rPr>
              <a:t>5</a:t>
            </a:r>
            <a:endParaRPr lang="en-US" sz="1600" dirty="0"/>
          </a:p>
        </p:txBody>
      </p:sp>
      <p:sp>
        <p:nvSpPr>
          <p:cNvPr id="41" name="Text 39"/>
          <p:cNvSpPr/>
          <p:nvPr/>
        </p:nvSpPr>
        <p:spPr>
          <a:xfrm>
            <a:off x="875417" y="5010626"/>
            <a:ext cx="1796428" cy="255330"/>
          </a:xfrm>
          <a:prstGeom prst="rect">
            <a:avLst/>
          </a:prstGeom>
          <a:noFill/>
          <a:ln/>
        </p:spPr>
        <p:txBody>
          <a:bodyPr wrap="square" lIns="0" tIns="0" rIns="0" bIns="0" rtlCol="0" anchor="ctr"/>
          <a:lstStyle/>
          <a:p>
            <a:pPr>
              <a:lnSpc>
                <a:spcPct val="130000"/>
              </a:lnSpc>
            </a:pPr>
            <a:r>
              <a:rPr lang="en-US" sz="1292" b="1" dirty="0">
                <a:solidFill>
                  <a:srgbClr val="FF6B6B"/>
                </a:solidFill>
                <a:latin typeface="Liter" pitchFamily="34" charset="0"/>
                <a:ea typeface="Liter" pitchFamily="34" charset="-122"/>
                <a:cs typeface="Liter" pitchFamily="34" charset="-120"/>
              </a:rPr>
              <a:t>Weak Clinical Reliability</a:t>
            </a:r>
            <a:endParaRPr lang="en-US" sz="1600" dirty="0"/>
          </a:p>
        </p:txBody>
      </p:sp>
      <p:sp>
        <p:nvSpPr>
          <p:cNvPr id="42" name="Text 40"/>
          <p:cNvSpPr/>
          <p:nvPr/>
        </p:nvSpPr>
        <p:spPr>
          <a:xfrm>
            <a:off x="510660" y="5357145"/>
            <a:ext cx="7404565" cy="355638"/>
          </a:xfrm>
          <a:prstGeom prst="rect">
            <a:avLst/>
          </a:prstGeom>
          <a:noFill/>
          <a:ln/>
        </p:spPr>
        <p:txBody>
          <a:bodyPr wrap="square" lIns="0" tIns="0" rIns="0" bIns="0" rtlCol="0" anchor="ctr"/>
          <a:lstStyle/>
          <a:p>
            <a:pPr>
              <a:lnSpc>
                <a:spcPct val="110000"/>
              </a:lnSpc>
            </a:pPr>
            <a:r>
              <a:rPr lang="en-US" sz="1005" dirty="0">
                <a:solidFill>
                  <a:srgbClr val="F1FAEE"/>
                </a:solidFill>
                <a:latin typeface="Liter" pitchFamily="34" charset="0"/>
                <a:ea typeface="Liter" pitchFamily="34" charset="-122"/>
                <a:cs typeface="Liter" pitchFamily="34" charset="-120"/>
              </a:rPr>
              <a:t>Standard Grad-CAM provides </a:t>
            </a:r>
            <a:pPr>
              <a:lnSpc>
                <a:spcPct val="110000"/>
              </a:lnSpc>
            </a:pPr>
            <a:r>
              <a:rPr lang="en-US" sz="1005" b="1" dirty="0">
                <a:solidFill>
                  <a:srgbClr val="F1FAEE"/>
                </a:solidFill>
                <a:latin typeface="Liter" pitchFamily="34" charset="0"/>
                <a:ea typeface="Liter" pitchFamily="34" charset="-122"/>
                <a:cs typeface="Liter" pitchFamily="34" charset="-120"/>
              </a:rPr>
              <a:t>no guarantee</a:t>
            </a:r>
            <a:pPr>
              <a:lnSpc>
                <a:spcPct val="110000"/>
              </a:lnSpc>
            </a:pPr>
            <a:r>
              <a:rPr lang="en-US" sz="1005" dirty="0">
                <a:solidFill>
                  <a:srgbClr val="F1FAEE"/>
                </a:solidFill>
                <a:latin typeface="Liter" pitchFamily="34" charset="0"/>
                <a:ea typeface="Liter" pitchFamily="34" charset="-122"/>
                <a:cs typeface="Liter" pitchFamily="34" charset="-120"/>
              </a:rPr>
              <a:t> of diagnostic relevance. Clinicians cannot verify if highlighted regions actually caused the prediction, creating a critical </a:t>
            </a:r>
            <a:pPr>
              <a:lnSpc>
                <a:spcPct val="110000"/>
              </a:lnSpc>
            </a:pPr>
            <a:r>
              <a:rPr lang="en-US" sz="1005" b="1" dirty="0">
                <a:solidFill>
                  <a:srgbClr val="FF6B6B"/>
                </a:solidFill>
                <a:latin typeface="Liter" pitchFamily="34" charset="0"/>
                <a:ea typeface="Liter" pitchFamily="34" charset="-122"/>
                <a:cs typeface="Liter" pitchFamily="34" charset="-120"/>
              </a:rPr>
              <a:t>clinical explainability gap</a:t>
            </a:r>
            <a:pPr>
              <a:lnSpc>
                <a:spcPct val="110000"/>
              </a:lnSpc>
            </a:pPr>
            <a:r>
              <a:rPr lang="en-US" sz="1005" dirty="0">
                <a:solidFill>
                  <a:srgbClr val="F1FAEE"/>
                </a:solidFill>
                <a:latin typeface="Liter" pitchFamily="34" charset="0"/>
                <a:ea typeface="Liter" pitchFamily="34" charset="-122"/>
                <a:cs typeface="Liter" pitchFamily="34" charset="-120"/>
              </a:rPr>
              <a:t> [9][10][14].</a:t>
            </a:r>
            <a:endParaRPr lang="en-US" sz="1600" dirty="0"/>
          </a:p>
        </p:txBody>
      </p:sp>
      <p:sp>
        <p:nvSpPr>
          <p:cNvPr id="43" name="Shape 41"/>
          <p:cNvSpPr/>
          <p:nvPr/>
        </p:nvSpPr>
        <p:spPr>
          <a:xfrm>
            <a:off x="8110256" y="1174517"/>
            <a:ext cx="3707754" cy="1765423"/>
          </a:xfrm>
          <a:prstGeom prst="roundRect">
            <a:avLst>
              <a:gd name="adj" fmla="val 4132"/>
            </a:avLst>
          </a:prstGeom>
          <a:solidFill>
            <a:srgbClr val="000000">
              <a:alpha val="0"/>
            </a:srgbClr>
          </a:solidFill>
          <a:ln w="20320">
            <a:solidFill>
              <a:srgbClr val="FF6B6B"/>
            </a:solidFill>
            <a:prstDash val="solid"/>
          </a:ln>
        </p:spPr>
      </p:sp>
      <p:pic>
        <p:nvPicPr>
          <p:cNvPr id="44" name="Image 0" descr="https://kimi-web-img.moonshot.cn/img/ars.els-cdn.com/2c4c643d3864c24d4ea3327ec5d569d0c7fc5909.jpg">    </p:cNvPr>
          <p:cNvPicPr>
            <a:picLocks noChangeAspect="1"/>
          </p:cNvPicPr>
          <p:nvPr/>
        </p:nvPicPr>
        <p:blipFill>
          <a:blip r:embed="rId1"/>
          <a:srcRect l="10284" r="10284" t="0" b="0"/>
          <a:stretch/>
        </p:blipFill>
        <p:spPr>
          <a:xfrm>
            <a:off x="8117551" y="1181813"/>
            <a:ext cx="3693164" cy="1750833"/>
          </a:xfrm>
          <a:prstGeom prst="roundRect">
            <a:avLst>
              <a:gd name="adj" fmla="val 4167"/>
            </a:avLst>
          </a:prstGeom>
        </p:spPr>
      </p:pic>
      <p:sp>
        <p:nvSpPr>
          <p:cNvPr id="45" name="Shape 42"/>
          <p:cNvSpPr/>
          <p:nvPr/>
        </p:nvSpPr>
        <p:spPr>
          <a:xfrm>
            <a:off x="8106609" y="3096788"/>
            <a:ext cx="3718697" cy="700333"/>
          </a:xfrm>
          <a:prstGeom prst="roundRect">
            <a:avLst>
              <a:gd name="adj" fmla="val 10417"/>
            </a:avLst>
          </a:prstGeom>
          <a:solidFill>
            <a:srgbClr val="112240"/>
          </a:solidFill>
          <a:ln w="10160">
            <a:solidFill>
              <a:srgbClr val="FF6B6B"/>
            </a:solidFill>
            <a:prstDash val="solid"/>
          </a:ln>
        </p:spPr>
      </p:sp>
      <p:sp>
        <p:nvSpPr>
          <p:cNvPr id="46" name="Text 43"/>
          <p:cNvSpPr/>
          <p:nvPr/>
        </p:nvSpPr>
        <p:spPr>
          <a:xfrm>
            <a:off x="8256159" y="3246337"/>
            <a:ext cx="3483429" cy="182378"/>
          </a:xfrm>
          <a:prstGeom prst="rect">
            <a:avLst/>
          </a:prstGeom>
          <a:noFill/>
          <a:ln/>
        </p:spPr>
        <p:txBody>
          <a:bodyPr wrap="square" lIns="0" tIns="0" rIns="0" bIns="0" rtlCol="0" anchor="ctr"/>
          <a:lstStyle/>
          <a:p>
            <a:pPr>
              <a:lnSpc>
                <a:spcPct val="120000"/>
              </a:lnSpc>
            </a:pPr>
            <a:r>
              <a:rPr lang="en-US" sz="1005" b="1" dirty="0">
                <a:solidFill>
                  <a:srgbClr val="FF6B6B"/>
                </a:solidFill>
                <a:latin typeface="Liter" pitchFamily="34" charset="0"/>
                <a:ea typeface="Liter" pitchFamily="34" charset="-122"/>
                <a:cs typeface="Liter" pitchFamily="34" charset="-120"/>
              </a:rPr>
              <a:t>Standard Blurry Grad-CAM</a:t>
            </a:r>
            <a:endParaRPr lang="en-US" sz="1600" dirty="0"/>
          </a:p>
        </p:txBody>
      </p:sp>
      <p:sp>
        <p:nvSpPr>
          <p:cNvPr id="47" name="Text 44"/>
          <p:cNvSpPr/>
          <p:nvPr/>
        </p:nvSpPr>
        <p:spPr>
          <a:xfrm>
            <a:off x="8256159" y="3501666"/>
            <a:ext cx="3474310" cy="145903"/>
          </a:xfrm>
          <a:prstGeom prst="rect">
            <a:avLst/>
          </a:prstGeom>
          <a:noFill/>
          <a:ln/>
        </p:spPr>
        <p:txBody>
          <a:bodyPr wrap="square" lIns="0" tIns="0" rIns="0" bIns="0" rtlCol="0" anchor="ctr"/>
          <a:lstStyle/>
          <a:p>
            <a:pPr>
              <a:lnSpc>
                <a:spcPct val="110000"/>
              </a:lnSpc>
            </a:pPr>
            <a:r>
              <a:rPr lang="en-US" sz="862" dirty="0">
                <a:solidFill>
                  <a:srgbClr val="F1FAEE"/>
                </a:solidFill>
                <a:latin typeface="Liter" pitchFamily="34" charset="0"/>
                <a:ea typeface="Liter" pitchFamily="34" charset="-122"/>
                <a:cs typeface="Liter" pitchFamily="34" charset="-120"/>
              </a:rPr>
              <a:t>Coarse heatmaps with poor boundary localization and noisy activations</a:t>
            </a:r>
            <a:endParaRPr lang="en-US" sz="1600" dirty="0"/>
          </a:p>
        </p:txBody>
      </p:sp>
      <p:sp>
        <p:nvSpPr>
          <p:cNvPr id="48" name="Shape 45"/>
          <p:cNvSpPr/>
          <p:nvPr/>
        </p:nvSpPr>
        <p:spPr>
          <a:xfrm>
            <a:off x="8106609" y="3950209"/>
            <a:ext cx="3718697" cy="1283944"/>
          </a:xfrm>
          <a:prstGeom prst="roundRect">
            <a:avLst>
              <a:gd name="adj" fmla="val 5682"/>
            </a:avLst>
          </a:prstGeom>
          <a:solidFill>
            <a:srgbClr val="112240"/>
          </a:solidFill>
          <a:ln w="10160">
            <a:solidFill>
              <a:srgbClr val="3A86FF"/>
            </a:solidFill>
            <a:prstDash val="solid"/>
          </a:ln>
        </p:spPr>
      </p:sp>
      <p:sp>
        <p:nvSpPr>
          <p:cNvPr id="49" name="Text 46"/>
          <p:cNvSpPr/>
          <p:nvPr/>
        </p:nvSpPr>
        <p:spPr>
          <a:xfrm>
            <a:off x="8256159" y="4099757"/>
            <a:ext cx="3492547" cy="218854"/>
          </a:xfrm>
          <a:prstGeom prst="rect">
            <a:avLst/>
          </a:prstGeom>
          <a:noFill/>
          <a:ln/>
        </p:spPr>
        <p:txBody>
          <a:bodyPr wrap="square" lIns="0" tIns="0" rIns="0" bIns="0" rtlCol="0" anchor="ctr"/>
          <a:lstStyle/>
          <a:p>
            <a:pPr>
              <a:lnSpc>
                <a:spcPct val="130000"/>
              </a:lnSpc>
            </a:pPr>
            <a:r>
              <a:rPr lang="en-US" sz="1149" b="1" dirty="0">
                <a:solidFill>
                  <a:srgbClr val="3A86FF"/>
                </a:solidFill>
                <a:latin typeface="Liter" pitchFamily="34" charset="0"/>
                <a:ea typeface="Liter" pitchFamily="34" charset="-122"/>
                <a:cs typeface="Liter" pitchFamily="34" charset="-120"/>
              </a:rPr>
              <a:t>Clinical Impact</a:t>
            </a:r>
            <a:endParaRPr lang="en-US" sz="1600" dirty="0"/>
          </a:p>
        </p:txBody>
      </p:sp>
      <p:sp>
        <p:nvSpPr>
          <p:cNvPr id="50" name="Shape 47"/>
          <p:cNvSpPr/>
          <p:nvPr/>
        </p:nvSpPr>
        <p:spPr>
          <a:xfrm>
            <a:off x="8290355" y="4428039"/>
            <a:ext cx="95749" cy="127665"/>
          </a:xfrm>
          <a:custGeom>
            <a:avLst/>
            <a:gdLst/>
            <a:ahLst/>
            <a:cxnLst/>
            <a:rect l="l" t="t" r="r" b="b"/>
            <a:pathLst>
              <a:path w="95749" h="127665">
                <a:moveTo>
                  <a:pt x="13739" y="18302"/>
                </a:moveTo>
                <a:cubicBezTo>
                  <a:pt x="10622" y="15185"/>
                  <a:pt x="5560" y="15185"/>
                  <a:pt x="2444" y="18302"/>
                </a:cubicBezTo>
                <a:cubicBezTo>
                  <a:pt x="-673" y="21419"/>
                  <a:pt x="-673" y="26480"/>
                  <a:pt x="2444" y="29597"/>
                </a:cubicBezTo>
                <a:lnTo>
                  <a:pt x="36704" y="63832"/>
                </a:lnTo>
                <a:lnTo>
                  <a:pt x="2469" y="98093"/>
                </a:lnTo>
                <a:cubicBezTo>
                  <a:pt x="-648" y="101209"/>
                  <a:pt x="-648" y="106271"/>
                  <a:pt x="2469" y="109388"/>
                </a:cubicBezTo>
                <a:cubicBezTo>
                  <a:pt x="5585" y="112505"/>
                  <a:pt x="10647" y="112505"/>
                  <a:pt x="13764" y="109388"/>
                </a:cubicBezTo>
                <a:lnTo>
                  <a:pt x="47999" y="75128"/>
                </a:lnTo>
                <a:lnTo>
                  <a:pt x="82259" y="109363"/>
                </a:lnTo>
                <a:cubicBezTo>
                  <a:pt x="85376" y="112480"/>
                  <a:pt x="90438" y="112480"/>
                  <a:pt x="93554" y="109363"/>
                </a:cubicBezTo>
                <a:cubicBezTo>
                  <a:pt x="96671" y="106246"/>
                  <a:pt x="96671" y="101184"/>
                  <a:pt x="93554" y="98068"/>
                </a:cubicBezTo>
                <a:lnTo>
                  <a:pt x="59294" y="63832"/>
                </a:lnTo>
                <a:lnTo>
                  <a:pt x="93530" y="29572"/>
                </a:lnTo>
                <a:cubicBezTo>
                  <a:pt x="96646" y="26456"/>
                  <a:pt x="96646" y="21394"/>
                  <a:pt x="93530" y="18277"/>
                </a:cubicBezTo>
                <a:cubicBezTo>
                  <a:pt x="90413" y="15160"/>
                  <a:pt x="85351" y="15160"/>
                  <a:pt x="82234" y="18277"/>
                </a:cubicBezTo>
                <a:lnTo>
                  <a:pt x="47999" y="52537"/>
                </a:lnTo>
                <a:lnTo>
                  <a:pt x="13739" y="18302"/>
                </a:lnTo>
                <a:close/>
              </a:path>
            </a:pathLst>
          </a:custGeom>
          <a:solidFill>
            <a:srgbClr val="FF6B6B"/>
          </a:solidFill>
          <a:ln/>
        </p:spPr>
      </p:sp>
      <p:sp>
        <p:nvSpPr>
          <p:cNvPr id="51" name="Text 48"/>
          <p:cNvSpPr/>
          <p:nvPr/>
        </p:nvSpPr>
        <p:spPr>
          <a:xfrm>
            <a:off x="8488692" y="4391563"/>
            <a:ext cx="1376957" cy="182378"/>
          </a:xfrm>
          <a:prstGeom prst="rect">
            <a:avLst/>
          </a:prstGeom>
          <a:noFill/>
          <a:ln/>
        </p:spPr>
        <p:txBody>
          <a:bodyPr wrap="square" lIns="0" tIns="0" rIns="0" bIns="0" rtlCol="0" anchor="ctr"/>
          <a:lstStyle/>
          <a:p>
            <a:pPr>
              <a:lnSpc>
                <a:spcPct val="120000"/>
              </a:lnSpc>
            </a:pPr>
            <a:r>
              <a:rPr lang="en-US" sz="1005" dirty="0">
                <a:solidFill>
                  <a:srgbClr val="F1FAEE"/>
                </a:solidFill>
                <a:latin typeface="Liter" pitchFamily="34" charset="0"/>
                <a:ea typeface="Liter" pitchFamily="34" charset="-122"/>
                <a:cs typeface="Liter" pitchFamily="34" charset="-120"/>
              </a:rPr>
              <a:t>Cannot verify diagnosis</a:t>
            </a:r>
            <a:endParaRPr lang="en-US" sz="1600" dirty="0"/>
          </a:p>
        </p:txBody>
      </p:sp>
      <p:sp>
        <p:nvSpPr>
          <p:cNvPr id="52" name="Shape 49"/>
          <p:cNvSpPr/>
          <p:nvPr/>
        </p:nvSpPr>
        <p:spPr>
          <a:xfrm>
            <a:off x="8290355" y="4683368"/>
            <a:ext cx="95749" cy="127665"/>
          </a:xfrm>
          <a:custGeom>
            <a:avLst/>
            <a:gdLst/>
            <a:ahLst/>
            <a:cxnLst/>
            <a:rect l="l" t="t" r="r" b="b"/>
            <a:pathLst>
              <a:path w="95749" h="127665">
                <a:moveTo>
                  <a:pt x="13739" y="18302"/>
                </a:moveTo>
                <a:cubicBezTo>
                  <a:pt x="10622" y="15185"/>
                  <a:pt x="5560" y="15185"/>
                  <a:pt x="2444" y="18302"/>
                </a:cubicBezTo>
                <a:cubicBezTo>
                  <a:pt x="-673" y="21419"/>
                  <a:pt x="-673" y="26480"/>
                  <a:pt x="2444" y="29597"/>
                </a:cubicBezTo>
                <a:lnTo>
                  <a:pt x="36704" y="63832"/>
                </a:lnTo>
                <a:lnTo>
                  <a:pt x="2469" y="98093"/>
                </a:lnTo>
                <a:cubicBezTo>
                  <a:pt x="-648" y="101209"/>
                  <a:pt x="-648" y="106271"/>
                  <a:pt x="2469" y="109388"/>
                </a:cubicBezTo>
                <a:cubicBezTo>
                  <a:pt x="5585" y="112505"/>
                  <a:pt x="10647" y="112505"/>
                  <a:pt x="13764" y="109388"/>
                </a:cubicBezTo>
                <a:lnTo>
                  <a:pt x="47999" y="75128"/>
                </a:lnTo>
                <a:lnTo>
                  <a:pt x="82259" y="109363"/>
                </a:lnTo>
                <a:cubicBezTo>
                  <a:pt x="85376" y="112480"/>
                  <a:pt x="90438" y="112480"/>
                  <a:pt x="93554" y="109363"/>
                </a:cubicBezTo>
                <a:cubicBezTo>
                  <a:pt x="96671" y="106246"/>
                  <a:pt x="96671" y="101184"/>
                  <a:pt x="93554" y="98068"/>
                </a:cubicBezTo>
                <a:lnTo>
                  <a:pt x="59294" y="63832"/>
                </a:lnTo>
                <a:lnTo>
                  <a:pt x="93530" y="29572"/>
                </a:lnTo>
                <a:cubicBezTo>
                  <a:pt x="96646" y="26456"/>
                  <a:pt x="96646" y="21394"/>
                  <a:pt x="93530" y="18277"/>
                </a:cubicBezTo>
                <a:cubicBezTo>
                  <a:pt x="90413" y="15160"/>
                  <a:pt x="85351" y="15160"/>
                  <a:pt x="82234" y="18277"/>
                </a:cubicBezTo>
                <a:lnTo>
                  <a:pt x="47999" y="52537"/>
                </a:lnTo>
                <a:lnTo>
                  <a:pt x="13739" y="18302"/>
                </a:lnTo>
                <a:close/>
              </a:path>
            </a:pathLst>
          </a:custGeom>
          <a:solidFill>
            <a:srgbClr val="FF6B6B"/>
          </a:solidFill>
          <a:ln/>
        </p:spPr>
      </p:sp>
      <p:sp>
        <p:nvSpPr>
          <p:cNvPr id="53" name="Text 50"/>
          <p:cNvSpPr/>
          <p:nvPr/>
        </p:nvSpPr>
        <p:spPr>
          <a:xfrm>
            <a:off x="8488692" y="4646893"/>
            <a:ext cx="1221936" cy="182378"/>
          </a:xfrm>
          <a:prstGeom prst="rect">
            <a:avLst/>
          </a:prstGeom>
          <a:noFill/>
          <a:ln/>
        </p:spPr>
        <p:txBody>
          <a:bodyPr wrap="square" lIns="0" tIns="0" rIns="0" bIns="0" rtlCol="0" anchor="ctr"/>
          <a:lstStyle/>
          <a:p>
            <a:pPr>
              <a:lnSpc>
                <a:spcPct val="120000"/>
              </a:lnSpc>
            </a:pPr>
            <a:r>
              <a:rPr lang="en-US" sz="1005" dirty="0">
                <a:solidFill>
                  <a:srgbClr val="F1FAEE"/>
                </a:solidFill>
                <a:latin typeface="Liter" pitchFamily="34" charset="0"/>
                <a:ea typeface="Liter" pitchFamily="34" charset="-122"/>
                <a:cs typeface="Liter" pitchFamily="34" charset="-120"/>
              </a:rPr>
              <a:t>Missed small lesions</a:t>
            </a:r>
            <a:endParaRPr lang="en-US" sz="1600" dirty="0"/>
          </a:p>
        </p:txBody>
      </p:sp>
      <p:sp>
        <p:nvSpPr>
          <p:cNvPr id="54" name="Shape 51"/>
          <p:cNvSpPr/>
          <p:nvPr/>
        </p:nvSpPr>
        <p:spPr>
          <a:xfrm>
            <a:off x="8290355" y="4938698"/>
            <a:ext cx="95749" cy="127665"/>
          </a:xfrm>
          <a:custGeom>
            <a:avLst/>
            <a:gdLst/>
            <a:ahLst/>
            <a:cxnLst/>
            <a:rect l="l" t="t" r="r" b="b"/>
            <a:pathLst>
              <a:path w="95749" h="127665">
                <a:moveTo>
                  <a:pt x="13739" y="18302"/>
                </a:moveTo>
                <a:cubicBezTo>
                  <a:pt x="10622" y="15185"/>
                  <a:pt x="5560" y="15185"/>
                  <a:pt x="2444" y="18302"/>
                </a:cubicBezTo>
                <a:cubicBezTo>
                  <a:pt x="-673" y="21419"/>
                  <a:pt x="-673" y="26480"/>
                  <a:pt x="2444" y="29597"/>
                </a:cubicBezTo>
                <a:lnTo>
                  <a:pt x="36704" y="63832"/>
                </a:lnTo>
                <a:lnTo>
                  <a:pt x="2469" y="98093"/>
                </a:lnTo>
                <a:cubicBezTo>
                  <a:pt x="-648" y="101209"/>
                  <a:pt x="-648" y="106271"/>
                  <a:pt x="2469" y="109388"/>
                </a:cubicBezTo>
                <a:cubicBezTo>
                  <a:pt x="5585" y="112505"/>
                  <a:pt x="10647" y="112505"/>
                  <a:pt x="13764" y="109388"/>
                </a:cubicBezTo>
                <a:lnTo>
                  <a:pt x="47999" y="75128"/>
                </a:lnTo>
                <a:lnTo>
                  <a:pt x="82259" y="109363"/>
                </a:lnTo>
                <a:cubicBezTo>
                  <a:pt x="85376" y="112480"/>
                  <a:pt x="90438" y="112480"/>
                  <a:pt x="93554" y="109363"/>
                </a:cubicBezTo>
                <a:cubicBezTo>
                  <a:pt x="96671" y="106246"/>
                  <a:pt x="96671" y="101184"/>
                  <a:pt x="93554" y="98068"/>
                </a:cubicBezTo>
                <a:lnTo>
                  <a:pt x="59294" y="63832"/>
                </a:lnTo>
                <a:lnTo>
                  <a:pt x="93530" y="29572"/>
                </a:lnTo>
                <a:cubicBezTo>
                  <a:pt x="96646" y="26456"/>
                  <a:pt x="96646" y="21394"/>
                  <a:pt x="93530" y="18277"/>
                </a:cubicBezTo>
                <a:cubicBezTo>
                  <a:pt x="90413" y="15160"/>
                  <a:pt x="85351" y="15160"/>
                  <a:pt x="82234" y="18277"/>
                </a:cubicBezTo>
                <a:lnTo>
                  <a:pt x="47999" y="52537"/>
                </a:lnTo>
                <a:lnTo>
                  <a:pt x="13739" y="18302"/>
                </a:lnTo>
                <a:close/>
              </a:path>
            </a:pathLst>
          </a:custGeom>
          <a:solidFill>
            <a:srgbClr val="FF6B6B"/>
          </a:solidFill>
          <a:ln/>
        </p:spPr>
      </p:sp>
      <p:sp>
        <p:nvSpPr>
          <p:cNvPr id="55" name="Text 52"/>
          <p:cNvSpPr/>
          <p:nvPr/>
        </p:nvSpPr>
        <p:spPr>
          <a:xfrm>
            <a:off x="8488692" y="4902223"/>
            <a:ext cx="1021319" cy="182378"/>
          </a:xfrm>
          <a:prstGeom prst="rect">
            <a:avLst/>
          </a:prstGeom>
          <a:noFill/>
          <a:ln/>
        </p:spPr>
        <p:txBody>
          <a:bodyPr wrap="square" lIns="0" tIns="0" rIns="0" bIns="0" rtlCol="0" anchor="ctr"/>
          <a:lstStyle/>
          <a:p>
            <a:pPr>
              <a:lnSpc>
                <a:spcPct val="120000"/>
              </a:lnSpc>
            </a:pPr>
            <a:r>
              <a:rPr lang="en-US" sz="1005" dirty="0">
                <a:solidFill>
                  <a:srgbClr val="F1FAEE"/>
                </a:solidFill>
                <a:latin typeface="Liter" pitchFamily="34" charset="0"/>
                <a:ea typeface="Liter" pitchFamily="34" charset="-122"/>
                <a:cs typeface="Liter" pitchFamily="34" charset="-120"/>
              </a:rPr>
              <a:t>False confidence</a:t>
            </a:r>
            <a:endParaRPr lang="en-US" sz="1600" dirty="0"/>
          </a:p>
        </p:txBody>
      </p:sp>
      <p:sp>
        <p:nvSpPr>
          <p:cNvPr id="56" name="Shape 53"/>
          <p:cNvSpPr/>
          <p:nvPr/>
        </p:nvSpPr>
        <p:spPr>
          <a:xfrm>
            <a:off x="8106609" y="5387347"/>
            <a:ext cx="3718697" cy="663858"/>
          </a:xfrm>
          <a:prstGeom prst="roundRect">
            <a:avLst>
              <a:gd name="adj" fmla="val 10989"/>
            </a:avLst>
          </a:prstGeom>
          <a:solidFill>
            <a:srgbClr val="112240"/>
          </a:solidFill>
          <a:ln w="10160">
            <a:solidFill>
              <a:srgbClr val="00B4D8"/>
            </a:solidFill>
            <a:prstDash val="solid"/>
          </a:ln>
        </p:spPr>
      </p:sp>
      <p:sp>
        <p:nvSpPr>
          <p:cNvPr id="57" name="Text 54"/>
          <p:cNvSpPr/>
          <p:nvPr/>
        </p:nvSpPr>
        <p:spPr>
          <a:xfrm>
            <a:off x="8256159" y="5536896"/>
            <a:ext cx="3483429" cy="182378"/>
          </a:xfrm>
          <a:prstGeom prst="rect">
            <a:avLst/>
          </a:prstGeom>
          <a:noFill/>
          <a:ln/>
        </p:spPr>
        <p:txBody>
          <a:bodyPr wrap="square" lIns="0" tIns="0" rIns="0" bIns="0" rtlCol="0" anchor="ctr"/>
          <a:lstStyle/>
          <a:p>
            <a:pPr>
              <a:lnSpc>
                <a:spcPct val="120000"/>
              </a:lnSpc>
            </a:pPr>
            <a:r>
              <a:rPr lang="en-US" sz="1005" b="1" dirty="0">
                <a:solidFill>
                  <a:srgbClr val="00B4D8"/>
                </a:solidFill>
                <a:latin typeface="Liter" pitchFamily="34" charset="0"/>
                <a:ea typeface="Liter" pitchFamily="34" charset="-122"/>
                <a:cs typeface="Liter" pitchFamily="34" charset="-120"/>
              </a:rPr>
              <a:t>Spatial-Semantic Trade-off</a:t>
            </a:r>
            <a:endParaRPr lang="en-US" sz="1600" dirty="0"/>
          </a:p>
        </p:txBody>
      </p:sp>
      <p:sp>
        <p:nvSpPr>
          <p:cNvPr id="58" name="Text 55"/>
          <p:cNvSpPr/>
          <p:nvPr/>
        </p:nvSpPr>
        <p:spPr>
          <a:xfrm>
            <a:off x="8256159" y="5755750"/>
            <a:ext cx="3474310" cy="145903"/>
          </a:xfrm>
          <a:prstGeom prst="rect">
            <a:avLst/>
          </a:prstGeom>
          <a:noFill/>
          <a:ln/>
        </p:spPr>
        <p:txBody>
          <a:bodyPr wrap="square" lIns="0" tIns="0" rIns="0" bIns="0" rtlCol="0" anchor="ctr"/>
          <a:lstStyle/>
          <a:p>
            <a:pPr>
              <a:lnSpc>
                <a:spcPct val="110000"/>
              </a:lnSpc>
            </a:pPr>
            <a:r>
              <a:rPr lang="en-US" sz="862" dirty="0">
                <a:solidFill>
                  <a:srgbClr val="F1FAEE"/>
                </a:solidFill>
                <a:latin typeface="Liter" pitchFamily="34" charset="0"/>
                <a:ea typeface="Liter" pitchFamily="34" charset="-122"/>
                <a:cs typeface="Liter" pitchFamily="34" charset="-120"/>
              </a:rPr>
              <a:t>Deep layers maximize semantic content but sacrifice spatial precision</a:t>
            </a:r>
            <a:endParaRPr lang="en-US" sz="1600" dirty="0"/>
          </a:p>
        </p:txBody>
      </p:sp>
      <p:sp>
        <p:nvSpPr>
          <p:cNvPr id="59" name="Shape 56"/>
          <p:cNvSpPr/>
          <p:nvPr/>
        </p:nvSpPr>
        <p:spPr>
          <a:xfrm>
            <a:off x="382995" y="6127694"/>
            <a:ext cx="11444248" cy="437708"/>
          </a:xfrm>
          <a:custGeom>
            <a:avLst/>
            <a:gdLst/>
            <a:ahLst/>
            <a:cxnLst/>
            <a:rect l="l" t="t" r="r" b="b"/>
            <a:pathLst>
              <a:path w="11444248" h="437708">
                <a:moveTo>
                  <a:pt x="36449" y="0"/>
                </a:moveTo>
                <a:lnTo>
                  <a:pt x="11371326" y="0"/>
                </a:lnTo>
                <a:cubicBezTo>
                  <a:pt x="11411586" y="0"/>
                  <a:pt x="11444224" y="32638"/>
                  <a:pt x="11444224" y="72898"/>
                </a:cubicBezTo>
                <a:lnTo>
                  <a:pt x="11444224" y="364744"/>
                </a:lnTo>
                <a:cubicBezTo>
                  <a:pt x="11444258" y="384100"/>
                  <a:pt x="11436592" y="402674"/>
                  <a:pt x="11422918" y="416373"/>
                </a:cubicBezTo>
                <a:cubicBezTo>
                  <a:pt x="11409243" y="430071"/>
                  <a:pt x="11390682" y="437769"/>
                  <a:pt x="11371326" y="437769"/>
                </a:cubicBezTo>
                <a:lnTo>
                  <a:pt x="36449" y="437769"/>
                </a:lnTo>
                <a:cubicBezTo>
                  <a:pt x="26760" y="437769"/>
                  <a:pt x="17470" y="433911"/>
                  <a:pt x="10631" y="427048"/>
                </a:cubicBezTo>
                <a:cubicBezTo>
                  <a:pt x="3791" y="420185"/>
                  <a:pt x="-34" y="410882"/>
                  <a:pt x="0" y="401193"/>
                </a:cubicBezTo>
                <a:lnTo>
                  <a:pt x="0" y="36449"/>
                </a:lnTo>
                <a:cubicBezTo>
                  <a:pt x="0" y="16319"/>
                  <a:pt x="16319" y="0"/>
                  <a:pt x="36449" y="0"/>
                </a:cubicBezTo>
                <a:close/>
              </a:path>
            </a:pathLst>
          </a:custGeom>
          <a:solidFill>
            <a:srgbClr val="00B4D8">
              <a:alpha val="10196"/>
            </a:srgbClr>
          </a:solidFill>
          <a:ln/>
        </p:spPr>
      </p:sp>
      <p:sp>
        <p:nvSpPr>
          <p:cNvPr id="60" name="Shape 57"/>
          <p:cNvSpPr/>
          <p:nvPr/>
        </p:nvSpPr>
        <p:spPr>
          <a:xfrm>
            <a:off x="382995" y="6127694"/>
            <a:ext cx="36476" cy="437708"/>
          </a:xfrm>
          <a:custGeom>
            <a:avLst/>
            <a:gdLst/>
            <a:ahLst/>
            <a:cxnLst/>
            <a:rect l="l" t="t" r="r" b="b"/>
            <a:pathLst>
              <a:path w="36476" h="437708">
                <a:moveTo>
                  <a:pt x="36449" y="0"/>
                </a:moveTo>
                <a:lnTo>
                  <a:pt x="36449" y="0"/>
                </a:lnTo>
                <a:lnTo>
                  <a:pt x="36449" y="437769"/>
                </a:lnTo>
                <a:lnTo>
                  <a:pt x="36449" y="437769"/>
                </a:lnTo>
                <a:cubicBezTo>
                  <a:pt x="26760" y="437769"/>
                  <a:pt x="17470" y="433911"/>
                  <a:pt x="10631" y="427048"/>
                </a:cubicBezTo>
                <a:cubicBezTo>
                  <a:pt x="3791" y="420185"/>
                  <a:pt x="-34" y="410882"/>
                  <a:pt x="0" y="401193"/>
                </a:cubicBezTo>
                <a:lnTo>
                  <a:pt x="0" y="36449"/>
                </a:lnTo>
                <a:cubicBezTo>
                  <a:pt x="0" y="16319"/>
                  <a:pt x="16319" y="0"/>
                  <a:pt x="36449" y="0"/>
                </a:cubicBezTo>
                <a:close/>
              </a:path>
            </a:pathLst>
          </a:custGeom>
          <a:solidFill>
            <a:srgbClr val="00B4D8"/>
          </a:solidFill>
          <a:ln/>
        </p:spPr>
      </p:sp>
      <p:sp>
        <p:nvSpPr>
          <p:cNvPr id="61" name="Shape 58"/>
          <p:cNvSpPr/>
          <p:nvPr/>
        </p:nvSpPr>
        <p:spPr>
          <a:xfrm>
            <a:off x="528898" y="6266294"/>
            <a:ext cx="145903" cy="145903"/>
          </a:xfrm>
          <a:custGeom>
            <a:avLst/>
            <a:gdLst/>
            <a:ahLst/>
            <a:cxnLst/>
            <a:rect l="l" t="t" r="r" b="b"/>
            <a:pathLst>
              <a:path w="145903" h="145903">
                <a:moveTo>
                  <a:pt x="143224" y="79392"/>
                </a:moveTo>
                <a:cubicBezTo>
                  <a:pt x="146786" y="75830"/>
                  <a:pt x="146786" y="70045"/>
                  <a:pt x="143224" y="66483"/>
                </a:cubicBezTo>
                <a:lnTo>
                  <a:pt x="97629" y="20888"/>
                </a:lnTo>
                <a:cubicBezTo>
                  <a:pt x="94067" y="17326"/>
                  <a:pt x="88283" y="17326"/>
                  <a:pt x="84720" y="20888"/>
                </a:cubicBezTo>
                <a:cubicBezTo>
                  <a:pt x="81158" y="24450"/>
                  <a:pt x="81158" y="30235"/>
                  <a:pt x="84720" y="33797"/>
                </a:cubicBezTo>
                <a:lnTo>
                  <a:pt x="114756" y="63832"/>
                </a:lnTo>
                <a:lnTo>
                  <a:pt x="9119" y="63832"/>
                </a:lnTo>
                <a:cubicBezTo>
                  <a:pt x="4075" y="63832"/>
                  <a:pt x="0" y="67907"/>
                  <a:pt x="0" y="72951"/>
                </a:cubicBezTo>
                <a:cubicBezTo>
                  <a:pt x="0" y="77995"/>
                  <a:pt x="4075" y="82070"/>
                  <a:pt x="9119" y="82070"/>
                </a:cubicBezTo>
                <a:lnTo>
                  <a:pt x="114756" y="82070"/>
                </a:lnTo>
                <a:lnTo>
                  <a:pt x="84720" y="112106"/>
                </a:lnTo>
                <a:cubicBezTo>
                  <a:pt x="81158" y="115668"/>
                  <a:pt x="81158" y="121453"/>
                  <a:pt x="84720" y="125015"/>
                </a:cubicBezTo>
                <a:cubicBezTo>
                  <a:pt x="88283" y="128577"/>
                  <a:pt x="94067" y="128577"/>
                  <a:pt x="97629" y="125015"/>
                </a:cubicBezTo>
                <a:lnTo>
                  <a:pt x="143224" y="79420"/>
                </a:lnTo>
                <a:close/>
              </a:path>
            </a:pathLst>
          </a:custGeom>
          <a:solidFill>
            <a:srgbClr val="00B4D8"/>
          </a:solidFill>
          <a:ln/>
        </p:spPr>
      </p:sp>
      <p:sp>
        <p:nvSpPr>
          <p:cNvPr id="62" name="Text 59"/>
          <p:cNvSpPr/>
          <p:nvPr/>
        </p:nvSpPr>
        <p:spPr>
          <a:xfrm>
            <a:off x="745419" y="6237121"/>
            <a:ext cx="11045348" cy="218854"/>
          </a:xfrm>
          <a:prstGeom prst="rect">
            <a:avLst/>
          </a:prstGeom>
          <a:noFill/>
          <a:ln/>
        </p:spPr>
        <p:txBody>
          <a:bodyPr wrap="square" lIns="0" tIns="0" rIns="0" bIns="0" rtlCol="0" anchor="ctr"/>
          <a:lstStyle/>
          <a:p>
            <a:pPr>
              <a:lnSpc>
                <a:spcPct val="130000"/>
              </a:lnSpc>
            </a:pPr>
            <a:r>
              <a:rPr lang="en-US" sz="1149" b="1" dirty="0">
                <a:solidFill>
                  <a:srgbClr val="00B4D8"/>
                </a:solidFill>
                <a:latin typeface="Liter" pitchFamily="34" charset="0"/>
                <a:ea typeface="Liter" pitchFamily="34" charset="-122"/>
                <a:cs typeface="Liter" pitchFamily="34" charset="-120"/>
              </a:rPr>
              <a:t>Transition: So how can we improve both explainability and diagnostic trust?</a:t>
            </a:r>
            <a:endParaRPr lang="en-US" sz="1600" dirty="0"/>
          </a:p>
        </p:txBody>
      </p:sp>
      <p:sp>
        <p:nvSpPr>
          <p:cNvPr id="63" name="Text 60"/>
          <p:cNvSpPr/>
          <p:nvPr/>
        </p:nvSpPr>
        <p:spPr>
          <a:xfrm>
            <a:off x="364757" y="6565740"/>
            <a:ext cx="2535061" cy="145903"/>
          </a:xfrm>
          <a:prstGeom prst="rect">
            <a:avLst/>
          </a:prstGeom>
          <a:noFill/>
          <a:ln/>
        </p:spPr>
        <p:txBody>
          <a:bodyPr wrap="square" lIns="0" tIns="0" rIns="0" bIns="0" rtlCol="0" anchor="ctr"/>
          <a:lstStyle/>
          <a:p>
            <a:pPr>
              <a:lnSpc>
                <a:spcPct val="110000"/>
              </a:lnSpc>
            </a:pPr>
            <a:r>
              <a:rPr lang="en-US" sz="862"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64" name="Text 61"/>
          <p:cNvSpPr/>
          <p:nvPr/>
        </p:nvSpPr>
        <p:spPr>
          <a:xfrm>
            <a:off x="11476165" y="6565740"/>
            <a:ext cx="401233" cy="145903"/>
          </a:xfrm>
          <a:prstGeom prst="rect">
            <a:avLst/>
          </a:prstGeom>
          <a:noFill/>
          <a:ln/>
        </p:spPr>
        <p:txBody>
          <a:bodyPr wrap="square" lIns="0" tIns="0" rIns="0" bIns="0" rtlCol="0" anchor="ctr"/>
          <a:lstStyle/>
          <a:p>
            <a:pPr>
              <a:lnSpc>
                <a:spcPct val="110000"/>
              </a:lnSpc>
            </a:pPr>
            <a:r>
              <a:rPr lang="en-US" sz="862" dirty="0">
                <a:solidFill>
                  <a:srgbClr val="5C677D"/>
                </a:solidFill>
                <a:latin typeface="Liter" pitchFamily="34" charset="0"/>
                <a:ea typeface="Liter" pitchFamily="34" charset="-122"/>
                <a:cs typeface="Liter" pitchFamily="34" charset="-120"/>
              </a:rPr>
              <a:t>Slide 11</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0B4D8"/>
                </a:solidFill>
                <a:latin typeface="Liter" pitchFamily="34" charset="0"/>
                <a:ea typeface="Liter" pitchFamily="34" charset="-122"/>
                <a:cs typeface="Liter" pitchFamily="34" charset="-120"/>
              </a:rPr>
              <a:t>Novel Architecture</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F1FAEE"/>
                </a:solidFill>
                <a:latin typeface="Oranienbaum" pitchFamily="34" charset="0"/>
                <a:ea typeface="Oranienbaum" pitchFamily="34" charset="-122"/>
                <a:cs typeface="Oranienbaum" pitchFamily="34" charset="-120"/>
              </a:rPr>
              <a:t>Proposed: Adaptive Multi-Layer Fused Grad-CAM</a:t>
            </a:r>
            <a:endParaRPr lang="en-US" sz="1600" dirty="0"/>
          </a:p>
        </p:txBody>
      </p:sp>
      <p:sp>
        <p:nvSpPr>
          <p:cNvPr id="4" name="Shape 2"/>
          <p:cNvSpPr/>
          <p:nvPr/>
        </p:nvSpPr>
        <p:spPr>
          <a:xfrm>
            <a:off x="381000" y="1181100"/>
            <a:ext cx="914400" cy="3810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400050" y="1371600"/>
            <a:ext cx="11410950" cy="1181100"/>
          </a:xfrm>
          <a:custGeom>
            <a:avLst/>
            <a:gdLst/>
            <a:ahLst/>
            <a:cxnLst/>
            <a:rect l="l" t="t" r="r" b="b"/>
            <a:pathLst>
              <a:path w="11410950" h="1181100">
                <a:moveTo>
                  <a:pt x="38100" y="0"/>
                </a:moveTo>
                <a:lnTo>
                  <a:pt x="11334750" y="0"/>
                </a:lnTo>
                <a:cubicBezTo>
                  <a:pt x="11376806" y="0"/>
                  <a:pt x="11410950" y="34144"/>
                  <a:pt x="11410950" y="76200"/>
                </a:cubicBezTo>
                <a:lnTo>
                  <a:pt x="11410950" y="1104900"/>
                </a:lnTo>
                <a:cubicBezTo>
                  <a:pt x="11410950" y="1146956"/>
                  <a:pt x="11376806" y="1181100"/>
                  <a:pt x="11334750" y="1181100"/>
                </a:cubicBezTo>
                <a:lnTo>
                  <a:pt x="38100" y="1181100"/>
                </a:lnTo>
                <a:cubicBezTo>
                  <a:pt x="17072" y="1181100"/>
                  <a:pt x="0" y="1164028"/>
                  <a:pt x="0" y="1143000"/>
                </a:cubicBezTo>
                <a:lnTo>
                  <a:pt x="0" y="38100"/>
                </a:lnTo>
                <a:cubicBezTo>
                  <a:pt x="0" y="17072"/>
                  <a:pt x="17072" y="0"/>
                  <a:pt x="38100" y="0"/>
                </a:cubicBezTo>
                <a:close/>
              </a:path>
            </a:pathLst>
          </a:custGeom>
          <a:solidFill>
            <a:srgbClr val="112240"/>
          </a:solidFill>
          <a:ln/>
        </p:spPr>
      </p:sp>
      <p:sp>
        <p:nvSpPr>
          <p:cNvPr id="6" name="Shape 4"/>
          <p:cNvSpPr/>
          <p:nvPr/>
        </p:nvSpPr>
        <p:spPr>
          <a:xfrm>
            <a:off x="400050" y="1371600"/>
            <a:ext cx="38100" cy="1181100"/>
          </a:xfrm>
          <a:custGeom>
            <a:avLst/>
            <a:gdLst/>
            <a:ahLst/>
            <a:cxnLst/>
            <a:rect l="l" t="t" r="r" b="b"/>
            <a:pathLst>
              <a:path w="38100" h="1181100">
                <a:moveTo>
                  <a:pt x="38100" y="0"/>
                </a:moveTo>
                <a:lnTo>
                  <a:pt x="38100" y="0"/>
                </a:lnTo>
                <a:lnTo>
                  <a:pt x="38100" y="1181100"/>
                </a:lnTo>
                <a:lnTo>
                  <a:pt x="38100" y="1181100"/>
                </a:lnTo>
                <a:cubicBezTo>
                  <a:pt x="17072" y="1181100"/>
                  <a:pt x="0" y="1164028"/>
                  <a:pt x="0" y="1143000"/>
                </a:cubicBezTo>
                <a:lnTo>
                  <a:pt x="0" y="38100"/>
                </a:lnTo>
                <a:cubicBezTo>
                  <a:pt x="0" y="17072"/>
                  <a:pt x="17072" y="0"/>
                  <a:pt x="38100" y="0"/>
                </a:cubicBezTo>
                <a:close/>
              </a:path>
            </a:pathLst>
          </a:custGeom>
          <a:solidFill>
            <a:srgbClr val="00B4D8"/>
          </a:solidFill>
          <a:ln/>
        </p:spPr>
      </p:sp>
      <p:sp>
        <p:nvSpPr>
          <p:cNvPr id="7" name="Shape 5"/>
          <p:cNvSpPr/>
          <p:nvPr/>
        </p:nvSpPr>
        <p:spPr>
          <a:xfrm>
            <a:off x="619125" y="156210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00B4D8"/>
          </a:solidFill>
          <a:ln/>
        </p:spPr>
      </p:sp>
      <p:sp>
        <p:nvSpPr>
          <p:cNvPr id="8" name="Text 6"/>
          <p:cNvSpPr/>
          <p:nvPr/>
        </p:nvSpPr>
        <p:spPr>
          <a:xfrm>
            <a:off x="809625" y="1524000"/>
            <a:ext cx="10944225" cy="266700"/>
          </a:xfrm>
          <a:prstGeom prst="rect">
            <a:avLst/>
          </a:prstGeom>
          <a:noFill/>
          <a:ln/>
        </p:spPr>
        <p:txBody>
          <a:bodyPr wrap="square" lIns="0" tIns="0" rIns="0" bIns="0" rtlCol="0" anchor="ctr"/>
          <a:lstStyle/>
          <a:p>
            <a:pPr>
              <a:lnSpc>
                <a:spcPct val="120000"/>
              </a:lnSpc>
            </a:pPr>
            <a:r>
              <a:rPr lang="en-US" sz="1500" b="1" dirty="0">
                <a:solidFill>
                  <a:srgbClr val="00B4D8"/>
                </a:solidFill>
                <a:latin typeface="Liter" pitchFamily="34" charset="0"/>
                <a:ea typeface="Liter" pitchFamily="34" charset="-122"/>
                <a:cs typeface="Liter" pitchFamily="34" charset="-120"/>
              </a:rPr>
              <a:t>Core Innovation</a:t>
            </a:r>
            <a:endParaRPr lang="en-US" sz="1600" dirty="0"/>
          </a:p>
        </p:txBody>
      </p:sp>
      <p:sp>
        <p:nvSpPr>
          <p:cNvPr id="9" name="Text 7"/>
          <p:cNvSpPr/>
          <p:nvPr/>
        </p:nvSpPr>
        <p:spPr>
          <a:xfrm>
            <a:off x="571500" y="1905000"/>
            <a:ext cx="11163300" cy="495300"/>
          </a:xfrm>
          <a:prstGeom prst="rect">
            <a:avLst/>
          </a:prstGeom>
          <a:noFill/>
          <a:ln/>
        </p:spPr>
        <p:txBody>
          <a:bodyPr wrap="square" lIns="0" tIns="0" rIns="0" bIns="0" rtlCol="0" anchor="ctr"/>
          <a:lstStyle/>
          <a:p>
            <a:pPr>
              <a:lnSpc>
                <a:spcPct val="140000"/>
              </a:lnSpc>
            </a:pPr>
            <a:r>
              <a:rPr lang="en-US" sz="1200" dirty="0">
                <a:solidFill>
                  <a:srgbClr val="F1FAEE"/>
                </a:solidFill>
                <a:latin typeface="Liter" pitchFamily="34" charset="0"/>
                <a:ea typeface="Liter" pitchFamily="34" charset="-122"/>
                <a:cs typeface="Liter" pitchFamily="34" charset="-120"/>
              </a:rPr>
              <a:t>Extract Grad-CAM from </a:t>
            </a:r>
            <a:pPr>
              <a:lnSpc>
                <a:spcPct val="140000"/>
              </a:lnSpc>
            </a:pPr>
            <a:r>
              <a:rPr lang="en-US" sz="1200" b="1" dirty="0">
                <a:solidFill>
                  <a:srgbClr val="F1FAEE"/>
                </a:solidFill>
                <a:latin typeface="Liter" pitchFamily="34" charset="0"/>
                <a:ea typeface="Liter" pitchFamily="34" charset="-122"/>
                <a:cs typeface="Liter" pitchFamily="34" charset="-120"/>
              </a:rPr>
              <a:t>multiple CNN layers</a:t>
            </a:r>
            <a:pPr>
              <a:lnSpc>
                <a:spcPct val="140000"/>
              </a:lnSpc>
            </a:pPr>
            <a:r>
              <a:rPr lang="en-US" sz="1200" dirty="0">
                <a:solidFill>
                  <a:srgbClr val="F1FAEE"/>
                </a:solidFill>
                <a:latin typeface="Liter" pitchFamily="34" charset="0"/>
                <a:ea typeface="Liter" pitchFamily="34" charset="-122"/>
                <a:cs typeface="Liter" pitchFamily="34" charset="-120"/>
              </a:rPr>
              <a:t> (Layers 2, 3, and 4 of ResNet50) where different layers capture different information. Combined with </a:t>
            </a:r>
            <a:pPr>
              <a:lnSpc>
                <a:spcPct val="140000"/>
              </a:lnSpc>
            </a:pPr>
            <a:r>
              <a:rPr lang="en-US" sz="1200" b="1" dirty="0">
                <a:solidFill>
                  <a:srgbClr val="00B4D8"/>
                </a:solidFill>
                <a:latin typeface="Liter" pitchFamily="34" charset="0"/>
                <a:ea typeface="Liter" pitchFamily="34" charset="-122"/>
                <a:cs typeface="Liter" pitchFamily="34" charset="-120"/>
              </a:rPr>
              <a:t>confidence-retention validation</a:t>
            </a:r>
            <a:pPr>
              <a:lnSpc>
                <a:spcPct val="140000"/>
              </a:lnSpc>
            </a:pPr>
            <a:r>
              <a:rPr lang="en-US" sz="1200" dirty="0">
                <a:solidFill>
                  <a:srgbClr val="F1FAEE"/>
                </a:solidFill>
                <a:latin typeface="Liter" pitchFamily="34" charset="0"/>
                <a:ea typeface="Liter" pitchFamily="34" charset="-122"/>
                <a:cs typeface="Liter" pitchFamily="34" charset="-120"/>
              </a:rPr>
              <a:t> and </a:t>
            </a:r>
            <a:pPr>
              <a:lnSpc>
                <a:spcPct val="140000"/>
              </a:lnSpc>
            </a:pPr>
            <a:r>
              <a:rPr lang="en-US" sz="1200" b="1" dirty="0">
                <a:solidFill>
                  <a:srgbClr val="00B4D8"/>
                </a:solidFill>
                <a:latin typeface="Liter" pitchFamily="34" charset="0"/>
                <a:ea typeface="Liter" pitchFamily="34" charset="-122"/>
                <a:cs typeface="Liter" pitchFamily="34" charset="-120"/>
              </a:rPr>
              <a:t>adaptive fusion weighting</a:t>
            </a:r>
            <a:pPr>
              <a:lnSpc>
                <a:spcPct val="140000"/>
              </a:lnSpc>
            </a:pPr>
            <a:r>
              <a:rPr lang="en-US" sz="1200" dirty="0">
                <a:solidFill>
                  <a:srgbClr val="F1FAEE"/>
                </a:solidFill>
                <a:latin typeface="Liter" pitchFamily="34" charset="0"/>
                <a:ea typeface="Liter" pitchFamily="34" charset="-122"/>
                <a:cs typeface="Liter" pitchFamily="34" charset="-120"/>
              </a:rPr>
              <a:t> for per-scan explainability.</a:t>
            </a:r>
            <a:endParaRPr lang="en-US" sz="1600" dirty="0"/>
          </a:p>
        </p:txBody>
      </p:sp>
      <p:sp>
        <p:nvSpPr>
          <p:cNvPr id="10" name="Shape 8"/>
          <p:cNvSpPr/>
          <p:nvPr/>
        </p:nvSpPr>
        <p:spPr>
          <a:xfrm>
            <a:off x="384810" y="2708910"/>
            <a:ext cx="3703320" cy="1531620"/>
          </a:xfrm>
          <a:prstGeom prst="roundRect">
            <a:avLst>
              <a:gd name="adj" fmla="val 4975"/>
            </a:avLst>
          </a:prstGeom>
          <a:solidFill>
            <a:srgbClr val="112240"/>
          </a:solidFill>
          <a:ln w="10160">
            <a:solidFill>
              <a:srgbClr val="3A86FF"/>
            </a:solidFill>
            <a:prstDash val="solid"/>
          </a:ln>
        </p:spPr>
      </p:sp>
      <p:sp>
        <p:nvSpPr>
          <p:cNvPr id="11" name="Shape 9"/>
          <p:cNvSpPr/>
          <p:nvPr/>
        </p:nvSpPr>
        <p:spPr>
          <a:xfrm>
            <a:off x="541020" y="2865118"/>
            <a:ext cx="457200" cy="457200"/>
          </a:xfrm>
          <a:prstGeom prst="roundRect">
            <a:avLst>
              <a:gd name="adj" fmla="val 50000"/>
            </a:avLst>
          </a:prstGeom>
          <a:solidFill>
            <a:srgbClr val="3A86FF"/>
          </a:solidFill>
          <a:ln/>
        </p:spPr>
      </p:sp>
      <p:sp>
        <p:nvSpPr>
          <p:cNvPr id="12" name="Text 10"/>
          <p:cNvSpPr/>
          <p:nvPr/>
        </p:nvSpPr>
        <p:spPr>
          <a:xfrm>
            <a:off x="661511" y="2960368"/>
            <a:ext cx="314325" cy="266700"/>
          </a:xfrm>
          <a:prstGeom prst="rect">
            <a:avLst/>
          </a:prstGeom>
          <a:noFill/>
          <a:ln/>
        </p:spPr>
        <p:txBody>
          <a:bodyPr wrap="square" lIns="0" tIns="0" rIns="0" bIns="0" rtlCol="0" anchor="ctr"/>
          <a:lstStyle/>
          <a:p>
            <a:pPr>
              <a:lnSpc>
                <a:spcPct val="120000"/>
              </a:lnSpc>
            </a:pPr>
            <a:r>
              <a:rPr lang="en-US" sz="1500" b="1" dirty="0">
                <a:solidFill>
                  <a:srgbClr val="F1FAEE"/>
                </a:solidFill>
                <a:latin typeface="Liter" pitchFamily="34" charset="0"/>
                <a:ea typeface="Liter" pitchFamily="34" charset="-122"/>
                <a:cs typeface="Liter" pitchFamily="34" charset="-120"/>
              </a:rPr>
              <a:t>L2</a:t>
            </a:r>
            <a:endParaRPr lang="en-US" sz="1600" dirty="0"/>
          </a:p>
        </p:txBody>
      </p:sp>
      <p:sp>
        <p:nvSpPr>
          <p:cNvPr id="13" name="Text 11"/>
          <p:cNvSpPr/>
          <p:nvPr/>
        </p:nvSpPr>
        <p:spPr>
          <a:xfrm>
            <a:off x="1112520" y="2865118"/>
            <a:ext cx="127635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Layer 2</a:t>
            </a:r>
            <a:endParaRPr lang="en-US" sz="1600" dirty="0"/>
          </a:p>
        </p:txBody>
      </p:sp>
      <p:sp>
        <p:nvSpPr>
          <p:cNvPr id="14" name="Text 12"/>
          <p:cNvSpPr/>
          <p:nvPr/>
        </p:nvSpPr>
        <p:spPr>
          <a:xfrm>
            <a:off x="1112520" y="3131818"/>
            <a:ext cx="1257300"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28×28 feature maps</a:t>
            </a:r>
            <a:endParaRPr lang="en-US" sz="1600" dirty="0"/>
          </a:p>
        </p:txBody>
      </p:sp>
      <p:sp>
        <p:nvSpPr>
          <p:cNvPr id="15" name="Text 13"/>
          <p:cNvSpPr/>
          <p:nvPr/>
        </p:nvSpPr>
        <p:spPr>
          <a:xfrm>
            <a:off x="541020" y="3436618"/>
            <a:ext cx="3457575" cy="647700"/>
          </a:xfrm>
          <a:prstGeom prst="rect">
            <a:avLst/>
          </a:prstGeom>
          <a:noFill/>
          <a:ln/>
        </p:spPr>
        <p:txBody>
          <a:bodyPr wrap="square" lIns="0" tIns="0" rIns="0" bIns="0" rtlCol="0" anchor="ctr"/>
          <a:lstStyle/>
          <a:p>
            <a:pPr>
              <a:lnSpc>
                <a:spcPct val="140000"/>
              </a:lnSpc>
            </a:pPr>
            <a:r>
              <a:rPr lang="en-US" sz="1050" b="1" dirty="0">
                <a:solidFill>
                  <a:srgbClr val="3A86FF"/>
                </a:solidFill>
                <a:latin typeface="Liter" pitchFamily="34" charset="0"/>
                <a:ea typeface="Liter" pitchFamily="34" charset="-122"/>
                <a:cs typeface="Liter" pitchFamily="34" charset="-120"/>
              </a:rPr>
              <a:t>Fine geometric details</a:t>
            </a:r>
            <a:pPr>
              <a:lnSpc>
                <a:spcPct val="140000"/>
              </a:lnSpc>
            </a:pPr>
            <a:r>
              <a:rPr lang="en-US" sz="1050" dirty="0">
                <a:solidFill>
                  <a:srgbClr val="F1FAEE"/>
                </a:solidFill>
                <a:latin typeface="Liter" pitchFamily="34" charset="0"/>
                <a:ea typeface="Liter" pitchFamily="34" charset="-122"/>
                <a:cs typeface="Liter" pitchFamily="34" charset="-120"/>
              </a:rPr>
              <a:t> - Sharp boundaries, local texture, geometric precision information critical for disease localization</a:t>
            </a:r>
            <a:endParaRPr lang="en-US" sz="1600" dirty="0"/>
          </a:p>
        </p:txBody>
      </p:sp>
      <p:sp>
        <p:nvSpPr>
          <p:cNvPr id="16" name="Shape 14"/>
          <p:cNvSpPr/>
          <p:nvPr/>
        </p:nvSpPr>
        <p:spPr>
          <a:xfrm>
            <a:off x="4245531" y="2708910"/>
            <a:ext cx="3703320" cy="1531620"/>
          </a:xfrm>
          <a:prstGeom prst="roundRect">
            <a:avLst>
              <a:gd name="adj" fmla="val 4975"/>
            </a:avLst>
          </a:prstGeom>
          <a:solidFill>
            <a:srgbClr val="112240"/>
          </a:solidFill>
          <a:ln w="10160">
            <a:solidFill>
              <a:srgbClr val="00B4D8"/>
            </a:solidFill>
            <a:prstDash val="solid"/>
          </a:ln>
        </p:spPr>
      </p:sp>
      <p:sp>
        <p:nvSpPr>
          <p:cNvPr id="17" name="Shape 15"/>
          <p:cNvSpPr/>
          <p:nvPr/>
        </p:nvSpPr>
        <p:spPr>
          <a:xfrm>
            <a:off x="4401741" y="2865118"/>
            <a:ext cx="457200" cy="457200"/>
          </a:xfrm>
          <a:prstGeom prst="roundRect">
            <a:avLst>
              <a:gd name="adj" fmla="val 50000"/>
            </a:avLst>
          </a:prstGeom>
          <a:solidFill>
            <a:srgbClr val="00B4D8"/>
          </a:solidFill>
          <a:ln/>
        </p:spPr>
      </p:sp>
      <p:sp>
        <p:nvSpPr>
          <p:cNvPr id="18" name="Text 16"/>
          <p:cNvSpPr/>
          <p:nvPr/>
        </p:nvSpPr>
        <p:spPr>
          <a:xfrm>
            <a:off x="4521280" y="2960368"/>
            <a:ext cx="314325" cy="266700"/>
          </a:xfrm>
          <a:prstGeom prst="rect">
            <a:avLst/>
          </a:prstGeom>
          <a:noFill/>
          <a:ln/>
        </p:spPr>
        <p:txBody>
          <a:bodyPr wrap="square" lIns="0" tIns="0" rIns="0" bIns="0" rtlCol="0" anchor="ctr"/>
          <a:lstStyle/>
          <a:p>
            <a:pPr>
              <a:lnSpc>
                <a:spcPct val="120000"/>
              </a:lnSpc>
            </a:pPr>
            <a:r>
              <a:rPr lang="en-US" sz="1500" b="1" dirty="0">
                <a:solidFill>
                  <a:srgbClr val="F1FAEE"/>
                </a:solidFill>
                <a:latin typeface="Liter" pitchFamily="34" charset="0"/>
                <a:ea typeface="Liter" pitchFamily="34" charset="-122"/>
                <a:cs typeface="Liter" pitchFamily="34" charset="-120"/>
              </a:rPr>
              <a:t>L3</a:t>
            </a:r>
            <a:endParaRPr lang="en-US" sz="1600" dirty="0"/>
          </a:p>
        </p:txBody>
      </p:sp>
      <p:sp>
        <p:nvSpPr>
          <p:cNvPr id="19" name="Text 17"/>
          <p:cNvSpPr/>
          <p:nvPr/>
        </p:nvSpPr>
        <p:spPr>
          <a:xfrm>
            <a:off x="4973241" y="2865118"/>
            <a:ext cx="121920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Layer 3</a:t>
            </a:r>
            <a:endParaRPr lang="en-US" sz="1600" dirty="0"/>
          </a:p>
        </p:txBody>
      </p:sp>
      <p:sp>
        <p:nvSpPr>
          <p:cNvPr id="20" name="Text 18"/>
          <p:cNvSpPr/>
          <p:nvPr/>
        </p:nvSpPr>
        <p:spPr>
          <a:xfrm>
            <a:off x="4973241" y="3131818"/>
            <a:ext cx="1200150"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14×14 feature maps</a:t>
            </a:r>
            <a:endParaRPr lang="en-US" sz="1600" dirty="0"/>
          </a:p>
        </p:txBody>
      </p:sp>
      <p:sp>
        <p:nvSpPr>
          <p:cNvPr id="21" name="Text 19"/>
          <p:cNvSpPr/>
          <p:nvPr/>
        </p:nvSpPr>
        <p:spPr>
          <a:xfrm>
            <a:off x="4401741" y="3436618"/>
            <a:ext cx="3457575" cy="438150"/>
          </a:xfrm>
          <a:prstGeom prst="rect">
            <a:avLst/>
          </a:prstGeom>
          <a:noFill/>
          <a:ln/>
        </p:spPr>
        <p:txBody>
          <a:bodyPr wrap="square" lIns="0" tIns="0" rIns="0" bIns="0" rtlCol="0" anchor="ctr"/>
          <a:lstStyle/>
          <a:p>
            <a:pPr>
              <a:lnSpc>
                <a:spcPct val="140000"/>
              </a:lnSpc>
            </a:pPr>
            <a:r>
              <a:rPr lang="en-US" sz="1050" b="1" dirty="0">
                <a:solidFill>
                  <a:srgbClr val="00B4D8"/>
                </a:solidFill>
                <a:latin typeface="Liter" pitchFamily="34" charset="0"/>
                <a:ea typeface="Liter" pitchFamily="34" charset="-122"/>
                <a:cs typeface="Liter" pitchFamily="34" charset="-120"/>
              </a:rPr>
              <a:t>Mid-level patterns</a:t>
            </a:r>
            <a:pPr>
              <a:lnSpc>
                <a:spcPct val="140000"/>
              </a:lnSpc>
            </a:pPr>
            <a:r>
              <a:rPr lang="en-US" sz="1050" dirty="0">
                <a:solidFill>
                  <a:srgbClr val="F1FAEE"/>
                </a:solidFill>
                <a:latin typeface="Liter" pitchFamily="34" charset="0"/>
                <a:ea typeface="Liter" pitchFamily="34" charset="-122"/>
                <a:cs typeface="Liter" pitchFamily="34" charset="-120"/>
              </a:rPr>
              <a:t> - Intermediate structures, shapes, and patterns at medium resolution</a:t>
            </a:r>
            <a:endParaRPr lang="en-US" sz="1600" dirty="0"/>
          </a:p>
        </p:txBody>
      </p:sp>
      <p:sp>
        <p:nvSpPr>
          <p:cNvPr id="22" name="Shape 20"/>
          <p:cNvSpPr/>
          <p:nvPr/>
        </p:nvSpPr>
        <p:spPr>
          <a:xfrm>
            <a:off x="8106371" y="2708910"/>
            <a:ext cx="3703320" cy="1531620"/>
          </a:xfrm>
          <a:prstGeom prst="roundRect">
            <a:avLst>
              <a:gd name="adj" fmla="val 4975"/>
            </a:avLst>
          </a:prstGeom>
          <a:solidFill>
            <a:srgbClr val="112240"/>
          </a:solidFill>
          <a:ln w="10160">
            <a:solidFill>
              <a:srgbClr val="5C677D"/>
            </a:solidFill>
            <a:prstDash val="solid"/>
          </a:ln>
        </p:spPr>
      </p:sp>
      <p:sp>
        <p:nvSpPr>
          <p:cNvPr id="23" name="Shape 21"/>
          <p:cNvSpPr/>
          <p:nvPr/>
        </p:nvSpPr>
        <p:spPr>
          <a:xfrm>
            <a:off x="8262581" y="2865118"/>
            <a:ext cx="457200" cy="457200"/>
          </a:xfrm>
          <a:prstGeom prst="roundRect">
            <a:avLst>
              <a:gd name="adj" fmla="val 50000"/>
            </a:avLst>
          </a:prstGeom>
          <a:solidFill>
            <a:srgbClr val="5C677D"/>
          </a:solidFill>
          <a:ln/>
        </p:spPr>
      </p:sp>
      <p:sp>
        <p:nvSpPr>
          <p:cNvPr id="24" name="Text 22"/>
          <p:cNvSpPr/>
          <p:nvPr/>
        </p:nvSpPr>
        <p:spPr>
          <a:xfrm>
            <a:off x="8382238" y="2960368"/>
            <a:ext cx="314325" cy="266700"/>
          </a:xfrm>
          <a:prstGeom prst="rect">
            <a:avLst/>
          </a:prstGeom>
          <a:noFill/>
          <a:ln/>
        </p:spPr>
        <p:txBody>
          <a:bodyPr wrap="square" lIns="0" tIns="0" rIns="0" bIns="0" rtlCol="0" anchor="ctr"/>
          <a:lstStyle/>
          <a:p>
            <a:pPr>
              <a:lnSpc>
                <a:spcPct val="120000"/>
              </a:lnSpc>
            </a:pPr>
            <a:r>
              <a:rPr lang="en-US" sz="1500" b="1" dirty="0">
                <a:solidFill>
                  <a:srgbClr val="F1FAEE"/>
                </a:solidFill>
                <a:latin typeface="Liter" pitchFamily="34" charset="0"/>
                <a:ea typeface="Liter" pitchFamily="34" charset="-122"/>
                <a:cs typeface="Liter" pitchFamily="34" charset="-120"/>
              </a:rPr>
              <a:t>L4</a:t>
            </a:r>
            <a:endParaRPr lang="en-US" sz="1600" dirty="0"/>
          </a:p>
        </p:txBody>
      </p:sp>
      <p:sp>
        <p:nvSpPr>
          <p:cNvPr id="25" name="Text 23"/>
          <p:cNvSpPr/>
          <p:nvPr/>
        </p:nvSpPr>
        <p:spPr>
          <a:xfrm>
            <a:off x="8834081" y="2865118"/>
            <a:ext cx="1095375"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Layer 4</a:t>
            </a:r>
            <a:endParaRPr lang="en-US" sz="1600" dirty="0"/>
          </a:p>
        </p:txBody>
      </p:sp>
      <p:sp>
        <p:nvSpPr>
          <p:cNvPr id="26" name="Text 24"/>
          <p:cNvSpPr/>
          <p:nvPr/>
        </p:nvSpPr>
        <p:spPr>
          <a:xfrm>
            <a:off x="8834081" y="3131818"/>
            <a:ext cx="1076325" cy="190500"/>
          </a:xfrm>
          <a:prstGeom prst="rect">
            <a:avLst/>
          </a:prstGeom>
          <a:noFill/>
          <a:ln/>
        </p:spPr>
        <p:txBody>
          <a:bodyPr wrap="square" lIns="0" tIns="0" rIns="0" bIns="0" rtlCol="0" anchor="ctr"/>
          <a:lstStyle/>
          <a:p>
            <a:pPr>
              <a:lnSpc>
                <a:spcPct val="120000"/>
              </a:lnSpc>
            </a:pPr>
            <a:r>
              <a:rPr lang="en-US" sz="1050" dirty="0">
                <a:solidFill>
                  <a:srgbClr val="5C677D"/>
                </a:solidFill>
                <a:latin typeface="Liter" pitchFamily="34" charset="0"/>
                <a:ea typeface="Liter" pitchFamily="34" charset="-122"/>
                <a:cs typeface="Liter" pitchFamily="34" charset="-120"/>
              </a:rPr>
              <a:t>7×7 feature maps</a:t>
            </a:r>
            <a:endParaRPr lang="en-US" sz="1600" dirty="0"/>
          </a:p>
        </p:txBody>
      </p:sp>
      <p:sp>
        <p:nvSpPr>
          <p:cNvPr id="27" name="Text 25"/>
          <p:cNvSpPr/>
          <p:nvPr/>
        </p:nvSpPr>
        <p:spPr>
          <a:xfrm>
            <a:off x="8262581" y="3436618"/>
            <a:ext cx="3457575" cy="438150"/>
          </a:xfrm>
          <a:prstGeom prst="rect">
            <a:avLst/>
          </a:prstGeom>
          <a:noFill/>
          <a:ln/>
        </p:spPr>
        <p:txBody>
          <a:bodyPr wrap="square" lIns="0" tIns="0" rIns="0" bIns="0" rtlCol="0" anchor="ctr"/>
          <a:lstStyle/>
          <a:p>
            <a:pPr>
              <a:lnSpc>
                <a:spcPct val="140000"/>
              </a:lnSpc>
            </a:pPr>
            <a:r>
              <a:rPr lang="en-US" sz="1050" b="1" dirty="0">
                <a:solidFill>
                  <a:srgbClr val="5C677D"/>
                </a:solidFill>
                <a:latin typeface="Liter" pitchFamily="34" charset="0"/>
                <a:ea typeface="Liter" pitchFamily="34" charset="-122"/>
                <a:cs typeface="Liter" pitchFamily="34" charset="-120"/>
              </a:rPr>
              <a:t>Semantic understanding</a:t>
            </a:r>
            <a:pPr>
              <a:lnSpc>
                <a:spcPct val="140000"/>
              </a:lnSpc>
            </a:pPr>
            <a:r>
              <a:rPr lang="en-US" sz="1050" dirty="0">
                <a:solidFill>
                  <a:srgbClr val="F1FAEE"/>
                </a:solidFill>
                <a:latin typeface="Liter" pitchFamily="34" charset="0"/>
                <a:ea typeface="Liter" pitchFamily="34" charset="-122"/>
                <a:cs typeface="Liter" pitchFamily="34" charset="-120"/>
              </a:rPr>
              <a:t> - High-level structures, class patterns, and global context</a:t>
            </a:r>
            <a:endParaRPr lang="en-US" sz="1600" dirty="0"/>
          </a:p>
        </p:txBody>
      </p:sp>
      <p:sp>
        <p:nvSpPr>
          <p:cNvPr id="28" name="Shape 26"/>
          <p:cNvSpPr/>
          <p:nvPr/>
        </p:nvSpPr>
        <p:spPr>
          <a:xfrm>
            <a:off x="384810" y="4402937"/>
            <a:ext cx="11418570" cy="1493520"/>
          </a:xfrm>
          <a:prstGeom prst="roundRect">
            <a:avLst>
              <a:gd name="adj" fmla="val 5102"/>
            </a:avLst>
          </a:prstGeom>
          <a:solidFill>
            <a:srgbClr val="112240"/>
          </a:solidFill>
          <a:ln w="10160">
            <a:solidFill>
              <a:srgbClr val="3A86FF"/>
            </a:solidFill>
            <a:prstDash val="solid"/>
          </a:ln>
        </p:spPr>
      </p:sp>
      <p:sp>
        <p:nvSpPr>
          <p:cNvPr id="29" name="Shape 27"/>
          <p:cNvSpPr/>
          <p:nvPr/>
        </p:nvSpPr>
        <p:spPr>
          <a:xfrm>
            <a:off x="564832" y="4606770"/>
            <a:ext cx="171450" cy="171450"/>
          </a:xfrm>
          <a:custGeom>
            <a:avLst/>
            <a:gdLst/>
            <a:ahLst/>
            <a:cxnLst/>
            <a:rect l="l" t="t" r="r" b="b"/>
            <a:pathLst>
              <a:path w="171450" h="171450">
                <a:moveTo>
                  <a:pt x="0" y="26789"/>
                </a:moveTo>
                <a:cubicBezTo>
                  <a:pt x="0" y="17915"/>
                  <a:pt x="7200" y="10716"/>
                  <a:pt x="16073" y="10716"/>
                </a:cubicBezTo>
                <a:lnTo>
                  <a:pt x="48220" y="10716"/>
                </a:lnTo>
                <a:cubicBezTo>
                  <a:pt x="57094" y="10716"/>
                  <a:pt x="64294" y="17915"/>
                  <a:pt x="64294" y="26789"/>
                </a:cubicBezTo>
                <a:lnTo>
                  <a:pt x="64294" y="32147"/>
                </a:lnTo>
                <a:lnTo>
                  <a:pt x="107156" y="32147"/>
                </a:lnTo>
                <a:lnTo>
                  <a:pt x="107156" y="26789"/>
                </a:lnTo>
                <a:cubicBezTo>
                  <a:pt x="107156" y="17915"/>
                  <a:pt x="114356" y="10716"/>
                  <a:pt x="123230" y="10716"/>
                </a:cubicBezTo>
                <a:lnTo>
                  <a:pt x="155377" y="10716"/>
                </a:lnTo>
                <a:cubicBezTo>
                  <a:pt x="164250" y="10716"/>
                  <a:pt x="171450" y="17915"/>
                  <a:pt x="171450" y="26789"/>
                </a:cubicBezTo>
                <a:lnTo>
                  <a:pt x="171450" y="58936"/>
                </a:lnTo>
                <a:cubicBezTo>
                  <a:pt x="171450" y="67810"/>
                  <a:pt x="164250" y="75009"/>
                  <a:pt x="155377" y="75009"/>
                </a:cubicBezTo>
                <a:lnTo>
                  <a:pt x="123230" y="75009"/>
                </a:lnTo>
                <a:cubicBezTo>
                  <a:pt x="114356" y="75009"/>
                  <a:pt x="107156" y="67810"/>
                  <a:pt x="107156" y="58936"/>
                </a:cubicBezTo>
                <a:lnTo>
                  <a:pt x="107156" y="53578"/>
                </a:lnTo>
                <a:lnTo>
                  <a:pt x="64294" y="53578"/>
                </a:lnTo>
                <a:lnTo>
                  <a:pt x="64294" y="58936"/>
                </a:lnTo>
                <a:cubicBezTo>
                  <a:pt x="64294" y="61380"/>
                  <a:pt x="63724" y="63724"/>
                  <a:pt x="62753" y="65801"/>
                </a:cubicBezTo>
                <a:lnTo>
                  <a:pt x="85725" y="96441"/>
                </a:lnTo>
                <a:lnTo>
                  <a:pt x="112514" y="96441"/>
                </a:lnTo>
                <a:cubicBezTo>
                  <a:pt x="121388" y="96441"/>
                  <a:pt x="128588" y="103640"/>
                  <a:pt x="128588" y="112514"/>
                </a:cubicBezTo>
                <a:lnTo>
                  <a:pt x="128588" y="144661"/>
                </a:lnTo>
                <a:cubicBezTo>
                  <a:pt x="128588" y="153535"/>
                  <a:pt x="121388" y="160734"/>
                  <a:pt x="112514" y="160734"/>
                </a:cubicBezTo>
                <a:lnTo>
                  <a:pt x="80367" y="160734"/>
                </a:lnTo>
                <a:cubicBezTo>
                  <a:pt x="71493" y="160734"/>
                  <a:pt x="64294" y="153535"/>
                  <a:pt x="64294" y="144661"/>
                </a:cubicBezTo>
                <a:lnTo>
                  <a:pt x="64294" y="112514"/>
                </a:lnTo>
                <a:cubicBezTo>
                  <a:pt x="64294" y="110070"/>
                  <a:pt x="64863" y="107726"/>
                  <a:pt x="65834" y="105649"/>
                </a:cubicBezTo>
                <a:lnTo>
                  <a:pt x="42863" y="75009"/>
                </a:lnTo>
                <a:lnTo>
                  <a:pt x="16073" y="75009"/>
                </a:lnTo>
                <a:cubicBezTo>
                  <a:pt x="7200" y="75009"/>
                  <a:pt x="0" y="67810"/>
                  <a:pt x="0" y="58936"/>
                </a:cubicBezTo>
                <a:lnTo>
                  <a:pt x="0" y="26789"/>
                </a:lnTo>
                <a:close/>
              </a:path>
            </a:pathLst>
          </a:custGeom>
          <a:solidFill>
            <a:srgbClr val="3A86FF"/>
          </a:solidFill>
          <a:ln/>
        </p:spPr>
      </p:sp>
      <p:sp>
        <p:nvSpPr>
          <p:cNvPr id="30" name="Text 28"/>
          <p:cNvSpPr/>
          <p:nvPr/>
        </p:nvSpPr>
        <p:spPr>
          <a:xfrm>
            <a:off x="760095" y="4559145"/>
            <a:ext cx="10972800" cy="266700"/>
          </a:xfrm>
          <a:prstGeom prst="rect">
            <a:avLst/>
          </a:prstGeom>
          <a:noFill/>
          <a:ln/>
        </p:spPr>
        <p:txBody>
          <a:bodyPr wrap="square" lIns="0" tIns="0" rIns="0" bIns="0" rtlCol="0" anchor="ctr"/>
          <a:lstStyle/>
          <a:p>
            <a:pPr>
              <a:lnSpc>
                <a:spcPct val="130000"/>
              </a:lnSpc>
            </a:pPr>
            <a:r>
              <a:rPr lang="en-US" sz="1350" b="1" dirty="0">
                <a:solidFill>
                  <a:srgbClr val="3A86FF"/>
                </a:solidFill>
                <a:latin typeface="Liter" pitchFamily="34" charset="0"/>
                <a:ea typeface="Liter" pitchFamily="34" charset="-122"/>
                <a:cs typeface="Liter" pitchFamily="34" charset="-120"/>
              </a:rPr>
              <a:t>Complete Architecture Flow</a:t>
            </a:r>
            <a:endParaRPr lang="en-US" sz="1600" dirty="0"/>
          </a:p>
        </p:txBody>
      </p:sp>
      <p:sp>
        <p:nvSpPr>
          <p:cNvPr id="31" name="Shape 29"/>
          <p:cNvSpPr/>
          <p:nvPr/>
        </p:nvSpPr>
        <p:spPr>
          <a:xfrm>
            <a:off x="1290042" y="4940145"/>
            <a:ext cx="533400" cy="533400"/>
          </a:xfrm>
          <a:prstGeom prst="roundRect">
            <a:avLst>
              <a:gd name="adj" fmla="val 14286"/>
            </a:avLst>
          </a:prstGeom>
          <a:solidFill>
            <a:srgbClr val="3A86FF"/>
          </a:solidFill>
          <a:ln/>
        </p:spPr>
      </p:sp>
      <p:sp>
        <p:nvSpPr>
          <p:cNvPr id="32" name="Shape 30"/>
          <p:cNvSpPr/>
          <p:nvPr/>
        </p:nvSpPr>
        <p:spPr>
          <a:xfrm>
            <a:off x="1473398" y="5111595"/>
            <a:ext cx="166688" cy="190500"/>
          </a:xfrm>
          <a:custGeom>
            <a:avLst/>
            <a:gdLst/>
            <a:ahLst/>
            <a:cxnLst/>
            <a:rect l="l" t="t" r="r" b="b"/>
            <a:pathLst>
              <a:path w="166688" h="190500">
                <a:moveTo>
                  <a:pt x="23812" y="11906"/>
                </a:moveTo>
                <a:cubicBezTo>
                  <a:pt x="10678" y="11906"/>
                  <a:pt x="0" y="22585"/>
                  <a:pt x="0" y="35719"/>
                </a:cubicBezTo>
                <a:lnTo>
                  <a:pt x="0" y="154781"/>
                </a:lnTo>
                <a:cubicBezTo>
                  <a:pt x="0" y="167915"/>
                  <a:pt x="10678" y="178594"/>
                  <a:pt x="23812" y="178594"/>
                </a:cubicBezTo>
                <a:lnTo>
                  <a:pt x="142875" y="178594"/>
                </a:lnTo>
                <a:cubicBezTo>
                  <a:pt x="156009" y="178594"/>
                  <a:pt x="166688" y="167915"/>
                  <a:pt x="166688" y="154781"/>
                </a:cubicBezTo>
                <a:lnTo>
                  <a:pt x="166688" y="35719"/>
                </a:lnTo>
                <a:cubicBezTo>
                  <a:pt x="166688" y="22585"/>
                  <a:pt x="156009" y="11906"/>
                  <a:pt x="142875" y="11906"/>
                </a:cubicBezTo>
                <a:lnTo>
                  <a:pt x="23812" y="11906"/>
                </a:lnTo>
                <a:close/>
                <a:moveTo>
                  <a:pt x="47625" y="41672"/>
                </a:moveTo>
                <a:cubicBezTo>
                  <a:pt x="57482" y="41672"/>
                  <a:pt x="65484" y="49674"/>
                  <a:pt x="65484" y="59531"/>
                </a:cubicBezTo>
                <a:cubicBezTo>
                  <a:pt x="65484" y="69388"/>
                  <a:pt x="57482" y="77391"/>
                  <a:pt x="47625" y="77391"/>
                </a:cubicBezTo>
                <a:cubicBezTo>
                  <a:pt x="37768" y="77391"/>
                  <a:pt x="29766" y="69388"/>
                  <a:pt x="29766" y="59531"/>
                </a:cubicBezTo>
                <a:cubicBezTo>
                  <a:pt x="29766" y="49674"/>
                  <a:pt x="37768" y="41672"/>
                  <a:pt x="47625" y="41672"/>
                </a:cubicBezTo>
                <a:close/>
                <a:moveTo>
                  <a:pt x="101203" y="83344"/>
                </a:moveTo>
                <a:cubicBezTo>
                  <a:pt x="104329" y="83344"/>
                  <a:pt x="107193" y="84981"/>
                  <a:pt x="108831" y="87623"/>
                </a:cubicBezTo>
                <a:lnTo>
                  <a:pt x="141573" y="141201"/>
                </a:lnTo>
                <a:cubicBezTo>
                  <a:pt x="143247" y="143954"/>
                  <a:pt x="143321" y="147414"/>
                  <a:pt x="141759" y="150242"/>
                </a:cubicBezTo>
                <a:cubicBezTo>
                  <a:pt x="140196" y="153070"/>
                  <a:pt x="137182" y="154781"/>
                  <a:pt x="133945" y="154781"/>
                </a:cubicBezTo>
                <a:lnTo>
                  <a:pt x="32742" y="154781"/>
                </a:lnTo>
                <a:cubicBezTo>
                  <a:pt x="29431" y="154781"/>
                  <a:pt x="26343" y="152921"/>
                  <a:pt x="24817" y="149982"/>
                </a:cubicBezTo>
                <a:cubicBezTo>
                  <a:pt x="23292" y="147042"/>
                  <a:pt x="23515" y="143470"/>
                  <a:pt x="25412" y="140754"/>
                </a:cubicBezTo>
                <a:lnTo>
                  <a:pt x="46248" y="110989"/>
                </a:lnTo>
                <a:cubicBezTo>
                  <a:pt x="47923" y="108607"/>
                  <a:pt x="50639" y="107193"/>
                  <a:pt x="53578" y="107193"/>
                </a:cubicBezTo>
                <a:cubicBezTo>
                  <a:pt x="56517" y="107193"/>
                  <a:pt x="59234" y="108607"/>
                  <a:pt x="60908" y="110989"/>
                </a:cubicBezTo>
                <a:lnTo>
                  <a:pt x="70731" y="125053"/>
                </a:lnTo>
                <a:lnTo>
                  <a:pt x="93576" y="87660"/>
                </a:lnTo>
                <a:cubicBezTo>
                  <a:pt x="95213" y="85018"/>
                  <a:pt x="98078" y="83381"/>
                  <a:pt x="101203" y="83381"/>
                </a:cubicBezTo>
                <a:close/>
              </a:path>
            </a:pathLst>
          </a:custGeom>
          <a:solidFill>
            <a:srgbClr val="F1FAEE"/>
          </a:solidFill>
          <a:ln/>
        </p:spPr>
      </p:sp>
      <p:sp>
        <p:nvSpPr>
          <p:cNvPr id="33" name="Text 31"/>
          <p:cNvSpPr/>
          <p:nvPr/>
        </p:nvSpPr>
        <p:spPr>
          <a:xfrm>
            <a:off x="507682" y="5549745"/>
            <a:ext cx="2095500" cy="190500"/>
          </a:xfrm>
          <a:prstGeom prst="rect">
            <a:avLst/>
          </a:prstGeom>
          <a:noFill/>
          <a:ln/>
        </p:spPr>
        <p:txBody>
          <a:bodyPr wrap="square" lIns="0" tIns="0" rIns="0" bIns="0" rtlCol="0" anchor="ctr"/>
          <a:lstStyle/>
          <a:p>
            <a:pPr algn="ctr">
              <a:lnSpc>
                <a:spcPct val="120000"/>
              </a:lnSpc>
            </a:pPr>
            <a:r>
              <a:rPr lang="en-US" sz="1050" b="1" dirty="0">
                <a:solidFill>
                  <a:srgbClr val="F1FAEE"/>
                </a:solidFill>
                <a:latin typeface="Liter" pitchFamily="34" charset="0"/>
                <a:ea typeface="Liter" pitchFamily="34" charset="-122"/>
                <a:cs typeface="Liter" pitchFamily="34" charset="-120"/>
              </a:rPr>
              <a:t>Input OCT</a:t>
            </a:r>
            <a:endParaRPr lang="en-US" sz="1600" dirty="0"/>
          </a:p>
        </p:txBody>
      </p:sp>
      <p:sp>
        <p:nvSpPr>
          <p:cNvPr id="34" name="Shape 32"/>
          <p:cNvSpPr/>
          <p:nvPr/>
        </p:nvSpPr>
        <p:spPr>
          <a:xfrm>
            <a:off x="2596277" y="5244945"/>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5C677D"/>
          </a:solidFill>
          <a:ln/>
        </p:spPr>
      </p:sp>
      <p:sp>
        <p:nvSpPr>
          <p:cNvPr id="35" name="Shape 33"/>
          <p:cNvSpPr/>
          <p:nvPr/>
        </p:nvSpPr>
        <p:spPr>
          <a:xfrm>
            <a:off x="3559612" y="4940145"/>
            <a:ext cx="533400" cy="533400"/>
          </a:xfrm>
          <a:prstGeom prst="roundRect">
            <a:avLst>
              <a:gd name="adj" fmla="val 14286"/>
            </a:avLst>
          </a:prstGeom>
          <a:solidFill>
            <a:srgbClr val="00B4D8"/>
          </a:solidFill>
          <a:ln/>
        </p:spPr>
      </p:sp>
      <p:sp>
        <p:nvSpPr>
          <p:cNvPr id="36" name="Shape 34"/>
          <p:cNvSpPr/>
          <p:nvPr/>
        </p:nvSpPr>
        <p:spPr>
          <a:xfrm>
            <a:off x="3731062" y="5111595"/>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F1FAEE"/>
          </a:solidFill>
          <a:ln/>
        </p:spPr>
      </p:sp>
      <p:sp>
        <p:nvSpPr>
          <p:cNvPr id="37" name="Text 35"/>
          <p:cNvSpPr/>
          <p:nvPr/>
        </p:nvSpPr>
        <p:spPr>
          <a:xfrm>
            <a:off x="2777252" y="5549745"/>
            <a:ext cx="2095500" cy="190500"/>
          </a:xfrm>
          <a:prstGeom prst="rect">
            <a:avLst/>
          </a:prstGeom>
          <a:noFill/>
          <a:ln/>
        </p:spPr>
        <p:txBody>
          <a:bodyPr wrap="square" lIns="0" tIns="0" rIns="0" bIns="0" rtlCol="0" anchor="ctr"/>
          <a:lstStyle/>
          <a:p>
            <a:pPr algn="ctr">
              <a:lnSpc>
                <a:spcPct val="120000"/>
              </a:lnSpc>
            </a:pPr>
            <a:r>
              <a:rPr lang="en-US" sz="1050" b="1" dirty="0">
                <a:solidFill>
                  <a:srgbClr val="F1FAEE"/>
                </a:solidFill>
                <a:latin typeface="Liter" pitchFamily="34" charset="0"/>
                <a:ea typeface="Liter" pitchFamily="34" charset="-122"/>
                <a:cs typeface="Liter" pitchFamily="34" charset="-120"/>
              </a:rPr>
              <a:t>Multi-Layer Grad-CAM</a:t>
            </a:r>
            <a:endParaRPr lang="en-US" sz="1600" dirty="0"/>
          </a:p>
        </p:txBody>
      </p:sp>
      <p:sp>
        <p:nvSpPr>
          <p:cNvPr id="38" name="Shape 36"/>
          <p:cNvSpPr/>
          <p:nvPr/>
        </p:nvSpPr>
        <p:spPr>
          <a:xfrm>
            <a:off x="4865965" y="5244945"/>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5C677D"/>
          </a:solidFill>
          <a:ln/>
        </p:spPr>
      </p:sp>
      <p:sp>
        <p:nvSpPr>
          <p:cNvPr id="39" name="Shape 37"/>
          <p:cNvSpPr/>
          <p:nvPr/>
        </p:nvSpPr>
        <p:spPr>
          <a:xfrm>
            <a:off x="5829300" y="4940145"/>
            <a:ext cx="533400" cy="533400"/>
          </a:xfrm>
          <a:prstGeom prst="roundRect">
            <a:avLst>
              <a:gd name="adj" fmla="val 14286"/>
            </a:avLst>
          </a:prstGeom>
          <a:solidFill>
            <a:srgbClr val="5C677D"/>
          </a:solidFill>
          <a:ln/>
        </p:spPr>
      </p:sp>
      <p:sp>
        <p:nvSpPr>
          <p:cNvPr id="40" name="Shape 38"/>
          <p:cNvSpPr/>
          <p:nvPr/>
        </p:nvSpPr>
        <p:spPr>
          <a:xfrm>
            <a:off x="6024563" y="5111595"/>
            <a:ext cx="142875" cy="190500"/>
          </a:xfrm>
          <a:custGeom>
            <a:avLst/>
            <a:gdLst/>
            <a:ahLst/>
            <a:cxnLst/>
            <a:rect l="l" t="t" r="r" b="b"/>
            <a:pathLst>
              <a:path w="142875" h="190500">
                <a:moveTo>
                  <a:pt x="92980" y="24854"/>
                </a:moveTo>
                <a:cubicBezTo>
                  <a:pt x="96850" y="19534"/>
                  <a:pt x="95659" y="12092"/>
                  <a:pt x="90339" y="8223"/>
                </a:cubicBezTo>
                <a:cubicBezTo>
                  <a:pt x="85018" y="4353"/>
                  <a:pt x="77577" y="5544"/>
                  <a:pt x="73707" y="10864"/>
                </a:cubicBezTo>
                <a:lnTo>
                  <a:pt x="34268" y="65075"/>
                </a:lnTo>
                <a:lnTo>
                  <a:pt x="20315" y="51122"/>
                </a:lnTo>
                <a:cubicBezTo>
                  <a:pt x="15664" y="46472"/>
                  <a:pt x="8111" y="46472"/>
                  <a:pt x="3460" y="51122"/>
                </a:cubicBezTo>
                <a:cubicBezTo>
                  <a:pt x="-1191" y="55773"/>
                  <a:pt x="-1191" y="63326"/>
                  <a:pt x="3460" y="67977"/>
                </a:cubicBezTo>
                <a:lnTo>
                  <a:pt x="27273" y="91790"/>
                </a:lnTo>
                <a:cubicBezTo>
                  <a:pt x="29728" y="94245"/>
                  <a:pt x="33151" y="95510"/>
                  <a:pt x="36612" y="95250"/>
                </a:cubicBezTo>
                <a:cubicBezTo>
                  <a:pt x="40072" y="94990"/>
                  <a:pt x="43272" y="93204"/>
                  <a:pt x="45318" y="90376"/>
                </a:cubicBezTo>
                <a:lnTo>
                  <a:pt x="92943" y="24892"/>
                </a:lnTo>
                <a:close/>
                <a:moveTo>
                  <a:pt x="140605" y="75456"/>
                </a:moveTo>
                <a:cubicBezTo>
                  <a:pt x="144475" y="70135"/>
                  <a:pt x="143284" y="62694"/>
                  <a:pt x="137964" y="58824"/>
                </a:cubicBezTo>
                <a:cubicBezTo>
                  <a:pt x="132643" y="54955"/>
                  <a:pt x="125202" y="56145"/>
                  <a:pt x="121332" y="61466"/>
                </a:cubicBezTo>
                <a:lnTo>
                  <a:pt x="58080" y="148419"/>
                </a:lnTo>
                <a:lnTo>
                  <a:pt x="32221" y="122560"/>
                </a:lnTo>
                <a:cubicBezTo>
                  <a:pt x="27570" y="117909"/>
                  <a:pt x="20017" y="117909"/>
                  <a:pt x="15367" y="122560"/>
                </a:cubicBezTo>
                <a:cubicBezTo>
                  <a:pt x="10716" y="127211"/>
                  <a:pt x="10716" y="134764"/>
                  <a:pt x="15367" y="139415"/>
                </a:cubicBezTo>
                <a:lnTo>
                  <a:pt x="51085" y="175133"/>
                </a:lnTo>
                <a:cubicBezTo>
                  <a:pt x="53541" y="177589"/>
                  <a:pt x="56964" y="178854"/>
                  <a:pt x="60424" y="178594"/>
                </a:cubicBezTo>
                <a:cubicBezTo>
                  <a:pt x="63884" y="178333"/>
                  <a:pt x="67084" y="176547"/>
                  <a:pt x="69131" y="173720"/>
                </a:cubicBezTo>
                <a:lnTo>
                  <a:pt x="140568" y="75493"/>
                </a:lnTo>
                <a:close/>
              </a:path>
            </a:pathLst>
          </a:custGeom>
          <a:solidFill>
            <a:srgbClr val="F1FAEE"/>
          </a:solidFill>
          <a:ln/>
        </p:spPr>
      </p:sp>
      <p:sp>
        <p:nvSpPr>
          <p:cNvPr id="41" name="Text 39"/>
          <p:cNvSpPr/>
          <p:nvPr/>
        </p:nvSpPr>
        <p:spPr>
          <a:xfrm>
            <a:off x="5046940" y="5549745"/>
            <a:ext cx="2095500" cy="190500"/>
          </a:xfrm>
          <a:prstGeom prst="rect">
            <a:avLst/>
          </a:prstGeom>
          <a:noFill/>
          <a:ln/>
        </p:spPr>
        <p:txBody>
          <a:bodyPr wrap="square" lIns="0" tIns="0" rIns="0" bIns="0" rtlCol="0" anchor="ctr"/>
          <a:lstStyle/>
          <a:p>
            <a:pPr algn="ctr">
              <a:lnSpc>
                <a:spcPct val="120000"/>
              </a:lnSpc>
            </a:pPr>
            <a:r>
              <a:rPr lang="en-US" sz="1050" b="1" dirty="0">
                <a:solidFill>
                  <a:srgbClr val="F1FAEE"/>
                </a:solidFill>
                <a:latin typeface="Liter" pitchFamily="34" charset="0"/>
                <a:ea typeface="Liter" pitchFamily="34" charset="-122"/>
                <a:cs typeface="Liter" pitchFamily="34" charset="-120"/>
              </a:rPr>
              <a:t>Validation</a:t>
            </a:r>
            <a:endParaRPr lang="en-US" sz="1600" dirty="0"/>
          </a:p>
        </p:txBody>
      </p:sp>
      <p:sp>
        <p:nvSpPr>
          <p:cNvPr id="42" name="Shape 40"/>
          <p:cNvSpPr/>
          <p:nvPr/>
        </p:nvSpPr>
        <p:spPr>
          <a:xfrm>
            <a:off x="7135535" y="5244945"/>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5C677D"/>
          </a:solidFill>
          <a:ln/>
        </p:spPr>
      </p:sp>
      <p:sp>
        <p:nvSpPr>
          <p:cNvPr id="43" name="Shape 41"/>
          <p:cNvSpPr/>
          <p:nvPr/>
        </p:nvSpPr>
        <p:spPr>
          <a:xfrm>
            <a:off x="8098870" y="4940145"/>
            <a:ext cx="533400" cy="533400"/>
          </a:xfrm>
          <a:prstGeom prst="roundRect">
            <a:avLst>
              <a:gd name="adj" fmla="val 14286"/>
            </a:avLst>
          </a:prstGeom>
          <a:solidFill>
            <a:srgbClr val="3A86FF"/>
          </a:solidFill>
          <a:ln/>
        </p:spPr>
      </p:sp>
      <p:sp>
        <p:nvSpPr>
          <p:cNvPr id="44" name="Shape 42"/>
          <p:cNvSpPr/>
          <p:nvPr/>
        </p:nvSpPr>
        <p:spPr>
          <a:xfrm>
            <a:off x="8270320" y="5111595"/>
            <a:ext cx="190500" cy="190500"/>
          </a:xfrm>
          <a:custGeom>
            <a:avLst/>
            <a:gdLst/>
            <a:ahLst/>
            <a:cxnLst/>
            <a:rect l="l" t="t" r="r" b="b"/>
            <a:pathLst>
              <a:path w="190500" h="190500">
                <a:moveTo>
                  <a:pt x="11906" y="23812"/>
                </a:moveTo>
                <a:cubicBezTo>
                  <a:pt x="5321" y="23812"/>
                  <a:pt x="0" y="29133"/>
                  <a:pt x="0" y="35719"/>
                </a:cubicBezTo>
                <a:cubicBezTo>
                  <a:pt x="0" y="42304"/>
                  <a:pt x="5321" y="47625"/>
                  <a:pt x="11906" y="47625"/>
                </a:cubicBezTo>
                <a:lnTo>
                  <a:pt x="44165" y="47625"/>
                </a:lnTo>
                <a:cubicBezTo>
                  <a:pt x="48741" y="58155"/>
                  <a:pt x="59234" y="65484"/>
                  <a:pt x="71438" y="65484"/>
                </a:cubicBezTo>
                <a:cubicBezTo>
                  <a:pt x="83641" y="65484"/>
                  <a:pt x="94134" y="58155"/>
                  <a:pt x="98710" y="47625"/>
                </a:cubicBezTo>
                <a:lnTo>
                  <a:pt x="178594" y="47625"/>
                </a:lnTo>
                <a:cubicBezTo>
                  <a:pt x="185179" y="47625"/>
                  <a:pt x="190500" y="42304"/>
                  <a:pt x="190500" y="35719"/>
                </a:cubicBezTo>
                <a:cubicBezTo>
                  <a:pt x="190500" y="29133"/>
                  <a:pt x="185179" y="23812"/>
                  <a:pt x="178594" y="23812"/>
                </a:cubicBezTo>
                <a:lnTo>
                  <a:pt x="98710" y="23812"/>
                </a:lnTo>
                <a:cubicBezTo>
                  <a:pt x="94134" y="13283"/>
                  <a:pt x="83641" y="5953"/>
                  <a:pt x="71438" y="5953"/>
                </a:cubicBezTo>
                <a:cubicBezTo>
                  <a:pt x="59234" y="5953"/>
                  <a:pt x="48741" y="13283"/>
                  <a:pt x="44165" y="23812"/>
                </a:cubicBezTo>
                <a:lnTo>
                  <a:pt x="11906" y="23812"/>
                </a:lnTo>
                <a:close/>
                <a:moveTo>
                  <a:pt x="11906" y="83344"/>
                </a:moveTo>
                <a:cubicBezTo>
                  <a:pt x="5321" y="83344"/>
                  <a:pt x="0" y="88664"/>
                  <a:pt x="0" y="95250"/>
                </a:cubicBezTo>
                <a:cubicBezTo>
                  <a:pt x="0" y="101836"/>
                  <a:pt x="5321" y="107156"/>
                  <a:pt x="11906" y="107156"/>
                </a:cubicBezTo>
                <a:lnTo>
                  <a:pt x="103696" y="107156"/>
                </a:lnTo>
                <a:cubicBezTo>
                  <a:pt x="108272" y="117686"/>
                  <a:pt x="118765" y="125016"/>
                  <a:pt x="130969" y="125016"/>
                </a:cubicBezTo>
                <a:cubicBezTo>
                  <a:pt x="143173" y="125016"/>
                  <a:pt x="153665" y="117686"/>
                  <a:pt x="158242" y="107156"/>
                </a:cubicBezTo>
                <a:lnTo>
                  <a:pt x="178594" y="107156"/>
                </a:lnTo>
                <a:cubicBezTo>
                  <a:pt x="185179" y="107156"/>
                  <a:pt x="190500" y="101836"/>
                  <a:pt x="190500" y="95250"/>
                </a:cubicBezTo>
                <a:cubicBezTo>
                  <a:pt x="190500" y="88664"/>
                  <a:pt x="185179" y="83344"/>
                  <a:pt x="178594" y="83344"/>
                </a:cubicBezTo>
                <a:lnTo>
                  <a:pt x="158242" y="83344"/>
                </a:lnTo>
                <a:cubicBezTo>
                  <a:pt x="153665" y="72814"/>
                  <a:pt x="143173" y="65484"/>
                  <a:pt x="130969" y="65484"/>
                </a:cubicBezTo>
                <a:cubicBezTo>
                  <a:pt x="118765" y="65484"/>
                  <a:pt x="108272" y="72814"/>
                  <a:pt x="103696" y="83344"/>
                </a:cubicBezTo>
                <a:lnTo>
                  <a:pt x="11906" y="83344"/>
                </a:lnTo>
                <a:close/>
                <a:moveTo>
                  <a:pt x="11906" y="142875"/>
                </a:moveTo>
                <a:cubicBezTo>
                  <a:pt x="5321" y="142875"/>
                  <a:pt x="0" y="148196"/>
                  <a:pt x="0" y="154781"/>
                </a:cubicBezTo>
                <a:cubicBezTo>
                  <a:pt x="0" y="161367"/>
                  <a:pt x="5321" y="166688"/>
                  <a:pt x="11906" y="166688"/>
                </a:cubicBezTo>
                <a:lnTo>
                  <a:pt x="32258" y="166688"/>
                </a:lnTo>
                <a:cubicBezTo>
                  <a:pt x="36835" y="177217"/>
                  <a:pt x="47327" y="184547"/>
                  <a:pt x="59531" y="184547"/>
                </a:cubicBezTo>
                <a:cubicBezTo>
                  <a:pt x="71735" y="184547"/>
                  <a:pt x="82228" y="177217"/>
                  <a:pt x="86804" y="166688"/>
                </a:cubicBezTo>
                <a:lnTo>
                  <a:pt x="178594" y="166688"/>
                </a:lnTo>
                <a:cubicBezTo>
                  <a:pt x="185179" y="166688"/>
                  <a:pt x="190500" y="161367"/>
                  <a:pt x="190500" y="154781"/>
                </a:cubicBezTo>
                <a:cubicBezTo>
                  <a:pt x="190500" y="148196"/>
                  <a:pt x="185179" y="142875"/>
                  <a:pt x="178594" y="142875"/>
                </a:cubicBezTo>
                <a:lnTo>
                  <a:pt x="86804" y="142875"/>
                </a:lnTo>
                <a:cubicBezTo>
                  <a:pt x="82228" y="132345"/>
                  <a:pt x="71735" y="125016"/>
                  <a:pt x="59531" y="125016"/>
                </a:cubicBezTo>
                <a:cubicBezTo>
                  <a:pt x="47327" y="125016"/>
                  <a:pt x="36835" y="132345"/>
                  <a:pt x="32258" y="142875"/>
                </a:cubicBezTo>
                <a:lnTo>
                  <a:pt x="11906" y="142875"/>
                </a:lnTo>
                <a:close/>
              </a:path>
            </a:pathLst>
          </a:custGeom>
          <a:solidFill>
            <a:srgbClr val="F1FAEE"/>
          </a:solidFill>
          <a:ln/>
        </p:spPr>
      </p:sp>
      <p:sp>
        <p:nvSpPr>
          <p:cNvPr id="45" name="Text 43"/>
          <p:cNvSpPr/>
          <p:nvPr/>
        </p:nvSpPr>
        <p:spPr>
          <a:xfrm>
            <a:off x="7316510" y="5549745"/>
            <a:ext cx="2095500" cy="190500"/>
          </a:xfrm>
          <a:prstGeom prst="rect">
            <a:avLst/>
          </a:prstGeom>
          <a:noFill/>
          <a:ln/>
        </p:spPr>
        <p:txBody>
          <a:bodyPr wrap="square" lIns="0" tIns="0" rIns="0" bIns="0" rtlCol="0" anchor="ctr"/>
          <a:lstStyle/>
          <a:p>
            <a:pPr algn="ctr">
              <a:lnSpc>
                <a:spcPct val="120000"/>
              </a:lnSpc>
            </a:pPr>
            <a:r>
              <a:rPr lang="en-US" sz="1050" b="1" dirty="0">
                <a:solidFill>
                  <a:srgbClr val="F1FAEE"/>
                </a:solidFill>
                <a:latin typeface="Liter" pitchFamily="34" charset="0"/>
                <a:ea typeface="Liter" pitchFamily="34" charset="-122"/>
                <a:cs typeface="Liter" pitchFamily="34" charset="-120"/>
              </a:rPr>
              <a:t>Adaptive Fusion</a:t>
            </a:r>
            <a:endParaRPr lang="en-US" sz="1600" dirty="0"/>
          </a:p>
        </p:txBody>
      </p:sp>
      <p:sp>
        <p:nvSpPr>
          <p:cNvPr id="46" name="Shape 44"/>
          <p:cNvSpPr/>
          <p:nvPr/>
        </p:nvSpPr>
        <p:spPr>
          <a:xfrm>
            <a:off x="9405223" y="5244945"/>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5C677D"/>
          </a:solidFill>
          <a:ln/>
        </p:spPr>
      </p:sp>
      <p:sp>
        <p:nvSpPr>
          <p:cNvPr id="47" name="Shape 45"/>
          <p:cNvSpPr/>
          <p:nvPr/>
        </p:nvSpPr>
        <p:spPr>
          <a:xfrm>
            <a:off x="10368558" y="4940145"/>
            <a:ext cx="533400" cy="533400"/>
          </a:xfrm>
          <a:prstGeom prst="roundRect">
            <a:avLst>
              <a:gd name="adj" fmla="val 14286"/>
            </a:avLst>
          </a:prstGeom>
          <a:solidFill>
            <a:srgbClr val="00B4D8"/>
          </a:solidFill>
          <a:ln/>
        </p:spPr>
      </p:sp>
      <p:sp>
        <p:nvSpPr>
          <p:cNvPr id="48" name="Shape 46"/>
          <p:cNvSpPr/>
          <p:nvPr/>
        </p:nvSpPr>
        <p:spPr>
          <a:xfrm>
            <a:off x="10551914" y="5111595"/>
            <a:ext cx="166688" cy="190500"/>
          </a:xfrm>
          <a:custGeom>
            <a:avLst/>
            <a:gdLst/>
            <a:ahLst/>
            <a:cxnLst/>
            <a:rect l="l" t="t" r="r" b="b"/>
            <a:pathLst>
              <a:path w="166688" h="190500">
                <a:moveTo>
                  <a:pt x="59717" y="-9823"/>
                </a:moveTo>
                <a:cubicBezTo>
                  <a:pt x="63178" y="-12725"/>
                  <a:pt x="68275" y="-12613"/>
                  <a:pt x="71586" y="-9488"/>
                </a:cubicBezTo>
                <a:cubicBezTo>
                  <a:pt x="76163" y="-5172"/>
                  <a:pt x="80256" y="-409"/>
                  <a:pt x="84200" y="4428"/>
                </a:cubicBezTo>
                <a:cubicBezTo>
                  <a:pt x="89222" y="10567"/>
                  <a:pt x="95250" y="18678"/>
                  <a:pt x="101054" y="28315"/>
                </a:cubicBezTo>
                <a:cubicBezTo>
                  <a:pt x="102989" y="25784"/>
                  <a:pt x="104775" y="23552"/>
                  <a:pt x="106338" y="21654"/>
                </a:cubicBezTo>
                <a:cubicBezTo>
                  <a:pt x="106747" y="21171"/>
                  <a:pt x="107156" y="20650"/>
                  <a:pt x="107566" y="20129"/>
                </a:cubicBezTo>
                <a:cubicBezTo>
                  <a:pt x="110505" y="16483"/>
                  <a:pt x="114151" y="11906"/>
                  <a:pt x="119025" y="11906"/>
                </a:cubicBezTo>
                <a:cubicBezTo>
                  <a:pt x="124011" y="11906"/>
                  <a:pt x="127508" y="16334"/>
                  <a:pt x="130485" y="20129"/>
                </a:cubicBezTo>
                <a:cubicBezTo>
                  <a:pt x="130969" y="20762"/>
                  <a:pt x="131452" y="21357"/>
                  <a:pt x="131936" y="21915"/>
                </a:cubicBezTo>
                <a:cubicBezTo>
                  <a:pt x="135768" y="26529"/>
                  <a:pt x="140866" y="33189"/>
                  <a:pt x="145963" y="41411"/>
                </a:cubicBezTo>
                <a:cubicBezTo>
                  <a:pt x="156083" y="57745"/>
                  <a:pt x="166650" y="81000"/>
                  <a:pt x="166650" y="107119"/>
                </a:cubicBezTo>
                <a:cubicBezTo>
                  <a:pt x="166650" y="153144"/>
                  <a:pt x="129332" y="190463"/>
                  <a:pt x="83307" y="190463"/>
                </a:cubicBezTo>
                <a:cubicBezTo>
                  <a:pt x="37281" y="190463"/>
                  <a:pt x="0" y="153181"/>
                  <a:pt x="0" y="107156"/>
                </a:cubicBezTo>
                <a:cubicBezTo>
                  <a:pt x="0" y="73261"/>
                  <a:pt x="15292" y="43904"/>
                  <a:pt x="29952" y="23440"/>
                </a:cubicBezTo>
                <a:cubicBezTo>
                  <a:pt x="37356" y="13134"/>
                  <a:pt x="44723" y="4874"/>
                  <a:pt x="50267" y="-781"/>
                </a:cubicBezTo>
                <a:cubicBezTo>
                  <a:pt x="53318" y="-3907"/>
                  <a:pt x="56406" y="-6995"/>
                  <a:pt x="59754" y="-9785"/>
                </a:cubicBezTo>
                <a:close/>
                <a:moveTo>
                  <a:pt x="83976" y="154781"/>
                </a:moveTo>
                <a:cubicBezTo>
                  <a:pt x="93390" y="154781"/>
                  <a:pt x="101724" y="152177"/>
                  <a:pt x="109575" y="146968"/>
                </a:cubicBezTo>
                <a:cubicBezTo>
                  <a:pt x="125239" y="136029"/>
                  <a:pt x="129443" y="114151"/>
                  <a:pt x="120030" y="96962"/>
                </a:cubicBezTo>
                <a:cubicBezTo>
                  <a:pt x="118356" y="93613"/>
                  <a:pt x="114077" y="93390"/>
                  <a:pt x="111658" y="96217"/>
                </a:cubicBezTo>
                <a:lnTo>
                  <a:pt x="102282" y="107119"/>
                </a:lnTo>
                <a:cubicBezTo>
                  <a:pt x="99826" y="109947"/>
                  <a:pt x="95399" y="109872"/>
                  <a:pt x="93092" y="106933"/>
                </a:cubicBezTo>
                <a:cubicBezTo>
                  <a:pt x="86655" y="98710"/>
                  <a:pt x="74823" y="83716"/>
                  <a:pt x="68796" y="76051"/>
                </a:cubicBezTo>
                <a:cubicBezTo>
                  <a:pt x="66787" y="73484"/>
                  <a:pt x="63140" y="73075"/>
                  <a:pt x="60796" y="75344"/>
                </a:cubicBezTo>
                <a:cubicBezTo>
                  <a:pt x="53987" y="81967"/>
                  <a:pt x="41635" y="96478"/>
                  <a:pt x="41635" y="114151"/>
                </a:cubicBezTo>
                <a:cubicBezTo>
                  <a:pt x="41635" y="139675"/>
                  <a:pt x="60461" y="154781"/>
                  <a:pt x="83939" y="154781"/>
                </a:cubicBezTo>
                <a:close/>
              </a:path>
            </a:pathLst>
          </a:custGeom>
          <a:solidFill>
            <a:srgbClr val="F1FAEE"/>
          </a:solidFill>
          <a:ln/>
        </p:spPr>
      </p:sp>
      <p:sp>
        <p:nvSpPr>
          <p:cNvPr id="49" name="Text 47"/>
          <p:cNvSpPr/>
          <p:nvPr/>
        </p:nvSpPr>
        <p:spPr>
          <a:xfrm>
            <a:off x="9586198" y="5549745"/>
            <a:ext cx="2095500" cy="190500"/>
          </a:xfrm>
          <a:prstGeom prst="rect">
            <a:avLst/>
          </a:prstGeom>
          <a:noFill/>
          <a:ln/>
        </p:spPr>
        <p:txBody>
          <a:bodyPr wrap="square" lIns="0" tIns="0" rIns="0" bIns="0" rtlCol="0" anchor="ctr"/>
          <a:lstStyle/>
          <a:p>
            <a:pPr algn="ctr">
              <a:lnSpc>
                <a:spcPct val="120000"/>
              </a:lnSpc>
            </a:pPr>
            <a:r>
              <a:rPr lang="en-US" sz="1050" b="1" dirty="0">
                <a:solidFill>
                  <a:srgbClr val="F1FAEE"/>
                </a:solidFill>
                <a:latin typeface="Liter" pitchFamily="34" charset="0"/>
                <a:ea typeface="Liter" pitchFamily="34" charset="-122"/>
                <a:cs typeface="Liter" pitchFamily="34" charset="-120"/>
              </a:rPr>
              <a:t>Final Heatmap</a:t>
            </a:r>
            <a:endParaRPr lang="en-US" sz="1600" dirty="0"/>
          </a:p>
        </p:txBody>
      </p:sp>
      <p:sp>
        <p:nvSpPr>
          <p:cNvPr id="50" name="Shape 48"/>
          <p:cNvSpPr/>
          <p:nvPr/>
        </p:nvSpPr>
        <p:spPr>
          <a:xfrm>
            <a:off x="400050" y="6052663"/>
            <a:ext cx="11410950" cy="457200"/>
          </a:xfrm>
          <a:custGeom>
            <a:avLst/>
            <a:gdLst/>
            <a:ahLst/>
            <a:cxnLst/>
            <a:rect l="l" t="t" r="r" b="b"/>
            <a:pathLst>
              <a:path w="11410950" h="457200">
                <a:moveTo>
                  <a:pt x="38100" y="0"/>
                </a:moveTo>
                <a:lnTo>
                  <a:pt x="11334750" y="0"/>
                </a:lnTo>
                <a:cubicBezTo>
                  <a:pt x="11376806" y="0"/>
                  <a:pt x="11410950" y="34144"/>
                  <a:pt x="11410950" y="76200"/>
                </a:cubicBezTo>
                <a:lnTo>
                  <a:pt x="11410950" y="381000"/>
                </a:lnTo>
                <a:cubicBezTo>
                  <a:pt x="11410950" y="423056"/>
                  <a:pt x="11376806" y="457200"/>
                  <a:pt x="11334750" y="457200"/>
                </a:cubicBezTo>
                <a:lnTo>
                  <a:pt x="38100" y="457200"/>
                </a:lnTo>
                <a:cubicBezTo>
                  <a:pt x="17072" y="457200"/>
                  <a:pt x="0" y="440128"/>
                  <a:pt x="0" y="419100"/>
                </a:cubicBezTo>
                <a:lnTo>
                  <a:pt x="0" y="38100"/>
                </a:lnTo>
                <a:cubicBezTo>
                  <a:pt x="0" y="17072"/>
                  <a:pt x="17072" y="0"/>
                  <a:pt x="38100" y="0"/>
                </a:cubicBezTo>
                <a:close/>
              </a:path>
            </a:pathLst>
          </a:custGeom>
          <a:solidFill>
            <a:srgbClr val="00B4D8"/>
          </a:solidFill>
          <a:ln/>
        </p:spPr>
      </p:sp>
      <p:sp>
        <p:nvSpPr>
          <p:cNvPr id="51" name="Shape 49"/>
          <p:cNvSpPr/>
          <p:nvPr/>
        </p:nvSpPr>
        <p:spPr>
          <a:xfrm>
            <a:off x="400050" y="6052663"/>
            <a:ext cx="38100" cy="457200"/>
          </a:xfrm>
          <a:custGeom>
            <a:avLst/>
            <a:gdLst/>
            <a:ahLst/>
            <a:cxnLst/>
            <a:rect l="l" t="t" r="r" b="b"/>
            <a:pathLst>
              <a:path w="38100" h="457200">
                <a:moveTo>
                  <a:pt x="38100" y="0"/>
                </a:moveTo>
                <a:lnTo>
                  <a:pt x="38100" y="0"/>
                </a:lnTo>
                <a:lnTo>
                  <a:pt x="38100" y="457200"/>
                </a:lnTo>
                <a:lnTo>
                  <a:pt x="38100" y="457200"/>
                </a:lnTo>
                <a:cubicBezTo>
                  <a:pt x="17072" y="457200"/>
                  <a:pt x="0" y="440128"/>
                  <a:pt x="0" y="419100"/>
                </a:cubicBezTo>
                <a:lnTo>
                  <a:pt x="0" y="38100"/>
                </a:lnTo>
                <a:cubicBezTo>
                  <a:pt x="0" y="17072"/>
                  <a:pt x="17072" y="0"/>
                  <a:pt x="38100" y="0"/>
                </a:cubicBezTo>
                <a:close/>
              </a:path>
            </a:pathLst>
          </a:custGeom>
          <a:solidFill>
            <a:srgbClr val="00B4D8"/>
          </a:solidFill>
          <a:ln/>
        </p:spPr>
      </p:sp>
      <p:sp>
        <p:nvSpPr>
          <p:cNvPr id="52" name="Shape 50"/>
          <p:cNvSpPr/>
          <p:nvPr/>
        </p:nvSpPr>
        <p:spPr>
          <a:xfrm>
            <a:off x="2484834" y="6197445"/>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F1FAEE"/>
          </a:solidFill>
          <a:ln/>
        </p:spPr>
      </p:sp>
      <p:sp>
        <p:nvSpPr>
          <p:cNvPr id="53" name="Text 51"/>
          <p:cNvSpPr/>
          <p:nvPr/>
        </p:nvSpPr>
        <p:spPr>
          <a:xfrm>
            <a:off x="742950" y="6166963"/>
            <a:ext cx="10991850" cy="228600"/>
          </a:xfrm>
          <a:prstGeom prst="rect">
            <a:avLst/>
          </a:prstGeom>
          <a:noFill/>
          <a:ln/>
        </p:spPr>
        <p:txBody>
          <a:bodyPr wrap="square" lIns="0" tIns="0" rIns="0" bIns="0" rtlCol="0" anchor="ctr"/>
          <a:lstStyle/>
          <a:p>
            <a:pPr algn="ctr">
              <a:lnSpc>
                <a:spcPct val="130000"/>
              </a:lnSpc>
            </a:pPr>
            <a:r>
              <a:rPr lang="en-US" sz="1200" b="1" dirty="0">
                <a:solidFill>
                  <a:srgbClr val="F1FAEE"/>
                </a:solidFill>
                <a:latin typeface="Liter" pitchFamily="34" charset="0"/>
                <a:ea typeface="Liter" pitchFamily="34" charset="-122"/>
                <a:cs typeface="Liter" pitchFamily="34" charset="-120"/>
              </a:rPr>
              <a:t>Key Innovation: Per-scan adaptive explainability - weights dynamically computed for each individual scan</a:t>
            </a:r>
            <a:endParaRPr lang="en-US" sz="1600" dirty="0"/>
          </a:p>
        </p:txBody>
      </p:sp>
      <p:sp>
        <p:nvSpPr>
          <p:cNvPr id="54" name="Text 52"/>
          <p:cNvSpPr/>
          <p:nvPr/>
        </p:nvSpPr>
        <p:spPr>
          <a:xfrm>
            <a:off x="381000" y="6553321"/>
            <a:ext cx="26479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55" name="Text 53"/>
          <p:cNvSpPr/>
          <p:nvPr/>
        </p:nvSpPr>
        <p:spPr>
          <a:xfrm>
            <a:off x="11424762" y="6553321"/>
            <a:ext cx="447675"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Slide 12</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50" kern="0" dirty="0">
                <a:solidFill>
                  <a:srgbClr val="00B4D8"/>
                </a:solidFill>
                <a:latin typeface="Liter" pitchFamily="34" charset="0"/>
                <a:ea typeface="Liter" pitchFamily="34" charset="-122"/>
                <a:cs typeface="Liter" pitchFamily="34" charset="-120"/>
              </a:rPr>
              <a:t>Validation Mechanism</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F1FAEE"/>
                </a:solidFill>
                <a:latin typeface="Oranienbaum" pitchFamily="34" charset="0"/>
                <a:ea typeface="Oranienbaum" pitchFamily="34" charset="-122"/>
                <a:cs typeface="Oranienbaum" pitchFamily="34" charset="-120"/>
              </a:rPr>
              <a:t>Confidence-Retention Validation</a:t>
            </a:r>
            <a:endParaRPr lang="en-US" sz="1600" dirty="0"/>
          </a:p>
        </p:txBody>
      </p:sp>
      <p:sp>
        <p:nvSpPr>
          <p:cNvPr id="4" name="Shape 2"/>
          <p:cNvSpPr/>
          <p:nvPr/>
        </p:nvSpPr>
        <p:spPr>
          <a:xfrm>
            <a:off x="317500" y="984250"/>
            <a:ext cx="762000" cy="3175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33375" y="1143000"/>
            <a:ext cx="5667375" cy="2587625"/>
          </a:xfrm>
          <a:custGeom>
            <a:avLst/>
            <a:gdLst/>
            <a:ahLst/>
            <a:cxnLst/>
            <a:rect l="l" t="t" r="r" b="b"/>
            <a:pathLst>
              <a:path w="5667375" h="2587625">
                <a:moveTo>
                  <a:pt x="31750" y="0"/>
                </a:moveTo>
                <a:lnTo>
                  <a:pt x="5603875" y="0"/>
                </a:lnTo>
                <a:cubicBezTo>
                  <a:pt x="5638922" y="0"/>
                  <a:pt x="5667375" y="28453"/>
                  <a:pt x="5667375" y="63500"/>
                </a:cubicBezTo>
                <a:lnTo>
                  <a:pt x="5667375" y="2524125"/>
                </a:lnTo>
                <a:cubicBezTo>
                  <a:pt x="5667375" y="2559172"/>
                  <a:pt x="5638922" y="2587625"/>
                  <a:pt x="5603875" y="2587625"/>
                </a:cubicBezTo>
                <a:lnTo>
                  <a:pt x="31750" y="2587625"/>
                </a:lnTo>
                <a:cubicBezTo>
                  <a:pt x="14227" y="2587625"/>
                  <a:pt x="0" y="2573398"/>
                  <a:pt x="0" y="2555875"/>
                </a:cubicBezTo>
                <a:lnTo>
                  <a:pt x="0" y="31750"/>
                </a:lnTo>
                <a:cubicBezTo>
                  <a:pt x="0" y="14227"/>
                  <a:pt x="14227" y="0"/>
                  <a:pt x="31750" y="0"/>
                </a:cubicBezTo>
                <a:close/>
              </a:path>
            </a:pathLst>
          </a:custGeom>
          <a:solidFill>
            <a:srgbClr val="112240"/>
          </a:solidFill>
          <a:ln/>
        </p:spPr>
      </p:sp>
      <p:sp>
        <p:nvSpPr>
          <p:cNvPr id="6" name="Shape 4"/>
          <p:cNvSpPr/>
          <p:nvPr/>
        </p:nvSpPr>
        <p:spPr>
          <a:xfrm>
            <a:off x="333375" y="1143000"/>
            <a:ext cx="31750" cy="2587625"/>
          </a:xfrm>
          <a:custGeom>
            <a:avLst/>
            <a:gdLst/>
            <a:ahLst/>
            <a:cxnLst/>
            <a:rect l="l" t="t" r="r" b="b"/>
            <a:pathLst>
              <a:path w="31750" h="2587625">
                <a:moveTo>
                  <a:pt x="31750" y="0"/>
                </a:moveTo>
                <a:lnTo>
                  <a:pt x="31750" y="0"/>
                </a:lnTo>
                <a:lnTo>
                  <a:pt x="31750" y="2587625"/>
                </a:lnTo>
                <a:lnTo>
                  <a:pt x="31750" y="2587625"/>
                </a:lnTo>
                <a:cubicBezTo>
                  <a:pt x="14227" y="2587625"/>
                  <a:pt x="0" y="2573398"/>
                  <a:pt x="0" y="2555875"/>
                </a:cubicBezTo>
                <a:lnTo>
                  <a:pt x="0" y="31750"/>
                </a:lnTo>
                <a:cubicBezTo>
                  <a:pt x="0" y="14227"/>
                  <a:pt x="14227" y="0"/>
                  <a:pt x="31750" y="0"/>
                </a:cubicBezTo>
                <a:close/>
              </a:path>
            </a:pathLst>
          </a:custGeom>
          <a:solidFill>
            <a:srgbClr val="00B4D8"/>
          </a:solidFill>
          <a:ln/>
        </p:spPr>
      </p:sp>
      <p:sp>
        <p:nvSpPr>
          <p:cNvPr id="7" name="Shape 5"/>
          <p:cNvSpPr/>
          <p:nvPr/>
        </p:nvSpPr>
        <p:spPr>
          <a:xfrm>
            <a:off x="496094" y="130175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00B4D8"/>
          </a:solidFill>
          <a:ln/>
        </p:spPr>
      </p:sp>
      <p:sp>
        <p:nvSpPr>
          <p:cNvPr id="8" name="Text 6"/>
          <p:cNvSpPr/>
          <p:nvPr/>
        </p:nvSpPr>
        <p:spPr>
          <a:xfrm>
            <a:off x="674688" y="1270000"/>
            <a:ext cx="5278438" cy="222250"/>
          </a:xfrm>
          <a:prstGeom prst="rect">
            <a:avLst/>
          </a:prstGeom>
          <a:noFill/>
          <a:ln/>
        </p:spPr>
        <p:txBody>
          <a:bodyPr wrap="square" lIns="0" tIns="0" rIns="0" bIns="0" rtlCol="0" anchor="ctr"/>
          <a:lstStyle/>
          <a:p>
            <a:pPr>
              <a:lnSpc>
                <a:spcPct val="120000"/>
              </a:lnSpc>
            </a:pPr>
            <a:r>
              <a:rPr lang="en-US" sz="1250" b="1" dirty="0">
                <a:solidFill>
                  <a:srgbClr val="00B4D8"/>
                </a:solidFill>
                <a:latin typeface="Liter" pitchFamily="34" charset="0"/>
                <a:ea typeface="Liter" pitchFamily="34" charset="-122"/>
                <a:cs typeface="Liter" pitchFamily="34" charset="-120"/>
              </a:rPr>
              <a:t>Core Validation Concept</a:t>
            </a:r>
            <a:endParaRPr lang="en-US" sz="1600" dirty="0"/>
          </a:p>
        </p:txBody>
      </p:sp>
      <p:sp>
        <p:nvSpPr>
          <p:cNvPr id="9" name="Text 7"/>
          <p:cNvSpPr/>
          <p:nvPr/>
        </p:nvSpPr>
        <p:spPr>
          <a:xfrm>
            <a:off x="476250" y="1587500"/>
            <a:ext cx="5461000" cy="206375"/>
          </a:xfrm>
          <a:prstGeom prst="rect">
            <a:avLst/>
          </a:prstGeom>
          <a:noFill/>
          <a:ln/>
        </p:spPr>
        <p:txBody>
          <a:bodyPr wrap="square" lIns="0" tIns="0" rIns="0" bIns="0" rtlCol="0" anchor="ctr"/>
          <a:lstStyle/>
          <a:p>
            <a:pPr>
              <a:lnSpc>
                <a:spcPct val="140000"/>
              </a:lnSpc>
            </a:pPr>
            <a:r>
              <a:rPr lang="en-US" sz="1000" dirty="0">
                <a:solidFill>
                  <a:srgbClr val="F1FAEE"/>
                </a:solidFill>
                <a:latin typeface="Liter" pitchFamily="34" charset="0"/>
                <a:ea typeface="Liter" pitchFamily="34" charset="-122"/>
                <a:cs typeface="Liter" pitchFamily="34" charset="-120"/>
              </a:rPr>
              <a:t>Answer the critical question: </a:t>
            </a:r>
            <a:pPr>
              <a:lnSpc>
                <a:spcPct val="140000"/>
              </a:lnSpc>
            </a:pPr>
            <a:r>
              <a:rPr lang="en-US" sz="1000" b="1" dirty="0">
                <a:solidFill>
                  <a:srgbClr val="00B4D8"/>
                </a:solidFill>
                <a:latin typeface="Liter" pitchFamily="34" charset="0"/>
                <a:ea typeface="Liter" pitchFamily="34" charset="-122"/>
                <a:cs typeface="Liter" pitchFamily="34" charset="-120"/>
              </a:rPr>
              <a:t>"Is the highlighted region actually responsible for the prediction?"</a:t>
            </a:r>
            <a:endParaRPr lang="en-US" sz="1600" dirty="0"/>
          </a:p>
        </p:txBody>
      </p:sp>
      <p:sp>
        <p:nvSpPr>
          <p:cNvPr id="10" name="Shape 8"/>
          <p:cNvSpPr/>
          <p:nvPr/>
        </p:nvSpPr>
        <p:spPr>
          <a:xfrm>
            <a:off x="476250" y="1920875"/>
            <a:ext cx="5397500" cy="1682750"/>
          </a:xfrm>
          <a:prstGeom prst="roundRect">
            <a:avLst>
              <a:gd name="adj" fmla="val 3774"/>
            </a:avLst>
          </a:prstGeom>
          <a:solidFill>
            <a:srgbClr val="0A192F"/>
          </a:solidFill>
          <a:ln/>
        </p:spPr>
      </p:sp>
      <p:sp>
        <p:nvSpPr>
          <p:cNvPr id="11" name="Text 9"/>
          <p:cNvSpPr/>
          <p:nvPr/>
        </p:nvSpPr>
        <p:spPr>
          <a:xfrm>
            <a:off x="571500" y="2016125"/>
            <a:ext cx="5270500" cy="190500"/>
          </a:xfrm>
          <a:prstGeom prst="rect">
            <a:avLst/>
          </a:prstGeom>
          <a:noFill/>
          <a:ln/>
        </p:spPr>
        <p:txBody>
          <a:bodyPr wrap="square" lIns="0" tIns="0" rIns="0" bIns="0" rtlCol="0" anchor="ctr"/>
          <a:lstStyle/>
          <a:p>
            <a:pPr>
              <a:lnSpc>
                <a:spcPct val="130000"/>
              </a:lnSpc>
            </a:pPr>
            <a:r>
              <a:rPr lang="en-US" sz="1000" b="1" dirty="0">
                <a:solidFill>
                  <a:srgbClr val="3A86FF"/>
                </a:solidFill>
                <a:latin typeface="Liter" pitchFamily="34" charset="0"/>
                <a:ea typeface="Liter" pitchFamily="34" charset="-122"/>
                <a:cs typeface="Liter" pitchFamily="34" charset="-120"/>
              </a:rPr>
              <a:t>Validation Pipeline</a:t>
            </a:r>
            <a:endParaRPr lang="en-US" sz="1600" dirty="0"/>
          </a:p>
        </p:txBody>
      </p:sp>
      <p:sp>
        <p:nvSpPr>
          <p:cNvPr id="12" name="Shape 10"/>
          <p:cNvSpPr/>
          <p:nvPr/>
        </p:nvSpPr>
        <p:spPr>
          <a:xfrm>
            <a:off x="571500" y="2301875"/>
            <a:ext cx="254000" cy="254000"/>
          </a:xfrm>
          <a:prstGeom prst="roundRect">
            <a:avLst>
              <a:gd name="adj" fmla="val 50000"/>
            </a:avLst>
          </a:prstGeom>
          <a:solidFill>
            <a:srgbClr val="3A86FF"/>
          </a:solidFill>
          <a:ln/>
        </p:spPr>
      </p:sp>
      <p:sp>
        <p:nvSpPr>
          <p:cNvPr id="13" name="Text 11"/>
          <p:cNvSpPr/>
          <p:nvPr/>
        </p:nvSpPr>
        <p:spPr>
          <a:xfrm>
            <a:off x="543719" y="2301875"/>
            <a:ext cx="309563" cy="254000"/>
          </a:xfrm>
          <a:prstGeom prst="rect">
            <a:avLst/>
          </a:prstGeom>
          <a:noFill/>
          <a:ln/>
        </p:spPr>
        <p:txBody>
          <a:bodyPr wrap="square" lIns="0" tIns="0" rIns="0" bIns="0" rtlCol="0" anchor="ctr"/>
          <a:lstStyle/>
          <a:p>
            <a:pPr algn="ctr">
              <a:lnSpc>
                <a:spcPct val="120000"/>
              </a:lnSpc>
            </a:pPr>
            <a:r>
              <a:rPr lang="en-US" sz="875" b="1" dirty="0">
                <a:solidFill>
                  <a:srgbClr val="F1FAEE"/>
                </a:solidFill>
                <a:latin typeface="Liter" pitchFamily="34" charset="0"/>
                <a:ea typeface="Liter" pitchFamily="34" charset="-122"/>
                <a:cs typeface="Liter" pitchFamily="34" charset="-120"/>
              </a:rPr>
              <a:t>1</a:t>
            </a:r>
            <a:endParaRPr lang="en-US" sz="1600" dirty="0"/>
          </a:p>
        </p:txBody>
      </p:sp>
      <p:sp>
        <p:nvSpPr>
          <p:cNvPr id="14" name="Text 12"/>
          <p:cNvSpPr/>
          <p:nvPr/>
        </p:nvSpPr>
        <p:spPr>
          <a:xfrm>
            <a:off x="920750" y="2301875"/>
            <a:ext cx="3024188" cy="158750"/>
          </a:xfrm>
          <a:prstGeom prst="rect">
            <a:avLst/>
          </a:prstGeom>
          <a:noFill/>
          <a:ln/>
        </p:spPr>
        <p:txBody>
          <a:bodyPr wrap="square" lIns="0" tIns="0" rIns="0" bIns="0" rtlCol="0" anchor="ctr"/>
          <a:lstStyle/>
          <a:p>
            <a:pPr>
              <a:lnSpc>
                <a:spcPct val="120000"/>
              </a:lnSpc>
            </a:pPr>
            <a:r>
              <a:rPr lang="en-US" sz="875" dirty="0">
                <a:solidFill>
                  <a:srgbClr val="F1FAEE"/>
                </a:solidFill>
                <a:latin typeface="Liter" pitchFamily="34" charset="0"/>
                <a:ea typeface="Liter" pitchFamily="34" charset="-122"/>
                <a:cs typeface="Liter" pitchFamily="34" charset="-120"/>
              </a:rPr>
              <a:t>Convert Grad-CAM heatmap to binary mask (threshold = 0.5)</a:t>
            </a:r>
            <a:endParaRPr lang="en-US" sz="1600" dirty="0"/>
          </a:p>
        </p:txBody>
      </p:sp>
      <p:sp>
        <p:nvSpPr>
          <p:cNvPr id="15" name="Shape 13"/>
          <p:cNvSpPr/>
          <p:nvPr/>
        </p:nvSpPr>
        <p:spPr>
          <a:xfrm>
            <a:off x="571500" y="2619375"/>
            <a:ext cx="254000" cy="254000"/>
          </a:xfrm>
          <a:prstGeom prst="roundRect">
            <a:avLst>
              <a:gd name="adj" fmla="val 50000"/>
            </a:avLst>
          </a:prstGeom>
          <a:solidFill>
            <a:srgbClr val="00B4D8"/>
          </a:solidFill>
          <a:ln/>
        </p:spPr>
      </p:sp>
      <p:sp>
        <p:nvSpPr>
          <p:cNvPr id="16" name="Text 14"/>
          <p:cNvSpPr/>
          <p:nvPr/>
        </p:nvSpPr>
        <p:spPr>
          <a:xfrm>
            <a:off x="543719" y="2619375"/>
            <a:ext cx="309563" cy="254000"/>
          </a:xfrm>
          <a:prstGeom prst="rect">
            <a:avLst/>
          </a:prstGeom>
          <a:noFill/>
          <a:ln/>
        </p:spPr>
        <p:txBody>
          <a:bodyPr wrap="square" lIns="0" tIns="0" rIns="0" bIns="0" rtlCol="0" anchor="ctr"/>
          <a:lstStyle/>
          <a:p>
            <a:pPr algn="ctr">
              <a:lnSpc>
                <a:spcPct val="120000"/>
              </a:lnSpc>
            </a:pPr>
            <a:r>
              <a:rPr lang="en-US" sz="875" b="1" dirty="0">
                <a:solidFill>
                  <a:srgbClr val="F1FAEE"/>
                </a:solidFill>
                <a:latin typeface="Liter" pitchFamily="34" charset="0"/>
                <a:ea typeface="Liter" pitchFamily="34" charset="-122"/>
                <a:cs typeface="Liter" pitchFamily="34" charset="-120"/>
              </a:rPr>
              <a:t>2</a:t>
            </a:r>
            <a:endParaRPr lang="en-US" sz="1600" dirty="0"/>
          </a:p>
        </p:txBody>
      </p:sp>
      <p:sp>
        <p:nvSpPr>
          <p:cNvPr id="17" name="Text 15"/>
          <p:cNvSpPr/>
          <p:nvPr/>
        </p:nvSpPr>
        <p:spPr>
          <a:xfrm>
            <a:off x="920750" y="2619375"/>
            <a:ext cx="2992438" cy="158750"/>
          </a:xfrm>
          <a:prstGeom prst="rect">
            <a:avLst/>
          </a:prstGeom>
          <a:noFill/>
          <a:ln/>
        </p:spPr>
        <p:txBody>
          <a:bodyPr wrap="square" lIns="0" tIns="0" rIns="0" bIns="0" rtlCol="0" anchor="ctr"/>
          <a:lstStyle/>
          <a:p>
            <a:pPr>
              <a:lnSpc>
                <a:spcPct val="120000"/>
              </a:lnSpc>
            </a:pPr>
            <a:r>
              <a:rPr lang="en-US" sz="875" dirty="0">
                <a:solidFill>
                  <a:srgbClr val="F1FAEE"/>
                </a:solidFill>
                <a:latin typeface="Liter" pitchFamily="34" charset="0"/>
                <a:ea typeface="Liter" pitchFamily="34" charset="-122"/>
                <a:cs typeface="Liter" pitchFamily="34" charset="-120"/>
              </a:rPr>
              <a:t>Apply mask to original image (keep only highlighted regions)</a:t>
            </a:r>
            <a:endParaRPr lang="en-US" sz="1600" dirty="0"/>
          </a:p>
        </p:txBody>
      </p:sp>
      <p:sp>
        <p:nvSpPr>
          <p:cNvPr id="18" name="Shape 16"/>
          <p:cNvSpPr/>
          <p:nvPr/>
        </p:nvSpPr>
        <p:spPr>
          <a:xfrm>
            <a:off x="571500" y="2936875"/>
            <a:ext cx="254000" cy="254000"/>
          </a:xfrm>
          <a:prstGeom prst="roundRect">
            <a:avLst>
              <a:gd name="adj" fmla="val 50000"/>
            </a:avLst>
          </a:prstGeom>
          <a:solidFill>
            <a:srgbClr val="5C677D"/>
          </a:solidFill>
          <a:ln/>
        </p:spPr>
      </p:sp>
      <p:sp>
        <p:nvSpPr>
          <p:cNvPr id="19" name="Text 17"/>
          <p:cNvSpPr/>
          <p:nvPr/>
        </p:nvSpPr>
        <p:spPr>
          <a:xfrm>
            <a:off x="543719" y="2936875"/>
            <a:ext cx="309563" cy="254000"/>
          </a:xfrm>
          <a:prstGeom prst="rect">
            <a:avLst/>
          </a:prstGeom>
          <a:noFill/>
          <a:ln/>
        </p:spPr>
        <p:txBody>
          <a:bodyPr wrap="square" lIns="0" tIns="0" rIns="0" bIns="0" rtlCol="0" anchor="ctr"/>
          <a:lstStyle/>
          <a:p>
            <a:pPr algn="ctr">
              <a:lnSpc>
                <a:spcPct val="120000"/>
              </a:lnSpc>
            </a:pPr>
            <a:r>
              <a:rPr lang="en-US" sz="875" b="1" dirty="0">
                <a:solidFill>
                  <a:srgbClr val="F1FAEE"/>
                </a:solidFill>
                <a:latin typeface="Liter" pitchFamily="34" charset="0"/>
                <a:ea typeface="Liter" pitchFamily="34" charset="-122"/>
                <a:cs typeface="Liter" pitchFamily="34" charset="-120"/>
              </a:rPr>
              <a:t>3</a:t>
            </a:r>
            <a:endParaRPr lang="en-US" sz="1600" dirty="0"/>
          </a:p>
        </p:txBody>
      </p:sp>
      <p:sp>
        <p:nvSpPr>
          <p:cNvPr id="20" name="Text 18"/>
          <p:cNvSpPr/>
          <p:nvPr/>
        </p:nvSpPr>
        <p:spPr>
          <a:xfrm>
            <a:off x="920750" y="2936875"/>
            <a:ext cx="1849438" cy="158750"/>
          </a:xfrm>
          <a:prstGeom prst="rect">
            <a:avLst/>
          </a:prstGeom>
          <a:noFill/>
          <a:ln/>
        </p:spPr>
        <p:txBody>
          <a:bodyPr wrap="square" lIns="0" tIns="0" rIns="0" bIns="0" rtlCol="0" anchor="ctr"/>
          <a:lstStyle/>
          <a:p>
            <a:pPr>
              <a:lnSpc>
                <a:spcPct val="120000"/>
              </a:lnSpc>
            </a:pPr>
            <a:r>
              <a:rPr lang="en-US" sz="875" dirty="0">
                <a:solidFill>
                  <a:srgbClr val="F1FAEE"/>
                </a:solidFill>
                <a:latin typeface="Liter" pitchFamily="34" charset="0"/>
                <a:ea typeface="Liter" pitchFamily="34" charset="-122"/>
                <a:cs typeface="Liter" pitchFamily="34" charset="-120"/>
              </a:rPr>
              <a:t>Re-feed masked image through CNN</a:t>
            </a:r>
            <a:endParaRPr lang="en-US" sz="1600" dirty="0"/>
          </a:p>
        </p:txBody>
      </p:sp>
      <p:sp>
        <p:nvSpPr>
          <p:cNvPr id="21" name="Shape 19"/>
          <p:cNvSpPr/>
          <p:nvPr/>
        </p:nvSpPr>
        <p:spPr>
          <a:xfrm>
            <a:off x="571500" y="3254375"/>
            <a:ext cx="254000" cy="254000"/>
          </a:xfrm>
          <a:prstGeom prst="roundRect">
            <a:avLst>
              <a:gd name="adj" fmla="val 50000"/>
            </a:avLst>
          </a:prstGeom>
          <a:solidFill>
            <a:srgbClr val="3A86FF"/>
          </a:solidFill>
          <a:ln/>
        </p:spPr>
      </p:sp>
      <p:sp>
        <p:nvSpPr>
          <p:cNvPr id="22" name="Text 20"/>
          <p:cNvSpPr/>
          <p:nvPr/>
        </p:nvSpPr>
        <p:spPr>
          <a:xfrm>
            <a:off x="543719" y="3254375"/>
            <a:ext cx="309563" cy="254000"/>
          </a:xfrm>
          <a:prstGeom prst="rect">
            <a:avLst/>
          </a:prstGeom>
          <a:noFill/>
          <a:ln/>
        </p:spPr>
        <p:txBody>
          <a:bodyPr wrap="square" lIns="0" tIns="0" rIns="0" bIns="0" rtlCol="0" anchor="ctr"/>
          <a:lstStyle/>
          <a:p>
            <a:pPr algn="ctr">
              <a:lnSpc>
                <a:spcPct val="120000"/>
              </a:lnSpc>
            </a:pPr>
            <a:r>
              <a:rPr lang="en-US" sz="875" b="1" dirty="0">
                <a:solidFill>
                  <a:srgbClr val="F1FAEE"/>
                </a:solidFill>
                <a:latin typeface="Liter" pitchFamily="34" charset="0"/>
                <a:ea typeface="Liter" pitchFamily="34" charset="-122"/>
                <a:cs typeface="Liter" pitchFamily="34" charset="-120"/>
              </a:rPr>
              <a:t>4</a:t>
            </a:r>
            <a:endParaRPr lang="en-US" sz="1600" dirty="0"/>
          </a:p>
        </p:txBody>
      </p:sp>
      <p:sp>
        <p:nvSpPr>
          <p:cNvPr id="23" name="Text 21"/>
          <p:cNvSpPr/>
          <p:nvPr/>
        </p:nvSpPr>
        <p:spPr>
          <a:xfrm>
            <a:off x="920750" y="3254375"/>
            <a:ext cx="1817688" cy="158750"/>
          </a:xfrm>
          <a:prstGeom prst="rect">
            <a:avLst/>
          </a:prstGeom>
          <a:noFill/>
          <a:ln/>
        </p:spPr>
        <p:txBody>
          <a:bodyPr wrap="square" lIns="0" tIns="0" rIns="0" bIns="0" rtlCol="0" anchor="ctr"/>
          <a:lstStyle/>
          <a:p>
            <a:pPr>
              <a:lnSpc>
                <a:spcPct val="120000"/>
              </a:lnSpc>
            </a:pPr>
            <a:r>
              <a:rPr lang="en-US" sz="875" dirty="0">
                <a:solidFill>
                  <a:srgbClr val="F1FAEE"/>
                </a:solidFill>
                <a:latin typeface="Liter" pitchFamily="34" charset="0"/>
                <a:ea typeface="Liter" pitchFamily="34" charset="-122"/>
                <a:cs typeface="Liter" pitchFamily="34" charset="-120"/>
              </a:rPr>
              <a:t>Measure confidence retention score</a:t>
            </a:r>
            <a:endParaRPr lang="en-US" sz="1600" dirty="0"/>
          </a:p>
        </p:txBody>
      </p:sp>
      <p:sp>
        <p:nvSpPr>
          <p:cNvPr id="24" name="Shape 22"/>
          <p:cNvSpPr/>
          <p:nvPr/>
        </p:nvSpPr>
        <p:spPr>
          <a:xfrm>
            <a:off x="320675" y="3860800"/>
            <a:ext cx="1824038" cy="736600"/>
          </a:xfrm>
          <a:prstGeom prst="roundRect">
            <a:avLst>
              <a:gd name="adj" fmla="val 8621"/>
            </a:avLst>
          </a:prstGeom>
          <a:solidFill>
            <a:srgbClr val="112240"/>
          </a:solidFill>
          <a:ln w="10160">
            <a:solidFill>
              <a:srgbClr val="10B981"/>
            </a:solidFill>
            <a:prstDash val="solid"/>
          </a:ln>
        </p:spPr>
      </p:sp>
      <p:sp>
        <p:nvSpPr>
          <p:cNvPr id="25" name="Text 23"/>
          <p:cNvSpPr/>
          <p:nvPr/>
        </p:nvSpPr>
        <p:spPr>
          <a:xfrm>
            <a:off x="371475" y="3959223"/>
            <a:ext cx="1722438" cy="254000"/>
          </a:xfrm>
          <a:prstGeom prst="rect">
            <a:avLst/>
          </a:prstGeom>
          <a:noFill/>
          <a:ln/>
        </p:spPr>
        <p:txBody>
          <a:bodyPr wrap="square" lIns="0" tIns="0" rIns="0" bIns="0" rtlCol="0" anchor="ctr"/>
          <a:lstStyle/>
          <a:p>
            <a:pPr algn="ctr">
              <a:lnSpc>
                <a:spcPct val="110000"/>
              </a:lnSpc>
            </a:pPr>
            <a:r>
              <a:rPr lang="en-US" sz="1500" b="1" dirty="0">
                <a:solidFill>
                  <a:srgbClr val="10B981"/>
                </a:solidFill>
                <a:latin typeface="Liter" pitchFamily="34" charset="0"/>
                <a:ea typeface="Liter" pitchFamily="34" charset="-122"/>
                <a:cs typeface="Liter" pitchFamily="34" charset="-120"/>
              </a:rPr>
              <a:t>0.92</a:t>
            </a:r>
            <a:endParaRPr lang="en-US" sz="1600" dirty="0"/>
          </a:p>
        </p:txBody>
      </p:sp>
      <p:sp>
        <p:nvSpPr>
          <p:cNvPr id="26" name="Text 24"/>
          <p:cNvSpPr/>
          <p:nvPr/>
        </p:nvSpPr>
        <p:spPr>
          <a:xfrm>
            <a:off x="395287" y="4244880"/>
            <a:ext cx="1674813" cy="254000"/>
          </a:xfrm>
          <a:prstGeom prst="rect">
            <a:avLst/>
          </a:prstGeom>
          <a:noFill/>
          <a:ln/>
        </p:spPr>
        <p:txBody>
          <a:bodyPr wrap="square" lIns="0" tIns="0" rIns="0" bIns="0" rtlCol="0" anchor="ctr"/>
          <a:lstStyle/>
          <a:p>
            <a:pPr algn="ctr">
              <a:lnSpc>
                <a:spcPct val="110000"/>
              </a:lnSpc>
            </a:pPr>
            <a:r>
              <a:rPr lang="en-US" sz="750" dirty="0">
                <a:solidFill>
                  <a:srgbClr val="F1FAEE"/>
                </a:solidFill>
                <a:latin typeface="Liter" pitchFamily="34" charset="0"/>
                <a:ea typeface="Liter" pitchFamily="34" charset="-122"/>
                <a:cs typeface="Liter" pitchFamily="34" charset="-120"/>
              </a:rPr>
              <a:t>High retention - region contains diagnostic evidence</a:t>
            </a:r>
            <a:endParaRPr lang="en-US" sz="1600" dirty="0"/>
          </a:p>
        </p:txBody>
      </p:sp>
      <p:sp>
        <p:nvSpPr>
          <p:cNvPr id="27" name="Shape 25"/>
          <p:cNvSpPr/>
          <p:nvPr/>
        </p:nvSpPr>
        <p:spPr>
          <a:xfrm>
            <a:off x="2246809" y="3860800"/>
            <a:ext cx="1824038" cy="736600"/>
          </a:xfrm>
          <a:prstGeom prst="roundRect">
            <a:avLst>
              <a:gd name="adj" fmla="val 8621"/>
            </a:avLst>
          </a:prstGeom>
          <a:solidFill>
            <a:srgbClr val="112240"/>
          </a:solidFill>
          <a:ln w="10160">
            <a:solidFill>
              <a:srgbClr val="F59E0B"/>
            </a:solidFill>
            <a:prstDash val="solid"/>
          </a:ln>
        </p:spPr>
      </p:sp>
      <p:sp>
        <p:nvSpPr>
          <p:cNvPr id="28" name="Text 26"/>
          <p:cNvSpPr/>
          <p:nvPr/>
        </p:nvSpPr>
        <p:spPr>
          <a:xfrm>
            <a:off x="2297609" y="3959223"/>
            <a:ext cx="1722438" cy="254000"/>
          </a:xfrm>
          <a:prstGeom prst="rect">
            <a:avLst/>
          </a:prstGeom>
          <a:noFill/>
          <a:ln/>
        </p:spPr>
        <p:txBody>
          <a:bodyPr wrap="square" lIns="0" tIns="0" rIns="0" bIns="0" rtlCol="0" anchor="ctr"/>
          <a:lstStyle/>
          <a:p>
            <a:pPr algn="ctr">
              <a:lnSpc>
                <a:spcPct val="110000"/>
              </a:lnSpc>
            </a:pPr>
            <a:r>
              <a:rPr lang="en-US" sz="1500" b="1" dirty="0">
                <a:solidFill>
                  <a:srgbClr val="F59E0B"/>
                </a:solidFill>
                <a:latin typeface="Liter" pitchFamily="34" charset="0"/>
                <a:ea typeface="Liter" pitchFamily="34" charset="-122"/>
                <a:cs typeface="Liter" pitchFamily="34" charset="-120"/>
              </a:rPr>
              <a:t>0.65</a:t>
            </a:r>
            <a:endParaRPr lang="en-US" sz="1600" dirty="0"/>
          </a:p>
        </p:txBody>
      </p:sp>
      <p:sp>
        <p:nvSpPr>
          <p:cNvPr id="29" name="Text 27"/>
          <p:cNvSpPr/>
          <p:nvPr/>
        </p:nvSpPr>
        <p:spPr>
          <a:xfrm>
            <a:off x="2321421" y="4244880"/>
            <a:ext cx="1674813" cy="254000"/>
          </a:xfrm>
          <a:prstGeom prst="rect">
            <a:avLst/>
          </a:prstGeom>
          <a:noFill/>
          <a:ln/>
        </p:spPr>
        <p:txBody>
          <a:bodyPr wrap="square" lIns="0" tIns="0" rIns="0" bIns="0" rtlCol="0" anchor="ctr"/>
          <a:lstStyle/>
          <a:p>
            <a:pPr algn="ctr">
              <a:lnSpc>
                <a:spcPct val="110000"/>
              </a:lnSpc>
            </a:pPr>
            <a:r>
              <a:rPr lang="en-US" sz="750" dirty="0">
                <a:solidFill>
                  <a:srgbClr val="F1FAEE"/>
                </a:solidFill>
                <a:latin typeface="Liter" pitchFamily="34" charset="0"/>
                <a:ea typeface="Liter" pitchFamily="34" charset="-122"/>
                <a:cs typeface="Liter" pitchFamily="34" charset="-120"/>
              </a:rPr>
              <a:t>Medium retention - partial diagnostic evidence</a:t>
            </a:r>
            <a:endParaRPr lang="en-US" sz="1600" dirty="0"/>
          </a:p>
        </p:txBody>
      </p:sp>
      <p:sp>
        <p:nvSpPr>
          <p:cNvPr id="30" name="Shape 28"/>
          <p:cNvSpPr/>
          <p:nvPr/>
        </p:nvSpPr>
        <p:spPr>
          <a:xfrm>
            <a:off x="4172942" y="3860800"/>
            <a:ext cx="1824038" cy="736600"/>
          </a:xfrm>
          <a:prstGeom prst="roundRect">
            <a:avLst>
              <a:gd name="adj" fmla="val 8621"/>
            </a:avLst>
          </a:prstGeom>
          <a:solidFill>
            <a:srgbClr val="112240"/>
          </a:solidFill>
          <a:ln w="10160">
            <a:solidFill>
              <a:srgbClr val="FF6B6B"/>
            </a:solidFill>
            <a:prstDash val="solid"/>
          </a:ln>
        </p:spPr>
      </p:sp>
      <p:sp>
        <p:nvSpPr>
          <p:cNvPr id="31" name="Text 29"/>
          <p:cNvSpPr/>
          <p:nvPr/>
        </p:nvSpPr>
        <p:spPr>
          <a:xfrm>
            <a:off x="4223742" y="3959223"/>
            <a:ext cx="1722438" cy="254000"/>
          </a:xfrm>
          <a:prstGeom prst="rect">
            <a:avLst/>
          </a:prstGeom>
          <a:noFill/>
          <a:ln/>
        </p:spPr>
        <p:txBody>
          <a:bodyPr wrap="square" lIns="0" tIns="0" rIns="0" bIns="0" rtlCol="0" anchor="ctr"/>
          <a:lstStyle/>
          <a:p>
            <a:pPr algn="ctr">
              <a:lnSpc>
                <a:spcPct val="110000"/>
              </a:lnSpc>
            </a:pPr>
            <a:r>
              <a:rPr lang="en-US" sz="1500" b="1" dirty="0">
                <a:solidFill>
                  <a:srgbClr val="FF6B6B"/>
                </a:solidFill>
                <a:latin typeface="Liter" pitchFamily="34" charset="0"/>
                <a:ea typeface="Liter" pitchFamily="34" charset="-122"/>
                <a:cs typeface="Liter" pitchFamily="34" charset="-120"/>
              </a:rPr>
              <a:t>0.15</a:t>
            </a:r>
            <a:endParaRPr lang="en-US" sz="1600" dirty="0"/>
          </a:p>
        </p:txBody>
      </p:sp>
      <p:sp>
        <p:nvSpPr>
          <p:cNvPr id="32" name="Text 30"/>
          <p:cNvSpPr/>
          <p:nvPr/>
        </p:nvSpPr>
        <p:spPr>
          <a:xfrm>
            <a:off x="4247555" y="4244880"/>
            <a:ext cx="1674813" cy="127000"/>
          </a:xfrm>
          <a:prstGeom prst="rect">
            <a:avLst/>
          </a:prstGeom>
          <a:noFill/>
          <a:ln/>
        </p:spPr>
        <p:txBody>
          <a:bodyPr wrap="square" lIns="0" tIns="0" rIns="0" bIns="0" rtlCol="0" anchor="ctr"/>
          <a:lstStyle/>
          <a:p>
            <a:pPr algn="ctr">
              <a:lnSpc>
                <a:spcPct val="110000"/>
              </a:lnSpc>
            </a:pPr>
            <a:r>
              <a:rPr lang="en-US" sz="750" dirty="0">
                <a:solidFill>
                  <a:srgbClr val="F1FAEE"/>
                </a:solidFill>
                <a:latin typeface="Liter" pitchFamily="34" charset="0"/>
                <a:ea typeface="Liter" pitchFamily="34" charset="-122"/>
                <a:cs typeface="Liter" pitchFamily="34" charset="-120"/>
              </a:rPr>
              <a:t>Low retention - region is irrelevant</a:t>
            </a:r>
            <a:endParaRPr lang="en-US" sz="1600" dirty="0"/>
          </a:p>
        </p:txBody>
      </p:sp>
      <p:sp>
        <p:nvSpPr>
          <p:cNvPr id="33" name="Shape 31"/>
          <p:cNvSpPr/>
          <p:nvPr/>
        </p:nvSpPr>
        <p:spPr>
          <a:xfrm>
            <a:off x="6197600" y="1149350"/>
            <a:ext cx="5672137" cy="4521200"/>
          </a:xfrm>
          <a:prstGeom prst="roundRect">
            <a:avLst>
              <a:gd name="adj" fmla="val 1404"/>
            </a:avLst>
          </a:prstGeom>
          <a:solidFill>
            <a:srgbClr val="000000">
              <a:alpha val="0"/>
            </a:srgbClr>
          </a:solidFill>
          <a:ln w="20320">
            <a:solidFill>
              <a:srgbClr val="00B4D8"/>
            </a:solidFill>
            <a:prstDash val="solid"/>
          </a:ln>
        </p:spPr>
      </p:sp>
      <p:sp>
        <p:nvSpPr>
          <p:cNvPr id="34" name="Shape 32"/>
          <p:cNvSpPr/>
          <p:nvPr/>
        </p:nvSpPr>
        <p:spPr>
          <a:xfrm>
            <a:off x="6203950" y="1155705"/>
            <a:ext cx="5659438" cy="381000"/>
          </a:xfrm>
          <a:prstGeom prst="roundRect">
            <a:avLst>
              <a:gd name="adj" fmla="val 0"/>
            </a:avLst>
          </a:prstGeom>
          <a:solidFill>
            <a:srgbClr val="00B4D8"/>
          </a:solidFill>
          <a:ln/>
        </p:spPr>
      </p:sp>
      <p:sp>
        <p:nvSpPr>
          <p:cNvPr id="35" name="Text 33"/>
          <p:cNvSpPr/>
          <p:nvPr/>
        </p:nvSpPr>
        <p:spPr>
          <a:xfrm>
            <a:off x="6299200" y="1250955"/>
            <a:ext cx="5532438" cy="190500"/>
          </a:xfrm>
          <a:prstGeom prst="rect">
            <a:avLst/>
          </a:prstGeom>
          <a:noFill/>
          <a:ln/>
        </p:spPr>
        <p:txBody>
          <a:bodyPr wrap="square" lIns="0" tIns="0" rIns="0" bIns="0" rtlCol="0" anchor="ctr"/>
          <a:lstStyle/>
          <a:p>
            <a:pPr>
              <a:lnSpc>
                <a:spcPct val="130000"/>
              </a:lnSpc>
            </a:pPr>
            <a:r>
              <a:rPr lang="en-US" sz="1000" b="1" dirty="0">
                <a:solidFill>
                  <a:srgbClr val="F1FAEE"/>
                </a:solidFill>
                <a:latin typeface="Liter" pitchFamily="34" charset="0"/>
                <a:ea typeface="Liter" pitchFamily="34" charset="-122"/>
                <a:cs typeface="Liter" pitchFamily="34" charset="-120"/>
              </a:rPr>
              <a:t>Validation Pipeline Visualization</a:t>
            </a:r>
            <a:endParaRPr lang="en-US" sz="1600" dirty="0"/>
          </a:p>
        </p:txBody>
      </p:sp>
      <p:sp>
        <p:nvSpPr>
          <p:cNvPr id="36" name="Shape 34"/>
          <p:cNvSpPr/>
          <p:nvPr/>
        </p:nvSpPr>
        <p:spPr>
          <a:xfrm>
            <a:off x="6203950" y="1536705"/>
            <a:ext cx="5659438" cy="4127500"/>
          </a:xfrm>
          <a:prstGeom prst="roundRect">
            <a:avLst>
              <a:gd name="adj" fmla="val 0"/>
            </a:avLst>
          </a:prstGeom>
          <a:solidFill>
            <a:srgbClr val="112240"/>
          </a:solidFill>
          <a:ln/>
        </p:spPr>
      </p:sp>
      <p:sp>
        <p:nvSpPr>
          <p:cNvPr id="37" name="Shape 35"/>
          <p:cNvSpPr/>
          <p:nvPr/>
        </p:nvSpPr>
        <p:spPr>
          <a:xfrm>
            <a:off x="6330950" y="1663705"/>
            <a:ext cx="508000" cy="508000"/>
          </a:xfrm>
          <a:prstGeom prst="roundRect">
            <a:avLst>
              <a:gd name="adj" fmla="val 12500"/>
            </a:avLst>
          </a:prstGeom>
          <a:solidFill>
            <a:srgbClr val="3A86FF"/>
          </a:solidFill>
          <a:ln/>
        </p:spPr>
      </p:sp>
      <p:sp>
        <p:nvSpPr>
          <p:cNvPr id="38" name="Shape 36"/>
          <p:cNvSpPr/>
          <p:nvPr/>
        </p:nvSpPr>
        <p:spPr>
          <a:xfrm>
            <a:off x="6501607" y="1822455"/>
            <a:ext cx="166688" cy="190500"/>
          </a:xfrm>
          <a:custGeom>
            <a:avLst/>
            <a:gdLst/>
            <a:ahLst/>
            <a:cxnLst/>
            <a:rect l="l" t="t" r="r" b="b"/>
            <a:pathLst>
              <a:path w="166688" h="190500">
                <a:moveTo>
                  <a:pt x="23812" y="11906"/>
                </a:moveTo>
                <a:cubicBezTo>
                  <a:pt x="10678" y="11906"/>
                  <a:pt x="0" y="22585"/>
                  <a:pt x="0" y="35719"/>
                </a:cubicBezTo>
                <a:lnTo>
                  <a:pt x="0" y="154781"/>
                </a:lnTo>
                <a:cubicBezTo>
                  <a:pt x="0" y="167915"/>
                  <a:pt x="10678" y="178594"/>
                  <a:pt x="23812" y="178594"/>
                </a:cubicBezTo>
                <a:lnTo>
                  <a:pt x="142875" y="178594"/>
                </a:lnTo>
                <a:cubicBezTo>
                  <a:pt x="156009" y="178594"/>
                  <a:pt x="166688" y="167915"/>
                  <a:pt x="166688" y="154781"/>
                </a:cubicBezTo>
                <a:lnTo>
                  <a:pt x="166688" y="35719"/>
                </a:lnTo>
                <a:cubicBezTo>
                  <a:pt x="166688" y="22585"/>
                  <a:pt x="156009" y="11906"/>
                  <a:pt x="142875" y="11906"/>
                </a:cubicBezTo>
                <a:lnTo>
                  <a:pt x="23812" y="11906"/>
                </a:lnTo>
                <a:close/>
                <a:moveTo>
                  <a:pt x="47625" y="41672"/>
                </a:moveTo>
                <a:cubicBezTo>
                  <a:pt x="57482" y="41672"/>
                  <a:pt x="65484" y="49674"/>
                  <a:pt x="65484" y="59531"/>
                </a:cubicBezTo>
                <a:cubicBezTo>
                  <a:pt x="65484" y="69388"/>
                  <a:pt x="57482" y="77391"/>
                  <a:pt x="47625" y="77391"/>
                </a:cubicBezTo>
                <a:cubicBezTo>
                  <a:pt x="37768" y="77391"/>
                  <a:pt x="29766" y="69388"/>
                  <a:pt x="29766" y="59531"/>
                </a:cubicBezTo>
                <a:cubicBezTo>
                  <a:pt x="29766" y="49674"/>
                  <a:pt x="37768" y="41672"/>
                  <a:pt x="47625" y="41672"/>
                </a:cubicBezTo>
                <a:close/>
                <a:moveTo>
                  <a:pt x="101203" y="83344"/>
                </a:moveTo>
                <a:cubicBezTo>
                  <a:pt x="104329" y="83344"/>
                  <a:pt x="107193" y="84981"/>
                  <a:pt x="108831" y="87623"/>
                </a:cubicBezTo>
                <a:lnTo>
                  <a:pt x="141573" y="141201"/>
                </a:lnTo>
                <a:cubicBezTo>
                  <a:pt x="143247" y="143954"/>
                  <a:pt x="143321" y="147414"/>
                  <a:pt x="141759" y="150242"/>
                </a:cubicBezTo>
                <a:cubicBezTo>
                  <a:pt x="140196" y="153070"/>
                  <a:pt x="137182" y="154781"/>
                  <a:pt x="133945" y="154781"/>
                </a:cubicBezTo>
                <a:lnTo>
                  <a:pt x="32742" y="154781"/>
                </a:lnTo>
                <a:cubicBezTo>
                  <a:pt x="29431" y="154781"/>
                  <a:pt x="26343" y="152921"/>
                  <a:pt x="24817" y="149982"/>
                </a:cubicBezTo>
                <a:cubicBezTo>
                  <a:pt x="23292" y="147042"/>
                  <a:pt x="23515" y="143470"/>
                  <a:pt x="25412" y="140754"/>
                </a:cubicBezTo>
                <a:lnTo>
                  <a:pt x="46248" y="110989"/>
                </a:lnTo>
                <a:cubicBezTo>
                  <a:pt x="47923" y="108607"/>
                  <a:pt x="50639" y="107193"/>
                  <a:pt x="53578" y="107193"/>
                </a:cubicBezTo>
                <a:cubicBezTo>
                  <a:pt x="56517" y="107193"/>
                  <a:pt x="59234" y="108607"/>
                  <a:pt x="60908" y="110989"/>
                </a:cubicBezTo>
                <a:lnTo>
                  <a:pt x="70731" y="125053"/>
                </a:lnTo>
                <a:lnTo>
                  <a:pt x="93576" y="87660"/>
                </a:lnTo>
                <a:cubicBezTo>
                  <a:pt x="95213" y="85018"/>
                  <a:pt x="98078" y="83381"/>
                  <a:pt x="101203" y="83381"/>
                </a:cubicBezTo>
                <a:close/>
              </a:path>
            </a:pathLst>
          </a:custGeom>
          <a:solidFill>
            <a:srgbClr val="F1FAEE"/>
          </a:solidFill>
          <a:ln/>
        </p:spPr>
      </p:sp>
      <p:sp>
        <p:nvSpPr>
          <p:cNvPr id="39" name="Text 37"/>
          <p:cNvSpPr/>
          <p:nvPr/>
        </p:nvSpPr>
        <p:spPr>
          <a:xfrm>
            <a:off x="6934200" y="1774830"/>
            <a:ext cx="762000"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Original Image</a:t>
            </a:r>
            <a:endParaRPr lang="en-US" sz="1600" dirty="0"/>
          </a:p>
        </p:txBody>
      </p:sp>
      <p:sp>
        <p:nvSpPr>
          <p:cNvPr id="40" name="Text 38"/>
          <p:cNvSpPr/>
          <p:nvPr/>
        </p:nvSpPr>
        <p:spPr>
          <a:xfrm>
            <a:off x="6934200" y="1933580"/>
            <a:ext cx="754063"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Full OCT scan</a:t>
            </a:r>
            <a:endParaRPr lang="en-US" sz="1600" dirty="0"/>
          </a:p>
        </p:txBody>
      </p:sp>
      <p:sp>
        <p:nvSpPr>
          <p:cNvPr id="41" name="Shape 39"/>
          <p:cNvSpPr/>
          <p:nvPr/>
        </p:nvSpPr>
        <p:spPr>
          <a:xfrm>
            <a:off x="8981281" y="2266955"/>
            <a:ext cx="107156" cy="142875"/>
          </a:xfrm>
          <a:custGeom>
            <a:avLst/>
            <a:gdLst/>
            <a:ahLst/>
            <a:cxnLst/>
            <a:rect l="l" t="t" r="r" b="b"/>
            <a:pathLst>
              <a:path w="107156" h="142875">
                <a:moveTo>
                  <a:pt x="47272" y="140252"/>
                </a:moveTo>
                <a:cubicBezTo>
                  <a:pt x="50760" y="143740"/>
                  <a:pt x="56424" y="143740"/>
                  <a:pt x="59913" y="140252"/>
                </a:cubicBezTo>
                <a:lnTo>
                  <a:pt x="104561" y="95603"/>
                </a:lnTo>
                <a:cubicBezTo>
                  <a:pt x="108049" y="92115"/>
                  <a:pt x="108049" y="86451"/>
                  <a:pt x="104561" y="82962"/>
                </a:cubicBezTo>
                <a:cubicBezTo>
                  <a:pt x="101073" y="79474"/>
                  <a:pt x="95408" y="79474"/>
                  <a:pt x="91920" y="82962"/>
                </a:cubicBezTo>
                <a:lnTo>
                  <a:pt x="62508" y="112375"/>
                </a:lnTo>
                <a:lnTo>
                  <a:pt x="62508" y="8930"/>
                </a:lnTo>
                <a:cubicBezTo>
                  <a:pt x="62508" y="3990"/>
                  <a:pt x="58517" y="0"/>
                  <a:pt x="53578" y="0"/>
                </a:cubicBezTo>
                <a:cubicBezTo>
                  <a:pt x="48639" y="0"/>
                  <a:pt x="44648" y="3990"/>
                  <a:pt x="44648" y="8930"/>
                </a:cubicBezTo>
                <a:lnTo>
                  <a:pt x="44648" y="112375"/>
                </a:lnTo>
                <a:lnTo>
                  <a:pt x="15236" y="82962"/>
                </a:lnTo>
                <a:cubicBezTo>
                  <a:pt x="11748" y="79474"/>
                  <a:pt x="6083" y="79474"/>
                  <a:pt x="2595" y="82962"/>
                </a:cubicBezTo>
                <a:cubicBezTo>
                  <a:pt x="-893" y="86451"/>
                  <a:pt x="-893" y="92115"/>
                  <a:pt x="2595" y="95603"/>
                </a:cubicBezTo>
                <a:lnTo>
                  <a:pt x="47244" y="140252"/>
                </a:lnTo>
                <a:close/>
              </a:path>
            </a:pathLst>
          </a:custGeom>
          <a:solidFill>
            <a:srgbClr val="5C677D"/>
          </a:solidFill>
          <a:ln/>
        </p:spPr>
      </p:sp>
      <p:sp>
        <p:nvSpPr>
          <p:cNvPr id="42" name="Shape 40"/>
          <p:cNvSpPr/>
          <p:nvPr/>
        </p:nvSpPr>
        <p:spPr>
          <a:xfrm>
            <a:off x="6330950" y="2505080"/>
            <a:ext cx="508000" cy="508000"/>
          </a:xfrm>
          <a:prstGeom prst="roundRect">
            <a:avLst>
              <a:gd name="adj" fmla="val 12500"/>
            </a:avLst>
          </a:prstGeom>
          <a:solidFill>
            <a:srgbClr val="00B4D8"/>
          </a:solidFill>
          <a:ln/>
        </p:spPr>
      </p:sp>
      <p:sp>
        <p:nvSpPr>
          <p:cNvPr id="43" name="Shape 41"/>
          <p:cNvSpPr/>
          <p:nvPr/>
        </p:nvSpPr>
        <p:spPr>
          <a:xfrm>
            <a:off x="6501607" y="2663830"/>
            <a:ext cx="166688" cy="190500"/>
          </a:xfrm>
          <a:custGeom>
            <a:avLst/>
            <a:gdLst/>
            <a:ahLst/>
            <a:cxnLst/>
            <a:rect l="l" t="t" r="r" b="b"/>
            <a:pathLst>
              <a:path w="166688" h="190500">
                <a:moveTo>
                  <a:pt x="59717" y="-9823"/>
                </a:moveTo>
                <a:cubicBezTo>
                  <a:pt x="63178" y="-12725"/>
                  <a:pt x="68275" y="-12613"/>
                  <a:pt x="71586" y="-9488"/>
                </a:cubicBezTo>
                <a:cubicBezTo>
                  <a:pt x="76163" y="-5172"/>
                  <a:pt x="80256" y="-409"/>
                  <a:pt x="84200" y="4428"/>
                </a:cubicBezTo>
                <a:cubicBezTo>
                  <a:pt x="89222" y="10567"/>
                  <a:pt x="95250" y="18678"/>
                  <a:pt x="101054" y="28315"/>
                </a:cubicBezTo>
                <a:cubicBezTo>
                  <a:pt x="102989" y="25784"/>
                  <a:pt x="104775" y="23552"/>
                  <a:pt x="106338" y="21654"/>
                </a:cubicBezTo>
                <a:cubicBezTo>
                  <a:pt x="106747" y="21171"/>
                  <a:pt x="107156" y="20650"/>
                  <a:pt x="107566" y="20129"/>
                </a:cubicBezTo>
                <a:cubicBezTo>
                  <a:pt x="110505" y="16483"/>
                  <a:pt x="114151" y="11906"/>
                  <a:pt x="119025" y="11906"/>
                </a:cubicBezTo>
                <a:cubicBezTo>
                  <a:pt x="124011" y="11906"/>
                  <a:pt x="127508" y="16334"/>
                  <a:pt x="130485" y="20129"/>
                </a:cubicBezTo>
                <a:cubicBezTo>
                  <a:pt x="130969" y="20762"/>
                  <a:pt x="131452" y="21357"/>
                  <a:pt x="131936" y="21915"/>
                </a:cubicBezTo>
                <a:cubicBezTo>
                  <a:pt x="135768" y="26529"/>
                  <a:pt x="140866" y="33189"/>
                  <a:pt x="145963" y="41411"/>
                </a:cubicBezTo>
                <a:cubicBezTo>
                  <a:pt x="156083" y="57745"/>
                  <a:pt x="166650" y="81000"/>
                  <a:pt x="166650" y="107119"/>
                </a:cubicBezTo>
                <a:cubicBezTo>
                  <a:pt x="166650" y="153144"/>
                  <a:pt x="129332" y="190463"/>
                  <a:pt x="83307" y="190463"/>
                </a:cubicBezTo>
                <a:cubicBezTo>
                  <a:pt x="37281" y="190463"/>
                  <a:pt x="0" y="153181"/>
                  <a:pt x="0" y="107156"/>
                </a:cubicBezTo>
                <a:cubicBezTo>
                  <a:pt x="0" y="73261"/>
                  <a:pt x="15292" y="43904"/>
                  <a:pt x="29952" y="23440"/>
                </a:cubicBezTo>
                <a:cubicBezTo>
                  <a:pt x="37356" y="13134"/>
                  <a:pt x="44723" y="4874"/>
                  <a:pt x="50267" y="-781"/>
                </a:cubicBezTo>
                <a:cubicBezTo>
                  <a:pt x="53318" y="-3907"/>
                  <a:pt x="56406" y="-6995"/>
                  <a:pt x="59754" y="-9785"/>
                </a:cubicBezTo>
                <a:close/>
                <a:moveTo>
                  <a:pt x="83976" y="154781"/>
                </a:moveTo>
                <a:cubicBezTo>
                  <a:pt x="93390" y="154781"/>
                  <a:pt x="101724" y="152177"/>
                  <a:pt x="109575" y="146968"/>
                </a:cubicBezTo>
                <a:cubicBezTo>
                  <a:pt x="125239" y="136029"/>
                  <a:pt x="129443" y="114151"/>
                  <a:pt x="120030" y="96962"/>
                </a:cubicBezTo>
                <a:cubicBezTo>
                  <a:pt x="118356" y="93613"/>
                  <a:pt x="114077" y="93390"/>
                  <a:pt x="111658" y="96217"/>
                </a:cubicBezTo>
                <a:lnTo>
                  <a:pt x="102282" y="107119"/>
                </a:lnTo>
                <a:cubicBezTo>
                  <a:pt x="99826" y="109947"/>
                  <a:pt x="95399" y="109872"/>
                  <a:pt x="93092" y="106933"/>
                </a:cubicBezTo>
                <a:cubicBezTo>
                  <a:pt x="86655" y="98710"/>
                  <a:pt x="74823" y="83716"/>
                  <a:pt x="68796" y="76051"/>
                </a:cubicBezTo>
                <a:cubicBezTo>
                  <a:pt x="66787" y="73484"/>
                  <a:pt x="63140" y="73075"/>
                  <a:pt x="60796" y="75344"/>
                </a:cubicBezTo>
                <a:cubicBezTo>
                  <a:pt x="53987" y="81967"/>
                  <a:pt x="41635" y="96478"/>
                  <a:pt x="41635" y="114151"/>
                </a:cubicBezTo>
                <a:cubicBezTo>
                  <a:pt x="41635" y="139675"/>
                  <a:pt x="60461" y="154781"/>
                  <a:pt x="83939" y="154781"/>
                </a:cubicBezTo>
                <a:close/>
              </a:path>
            </a:pathLst>
          </a:custGeom>
          <a:solidFill>
            <a:srgbClr val="F1FAEE"/>
          </a:solidFill>
          <a:ln/>
        </p:spPr>
      </p:sp>
      <p:sp>
        <p:nvSpPr>
          <p:cNvPr id="44" name="Text 42"/>
          <p:cNvSpPr/>
          <p:nvPr/>
        </p:nvSpPr>
        <p:spPr>
          <a:xfrm>
            <a:off x="6934200" y="2616205"/>
            <a:ext cx="1063625"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Grad-CAM Heatmap</a:t>
            </a:r>
            <a:endParaRPr lang="en-US" sz="1600" dirty="0"/>
          </a:p>
        </p:txBody>
      </p:sp>
      <p:sp>
        <p:nvSpPr>
          <p:cNvPr id="45" name="Text 43"/>
          <p:cNvSpPr/>
          <p:nvPr/>
        </p:nvSpPr>
        <p:spPr>
          <a:xfrm>
            <a:off x="6934200" y="2774955"/>
            <a:ext cx="1055688"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Highlighted regions</a:t>
            </a:r>
            <a:endParaRPr lang="en-US" sz="1600" dirty="0"/>
          </a:p>
        </p:txBody>
      </p:sp>
      <p:sp>
        <p:nvSpPr>
          <p:cNvPr id="46" name="Shape 44"/>
          <p:cNvSpPr/>
          <p:nvPr/>
        </p:nvSpPr>
        <p:spPr>
          <a:xfrm>
            <a:off x="8981281" y="3108330"/>
            <a:ext cx="107156" cy="142875"/>
          </a:xfrm>
          <a:custGeom>
            <a:avLst/>
            <a:gdLst/>
            <a:ahLst/>
            <a:cxnLst/>
            <a:rect l="l" t="t" r="r" b="b"/>
            <a:pathLst>
              <a:path w="107156" h="142875">
                <a:moveTo>
                  <a:pt x="47272" y="140252"/>
                </a:moveTo>
                <a:cubicBezTo>
                  <a:pt x="50760" y="143740"/>
                  <a:pt x="56424" y="143740"/>
                  <a:pt x="59913" y="140252"/>
                </a:cubicBezTo>
                <a:lnTo>
                  <a:pt x="104561" y="95603"/>
                </a:lnTo>
                <a:cubicBezTo>
                  <a:pt x="108049" y="92115"/>
                  <a:pt x="108049" y="86451"/>
                  <a:pt x="104561" y="82962"/>
                </a:cubicBezTo>
                <a:cubicBezTo>
                  <a:pt x="101073" y="79474"/>
                  <a:pt x="95408" y="79474"/>
                  <a:pt x="91920" y="82962"/>
                </a:cubicBezTo>
                <a:lnTo>
                  <a:pt x="62508" y="112375"/>
                </a:lnTo>
                <a:lnTo>
                  <a:pt x="62508" y="8930"/>
                </a:lnTo>
                <a:cubicBezTo>
                  <a:pt x="62508" y="3990"/>
                  <a:pt x="58517" y="0"/>
                  <a:pt x="53578" y="0"/>
                </a:cubicBezTo>
                <a:cubicBezTo>
                  <a:pt x="48639" y="0"/>
                  <a:pt x="44648" y="3990"/>
                  <a:pt x="44648" y="8930"/>
                </a:cubicBezTo>
                <a:lnTo>
                  <a:pt x="44648" y="112375"/>
                </a:lnTo>
                <a:lnTo>
                  <a:pt x="15236" y="82962"/>
                </a:lnTo>
                <a:cubicBezTo>
                  <a:pt x="11748" y="79474"/>
                  <a:pt x="6083" y="79474"/>
                  <a:pt x="2595" y="82962"/>
                </a:cubicBezTo>
                <a:cubicBezTo>
                  <a:pt x="-893" y="86451"/>
                  <a:pt x="-893" y="92115"/>
                  <a:pt x="2595" y="95603"/>
                </a:cubicBezTo>
                <a:lnTo>
                  <a:pt x="47244" y="140252"/>
                </a:lnTo>
                <a:close/>
              </a:path>
            </a:pathLst>
          </a:custGeom>
          <a:solidFill>
            <a:srgbClr val="5C677D"/>
          </a:solidFill>
          <a:ln/>
        </p:spPr>
      </p:sp>
      <p:sp>
        <p:nvSpPr>
          <p:cNvPr id="47" name="Shape 45"/>
          <p:cNvSpPr/>
          <p:nvPr/>
        </p:nvSpPr>
        <p:spPr>
          <a:xfrm>
            <a:off x="6330950" y="3346455"/>
            <a:ext cx="508000" cy="508000"/>
          </a:xfrm>
          <a:prstGeom prst="roundRect">
            <a:avLst>
              <a:gd name="adj" fmla="val 12500"/>
            </a:avLst>
          </a:prstGeom>
          <a:solidFill>
            <a:srgbClr val="5C677D"/>
          </a:solidFill>
          <a:ln/>
        </p:spPr>
      </p:sp>
      <p:sp>
        <p:nvSpPr>
          <p:cNvPr id="48" name="Shape 46"/>
          <p:cNvSpPr/>
          <p:nvPr/>
        </p:nvSpPr>
        <p:spPr>
          <a:xfrm>
            <a:off x="6501607" y="3505205"/>
            <a:ext cx="166688" cy="190500"/>
          </a:xfrm>
          <a:custGeom>
            <a:avLst/>
            <a:gdLst/>
            <a:ahLst/>
            <a:cxnLst/>
            <a:rect l="l" t="t" r="r" b="b"/>
            <a:pathLst>
              <a:path w="166688" h="190500">
                <a:moveTo>
                  <a:pt x="142875" y="35719"/>
                </a:moveTo>
                <a:lnTo>
                  <a:pt x="142875" y="59531"/>
                </a:lnTo>
                <a:lnTo>
                  <a:pt x="119063" y="59531"/>
                </a:lnTo>
                <a:lnTo>
                  <a:pt x="119063" y="35719"/>
                </a:lnTo>
                <a:lnTo>
                  <a:pt x="142875" y="35719"/>
                </a:lnTo>
                <a:close/>
                <a:moveTo>
                  <a:pt x="142875" y="83344"/>
                </a:moveTo>
                <a:lnTo>
                  <a:pt x="142875" y="107156"/>
                </a:lnTo>
                <a:lnTo>
                  <a:pt x="119063" y="107156"/>
                </a:lnTo>
                <a:lnTo>
                  <a:pt x="119063" y="83344"/>
                </a:lnTo>
                <a:lnTo>
                  <a:pt x="142875" y="83344"/>
                </a:lnTo>
                <a:close/>
                <a:moveTo>
                  <a:pt x="142875" y="130969"/>
                </a:moveTo>
                <a:lnTo>
                  <a:pt x="142875" y="154781"/>
                </a:lnTo>
                <a:lnTo>
                  <a:pt x="119063" y="154781"/>
                </a:lnTo>
                <a:lnTo>
                  <a:pt x="119063" y="130969"/>
                </a:lnTo>
                <a:lnTo>
                  <a:pt x="142875" y="130969"/>
                </a:lnTo>
                <a:close/>
                <a:moveTo>
                  <a:pt x="95250" y="107156"/>
                </a:moveTo>
                <a:lnTo>
                  <a:pt x="71438" y="107156"/>
                </a:lnTo>
                <a:lnTo>
                  <a:pt x="71438" y="83344"/>
                </a:lnTo>
                <a:lnTo>
                  <a:pt x="95250" y="83344"/>
                </a:lnTo>
                <a:lnTo>
                  <a:pt x="95250" y="107156"/>
                </a:lnTo>
                <a:close/>
                <a:moveTo>
                  <a:pt x="71438" y="130969"/>
                </a:moveTo>
                <a:lnTo>
                  <a:pt x="95250" y="130969"/>
                </a:lnTo>
                <a:lnTo>
                  <a:pt x="95250" y="154781"/>
                </a:lnTo>
                <a:lnTo>
                  <a:pt x="71438" y="154781"/>
                </a:lnTo>
                <a:lnTo>
                  <a:pt x="71438" y="130969"/>
                </a:lnTo>
                <a:close/>
                <a:moveTo>
                  <a:pt x="47625" y="107156"/>
                </a:moveTo>
                <a:lnTo>
                  <a:pt x="23812" y="107156"/>
                </a:lnTo>
                <a:lnTo>
                  <a:pt x="23812" y="83344"/>
                </a:lnTo>
                <a:lnTo>
                  <a:pt x="47625" y="83344"/>
                </a:lnTo>
                <a:lnTo>
                  <a:pt x="47625" y="107156"/>
                </a:lnTo>
                <a:close/>
                <a:moveTo>
                  <a:pt x="23812" y="130969"/>
                </a:moveTo>
                <a:lnTo>
                  <a:pt x="47625" y="130969"/>
                </a:lnTo>
                <a:lnTo>
                  <a:pt x="47625" y="154781"/>
                </a:lnTo>
                <a:lnTo>
                  <a:pt x="23812" y="154781"/>
                </a:lnTo>
                <a:lnTo>
                  <a:pt x="23812" y="130969"/>
                </a:lnTo>
                <a:close/>
                <a:moveTo>
                  <a:pt x="23812" y="59531"/>
                </a:moveTo>
                <a:lnTo>
                  <a:pt x="23812" y="35719"/>
                </a:lnTo>
                <a:lnTo>
                  <a:pt x="47625" y="35719"/>
                </a:lnTo>
                <a:lnTo>
                  <a:pt x="47625" y="59531"/>
                </a:lnTo>
                <a:lnTo>
                  <a:pt x="23812" y="59531"/>
                </a:lnTo>
                <a:close/>
                <a:moveTo>
                  <a:pt x="71438" y="59531"/>
                </a:moveTo>
                <a:lnTo>
                  <a:pt x="71438" y="35719"/>
                </a:lnTo>
                <a:lnTo>
                  <a:pt x="95250" y="35719"/>
                </a:lnTo>
                <a:lnTo>
                  <a:pt x="95250" y="59531"/>
                </a:lnTo>
                <a:lnTo>
                  <a:pt x="71438" y="59531"/>
                </a:lnTo>
                <a:close/>
                <a:moveTo>
                  <a:pt x="23812" y="11906"/>
                </a:moveTo>
                <a:cubicBezTo>
                  <a:pt x="10678" y="11906"/>
                  <a:pt x="0" y="22585"/>
                  <a:pt x="0" y="35719"/>
                </a:cubicBezTo>
                <a:lnTo>
                  <a:pt x="0" y="154781"/>
                </a:lnTo>
                <a:cubicBezTo>
                  <a:pt x="0" y="167915"/>
                  <a:pt x="10678" y="178594"/>
                  <a:pt x="23812" y="178594"/>
                </a:cubicBezTo>
                <a:lnTo>
                  <a:pt x="142875" y="178594"/>
                </a:lnTo>
                <a:cubicBezTo>
                  <a:pt x="156009" y="178594"/>
                  <a:pt x="166688" y="167915"/>
                  <a:pt x="166688" y="154781"/>
                </a:cubicBezTo>
                <a:lnTo>
                  <a:pt x="166688" y="35719"/>
                </a:lnTo>
                <a:cubicBezTo>
                  <a:pt x="166688" y="22585"/>
                  <a:pt x="156009" y="11906"/>
                  <a:pt x="142875" y="11906"/>
                </a:cubicBezTo>
                <a:lnTo>
                  <a:pt x="23812" y="11906"/>
                </a:lnTo>
                <a:close/>
              </a:path>
            </a:pathLst>
          </a:custGeom>
          <a:solidFill>
            <a:srgbClr val="F1FAEE"/>
          </a:solidFill>
          <a:ln/>
        </p:spPr>
      </p:sp>
      <p:sp>
        <p:nvSpPr>
          <p:cNvPr id="49" name="Text 47"/>
          <p:cNvSpPr/>
          <p:nvPr/>
        </p:nvSpPr>
        <p:spPr>
          <a:xfrm>
            <a:off x="6934200" y="3457580"/>
            <a:ext cx="706438"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Binary Mask</a:t>
            </a:r>
            <a:endParaRPr lang="en-US" sz="1600" dirty="0"/>
          </a:p>
        </p:txBody>
      </p:sp>
      <p:sp>
        <p:nvSpPr>
          <p:cNvPr id="50" name="Text 48"/>
          <p:cNvSpPr/>
          <p:nvPr/>
        </p:nvSpPr>
        <p:spPr>
          <a:xfrm>
            <a:off x="6934200" y="3616330"/>
            <a:ext cx="698500"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Threshold &gt; 0.5</a:t>
            </a:r>
            <a:endParaRPr lang="en-US" sz="1600" dirty="0"/>
          </a:p>
        </p:txBody>
      </p:sp>
      <p:sp>
        <p:nvSpPr>
          <p:cNvPr id="51" name="Shape 49"/>
          <p:cNvSpPr/>
          <p:nvPr/>
        </p:nvSpPr>
        <p:spPr>
          <a:xfrm>
            <a:off x="8981281" y="3949705"/>
            <a:ext cx="107156" cy="142875"/>
          </a:xfrm>
          <a:custGeom>
            <a:avLst/>
            <a:gdLst/>
            <a:ahLst/>
            <a:cxnLst/>
            <a:rect l="l" t="t" r="r" b="b"/>
            <a:pathLst>
              <a:path w="107156" h="142875">
                <a:moveTo>
                  <a:pt x="47272" y="140252"/>
                </a:moveTo>
                <a:cubicBezTo>
                  <a:pt x="50760" y="143740"/>
                  <a:pt x="56424" y="143740"/>
                  <a:pt x="59913" y="140252"/>
                </a:cubicBezTo>
                <a:lnTo>
                  <a:pt x="104561" y="95603"/>
                </a:lnTo>
                <a:cubicBezTo>
                  <a:pt x="108049" y="92115"/>
                  <a:pt x="108049" y="86451"/>
                  <a:pt x="104561" y="82962"/>
                </a:cubicBezTo>
                <a:cubicBezTo>
                  <a:pt x="101073" y="79474"/>
                  <a:pt x="95408" y="79474"/>
                  <a:pt x="91920" y="82962"/>
                </a:cubicBezTo>
                <a:lnTo>
                  <a:pt x="62508" y="112375"/>
                </a:lnTo>
                <a:lnTo>
                  <a:pt x="62508" y="8930"/>
                </a:lnTo>
                <a:cubicBezTo>
                  <a:pt x="62508" y="3990"/>
                  <a:pt x="58517" y="0"/>
                  <a:pt x="53578" y="0"/>
                </a:cubicBezTo>
                <a:cubicBezTo>
                  <a:pt x="48639" y="0"/>
                  <a:pt x="44648" y="3990"/>
                  <a:pt x="44648" y="8930"/>
                </a:cubicBezTo>
                <a:lnTo>
                  <a:pt x="44648" y="112375"/>
                </a:lnTo>
                <a:lnTo>
                  <a:pt x="15236" y="82962"/>
                </a:lnTo>
                <a:cubicBezTo>
                  <a:pt x="11748" y="79474"/>
                  <a:pt x="6083" y="79474"/>
                  <a:pt x="2595" y="82962"/>
                </a:cubicBezTo>
                <a:cubicBezTo>
                  <a:pt x="-893" y="86451"/>
                  <a:pt x="-893" y="92115"/>
                  <a:pt x="2595" y="95603"/>
                </a:cubicBezTo>
                <a:lnTo>
                  <a:pt x="47244" y="140252"/>
                </a:lnTo>
                <a:close/>
              </a:path>
            </a:pathLst>
          </a:custGeom>
          <a:solidFill>
            <a:srgbClr val="5C677D"/>
          </a:solidFill>
          <a:ln/>
        </p:spPr>
      </p:sp>
      <p:sp>
        <p:nvSpPr>
          <p:cNvPr id="52" name="Shape 50"/>
          <p:cNvSpPr/>
          <p:nvPr/>
        </p:nvSpPr>
        <p:spPr>
          <a:xfrm>
            <a:off x="6330950" y="4187830"/>
            <a:ext cx="508000" cy="508000"/>
          </a:xfrm>
          <a:prstGeom prst="roundRect">
            <a:avLst>
              <a:gd name="adj" fmla="val 12500"/>
            </a:avLst>
          </a:prstGeom>
          <a:solidFill>
            <a:srgbClr val="3A86FF"/>
          </a:solidFill>
          <a:ln/>
        </p:spPr>
      </p:sp>
      <p:sp>
        <p:nvSpPr>
          <p:cNvPr id="53" name="Shape 51"/>
          <p:cNvSpPr/>
          <p:nvPr/>
        </p:nvSpPr>
        <p:spPr>
          <a:xfrm>
            <a:off x="6477794" y="4346580"/>
            <a:ext cx="214313" cy="190500"/>
          </a:xfrm>
          <a:custGeom>
            <a:avLst/>
            <a:gdLst/>
            <a:ahLst/>
            <a:cxnLst/>
            <a:rect l="l" t="t" r="r" b="b"/>
            <a:pathLst>
              <a:path w="214313" h="190500">
                <a:moveTo>
                  <a:pt x="15255" y="-9265"/>
                </a:moveTo>
                <a:cubicBezTo>
                  <a:pt x="11757" y="-12762"/>
                  <a:pt x="6102" y="-12762"/>
                  <a:pt x="2642" y="-9265"/>
                </a:cubicBezTo>
                <a:cubicBezTo>
                  <a:pt x="-819" y="-5767"/>
                  <a:pt x="-856" y="-112"/>
                  <a:pt x="2604" y="3386"/>
                </a:cubicBezTo>
                <a:lnTo>
                  <a:pt x="199058" y="199839"/>
                </a:lnTo>
                <a:cubicBezTo>
                  <a:pt x="202555" y="203336"/>
                  <a:pt x="208211" y="203336"/>
                  <a:pt x="211671" y="199839"/>
                </a:cubicBezTo>
                <a:cubicBezTo>
                  <a:pt x="215131" y="196342"/>
                  <a:pt x="215168" y="190686"/>
                  <a:pt x="211671" y="187226"/>
                </a:cubicBezTo>
                <a:lnTo>
                  <a:pt x="175803" y="151358"/>
                </a:lnTo>
                <a:cubicBezTo>
                  <a:pt x="176808" y="150465"/>
                  <a:pt x="177812" y="149572"/>
                  <a:pt x="178780" y="148679"/>
                </a:cubicBezTo>
                <a:cubicBezTo>
                  <a:pt x="196193" y="132494"/>
                  <a:pt x="207838" y="113184"/>
                  <a:pt x="213382" y="99901"/>
                </a:cubicBezTo>
                <a:cubicBezTo>
                  <a:pt x="214610" y="96962"/>
                  <a:pt x="214610" y="93687"/>
                  <a:pt x="213382" y="90748"/>
                </a:cubicBezTo>
                <a:cubicBezTo>
                  <a:pt x="207838" y="77465"/>
                  <a:pt x="196193" y="58117"/>
                  <a:pt x="178780" y="41970"/>
                </a:cubicBezTo>
                <a:cubicBezTo>
                  <a:pt x="161255" y="25710"/>
                  <a:pt x="137182" y="11981"/>
                  <a:pt x="107119" y="11981"/>
                </a:cubicBezTo>
                <a:cubicBezTo>
                  <a:pt x="85985" y="11981"/>
                  <a:pt x="67828" y="18752"/>
                  <a:pt x="52797" y="28426"/>
                </a:cubicBezTo>
                <a:lnTo>
                  <a:pt x="15255" y="-9265"/>
                </a:lnTo>
                <a:close/>
                <a:moveTo>
                  <a:pt x="76088" y="51606"/>
                </a:moveTo>
                <a:cubicBezTo>
                  <a:pt x="84832" y="45355"/>
                  <a:pt x="95585" y="41672"/>
                  <a:pt x="107156" y="41672"/>
                </a:cubicBezTo>
                <a:cubicBezTo>
                  <a:pt x="136736" y="41672"/>
                  <a:pt x="160734" y="65670"/>
                  <a:pt x="160734" y="95250"/>
                </a:cubicBezTo>
                <a:cubicBezTo>
                  <a:pt x="160734" y="106821"/>
                  <a:pt x="157051" y="117537"/>
                  <a:pt x="150800" y="126318"/>
                </a:cubicBezTo>
                <a:lnTo>
                  <a:pt x="137889" y="113407"/>
                </a:lnTo>
                <a:cubicBezTo>
                  <a:pt x="142615" y="105445"/>
                  <a:pt x="144214" y="95659"/>
                  <a:pt x="141647" y="85985"/>
                </a:cubicBezTo>
                <a:cubicBezTo>
                  <a:pt x="136550" y="66935"/>
                  <a:pt x="116942" y="55625"/>
                  <a:pt x="97892" y="60722"/>
                </a:cubicBezTo>
                <a:cubicBezTo>
                  <a:pt x="94692" y="61578"/>
                  <a:pt x="91678" y="62843"/>
                  <a:pt x="88962" y="64443"/>
                </a:cubicBezTo>
                <a:lnTo>
                  <a:pt x="76051" y="51532"/>
                </a:lnTo>
                <a:close/>
                <a:moveTo>
                  <a:pt x="121034" y="147005"/>
                </a:moveTo>
                <a:cubicBezTo>
                  <a:pt x="116607" y="148196"/>
                  <a:pt x="111956" y="148828"/>
                  <a:pt x="107156" y="148828"/>
                </a:cubicBezTo>
                <a:cubicBezTo>
                  <a:pt x="77577" y="148828"/>
                  <a:pt x="53578" y="124830"/>
                  <a:pt x="53578" y="95250"/>
                </a:cubicBezTo>
                <a:cubicBezTo>
                  <a:pt x="53578" y="90450"/>
                  <a:pt x="54211" y="85799"/>
                  <a:pt x="55401" y="81372"/>
                </a:cubicBezTo>
                <a:lnTo>
                  <a:pt x="25822" y="51792"/>
                </a:lnTo>
                <a:cubicBezTo>
                  <a:pt x="13692" y="65484"/>
                  <a:pt x="5358" y="79995"/>
                  <a:pt x="930" y="90674"/>
                </a:cubicBezTo>
                <a:cubicBezTo>
                  <a:pt x="-298" y="93613"/>
                  <a:pt x="-298" y="96887"/>
                  <a:pt x="930" y="99826"/>
                </a:cubicBezTo>
                <a:cubicBezTo>
                  <a:pt x="6474" y="113109"/>
                  <a:pt x="18120" y="132457"/>
                  <a:pt x="35533" y="148605"/>
                </a:cubicBezTo>
                <a:cubicBezTo>
                  <a:pt x="53057" y="164864"/>
                  <a:pt x="77130" y="178594"/>
                  <a:pt x="107193" y="178594"/>
                </a:cubicBezTo>
                <a:cubicBezTo>
                  <a:pt x="121072" y="178594"/>
                  <a:pt x="133685" y="175654"/>
                  <a:pt x="144959" y="170929"/>
                </a:cubicBezTo>
                <a:lnTo>
                  <a:pt x="121072" y="147042"/>
                </a:lnTo>
                <a:close/>
              </a:path>
            </a:pathLst>
          </a:custGeom>
          <a:solidFill>
            <a:srgbClr val="F1FAEE"/>
          </a:solidFill>
          <a:ln/>
        </p:spPr>
      </p:sp>
      <p:sp>
        <p:nvSpPr>
          <p:cNvPr id="54" name="Text 52"/>
          <p:cNvSpPr/>
          <p:nvPr/>
        </p:nvSpPr>
        <p:spPr>
          <a:xfrm>
            <a:off x="6934200" y="4298955"/>
            <a:ext cx="1071563"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Masked Image</a:t>
            </a:r>
            <a:endParaRPr lang="en-US" sz="1600" dirty="0"/>
          </a:p>
        </p:txBody>
      </p:sp>
      <p:sp>
        <p:nvSpPr>
          <p:cNvPr id="55" name="Text 53"/>
          <p:cNvSpPr/>
          <p:nvPr/>
        </p:nvSpPr>
        <p:spPr>
          <a:xfrm>
            <a:off x="6934200" y="4457705"/>
            <a:ext cx="1063625"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Only highlighted regions</a:t>
            </a:r>
            <a:endParaRPr lang="en-US" sz="1600" dirty="0"/>
          </a:p>
        </p:txBody>
      </p:sp>
      <p:sp>
        <p:nvSpPr>
          <p:cNvPr id="56" name="Shape 54"/>
          <p:cNvSpPr/>
          <p:nvPr/>
        </p:nvSpPr>
        <p:spPr>
          <a:xfrm>
            <a:off x="8981281" y="4791080"/>
            <a:ext cx="107156" cy="142875"/>
          </a:xfrm>
          <a:custGeom>
            <a:avLst/>
            <a:gdLst/>
            <a:ahLst/>
            <a:cxnLst/>
            <a:rect l="l" t="t" r="r" b="b"/>
            <a:pathLst>
              <a:path w="107156" h="142875">
                <a:moveTo>
                  <a:pt x="47272" y="140252"/>
                </a:moveTo>
                <a:cubicBezTo>
                  <a:pt x="50760" y="143740"/>
                  <a:pt x="56424" y="143740"/>
                  <a:pt x="59913" y="140252"/>
                </a:cubicBezTo>
                <a:lnTo>
                  <a:pt x="104561" y="95603"/>
                </a:lnTo>
                <a:cubicBezTo>
                  <a:pt x="108049" y="92115"/>
                  <a:pt x="108049" y="86451"/>
                  <a:pt x="104561" y="82962"/>
                </a:cubicBezTo>
                <a:cubicBezTo>
                  <a:pt x="101073" y="79474"/>
                  <a:pt x="95408" y="79474"/>
                  <a:pt x="91920" y="82962"/>
                </a:cubicBezTo>
                <a:lnTo>
                  <a:pt x="62508" y="112375"/>
                </a:lnTo>
                <a:lnTo>
                  <a:pt x="62508" y="8930"/>
                </a:lnTo>
                <a:cubicBezTo>
                  <a:pt x="62508" y="3990"/>
                  <a:pt x="58517" y="0"/>
                  <a:pt x="53578" y="0"/>
                </a:cubicBezTo>
                <a:cubicBezTo>
                  <a:pt x="48639" y="0"/>
                  <a:pt x="44648" y="3990"/>
                  <a:pt x="44648" y="8930"/>
                </a:cubicBezTo>
                <a:lnTo>
                  <a:pt x="44648" y="112375"/>
                </a:lnTo>
                <a:lnTo>
                  <a:pt x="15236" y="82962"/>
                </a:lnTo>
                <a:cubicBezTo>
                  <a:pt x="11748" y="79474"/>
                  <a:pt x="6083" y="79474"/>
                  <a:pt x="2595" y="82962"/>
                </a:cubicBezTo>
                <a:cubicBezTo>
                  <a:pt x="-893" y="86451"/>
                  <a:pt x="-893" y="92115"/>
                  <a:pt x="2595" y="95603"/>
                </a:cubicBezTo>
                <a:lnTo>
                  <a:pt x="47244" y="140252"/>
                </a:lnTo>
                <a:close/>
              </a:path>
            </a:pathLst>
          </a:custGeom>
          <a:solidFill>
            <a:srgbClr val="5C677D"/>
          </a:solidFill>
          <a:ln/>
        </p:spPr>
      </p:sp>
      <p:sp>
        <p:nvSpPr>
          <p:cNvPr id="57" name="Shape 55"/>
          <p:cNvSpPr/>
          <p:nvPr/>
        </p:nvSpPr>
        <p:spPr>
          <a:xfrm>
            <a:off x="6330950" y="5029205"/>
            <a:ext cx="508000" cy="508000"/>
          </a:xfrm>
          <a:prstGeom prst="roundRect">
            <a:avLst>
              <a:gd name="adj" fmla="val 12500"/>
            </a:avLst>
          </a:prstGeom>
          <a:solidFill>
            <a:srgbClr val="00B4D8"/>
          </a:solidFill>
          <a:ln/>
        </p:spPr>
      </p:sp>
      <p:sp>
        <p:nvSpPr>
          <p:cNvPr id="58" name="Shape 56"/>
          <p:cNvSpPr/>
          <p:nvPr/>
        </p:nvSpPr>
        <p:spPr>
          <a:xfrm>
            <a:off x="6489700" y="5187955"/>
            <a:ext cx="190500" cy="190500"/>
          </a:xfrm>
          <a:custGeom>
            <a:avLst/>
            <a:gdLst/>
            <a:ahLst/>
            <a:cxnLst/>
            <a:rect l="l" t="t" r="r" b="b"/>
            <a:pathLst>
              <a:path w="190500" h="190500">
                <a:moveTo>
                  <a:pt x="162483" y="27794"/>
                </a:moveTo>
                <a:lnTo>
                  <a:pt x="166688" y="31775"/>
                </a:lnTo>
                <a:lnTo>
                  <a:pt x="166688" y="11906"/>
                </a:lnTo>
                <a:cubicBezTo>
                  <a:pt x="166688" y="5321"/>
                  <a:pt x="172008" y="0"/>
                  <a:pt x="178594" y="0"/>
                </a:cubicBezTo>
                <a:cubicBezTo>
                  <a:pt x="185179" y="0"/>
                  <a:pt x="190500" y="5321"/>
                  <a:pt x="190500" y="11906"/>
                </a:cubicBezTo>
                <a:lnTo>
                  <a:pt x="190500" y="59531"/>
                </a:lnTo>
                <a:cubicBezTo>
                  <a:pt x="190500" y="66117"/>
                  <a:pt x="185179" y="71438"/>
                  <a:pt x="178594" y="71438"/>
                </a:cubicBezTo>
                <a:lnTo>
                  <a:pt x="130969" y="71438"/>
                </a:lnTo>
                <a:cubicBezTo>
                  <a:pt x="124383" y="71438"/>
                  <a:pt x="119063" y="66117"/>
                  <a:pt x="119063" y="59531"/>
                </a:cubicBezTo>
                <a:cubicBezTo>
                  <a:pt x="119063" y="52946"/>
                  <a:pt x="124383" y="47625"/>
                  <a:pt x="130969" y="47625"/>
                </a:cubicBezTo>
                <a:lnTo>
                  <a:pt x="148791" y="47625"/>
                </a:lnTo>
                <a:lnTo>
                  <a:pt x="145963" y="44946"/>
                </a:lnTo>
                <a:cubicBezTo>
                  <a:pt x="145889" y="44872"/>
                  <a:pt x="145814" y="44797"/>
                  <a:pt x="145740" y="44723"/>
                </a:cubicBezTo>
                <a:cubicBezTo>
                  <a:pt x="117835" y="16818"/>
                  <a:pt x="72628" y="16818"/>
                  <a:pt x="44723" y="44723"/>
                </a:cubicBezTo>
                <a:cubicBezTo>
                  <a:pt x="16818" y="72628"/>
                  <a:pt x="16818" y="117835"/>
                  <a:pt x="44723" y="145740"/>
                </a:cubicBezTo>
                <a:cubicBezTo>
                  <a:pt x="72628" y="173645"/>
                  <a:pt x="117835" y="173645"/>
                  <a:pt x="145740" y="145740"/>
                </a:cubicBezTo>
                <a:cubicBezTo>
                  <a:pt x="148791" y="142689"/>
                  <a:pt x="151507" y="139452"/>
                  <a:pt x="153888" y="136029"/>
                </a:cubicBezTo>
                <a:cubicBezTo>
                  <a:pt x="157646" y="130634"/>
                  <a:pt x="165088" y="129332"/>
                  <a:pt x="170483" y="133090"/>
                </a:cubicBezTo>
                <a:cubicBezTo>
                  <a:pt x="175878" y="136847"/>
                  <a:pt x="177180" y="144289"/>
                  <a:pt x="173422" y="149684"/>
                </a:cubicBezTo>
                <a:cubicBezTo>
                  <a:pt x="170259" y="154223"/>
                  <a:pt x="166650" y="158539"/>
                  <a:pt x="162595" y="162595"/>
                </a:cubicBezTo>
                <a:cubicBezTo>
                  <a:pt x="125388" y="199802"/>
                  <a:pt x="65075" y="199802"/>
                  <a:pt x="27905" y="162595"/>
                </a:cubicBezTo>
                <a:cubicBezTo>
                  <a:pt x="-9265" y="125388"/>
                  <a:pt x="-9302" y="65112"/>
                  <a:pt x="27905" y="27905"/>
                </a:cubicBezTo>
                <a:cubicBezTo>
                  <a:pt x="65075" y="-9265"/>
                  <a:pt x="125276" y="-9302"/>
                  <a:pt x="162483" y="27794"/>
                </a:cubicBezTo>
                <a:close/>
              </a:path>
            </a:pathLst>
          </a:custGeom>
          <a:solidFill>
            <a:srgbClr val="F1FAEE"/>
          </a:solidFill>
          <a:ln/>
        </p:spPr>
      </p:sp>
      <p:sp>
        <p:nvSpPr>
          <p:cNvPr id="59" name="Text 57"/>
          <p:cNvSpPr/>
          <p:nvPr/>
        </p:nvSpPr>
        <p:spPr>
          <a:xfrm>
            <a:off x="6934200" y="5140330"/>
            <a:ext cx="793750" cy="158750"/>
          </a:xfrm>
          <a:prstGeom prst="rect">
            <a:avLst/>
          </a:prstGeom>
          <a:noFill/>
          <a:ln/>
        </p:spPr>
        <p:txBody>
          <a:bodyPr wrap="square" lIns="0" tIns="0" rIns="0" bIns="0" rtlCol="0" anchor="ctr"/>
          <a:lstStyle/>
          <a:p>
            <a:pPr>
              <a:lnSpc>
                <a:spcPct val="120000"/>
              </a:lnSpc>
            </a:pPr>
            <a:r>
              <a:rPr lang="en-US" sz="875" b="1" dirty="0">
                <a:solidFill>
                  <a:srgbClr val="F1FAEE"/>
                </a:solidFill>
                <a:latin typeface="Liter" pitchFamily="34" charset="0"/>
                <a:ea typeface="Liter" pitchFamily="34" charset="-122"/>
                <a:cs typeface="Liter" pitchFamily="34" charset="-120"/>
              </a:rPr>
              <a:t>Re-Prediction</a:t>
            </a:r>
            <a:endParaRPr lang="en-US" sz="1600" dirty="0"/>
          </a:p>
        </p:txBody>
      </p:sp>
      <p:sp>
        <p:nvSpPr>
          <p:cNvPr id="60" name="Text 58"/>
          <p:cNvSpPr/>
          <p:nvPr/>
        </p:nvSpPr>
        <p:spPr>
          <a:xfrm>
            <a:off x="6934200" y="5299080"/>
            <a:ext cx="785813"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Confidence score</a:t>
            </a:r>
            <a:endParaRPr lang="en-US" sz="1600" dirty="0"/>
          </a:p>
        </p:txBody>
      </p:sp>
      <p:sp>
        <p:nvSpPr>
          <p:cNvPr id="61" name="Shape 59"/>
          <p:cNvSpPr/>
          <p:nvPr/>
        </p:nvSpPr>
        <p:spPr>
          <a:xfrm>
            <a:off x="6194425" y="5807077"/>
            <a:ext cx="5673725" cy="863600"/>
          </a:xfrm>
          <a:prstGeom prst="roundRect">
            <a:avLst>
              <a:gd name="adj" fmla="val 7353"/>
            </a:avLst>
          </a:prstGeom>
          <a:solidFill>
            <a:srgbClr val="112240"/>
          </a:solidFill>
          <a:ln w="10160">
            <a:solidFill>
              <a:srgbClr val="3A86FF"/>
            </a:solidFill>
            <a:prstDash val="solid"/>
          </a:ln>
        </p:spPr>
      </p:sp>
      <p:sp>
        <p:nvSpPr>
          <p:cNvPr id="62" name="Text 60"/>
          <p:cNvSpPr/>
          <p:nvPr/>
        </p:nvSpPr>
        <p:spPr>
          <a:xfrm>
            <a:off x="6324600" y="5937250"/>
            <a:ext cx="5476875" cy="190500"/>
          </a:xfrm>
          <a:prstGeom prst="rect">
            <a:avLst/>
          </a:prstGeom>
          <a:noFill/>
          <a:ln/>
        </p:spPr>
        <p:txBody>
          <a:bodyPr wrap="square" lIns="0" tIns="0" rIns="0" bIns="0" rtlCol="0" anchor="ctr"/>
          <a:lstStyle/>
          <a:p>
            <a:pPr>
              <a:lnSpc>
                <a:spcPct val="130000"/>
              </a:lnSpc>
            </a:pPr>
            <a:r>
              <a:rPr lang="en-US" sz="1000" b="1" dirty="0">
                <a:solidFill>
                  <a:srgbClr val="3A86FF"/>
                </a:solidFill>
                <a:latin typeface="Liter" pitchFamily="34" charset="0"/>
                <a:ea typeface="Liter" pitchFamily="34" charset="-122"/>
                <a:cs typeface="Liter" pitchFamily="34" charset="-120"/>
              </a:rPr>
              <a:t>Mathematical Formulation</a:t>
            </a:r>
            <a:endParaRPr lang="en-US" sz="1600" dirty="0"/>
          </a:p>
        </p:txBody>
      </p:sp>
      <p:sp>
        <p:nvSpPr>
          <p:cNvPr id="63" name="Text 61"/>
          <p:cNvSpPr/>
          <p:nvPr/>
        </p:nvSpPr>
        <p:spPr>
          <a:xfrm>
            <a:off x="6324600" y="6191250"/>
            <a:ext cx="5468938" cy="158750"/>
          </a:xfrm>
          <a:prstGeom prst="rect">
            <a:avLst/>
          </a:prstGeom>
          <a:noFill/>
          <a:ln/>
        </p:spPr>
        <p:txBody>
          <a:bodyPr wrap="square" lIns="0" tIns="0" rIns="0" bIns="0" rtlCol="0" anchor="ctr"/>
          <a:lstStyle/>
          <a:p>
            <a:pPr>
              <a:lnSpc>
                <a:spcPct val="120000"/>
              </a:lnSpc>
            </a:pPr>
            <a:r>
              <a:rPr lang="en-US" sz="875" dirty="0">
                <a:solidFill>
                  <a:srgbClr val="F1FAEE"/>
                </a:solidFill>
                <a:latin typeface="MiSans" pitchFamily="34" charset="0"/>
                <a:ea typeface="MiSans" pitchFamily="34" charset="-122"/>
                <a:cs typeface="MiSans" pitchFamily="34" charset="-120"/>
              </a:rPr>
              <a:t>r</a:t>
            </a:r>
            <a:pPr>
              <a:lnSpc>
                <a:spcPct val="120000"/>
              </a:lnSpc>
            </a:pPr>
            <a:r>
              <a:rPr lang="en-US" sz="656" dirty="0">
                <a:solidFill>
                  <a:srgbClr val="F1FAEE"/>
                </a:solidFill>
                <a:latin typeface="MiSans" pitchFamily="34" charset="0"/>
                <a:ea typeface="MiSans" pitchFamily="34" charset="-122"/>
                <a:cs typeface="MiSans" pitchFamily="34" charset="-120"/>
              </a:rPr>
              <a:t>ℓ</a:t>
            </a:r>
            <a:pPr>
              <a:lnSpc>
                <a:spcPct val="120000"/>
              </a:lnSpc>
            </a:pPr>
            <a:r>
              <a:rPr lang="en-US" sz="875" dirty="0">
                <a:solidFill>
                  <a:srgbClr val="F1FAEE"/>
                </a:solidFill>
                <a:latin typeface="MiSans" pitchFamily="34" charset="0"/>
                <a:ea typeface="MiSans" pitchFamily="34" charset="-122"/>
                <a:cs typeface="MiSans" pitchFamily="34" charset="-120"/>
              </a:rPr>
              <a:t> = P(predicted class | masked image with M</a:t>
            </a:r>
            <a:pPr>
              <a:lnSpc>
                <a:spcPct val="120000"/>
              </a:lnSpc>
            </a:pPr>
            <a:r>
              <a:rPr lang="en-US" sz="656" dirty="0">
                <a:solidFill>
                  <a:srgbClr val="F1FAEE"/>
                </a:solidFill>
                <a:latin typeface="MiSans" pitchFamily="34" charset="0"/>
                <a:ea typeface="MiSans" pitchFamily="34" charset="-122"/>
                <a:cs typeface="MiSans" pitchFamily="34" charset="-120"/>
              </a:rPr>
              <a:t>ℓ</a:t>
            </a:r>
            <a:pPr>
              <a:lnSpc>
                <a:spcPct val="120000"/>
              </a:lnSpc>
            </a:pPr>
            <a:r>
              <a:rPr lang="en-US" sz="875" dirty="0">
                <a:solidFill>
                  <a:srgbClr val="F1FAEE"/>
                </a:solidFill>
                <a:latin typeface="MiSans" pitchFamily="34" charset="0"/>
                <a:ea typeface="MiSans" pitchFamily="34" charset="-122"/>
                <a:cs typeface="MiSans" pitchFamily="34" charset="-120"/>
              </a:rPr>
              <a:t>)</a:t>
            </a:r>
            <a:endParaRPr lang="en-US" sz="1600" dirty="0"/>
          </a:p>
        </p:txBody>
      </p:sp>
      <p:sp>
        <p:nvSpPr>
          <p:cNvPr id="64" name="Text 62"/>
          <p:cNvSpPr/>
          <p:nvPr/>
        </p:nvSpPr>
        <p:spPr>
          <a:xfrm>
            <a:off x="6324600" y="6413500"/>
            <a:ext cx="5461000"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Where r</a:t>
            </a:r>
            <a:pPr>
              <a:lnSpc>
                <a:spcPct val="110000"/>
              </a:lnSpc>
            </a:pPr>
            <a:r>
              <a:rPr lang="en-US" sz="563" dirty="0">
                <a:solidFill>
                  <a:srgbClr val="5C677D"/>
                </a:solidFill>
                <a:latin typeface="Liter" pitchFamily="34" charset="0"/>
                <a:ea typeface="Liter" pitchFamily="34" charset="-122"/>
                <a:cs typeface="Liter" pitchFamily="34" charset="-120"/>
              </a:rPr>
              <a:t>ℓ</a:t>
            </a:r>
            <a:pPr>
              <a:lnSpc>
                <a:spcPct val="110000"/>
              </a:lnSpc>
            </a:pPr>
            <a:r>
              <a:rPr lang="en-US" sz="750" dirty="0">
                <a:solidFill>
                  <a:srgbClr val="5C677D"/>
                </a:solidFill>
                <a:latin typeface="Liter" pitchFamily="34" charset="0"/>
                <a:ea typeface="Liter" pitchFamily="34" charset="-122"/>
                <a:cs typeface="Liter" pitchFamily="34" charset="-120"/>
              </a:rPr>
              <a:t> is the retention score for layer ℓ</a:t>
            </a:r>
            <a:endParaRPr lang="en-US" sz="1600" dirty="0"/>
          </a:p>
        </p:txBody>
      </p:sp>
      <p:sp>
        <p:nvSpPr>
          <p:cNvPr id="65" name="Shape 63"/>
          <p:cNvSpPr/>
          <p:nvPr/>
        </p:nvSpPr>
        <p:spPr>
          <a:xfrm>
            <a:off x="333375" y="6800755"/>
            <a:ext cx="11541125" cy="444500"/>
          </a:xfrm>
          <a:custGeom>
            <a:avLst/>
            <a:gdLst/>
            <a:ahLst/>
            <a:cxnLst/>
            <a:rect l="l" t="t" r="r" b="b"/>
            <a:pathLst>
              <a:path w="11541125" h="444500">
                <a:moveTo>
                  <a:pt x="31750" y="0"/>
                </a:moveTo>
                <a:lnTo>
                  <a:pt x="11477625" y="0"/>
                </a:lnTo>
                <a:cubicBezTo>
                  <a:pt x="11512672" y="0"/>
                  <a:pt x="11541125" y="28453"/>
                  <a:pt x="11541125" y="63500"/>
                </a:cubicBezTo>
                <a:lnTo>
                  <a:pt x="11541125" y="381000"/>
                </a:lnTo>
                <a:cubicBezTo>
                  <a:pt x="11541125" y="416047"/>
                  <a:pt x="11512672" y="444500"/>
                  <a:pt x="11477625" y="444500"/>
                </a:cubicBezTo>
                <a:lnTo>
                  <a:pt x="31750" y="444500"/>
                </a:lnTo>
                <a:cubicBezTo>
                  <a:pt x="14227" y="444500"/>
                  <a:pt x="0" y="430273"/>
                  <a:pt x="0" y="412750"/>
                </a:cubicBezTo>
                <a:lnTo>
                  <a:pt x="0" y="31750"/>
                </a:lnTo>
                <a:cubicBezTo>
                  <a:pt x="0" y="14227"/>
                  <a:pt x="14227" y="0"/>
                  <a:pt x="31750" y="0"/>
                </a:cubicBezTo>
                <a:close/>
              </a:path>
            </a:pathLst>
          </a:custGeom>
          <a:solidFill>
            <a:srgbClr val="00B4D8">
              <a:alpha val="10196"/>
            </a:srgbClr>
          </a:solidFill>
          <a:ln/>
        </p:spPr>
      </p:sp>
      <p:sp>
        <p:nvSpPr>
          <p:cNvPr id="66" name="Shape 64"/>
          <p:cNvSpPr/>
          <p:nvPr/>
        </p:nvSpPr>
        <p:spPr>
          <a:xfrm>
            <a:off x="333375" y="6800755"/>
            <a:ext cx="31750" cy="444500"/>
          </a:xfrm>
          <a:custGeom>
            <a:avLst/>
            <a:gdLst/>
            <a:ahLst/>
            <a:cxnLst/>
            <a:rect l="l" t="t" r="r" b="b"/>
            <a:pathLst>
              <a:path w="31750" h="444500">
                <a:moveTo>
                  <a:pt x="31750" y="0"/>
                </a:moveTo>
                <a:lnTo>
                  <a:pt x="31750" y="0"/>
                </a:lnTo>
                <a:lnTo>
                  <a:pt x="31750" y="444500"/>
                </a:lnTo>
                <a:lnTo>
                  <a:pt x="31750" y="444500"/>
                </a:lnTo>
                <a:cubicBezTo>
                  <a:pt x="14227" y="444500"/>
                  <a:pt x="0" y="430273"/>
                  <a:pt x="0" y="412750"/>
                </a:cubicBezTo>
                <a:lnTo>
                  <a:pt x="0" y="31750"/>
                </a:lnTo>
                <a:cubicBezTo>
                  <a:pt x="0" y="14227"/>
                  <a:pt x="14227" y="0"/>
                  <a:pt x="31750" y="0"/>
                </a:cubicBezTo>
                <a:close/>
              </a:path>
            </a:pathLst>
          </a:custGeom>
          <a:solidFill>
            <a:srgbClr val="00B4D8"/>
          </a:solidFill>
          <a:ln/>
        </p:spPr>
      </p:sp>
      <p:sp>
        <p:nvSpPr>
          <p:cNvPr id="67" name="Shape 65"/>
          <p:cNvSpPr/>
          <p:nvPr/>
        </p:nvSpPr>
        <p:spPr>
          <a:xfrm>
            <a:off x="492125" y="6953149"/>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63500" y="43656"/>
                </a:moveTo>
                <a:cubicBezTo>
                  <a:pt x="59110" y="43656"/>
                  <a:pt x="55563" y="47203"/>
                  <a:pt x="55563" y="51594"/>
                </a:cubicBezTo>
                <a:cubicBezTo>
                  <a:pt x="55563" y="54893"/>
                  <a:pt x="52908" y="57547"/>
                  <a:pt x="49609" y="57547"/>
                </a:cubicBezTo>
                <a:cubicBezTo>
                  <a:pt x="46310" y="57547"/>
                  <a:pt x="43656" y="54893"/>
                  <a:pt x="43656" y="51594"/>
                </a:cubicBezTo>
                <a:cubicBezTo>
                  <a:pt x="43656" y="40630"/>
                  <a:pt x="52536" y="31750"/>
                  <a:pt x="63500" y="31750"/>
                </a:cubicBezTo>
                <a:cubicBezTo>
                  <a:pt x="74464" y="31750"/>
                  <a:pt x="83344" y="40630"/>
                  <a:pt x="83344" y="51594"/>
                </a:cubicBezTo>
                <a:cubicBezTo>
                  <a:pt x="83344" y="63302"/>
                  <a:pt x="74414" y="68263"/>
                  <a:pt x="69453" y="70073"/>
                </a:cubicBezTo>
                <a:lnTo>
                  <a:pt x="69453" y="71016"/>
                </a:lnTo>
                <a:cubicBezTo>
                  <a:pt x="69453" y="74315"/>
                  <a:pt x="66799" y="76969"/>
                  <a:pt x="63500" y="76969"/>
                </a:cubicBezTo>
                <a:cubicBezTo>
                  <a:pt x="60201" y="76969"/>
                  <a:pt x="57547" y="74315"/>
                  <a:pt x="57547" y="71016"/>
                </a:cubicBezTo>
                <a:lnTo>
                  <a:pt x="57547" y="69007"/>
                </a:lnTo>
                <a:cubicBezTo>
                  <a:pt x="57547" y="63922"/>
                  <a:pt x="61218" y="60275"/>
                  <a:pt x="65013" y="59035"/>
                </a:cubicBezTo>
                <a:cubicBezTo>
                  <a:pt x="66601" y="58514"/>
                  <a:pt x="68287" y="57671"/>
                  <a:pt x="69528" y="56480"/>
                </a:cubicBezTo>
                <a:cubicBezTo>
                  <a:pt x="70594" y="55438"/>
                  <a:pt x="71438" y="54000"/>
                  <a:pt x="71438" y="51619"/>
                </a:cubicBezTo>
                <a:cubicBezTo>
                  <a:pt x="71438" y="47228"/>
                  <a:pt x="67890" y="43681"/>
                  <a:pt x="63500" y="43681"/>
                </a:cubicBezTo>
                <a:close/>
                <a:moveTo>
                  <a:pt x="55563" y="91281"/>
                </a:moveTo>
                <a:cubicBezTo>
                  <a:pt x="55563" y="86900"/>
                  <a:pt x="59119" y="83344"/>
                  <a:pt x="63500" y="83344"/>
                </a:cubicBezTo>
                <a:cubicBezTo>
                  <a:pt x="67881" y="83344"/>
                  <a:pt x="71438" y="86900"/>
                  <a:pt x="71438" y="91281"/>
                </a:cubicBezTo>
                <a:cubicBezTo>
                  <a:pt x="71438" y="95662"/>
                  <a:pt x="67881" y="99219"/>
                  <a:pt x="63500" y="99219"/>
                </a:cubicBezTo>
                <a:cubicBezTo>
                  <a:pt x="59119" y="99219"/>
                  <a:pt x="55563" y="95662"/>
                  <a:pt x="55563" y="91281"/>
                </a:cubicBezTo>
                <a:close/>
              </a:path>
            </a:pathLst>
          </a:custGeom>
          <a:solidFill>
            <a:srgbClr val="00B4D8"/>
          </a:solidFill>
          <a:ln/>
        </p:spPr>
      </p:sp>
      <p:sp>
        <p:nvSpPr>
          <p:cNvPr id="68" name="Text 66"/>
          <p:cNvSpPr/>
          <p:nvPr/>
        </p:nvSpPr>
        <p:spPr>
          <a:xfrm>
            <a:off x="674688" y="6927755"/>
            <a:ext cx="11136313" cy="190500"/>
          </a:xfrm>
          <a:prstGeom prst="rect">
            <a:avLst/>
          </a:prstGeom>
          <a:noFill/>
          <a:ln/>
        </p:spPr>
        <p:txBody>
          <a:bodyPr wrap="square" lIns="0" tIns="0" rIns="0" bIns="0" rtlCol="0" anchor="ctr"/>
          <a:lstStyle/>
          <a:p>
            <a:pPr>
              <a:lnSpc>
                <a:spcPct val="130000"/>
              </a:lnSpc>
            </a:pPr>
            <a:r>
              <a:rPr lang="en-US" sz="1000" b="1" dirty="0">
                <a:solidFill>
                  <a:srgbClr val="00B4D8"/>
                </a:solidFill>
                <a:latin typeface="Liter" pitchFamily="34" charset="0"/>
                <a:ea typeface="Liter" pitchFamily="34" charset="-122"/>
                <a:cs typeface="Liter" pitchFamily="34" charset="-120"/>
              </a:rPr>
              <a:t>Interactive Question: What if removing highlighted regions completely changes model confidence?</a:t>
            </a:r>
            <a:endParaRPr lang="en-US" sz="1600" dirty="0"/>
          </a:p>
        </p:txBody>
      </p:sp>
      <p:sp>
        <p:nvSpPr>
          <p:cNvPr id="69" name="Text 67"/>
          <p:cNvSpPr/>
          <p:nvPr/>
        </p:nvSpPr>
        <p:spPr>
          <a:xfrm>
            <a:off x="317500" y="6604101"/>
            <a:ext cx="2206625"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70" name="Text 68"/>
          <p:cNvSpPr/>
          <p:nvPr/>
        </p:nvSpPr>
        <p:spPr>
          <a:xfrm>
            <a:off x="11551742" y="6604101"/>
            <a:ext cx="373063" cy="127000"/>
          </a:xfrm>
          <a:prstGeom prst="rect">
            <a:avLst/>
          </a:prstGeom>
          <a:noFill/>
          <a:ln/>
        </p:spPr>
        <p:txBody>
          <a:bodyPr wrap="square" lIns="0" tIns="0" rIns="0" bIns="0" rtlCol="0" anchor="ctr"/>
          <a:lstStyle/>
          <a:p>
            <a:pPr>
              <a:lnSpc>
                <a:spcPct val="110000"/>
              </a:lnSpc>
            </a:pPr>
            <a:r>
              <a:rPr lang="en-US" sz="750" dirty="0">
                <a:solidFill>
                  <a:srgbClr val="5C677D"/>
                </a:solidFill>
                <a:latin typeface="Liter" pitchFamily="34" charset="0"/>
                <a:ea typeface="Liter" pitchFamily="34" charset="-122"/>
                <a:cs typeface="Liter" pitchFamily="34" charset="-120"/>
              </a:rPr>
              <a:t>Slide 13</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51354" y="351354"/>
            <a:ext cx="11559562" cy="210813"/>
          </a:xfrm>
          <a:prstGeom prst="rect">
            <a:avLst/>
          </a:prstGeom>
          <a:noFill/>
          <a:ln/>
        </p:spPr>
        <p:txBody>
          <a:bodyPr wrap="square" lIns="0" tIns="0" rIns="0" bIns="0" rtlCol="0" anchor="ctr"/>
          <a:lstStyle/>
          <a:p>
            <a:pPr>
              <a:lnSpc>
                <a:spcPct val="130000"/>
              </a:lnSpc>
            </a:pPr>
            <a:r>
              <a:rPr lang="en-US" sz="1107" b="1" spc="55" kern="0" dirty="0">
                <a:solidFill>
                  <a:srgbClr val="00B4D8"/>
                </a:solidFill>
                <a:latin typeface="Liter" pitchFamily="34" charset="0"/>
                <a:ea typeface="Liter" pitchFamily="34" charset="-122"/>
                <a:cs typeface="Liter" pitchFamily="34" charset="-120"/>
              </a:rPr>
              <a:t>Fusion Mechanism</a:t>
            </a:r>
            <a:endParaRPr lang="en-US" sz="1600" dirty="0"/>
          </a:p>
        </p:txBody>
      </p:sp>
      <p:sp>
        <p:nvSpPr>
          <p:cNvPr id="3" name="Text 1"/>
          <p:cNvSpPr/>
          <p:nvPr/>
        </p:nvSpPr>
        <p:spPr>
          <a:xfrm>
            <a:off x="351354" y="632438"/>
            <a:ext cx="11647401" cy="351354"/>
          </a:xfrm>
          <a:prstGeom prst="rect">
            <a:avLst/>
          </a:prstGeom>
          <a:noFill/>
          <a:ln/>
        </p:spPr>
        <p:txBody>
          <a:bodyPr wrap="square" lIns="0" tIns="0" rIns="0" bIns="0" rtlCol="0" anchor="ctr"/>
          <a:lstStyle/>
          <a:p>
            <a:pPr>
              <a:lnSpc>
                <a:spcPct val="90000"/>
              </a:lnSpc>
            </a:pPr>
            <a:r>
              <a:rPr lang="en-US" sz="2490" b="1" dirty="0">
                <a:solidFill>
                  <a:srgbClr val="F1FAEE"/>
                </a:solidFill>
                <a:latin typeface="Oranienbaum" pitchFamily="34" charset="0"/>
                <a:ea typeface="Oranienbaum" pitchFamily="34" charset="-122"/>
                <a:cs typeface="Oranienbaum" pitchFamily="34" charset="-120"/>
              </a:rPr>
              <a:t>Adaptive Multi-Layer Fusion</a:t>
            </a:r>
            <a:endParaRPr lang="en-US" sz="1600" dirty="0"/>
          </a:p>
        </p:txBody>
      </p:sp>
      <p:sp>
        <p:nvSpPr>
          <p:cNvPr id="4" name="Shape 2"/>
          <p:cNvSpPr/>
          <p:nvPr/>
        </p:nvSpPr>
        <p:spPr>
          <a:xfrm>
            <a:off x="351354" y="1089199"/>
            <a:ext cx="843251" cy="35135"/>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68922" y="1264876"/>
            <a:ext cx="5621671" cy="2336507"/>
          </a:xfrm>
          <a:custGeom>
            <a:avLst/>
            <a:gdLst/>
            <a:ahLst/>
            <a:cxnLst/>
            <a:rect l="l" t="t" r="r" b="b"/>
            <a:pathLst>
              <a:path w="5621671" h="2336507">
                <a:moveTo>
                  <a:pt x="35179" y="0"/>
                </a:moveTo>
                <a:lnTo>
                  <a:pt x="5551424" y="0"/>
                </a:lnTo>
                <a:cubicBezTo>
                  <a:pt x="5590212" y="0"/>
                  <a:pt x="5621655" y="31443"/>
                  <a:pt x="5621655" y="70231"/>
                </a:cubicBezTo>
                <a:lnTo>
                  <a:pt x="5621655" y="2266188"/>
                </a:lnTo>
                <a:cubicBezTo>
                  <a:pt x="5621689" y="2284836"/>
                  <a:pt x="5614304" y="2302733"/>
                  <a:pt x="5601130" y="2315931"/>
                </a:cubicBezTo>
                <a:cubicBezTo>
                  <a:pt x="5587955" y="2329129"/>
                  <a:pt x="5570072" y="2336546"/>
                  <a:pt x="5551424" y="2336546"/>
                </a:cubicBezTo>
                <a:lnTo>
                  <a:pt x="35179" y="2336546"/>
                </a:lnTo>
                <a:cubicBezTo>
                  <a:pt x="15750" y="2336546"/>
                  <a:pt x="0" y="2320796"/>
                  <a:pt x="0" y="2301367"/>
                </a:cubicBezTo>
                <a:lnTo>
                  <a:pt x="0" y="35179"/>
                </a:lnTo>
                <a:cubicBezTo>
                  <a:pt x="0" y="15763"/>
                  <a:pt x="15763" y="0"/>
                  <a:pt x="35179" y="0"/>
                </a:cubicBezTo>
                <a:close/>
              </a:path>
            </a:pathLst>
          </a:custGeom>
          <a:solidFill>
            <a:srgbClr val="112240"/>
          </a:solidFill>
          <a:ln/>
        </p:spPr>
      </p:sp>
      <p:sp>
        <p:nvSpPr>
          <p:cNvPr id="6" name="Shape 4"/>
          <p:cNvSpPr/>
          <p:nvPr/>
        </p:nvSpPr>
        <p:spPr>
          <a:xfrm>
            <a:off x="368922" y="1264876"/>
            <a:ext cx="35135" cy="2336507"/>
          </a:xfrm>
          <a:custGeom>
            <a:avLst/>
            <a:gdLst/>
            <a:ahLst/>
            <a:cxnLst/>
            <a:rect l="l" t="t" r="r" b="b"/>
            <a:pathLst>
              <a:path w="35135" h="2336507">
                <a:moveTo>
                  <a:pt x="35179" y="0"/>
                </a:moveTo>
                <a:lnTo>
                  <a:pt x="35179" y="0"/>
                </a:lnTo>
                <a:lnTo>
                  <a:pt x="35179" y="2336546"/>
                </a:lnTo>
                <a:lnTo>
                  <a:pt x="35179" y="2336546"/>
                </a:lnTo>
                <a:cubicBezTo>
                  <a:pt x="15750" y="2336546"/>
                  <a:pt x="0" y="2320796"/>
                  <a:pt x="0" y="2301367"/>
                </a:cubicBezTo>
                <a:lnTo>
                  <a:pt x="0" y="35179"/>
                </a:lnTo>
                <a:cubicBezTo>
                  <a:pt x="0" y="15763"/>
                  <a:pt x="15763" y="0"/>
                  <a:pt x="35179" y="0"/>
                </a:cubicBezTo>
                <a:close/>
              </a:path>
            </a:pathLst>
          </a:custGeom>
          <a:solidFill>
            <a:srgbClr val="00B4D8"/>
          </a:solidFill>
          <a:ln/>
        </p:spPr>
      </p:sp>
      <p:sp>
        <p:nvSpPr>
          <p:cNvPr id="7" name="Shape 5"/>
          <p:cNvSpPr/>
          <p:nvPr/>
        </p:nvSpPr>
        <p:spPr>
          <a:xfrm>
            <a:off x="548991" y="1440553"/>
            <a:ext cx="175677" cy="175677"/>
          </a:xfrm>
          <a:custGeom>
            <a:avLst/>
            <a:gdLst/>
            <a:ahLst/>
            <a:cxnLst/>
            <a:rect l="l" t="t" r="r" b="b"/>
            <a:pathLst>
              <a:path w="175677" h="175677">
                <a:moveTo>
                  <a:pt x="10980" y="21960"/>
                </a:moveTo>
                <a:cubicBezTo>
                  <a:pt x="4907" y="21960"/>
                  <a:pt x="0" y="26866"/>
                  <a:pt x="0" y="32939"/>
                </a:cubicBezTo>
                <a:cubicBezTo>
                  <a:pt x="0" y="39013"/>
                  <a:pt x="4907" y="43919"/>
                  <a:pt x="10980" y="43919"/>
                </a:cubicBezTo>
                <a:lnTo>
                  <a:pt x="40728" y="43919"/>
                </a:lnTo>
                <a:cubicBezTo>
                  <a:pt x="44949" y="53630"/>
                  <a:pt x="54625" y="60389"/>
                  <a:pt x="65879" y="60389"/>
                </a:cubicBezTo>
                <a:cubicBezTo>
                  <a:pt x="77133" y="60389"/>
                  <a:pt x="86809" y="53630"/>
                  <a:pt x="91030" y="43919"/>
                </a:cubicBezTo>
                <a:lnTo>
                  <a:pt x="164697" y="43919"/>
                </a:lnTo>
                <a:cubicBezTo>
                  <a:pt x="170771" y="43919"/>
                  <a:pt x="175677" y="39013"/>
                  <a:pt x="175677" y="32939"/>
                </a:cubicBezTo>
                <a:cubicBezTo>
                  <a:pt x="175677" y="26866"/>
                  <a:pt x="170771" y="21960"/>
                  <a:pt x="164697" y="21960"/>
                </a:cubicBezTo>
                <a:lnTo>
                  <a:pt x="91030" y="21960"/>
                </a:lnTo>
                <a:cubicBezTo>
                  <a:pt x="86809" y="12249"/>
                  <a:pt x="77133" y="5490"/>
                  <a:pt x="65879" y="5490"/>
                </a:cubicBezTo>
                <a:cubicBezTo>
                  <a:pt x="54625" y="5490"/>
                  <a:pt x="44949" y="12249"/>
                  <a:pt x="40728" y="21960"/>
                </a:cubicBezTo>
                <a:lnTo>
                  <a:pt x="10980" y="21960"/>
                </a:lnTo>
                <a:close/>
                <a:moveTo>
                  <a:pt x="10980" y="76859"/>
                </a:moveTo>
                <a:cubicBezTo>
                  <a:pt x="4907" y="76859"/>
                  <a:pt x="0" y="81765"/>
                  <a:pt x="0" y="87839"/>
                </a:cubicBezTo>
                <a:cubicBezTo>
                  <a:pt x="0" y="93912"/>
                  <a:pt x="4907" y="98818"/>
                  <a:pt x="10980" y="98818"/>
                </a:cubicBezTo>
                <a:lnTo>
                  <a:pt x="95627" y="98818"/>
                </a:lnTo>
                <a:cubicBezTo>
                  <a:pt x="99848" y="108529"/>
                  <a:pt x="109524" y="115288"/>
                  <a:pt x="120778" y="115288"/>
                </a:cubicBezTo>
                <a:cubicBezTo>
                  <a:pt x="132032" y="115288"/>
                  <a:pt x="141708" y="108529"/>
                  <a:pt x="145929" y="98818"/>
                </a:cubicBezTo>
                <a:lnTo>
                  <a:pt x="164697" y="98818"/>
                </a:lnTo>
                <a:cubicBezTo>
                  <a:pt x="170771" y="98818"/>
                  <a:pt x="175677" y="93912"/>
                  <a:pt x="175677" y="87839"/>
                </a:cubicBezTo>
                <a:cubicBezTo>
                  <a:pt x="175677" y="81765"/>
                  <a:pt x="170771" y="76859"/>
                  <a:pt x="164697" y="76859"/>
                </a:cubicBezTo>
                <a:lnTo>
                  <a:pt x="145929" y="76859"/>
                </a:lnTo>
                <a:cubicBezTo>
                  <a:pt x="141708" y="67149"/>
                  <a:pt x="132032" y="60389"/>
                  <a:pt x="120778" y="60389"/>
                </a:cubicBezTo>
                <a:cubicBezTo>
                  <a:pt x="109524" y="60389"/>
                  <a:pt x="99848" y="67149"/>
                  <a:pt x="95627" y="76859"/>
                </a:cubicBezTo>
                <a:lnTo>
                  <a:pt x="10980" y="76859"/>
                </a:lnTo>
                <a:close/>
                <a:moveTo>
                  <a:pt x="10980" y="131758"/>
                </a:moveTo>
                <a:cubicBezTo>
                  <a:pt x="4907" y="131758"/>
                  <a:pt x="0" y="136665"/>
                  <a:pt x="0" y="142738"/>
                </a:cubicBezTo>
                <a:cubicBezTo>
                  <a:pt x="0" y="148811"/>
                  <a:pt x="4907" y="153718"/>
                  <a:pt x="10980" y="153718"/>
                </a:cubicBezTo>
                <a:lnTo>
                  <a:pt x="29748" y="153718"/>
                </a:lnTo>
                <a:cubicBezTo>
                  <a:pt x="33969" y="163428"/>
                  <a:pt x="43645" y="170187"/>
                  <a:pt x="54899" y="170187"/>
                </a:cubicBezTo>
                <a:cubicBezTo>
                  <a:pt x="66153" y="170187"/>
                  <a:pt x="75829" y="163428"/>
                  <a:pt x="80050" y="153718"/>
                </a:cubicBezTo>
                <a:lnTo>
                  <a:pt x="164697" y="153718"/>
                </a:lnTo>
                <a:cubicBezTo>
                  <a:pt x="170771" y="153718"/>
                  <a:pt x="175677" y="148811"/>
                  <a:pt x="175677" y="142738"/>
                </a:cubicBezTo>
                <a:cubicBezTo>
                  <a:pt x="175677" y="136665"/>
                  <a:pt x="170771" y="131758"/>
                  <a:pt x="164697" y="131758"/>
                </a:cubicBezTo>
                <a:lnTo>
                  <a:pt x="80050" y="131758"/>
                </a:lnTo>
                <a:cubicBezTo>
                  <a:pt x="75829" y="122048"/>
                  <a:pt x="66153" y="115288"/>
                  <a:pt x="54899" y="115288"/>
                </a:cubicBezTo>
                <a:cubicBezTo>
                  <a:pt x="43645" y="115288"/>
                  <a:pt x="33969" y="122048"/>
                  <a:pt x="29748" y="131758"/>
                </a:cubicBezTo>
                <a:lnTo>
                  <a:pt x="10980" y="131758"/>
                </a:lnTo>
                <a:close/>
              </a:path>
            </a:pathLst>
          </a:custGeom>
          <a:solidFill>
            <a:srgbClr val="00B4D8"/>
          </a:solidFill>
          <a:ln/>
        </p:spPr>
      </p:sp>
      <p:sp>
        <p:nvSpPr>
          <p:cNvPr id="8" name="Text 6"/>
          <p:cNvSpPr/>
          <p:nvPr/>
        </p:nvSpPr>
        <p:spPr>
          <a:xfrm>
            <a:off x="746628" y="1405418"/>
            <a:ext cx="5191262" cy="245948"/>
          </a:xfrm>
          <a:prstGeom prst="rect">
            <a:avLst/>
          </a:prstGeom>
          <a:noFill/>
          <a:ln/>
        </p:spPr>
        <p:txBody>
          <a:bodyPr wrap="square" lIns="0" tIns="0" rIns="0" bIns="0" rtlCol="0" anchor="ctr"/>
          <a:lstStyle/>
          <a:p>
            <a:pPr>
              <a:lnSpc>
                <a:spcPct val="120000"/>
              </a:lnSpc>
            </a:pPr>
            <a:r>
              <a:rPr lang="en-US" sz="1383" b="1" dirty="0">
                <a:solidFill>
                  <a:srgbClr val="00B4D8"/>
                </a:solidFill>
                <a:latin typeface="Liter" pitchFamily="34" charset="0"/>
                <a:ea typeface="Liter" pitchFamily="34" charset="-122"/>
                <a:cs typeface="Liter" pitchFamily="34" charset="-120"/>
              </a:rPr>
              <a:t>Dynamic Fusion Mechanism</a:t>
            </a:r>
            <a:endParaRPr lang="en-US" sz="1600" dirty="0"/>
          </a:p>
        </p:txBody>
      </p:sp>
      <p:sp>
        <p:nvSpPr>
          <p:cNvPr id="9" name="Text 7"/>
          <p:cNvSpPr/>
          <p:nvPr/>
        </p:nvSpPr>
        <p:spPr>
          <a:xfrm>
            <a:off x="527032" y="1756772"/>
            <a:ext cx="5393291" cy="685141"/>
          </a:xfrm>
          <a:prstGeom prst="rect">
            <a:avLst/>
          </a:prstGeom>
          <a:noFill/>
          <a:ln/>
        </p:spPr>
        <p:txBody>
          <a:bodyPr wrap="square" lIns="0" tIns="0" rIns="0" bIns="0" rtlCol="0" anchor="ctr"/>
          <a:lstStyle/>
          <a:p>
            <a:pPr>
              <a:lnSpc>
                <a:spcPct val="140000"/>
              </a:lnSpc>
            </a:pPr>
            <a:r>
              <a:rPr lang="en-US" sz="1107" dirty="0">
                <a:solidFill>
                  <a:srgbClr val="F1FAEE"/>
                </a:solidFill>
                <a:latin typeface="Liter" pitchFamily="34" charset="0"/>
                <a:ea typeface="Liter" pitchFamily="34" charset="-122"/>
                <a:cs typeface="Liter" pitchFamily="34" charset="-120"/>
              </a:rPr>
              <a:t>Multiple Grad-CAM layers are </a:t>
            </a:r>
            <a:pPr>
              <a:lnSpc>
                <a:spcPct val="140000"/>
              </a:lnSpc>
            </a:pPr>
            <a:r>
              <a:rPr lang="en-US" sz="1107" b="1" dirty="0">
                <a:solidFill>
                  <a:srgbClr val="F1FAEE"/>
                </a:solidFill>
                <a:latin typeface="Liter" pitchFamily="34" charset="0"/>
                <a:ea typeface="Liter" pitchFamily="34" charset="-122"/>
                <a:cs typeface="Liter" pitchFamily="34" charset="-120"/>
              </a:rPr>
              <a:t>fused dynamically</a:t>
            </a:r>
            <a:pPr>
              <a:lnSpc>
                <a:spcPct val="140000"/>
              </a:lnSpc>
            </a:pPr>
            <a:r>
              <a:rPr lang="en-US" sz="1107" dirty="0">
                <a:solidFill>
                  <a:srgbClr val="F1FAEE"/>
                </a:solidFill>
                <a:latin typeface="Liter" pitchFamily="34" charset="0"/>
                <a:ea typeface="Liter" pitchFamily="34" charset="-122"/>
                <a:cs typeface="Liter" pitchFamily="34" charset="-120"/>
              </a:rPr>
              <a:t> with adaptive weights. Each layer receives weight based on its </a:t>
            </a:r>
            <a:pPr>
              <a:lnSpc>
                <a:spcPct val="140000"/>
              </a:lnSpc>
            </a:pPr>
            <a:r>
              <a:rPr lang="en-US" sz="1107" b="1" dirty="0">
                <a:solidFill>
                  <a:srgbClr val="00B4D8"/>
                </a:solidFill>
                <a:latin typeface="Liter" pitchFamily="34" charset="0"/>
                <a:ea typeface="Liter" pitchFamily="34" charset="-122"/>
                <a:cs typeface="Liter" pitchFamily="34" charset="-120"/>
              </a:rPr>
              <a:t>confidence retention score</a:t>
            </a:r>
            <a:pPr>
              <a:lnSpc>
                <a:spcPct val="140000"/>
              </a:lnSpc>
            </a:pPr>
            <a:r>
              <a:rPr lang="en-US" sz="1107" dirty="0">
                <a:solidFill>
                  <a:srgbClr val="F1FAEE"/>
                </a:solidFill>
                <a:latin typeface="Liter" pitchFamily="34" charset="0"/>
                <a:ea typeface="Liter" pitchFamily="34" charset="-122"/>
                <a:cs typeface="Liter" pitchFamily="34" charset="-120"/>
              </a:rPr>
              <a:t>. Stronger diagnostic layers dominate the fusion.</a:t>
            </a:r>
            <a:endParaRPr lang="en-US" sz="1600" dirty="0"/>
          </a:p>
        </p:txBody>
      </p:sp>
      <p:sp>
        <p:nvSpPr>
          <p:cNvPr id="10" name="Shape 8"/>
          <p:cNvSpPr/>
          <p:nvPr/>
        </p:nvSpPr>
        <p:spPr>
          <a:xfrm>
            <a:off x="527032" y="2582455"/>
            <a:ext cx="5323020" cy="878386"/>
          </a:xfrm>
          <a:prstGeom prst="roundRect">
            <a:avLst>
              <a:gd name="adj" fmla="val 8000"/>
            </a:avLst>
          </a:prstGeom>
          <a:solidFill>
            <a:srgbClr val="0A192F"/>
          </a:solidFill>
          <a:ln/>
        </p:spPr>
      </p:sp>
      <p:sp>
        <p:nvSpPr>
          <p:cNvPr id="11" name="Text 9"/>
          <p:cNvSpPr/>
          <p:nvPr/>
        </p:nvSpPr>
        <p:spPr>
          <a:xfrm>
            <a:off x="632438" y="2687862"/>
            <a:ext cx="5182478" cy="210813"/>
          </a:xfrm>
          <a:prstGeom prst="rect">
            <a:avLst/>
          </a:prstGeom>
          <a:noFill/>
          <a:ln/>
        </p:spPr>
        <p:txBody>
          <a:bodyPr wrap="square" lIns="0" tIns="0" rIns="0" bIns="0" rtlCol="0" anchor="ctr"/>
          <a:lstStyle/>
          <a:p>
            <a:pPr>
              <a:lnSpc>
                <a:spcPct val="130000"/>
              </a:lnSpc>
            </a:pPr>
            <a:r>
              <a:rPr lang="en-US" sz="1107" b="1" dirty="0">
                <a:solidFill>
                  <a:srgbClr val="3A86FF"/>
                </a:solidFill>
                <a:latin typeface="Liter" pitchFamily="34" charset="0"/>
                <a:ea typeface="Liter" pitchFamily="34" charset="-122"/>
                <a:cs typeface="Liter" pitchFamily="34" charset="-120"/>
              </a:rPr>
              <a:t>Weight Computation</a:t>
            </a:r>
            <a:endParaRPr lang="en-US" sz="1600" dirty="0"/>
          </a:p>
        </p:txBody>
      </p:sp>
      <p:sp>
        <p:nvSpPr>
          <p:cNvPr id="12" name="Text 10"/>
          <p:cNvSpPr/>
          <p:nvPr/>
        </p:nvSpPr>
        <p:spPr>
          <a:xfrm>
            <a:off x="632438" y="2968945"/>
            <a:ext cx="5173695" cy="175677"/>
          </a:xfrm>
          <a:prstGeom prst="rect">
            <a:avLst/>
          </a:prstGeom>
          <a:noFill/>
          <a:ln/>
        </p:spPr>
        <p:txBody>
          <a:bodyPr wrap="square" lIns="0" tIns="0" rIns="0" bIns="0" rtlCol="0" anchor="ctr"/>
          <a:lstStyle/>
          <a:p>
            <a:pPr>
              <a:lnSpc>
                <a:spcPct val="120000"/>
              </a:lnSpc>
            </a:pPr>
            <a:r>
              <a:rPr lang="en-US" sz="968" dirty="0">
                <a:solidFill>
                  <a:srgbClr val="F1FAEE"/>
                </a:solidFill>
                <a:latin typeface="MiSans" pitchFamily="34" charset="0"/>
                <a:ea typeface="MiSans" pitchFamily="34" charset="-122"/>
                <a:cs typeface="MiSans" pitchFamily="34" charset="-120"/>
              </a:rPr>
              <a:t>w</a:t>
            </a:r>
            <a:pPr>
              <a:lnSpc>
                <a:spcPct val="120000"/>
              </a:lnSpc>
            </a:pPr>
            <a:r>
              <a:rPr lang="en-US" sz="726" dirty="0">
                <a:solidFill>
                  <a:srgbClr val="F1FAEE"/>
                </a:solidFill>
                <a:latin typeface="MiSans" pitchFamily="34" charset="0"/>
                <a:ea typeface="MiSans" pitchFamily="34" charset="-122"/>
                <a:cs typeface="MiSans" pitchFamily="34" charset="-120"/>
              </a:rPr>
              <a:t>ℓ</a:t>
            </a:r>
            <a:pPr>
              <a:lnSpc>
                <a:spcPct val="120000"/>
              </a:lnSpc>
            </a:pPr>
            <a:r>
              <a:rPr lang="en-US" sz="968" dirty="0">
                <a:solidFill>
                  <a:srgbClr val="F1FAEE"/>
                </a:solidFill>
                <a:latin typeface="MiSans" pitchFamily="34" charset="0"/>
                <a:ea typeface="MiSans" pitchFamily="34" charset="-122"/>
                <a:cs typeface="MiSans" pitchFamily="34" charset="-120"/>
              </a:rPr>
              <a:t> = r</a:t>
            </a:r>
            <a:pPr>
              <a:lnSpc>
                <a:spcPct val="120000"/>
              </a:lnSpc>
            </a:pPr>
            <a:r>
              <a:rPr lang="en-US" sz="726" dirty="0">
                <a:solidFill>
                  <a:srgbClr val="F1FAEE"/>
                </a:solidFill>
                <a:latin typeface="MiSans" pitchFamily="34" charset="0"/>
                <a:ea typeface="MiSans" pitchFamily="34" charset="-122"/>
                <a:cs typeface="MiSans" pitchFamily="34" charset="-120"/>
              </a:rPr>
              <a:t>ℓ</a:t>
            </a:r>
            <a:pPr>
              <a:lnSpc>
                <a:spcPct val="120000"/>
              </a:lnSpc>
            </a:pPr>
            <a:r>
              <a:rPr lang="en-US" sz="968" dirty="0">
                <a:solidFill>
                  <a:srgbClr val="F1FAEE"/>
                </a:solidFill>
                <a:latin typeface="MiSans" pitchFamily="34" charset="0"/>
                <a:ea typeface="MiSans" pitchFamily="34" charset="-122"/>
                <a:cs typeface="MiSans" pitchFamily="34" charset="-120"/>
              </a:rPr>
              <a:t> / Σr</a:t>
            </a:r>
            <a:pPr>
              <a:lnSpc>
                <a:spcPct val="120000"/>
              </a:lnSpc>
            </a:pPr>
            <a:r>
              <a:rPr lang="en-US" sz="726" dirty="0">
                <a:solidFill>
                  <a:srgbClr val="F1FAEE"/>
                </a:solidFill>
                <a:latin typeface="MiSans" pitchFamily="34" charset="0"/>
                <a:ea typeface="MiSans" pitchFamily="34" charset="-122"/>
                <a:cs typeface="MiSans" pitchFamily="34" charset="-120"/>
              </a:rPr>
              <a:t>ℓ′</a:t>
            </a:r>
            <a:endParaRPr lang="en-US" sz="1600" dirty="0"/>
          </a:p>
        </p:txBody>
      </p:sp>
      <p:sp>
        <p:nvSpPr>
          <p:cNvPr id="13" name="Text 11"/>
          <p:cNvSpPr/>
          <p:nvPr/>
        </p:nvSpPr>
        <p:spPr>
          <a:xfrm>
            <a:off x="632438" y="3214893"/>
            <a:ext cx="5164911" cy="140542"/>
          </a:xfrm>
          <a:prstGeom prst="rect">
            <a:avLst/>
          </a:prstGeom>
          <a:noFill/>
          <a:ln/>
        </p:spPr>
        <p:txBody>
          <a:bodyPr wrap="square" lIns="0" tIns="0" rIns="0" bIns="0" rtlCol="0" anchor="ctr"/>
          <a:lstStyle/>
          <a:p>
            <a:pPr>
              <a:lnSpc>
                <a:spcPct val="110000"/>
              </a:lnSpc>
            </a:pPr>
            <a:r>
              <a:rPr lang="en-US" sz="830" dirty="0">
                <a:solidFill>
                  <a:srgbClr val="5C677D"/>
                </a:solidFill>
                <a:latin typeface="Liter" pitchFamily="34" charset="0"/>
                <a:ea typeface="Liter" pitchFamily="34" charset="-122"/>
                <a:cs typeface="Liter" pitchFamily="34" charset="-120"/>
              </a:rPr>
              <a:t>Normalized retention scores ensure weights sum to 1.0</a:t>
            </a:r>
            <a:endParaRPr lang="en-US" sz="1600" dirty="0"/>
          </a:p>
        </p:txBody>
      </p:sp>
      <p:sp>
        <p:nvSpPr>
          <p:cNvPr id="14" name="Shape 12"/>
          <p:cNvSpPr/>
          <p:nvPr/>
        </p:nvSpPr>
        <p:spPr>
          <a:xfrm>
            <a:off x="354868" y="3745327"/>
            <a:ext cx="5637482" cy="1447580"/>
          </a:xfrm>
          <a:prstGeom prst="roundRect">
            <a:avLst>
              <a:gd name="adj" fmla="val 4854"/>
            </a:avLst>
          </a:prstGeom>
          <a:solidFill>
            <a:srgbClr val="112240"/>
          </a:solidFill>
          <a:ln w="10160">
            <a:solidFill>
              <a:srgbClr val="3A86FF"/>
            </a:solidFill>
            <a:prstDash val="solid"/>
          </a:ln>
        </p:spPr>
      </p:sp>
      <p:sp>
        <p:nvSpPr>
          <p:cNvPr id="15" name="Text 13"/>
          <p:cNvSpPr/>
          <p:nvPr/>
        </p:nvSpPr>
        <p:spPr>
          <a:xfrm>
            <a:off x="498923" y="3889389"/>
            <a:ext cx="5428427" cy="245948"/>
          </a:xfrm>
          <a:prstGeom prst="rect">
            <a:avLst/>
          </a:prstGeom>
          <a:noFill/>
          <a:ln/>
        </p:spPr>
        <p:txBody>
          <a:bodyPr wrap="square" lIns="0" tIns="0" rIns="0" bIns="0" rtlCol="0" anchor="ctr"/>
          <a:lstStyle/>
          <a:p>
            <a:pPr>
              <a:lnSpc>
                <a:spcPct val="130000"/>
              </a:lnSpc>
            </a:pPr>
            <a:r>
              <a:rPr lang="en-US" sz="1245" b="1" dirty="0">
                <a:solidFill>
                  <a:srgbClr val="3A86FF"/>
                </a:solidFill>
                <a:latin typeface="Liter" pitchFamily="34" charset="0"/>
                <a:ea typeface="Liter" pitchFamily="34" charset="-122"/>
                <a:cs typeface="Liter" pitchFamily="34" charset="-120"/>
              </a:rPr>
              <a:t>Mathematical Properties</a:t>
            </a:r>
            <a:endParaRPr lang="en-US" sz="1600" dirty="0"/>
          </a:p>
        </p:txBody>
      </p:sp>
      <p:sp>
        <p:nvSpPr>
          <p:cNvPr id="16" name="Shape 14"/>
          <p:cNvSpPr/>
          <p:nvPr/>
        </p:nvSpPr>
        <p:spPr>
          <a:xfrm>
            <a:off x="498923" y="4240744"/>
            <a:ext cx="1712853" cy="808115"/>
          </a:xfrm>
          <a:prstGeom prst="roundRect">
            <a:avLst>
              <a:gd name="adj" fmla="val 8696"/>
            </a:avLst>
          </a:prstGeom>
          <a:solidFill>
            <a:srgbClr val="3A86FF"/>
          </a:solidFill>
          <a:ln/>
        </p:spPr>
      </p:sp>
      <p:sp>
        <p:nvSpPr>
          <p:cNvPr id="17" name="Shape 15"/>
          <p:cNvSpPr/>
          <p:nvPr/>
        </p:nvSpPr>
        <p:spPr>
          <a:xfrm>
            <a:off x="1249285" y="4346150"/>
            <a:ext cx="210813" cy="210813"/>
          </a:xfrm>
          <a:custGeom>
            <a:avLst/>
            <a:gdLst/>
            <a:ahLst/>
            <a:cxnLst/>
            <a:rect l="l" t="t" r="r" b="b"/>
            <a:pathLst>
              <a:path w="210813" h="210813">
                <a:moveTo>
                  <a:pt x="105406" y="210813"/>
                </a:moveTo>
                <a:cubicBezTo>
                  <a:pt x="163582" y="210813"/>
                  <a:pt x="210813" y="163582"/>
                  <a:pt x="210813" y="105406"/>
                </a:cubicBezTo>
                <a:cubicBezTo>
                  <a:pt x="210813" y="47231"/>
                  <a:pt x="163582" y="0"/>
                  <a:pt x="105406" y="0"/>
                </a:cubicBezTo>
                <a:cubicBezTo>
                  <a:pt x="47231" y="0"/>
                  <a:pt x="0" y="47231"/>
                  <a:pt x="0" y="105406"/>
                </a:cubicBezTo>
                <a:cubicBezTo>
                  <a:pt x="0" y="163582"/>
                  <a:pt x="47231" y="210813"/>
                  <a:pt x="105406" y="210813"/>
                </a:cubicBezTo>
                <a:close/>
                <a:moveTo>
                  <a:pt x="95524" y="141640"/>
                </a:moveTo>
                <a:lnTo>
                  <a:pt x="95524" y="115288"/>
                </a:lnTo>
                <a:lnTo>
                  <a:pt x="69173" y="115288"/>
                </a:lnTo>
                <a:cubicBezTo>
                  <a:pt x="63697" y="115288"/>
                  <a:pt x="59291" y="110883"/>
                  <a:pt x="59291" y="105406"/>
                </a:cubicBezTo>
                <a:cubicBezTo>
                  <a:pt x="59291" y="99930"/>
                  <a:pt x="63697" y="95524"/>
                  <a:pt x="69173" y="95524"/>
                </a:cubicBezTo>
                <a:lnTo>
                  <a:pt x="95524" y="95524"/>
                </a:lnTo>
                <a:lnTo>
                  <a:pt x="95524" y="69173"/>
                </a:lnTo>
                <a:cubicBezTo>
                  <a:pt x="95524" y="63697"/>
                  <a:pt x="99930" y="59291"/>
                  <a:pt x="105406" y="59291"/>
                </a:cubicBezTo>
                <a:cubicBezTo>
                  <a:pt x="110883" y="59291"/>
                  <a:pt x="115288" y="63697"/>
                  <a:pt x="115288" y="69173"/>
                </a:cubicBezTo>
                <a:lnTo>
                  <a:pt x="115288" y="95524"/>
                </a:lnTo>
                <a:lnTo>
                  <a:pt x="141640" y="95524"/>
                </a:lnTo>
                <a:cubicBezTo>
                  <a:pt x="147116" y="95524"/>
                  <a:pt x="151522" y="99930"/>
                  <a:pt x="151522" y="105406"/>
                </a:cubicBezTo>
                <a:cubicBezTo>
                  <a:pt x="151522" y="110883"/>
                  <a:pt x="147116" y="115288"/>
                  <a:pt x="141640" y="115288"/>
                </a:cubicBezTo>
                <a:lnTo>
                  <a:pt x="115288" y="115288"/>
                </a:lnTo>
                <a:lnTo>
                  <a:pt x="115288" y="141640"/>
                </a:lnTo>
                <a:cubicBezTo>
                  <a:pt x="115288" y="147116"/>
                  <a:pt x="110883" y="151522"/>
                  <a:pt x="105406" y="151522"/>
                </a:cubicBezTo>
                <a:cubicBezTo>
                  <a:pt x="99930" y="151522"/>
                  <a:pt x="95524" y="147116"/>
                  <a:pt x="95524" y="141640"/>
                </a:cubicBezTo>
                <a:close/>
              </a:path>
            </a:pathLst>
          </a:custGeom>
          <a:solidFill>
            <a:srgbClr val="F1FAEE"/>
          </a:solidFill>
          <a:ln/>
        </p:spPr>
      </p:sp>
      <p:sp>
        <p:nvSpPr>
          <p:cNvPr id="18" name="Text 16"/>
          <p:cNvSpPr/>
          <p:nvPr/>
        </p:nvSpPr>
        <p:spPr>
          <a:xfrm>
            <a:off x="573586" y="4627234"/>
            <a:ext cx="1563527" cy="175677"/>
          </a:xfrm>
          <a:prstGeom prst="rect">
            <a:avLst/>
          </a:prstGeom>
          <a:noFill/>
          <a:ln/>
        </p:spPr>
        <p:txBody>
          <a:bodyPr wrap="square" lIns="0" tIns="0" rIns="0" bIns="0" rtlCol="0" anchor="ctr"/>
          <a:lstStyle/>
          <a:p>
            <a:pPr algn="ctr">
              <a:lnSpc>
                <a:spcPct val="120000"/>
              </a:lnSpc>
            </a:pPr>
            <a:r>
              <a:rPr lang="en-US" sz="968" b="1" dirty="0">
                <a:solidFill>
                  <a:srgbClr val="F1FAEE"/>
                </a:solidFill>
                <a:latin typeface="Liter" pitchFamily="34" charset="0"/>
                <a:ea typeface="Liter" pitchFamily="34" charset="-122"/>
                <a:cs typeface="Liter" pitchFamily="34" charset="-120"/>
              </a:rPr>
              <a:t>Non-negativity</a:t>
            </a:r>
            <a:endParaRPr lang="en-US" sz="1600" dirty="0"/>
          </a:p>
        </p:txBody>
      </p:sp>
      <p:sp>
        <p:nvSpPr>
          <p:cNvPr id="19" name="Text 17"/>
          <p:cNvSpPr/>
          <p:nvPr/>
        </p:nvSpPr>
        <p:spPr>
          <a:xfrm>
            <a:off x="577978" y="4802911"/>
            <a:ext cx="1554744" cy="140542"/>
          </a:xfrm>
          <a:prstGeom prst="rect">
            <a:avLst/>
          </a:prstGeom>
          <a:noFill/>
          <a:ln/>
        </p:spPr>
        <p:txBody>
          <a:bodyPr wrap="square" lIns="0" tIns="0" rIns="0" bIns="0" rtlCol="0" anchor="ctr"/>
          <a:lstStyle/>
          <a:p>
            <a:pPr algn="ctr">
              <a:lnSpc>
                <a:spcPct val="110000"/>
              </a:lnSpc>
            </a:pPr>
            <a:r>
              <a:rPr lang="en-US" sz="830" dirty="0">
                <a:solidFill>
                  <a:srgbClr val="F1FAEE"/>
                </a:solidFill>
                <a:latin typeface="Liter" pitchFamily="34" charset="0"/>
                <a:ea typeface="Liter" pitchFamily="34" charset="-122"/>
                <a:cs typeface="Liter" pitchFamily="34" charset="-120"/>
              </a:rPr>
              <a:t>w</a:t>
            </a:r>
            <a:pPr algn="ctr">
              <a:lnSpc>
                <a:spcPct val="110000"/>
              </a:lnSpc>
            </a:pPr>
            <a:r>
              <a:rPr lang="en-US" sz="622" dirty="0">
                <a:solidFill>
                  <a:srgbClr val="F1FAEE"/>
                </a:solidFill>
                <a:latin typeface="Liter" pitchFamily="34" charset="0"/>
                <a:ea typeface="Liter" pitchFamily="34" charset="-122"/>
                <a:cs typeface="Liter" pitchFamily="34" charset="-120"/>
              </a:rPr>
              <a:t>ℓ</a:t>
            </a:r>
            <a:pPr algn="ctr">
              <a:lnSpc>
                <a:spcPct val="110000"/>
              </a:lnSpc>
            </a:pPr>
            <a:r>
              <a:rPr lang="en-US" sz="830" dirty="0">
                <a:solidFill>
                  <a:srgbClr val="F1FAEE"/>
                </a:solidFill>
                <a:latin typeface="Liter" pitchFamily="34" charset="0"/>
                <a:ea typeface="Liter" pitchFamily="34" charset="-122"/>
                <a:cs typeface="Liter" pitchFamily="34" charset="-120"/>
              </a:rPr>
              <a:t> ≥ 0</a:t>
            </a:r>
            <a:endParaRPr lang="en-US" sz="1600" dirty="0"/>
          </a:p>
        </p:txBody>
      </p:sp>
      <p:sp>
        <p:nvSpPr>
          <p:cNvPr id="20" name="Shape 18"/>
          <p:cNvSpPr/>
          <p:nvPr/>
        </p:nvSpPr>
        <p:spPr>
          <a:xfrm>
            <a:off x="2315975" y="4240744"/>
            <a:ext cx="1712853" cy="808115"/>
          </a:xfrm>
          <a:prstGeom prst="roundRect">
            <a:avLst>
              <a:gd name="adj" fmla="val 8696"/>
            </a:avLst>
          </a:prstGeom>
          <a:solidFill>
            <a:srgbClr val="00B4D8"/>
          </a:solidFill>
          <a:ln/>
        </p:spPr>
      </p:sp>
      <p:sp>
        <p:nvSpPr>
          <p:cNvPr id="21" name="Shape 19"/>
          <p:cNvSpPr/>
          <p:nvPr/>
        </p:nvSpPr>
        <p:spPr>
          <a:xfrm>
            <a:off x="3079622" y="4346150"/>
            <a:ext cx="184461" cy="210813"/>
          </a:xfrm>
          <a:custGeom>
            <a:avLst/>
            <a:gdLst/>
            <a:ahLst/>
            <a:cxnLst/>
            <a:rect l="l" t="t" r="r" b="b"/>
            <a:pathLst>
              <a:path w="184461" h="210813">
                <a:moveTo>
                  <a:pt x="13176" y="52703"/>
                </a:moveTo>
                <a:cubicBezTo>
                  <a:pt x="5888" y="52703"/>
                  <a:pt x="0" y="58591"/>
                  <a:pt x="0" y="65879"/>
                </a:cubicBezTo>
                <a:cubicBezTo>
                  <a:pt x="0" y="73167"/>
                  <a:pt x="5888" y="79055"/>
                  <a:pt x="13176" y="79055"/>
                </a:cubicBezTo>
                <a:lnTo>
                  <a:pt x="171285" y="79055"/>
                </a:lnTo>
                <a:cubicBezTo>
                  <a:pt x="178573" y="79055"/>
                  <a:pt x="184461" y="73167"/>
                  <a:pt x="184461" y="65879"/>
                </a:cubicBezTo>
                <a:cubicBezTo>
                  <a:pt x="184461" y="58591"/>
                  <a:pt x="178573" y="52703"/>
                  <a:pt x="171285" y="52703"/>
                </a:cubicBezTo>
                <a:lnTo>
                  <a:pt x="13176" y="52703"/>
                </a:lnTo>
                <a:close/>
                <a:moveTo>
                  <a:pt x="13176" y="131758"/>
                </a:moveTo>
                <a:cubicBezTo>
                  <a:pt x="5888" y="131758"/>
                  <a:pt x="0" y="137646"/>
                  <a:pt x="0" y="144934"/>
                </a:cubicBezTo>
                <a:cubicBezTo>
                  <a:pt x="0" y="152222"/>
                  <a:pt x="5888" y="158110"/>
                  <a:pt x="13176" y="158110"/>
                </a:cubicBezTo>
                <a:lnTo>
                  <a:pt x="171285" y="158110"/>
                </a:lnTo>
                <a:cubicBezTo>
                  <a:pt x="178573" y="158110"/>
                  <a:pt x="184461" y="152222"/>
                  <a:pt x="184461" y="144934"/>
                </a:cubicBezTo>
                <a:cubicBezTo>
                  <a:pt x="184461" y="137646"/>
                  <a:pt x="178573" y="131758"/>
                  <a:pt x="171285" y="131758"/>
                </a:cubicBezTo>
                <a:lnTo>
                  <a:pt x="13176" y="131758"/>
                </a:lnTo>
                <a:close/>
              </a:path>
            </a:pathLst>
          </a:custGeom>
          <a:solidFill>
            <a:srgbClr val="F1FAEE"/>
          </a:solidFill>
          <a:ln/>
        </p:spPr>
      </p:sp>
      <p:sp>
        <p:nvSpPr>
          <p:cNvPr id="22" name="Text 20"/>
          <p:cNvSpPr/>
          <p:nvPr/>
        </p:nvSpPr>
        <p:spPr>
          <a:xfrm>
            <a:off x="2390638" y="4627234"/>
            <a:ext cx="1563527" cy="175677"/>
          </a:xfrm>
          <a:prstGeom prst="rect">
            <a:avLst/>
          </a:prstGeom>
          <a:noFill/>
          <a:ln/>
        </p:spPr>
        <p:txBody>
          <a:bodyPr wrap="square" lIns="0" tIns="0" rIns="0" bIns="0" rtlCol="0" anchor="ctr"/>
          <a:lstStyle/>
          <a:p>
            <a:pPr algn="ctr">
              <a:lnSpc>
                <a:spcPct val="120000"/>
              </a:lnSpc>
            </a:pPr>
            <a:r>
              <a:rPr lang="en-US" sz="968" b="1" dirty="0">
                <a:solidFill>
                  <a:srgbClr val="F1FAEE"/>
                </a:solidFill>
                <a:latin typeface="Liter" pitchFamily="34" charset="0"/>
                <a:ea typeface="Liter" pitchFamily="34" charset="-122"/>
                <a:cs typeface="Liter" pitchFamily="34" charset="-120"/>
              </a:rPr>
              <a:t>Normalization</a:t>
            </a:r>
            <a:endParaRPr lang="en-US" sz="1600" dirty="0"/>
          </a:p>
        </p:txBody>
      </p:sp>
      <p:sp>
        <p:nvSpPr>
          <p:cNvPr id="23" name="Text 21"/>
          <p:cNvSpPr/>
          <p:nvPr/>
        </p:nvSpPr>
        <p:spPr>
          <a:xfrm>
            <a:off x="2395030" y="4802911"/>
            <a:ext cx="1554744" cy="140542"/>
          </a:xfrm>
          <a:prstGeom prst="rect">
            <a:avLst/>
          </a:prstGeom>
          <a:noFill/>
          <a:ln/>
        </p:spPr>
        <p:txBody>
          <a:bodyPr wrap="square" lIns="0" tIns="0" rIns="0" bIns="0" rtlCol="0" anchor="ctr"/>
          <a:lstStyle/>
          <a:p>
            <a:pPr algn="ctr">
              <a:lnSpc>
                <a:spcPct val="110000"/>
              </a:lnSpc>
            </a:pPr>
            <a:r>
              <a:rPr lang="en-US" sz="830" dirty="0">
                <a:solidFill>
                  <a:srgbClr val="F1FAEE"/>
                </a:solidFill>
                <a:latin typeface="Liter" pitchFamily="34" charset="0"/>
                <a:ea typeface="Liter" pitchFamily="34" charset="-122"/>
                <a:cs typeface="Liter" pitchFamily="34" charset="-120"/>
              </a:rPr>
              <a:t>Σw</a:t>
            </a:r>
            <a:pPr algn="ctr">
              <a:lnSpc>
                <a:spcPct val="110000"/>
              </a:lnSpc>
            </a:pPr>
            <a:r>
              <a:rPr lang="en-US" sz="622" dirty="0">
                <a:solidFill>
                  <a:srgbClr val="F1FAEE"/>
                </a:solidFill>
                <a:latin typeface="Liter" pitchFamily="34" charset="0"/>
                <a:ea typeface="Liter" pitchFamily="34" charset="-122"/>
                <a:cs typeface="Liter" pitchFamily="34" charset="-120"/>
              </a:rPr>
              <a:t>ℓ</a:t>
            </a:r>
            <a:pPr algn="ctr">
              <a:lnSpc>
                <a:spcPct val="110000"/>
              </a:lnSpc>
            </a:pPr>
            <a:r>
              <a:rPr lang="en-US" sz="830" dirty="0">
                <a:solidFill>
                  <a:srgbClr val="F1FAEE"/>
                </a:solidFill>
                <a:latin typeface="Liter" pitchFamily="34" charset="0"/>
                <a:ea typeface="Liter" pitchFamily="34" charset="-122"/>
                <a:cs typeface="Liter" pitchFamily="34" charset="-120"/>
              </a:rPr>
              <a:t> = 1.0</a:t>
            </a:r>
            <a:endParaRPr lang="en-US" sz="1600" dirty="0"/>
          </a:p>
        </p:txBody>
      </p:sp>
      <p:sp>
        <p:nvSpPr>
          <p:cNvPr id="24" name="Shape 22"/>
          <p:cNvSpPr/>
          <p:nvPr/>
        </p:nvSpPr>
        <p:spPr>
          <a:xfrm>
            <a:off x="4133136" y="4240744"/>
            <a:ext cx="1712853" cy="808115"/>
          </a:xfrm>
          <a:prstGeom prst="roundRect">
            <a:avLst>
              <a:gd name="adj" fmla="val 8696"/>
            </a:avLst>
          </a:prstGeom>
          <a:solidFill>
            <a:srgbClr val="5C677D"/>
          </a:solidFill>
          <a:ln/>
        </p:spPr>
      </p:sp>
      <p:sp>
        <p:nvSpPr>
          <p:cNvPr id="25" name="Shape 23"/>
          <p:cNvSpPr/>
          <p:nvPr/>
        </p:nvSpPr>
        <p:spPr>
          <a:xfrm>
            <a:off x="4870432" y="4346150"/>
            <a:ext cx="237164" cy="210813"/>
          </a:xfrm>
          <a:custGeom>
            <a:avLst/>
            <a:gdLst/>
            <a:ahLst/>
            <a:cxnLst/>
            <a:rect l="l" t="t" r="r" b="b"/>
            <a:pathLst>
              <a:path w="237164" h="210813">
                <a:moveTo>
                  <a:pt x="62009" y="17046"/>
                </a:moveTo>
                <a:cubicBezTo>
                  <a:pt x="56862" y="11899"/>
                  <a:pt x="48503" y="11899"/>
                  <a:pt x="43357" y="17046"/>
                </a:cubicBezTo>
                <a:lnTo>
                  <a:pt x="3829" y="56574"/>
                </a:lnTo>
                <a:cubicBezTo>
                  <a:pt x="-1318" y="61720"/>
                  <a:pt x="-1318" y="70079"/>
                  <a:pt x="3829" y="75226"/>
                </a:cubicBezTo>
                <a:cubicBezTo>
                  <a:pt x="8976" y="80372"/>
                  <a:pt x="17334" y="80372"/>
                  <a:pt x="22481" y="75226"/>
                </a:cubicBezTo>
                <a:lnTo>
                  <a:pt x="39527" y="58179"/>
                </a:lnTo>
                <a:lnTo>
                  <a:pt x="39527" y="184461"/>
                </a:lnTo>
                <a:cubicBezTo>
                  <a:pt x="39527" y="191749"/>
                  <a:pt x="45415" y="197637"/>
                  <a:pt x="52703" y="197637"/>
                </a:cubicBezTo>
                <a:cubicBezTo>
                  <a:pt x="59991" y="197637"/>
                  <a:pt x="65879" y="191749"/>
                  <a:pt x="65879" y="184461"/>
                </a:cubicBezTo>
                <a:lnTo>
                  <a:pt x="65879" y="58179"/>
                </a:lnTo>
                <a:lnTo>
                  <a:pt x="82925" y="75226"/>
                </a:lnTo>
                <a:cubicBezTo>
                  <a:pt x="88072" y="80372"/>
                  <a:pt x="96430" y="80372"/>
                  <a:pt x="101577" y="75226"/>
                </a:cubicBezTo>
                <a:cubicBezTo>
                  <a:pt x="106724" y="70079"/>
                  <a:pt x="106724" y="61720"/>
                  <a:pt x="101577" y="56574"/>
                </a:cubicBezTo>
                <a:lnTo>
                  <a:pt x="62050" y="17046"/>
                </a:lnTo>
                <a:close/>
                <a:moveTo>
                  <a:pt x="131758" y="197637"/>
                </a:moveTo>
                <a:lnTo>
                  <a:pt x="144934" y="197637"/>
                </a:lnTo>
                <a:cubicBezTo>
                  <a:pt x="152222" y="197637"/>
                  <a:pt x="158110" y="191749"/>
                  <a:pt x="158110" y="184461"/>
                </a:cubicBezTo>
                <a:cubicBezTo>
                  <a:pt x="158110" y="177173"/>
                  <a:pt x="152222" y="171285"/>
                  <a:pt x="144934" y="171285"/>
                </a:cubicBezTo>
                <a:lnTo>
                  <a:pt x="131758" y="171285"/>
                </a:lnTo>
                <a:cubicBezTo>
                  <a:pt x="124470" y="171285"/>
                  <a:pt x="118582" y="177173"/>
                  <a:pt x="118582" y="184461"/>
                </a:cubicBezTo>
                <a:cubicBezTo>
                  <a:pt x="118582" y="191749"/>
                  <a:pt x="124470" y="197637"/>
                  <a:pt x="131758" y="197637"/>
                </a:cubicBezTo>
                <a:close/>
                <a:moveTo>
                  <a:pt x="131758" y="144934"/>
                </a:moveTo>
                <a:lnTo>
                  <a:pt x="171285" y="144934"/>
                </a:lnTo>
                <a:cubicBezTo>
                  <a:pt x="178573" y="144934"/>
                  <a:pt x="184461" y="139046"/>
                  <a:pt x="184461" y="131758"/>
                </a:cubicBezTo>
                <a:cubicBezTo>
                  <a:pt x="184461" y="124470"/>
                  <a:pt x="178573" y="118582"/>
                  <a:pt x="171285" y="118582"/>
                </a:cubicBezTo>
                <a:lnTo>
                  <a:pt x="131758" y="118582"/>
                </a:lnTo>
                <a:cubicBezTo>
                  <a:pt x="124470" y="118582"/>
                  <a:pt x="118582" y="124470"/>
                  <a:pt x="118582" y="131758"/>
                </a:cubicBezTo>
                <a:cubicBezTo>
                  <a:pt x="118582" y="139046"/>
                  <a:pt x="124470" y="144934"/>
                  <a:pt x="131758" y="144934"/>
                </a:cubicBezTo>
                <a:close/>
                <a:moveTo>
                  <a:pt x="131758" y="92231"/>
                </a:moveTo>
                <a:lnTo>
                  <a:pt x="197637" y="92231"/>
                </a:lnTo>
                <a:cubicBezTo>
                  <a:pt x="204925" y="92231"/>
                  <a:pt x="210813" y="86343"/>
                  <a:pt x="210813" y="79055"/>
                </a:cubicBezTo>
                <a:cubicBezTo>
                  <a:pt x="210813" y="71767"/>
                  <a:pt x="204925" y="65879"/>
                  <a:pt x="197637" y="65879"/>
                </a:cubicBezTo>
                <a:lnTo>
                  <a:pt x="131758" y="65879"/>
                </a:lnTo>
                <a:cubicBezTo>
                  <a:pt x="124470" y="65879"/>
                  <a:pt x="118582" y="71767"/>
                  <a:pt x="118582" y="79055"/>
                </a:cubicBezTo>
                <a:cubicBezTo>
                  <a:pt x="118582" y="86343"/>
                  <a:pt x="124470" y="92231"/>
                  <a:pt x="131758" y="92231"/>
                </a:cubicBezTo>
                <a:close/>
                <a:moveTo>
                  <a:pt x="131758" y="39527"/>
                </a:moveTo>
                <a:lnTo>
                  <a:pt x="223988" y="39527"/>
                </a:lnTo>
                <a:cubicBezTo>
                  <a:pt x="231276" y="39527"/>
                  <a:pt x="237164" y="33639"/>
                  <a:pt x="237164" y="26352"/>
                </a:cubicBezTo>
                <a:cubicBezTo>
                  <a:pt x="237164" y="19064"/>
                  <a:pt x="231276" y="13176"/>
                  <a:pt x="223988" y="13176"/>
                </a:cubicBezTo>
                <a:lnTo>
                  <a:pt x="131758" y="13176"/>
                </a:lnTo>
                <a:cubicBezTo>
                  <a:pt x="124470" y="13176"/>
                  <a:pt x="118582" y="19064"/>
                  <a:pt x="118582" y="26352"/>
                </a:cubicBezTo>
                <a:cubicBezTo>
                  <a:pt x="118582" y="33639"/>
                  <a:pt x="124470" y="39527"/>
                  <a:pt x="131758" y="39527"/>
                </a:cubicBezTo>
                <a:close/>
              </a:path>
            </a:pathLst>
          </a:custGeom>
          <a:solidFill>
            <a:srgbClr val="F1FAEE"/>
          </a:solidFill>
          <a:ln/>
        </p:spPr>
      </p:sp>
      <p:sp>
        <p:nvSpPr>
          <p:cNvPr id="26" name="Text 24"/>
          <p:cNvSpPr/>
          <p:nvPr/>
        </p:nvSpPr>
        <p:spPr>
          <a:xfrm>
            <a:off x="4207799" y="4627234"/>
            <a:ext cx="1563527" cy="175677"/>
          </a:xfrm>
          <a:prstGeom prst="rect">
            <a:avLst/>
          </a:prstGeom>
          <a:noFill/>
          <a:ln/>
        </p:spPr>
        <p:txBody>
          <a:bodyPr wrap="square" lIns="0" tIns="0" rIns="0" bIns="0" rtlCol="0" anchor="ctr"/>
          <a:lstStyle/>
          <a:p>
            <a:pPr algn="ctr">
              <a:lnSpc>
                <a:spcPct val="120000"/>
              </a:lnSpc>
            </a:pPr>
            <a:r>
              <a:rPr lang="en-US" sz="968" b="1" dirty="0">
                <a:solidFill>
                  <a:srgbClr val="F1FAEE"/>
                </a:solidFill>
                <a:latin typeface="Liter" pitchFamily="34" charset="0"/>
                <a:ea typeface="Liter" pitchFamily="34" charset="-122"/>
                <a:cs typeface="Liter" pitchFamily="34" charset="-120"/>
              </a:rPr>
              <a:t>Monotonicity</a:t>
            </a:r>
            <a:endParaRPr lang="en-US" sz="1600" dirty="0"/>
          </a:p>
        </p:txBody>
      </p:sp>
      <p:sp>
        <p:nvSpPr>
          <p:cNvPr id="27" name="Text 25"/>
          <p:cNvSpPr/>
          <p:nvPr/>
        </p:nvSpPr>
        <p:spPr>
          <a:xfrm>
            <a:off x="4212191" y="4802911"/>
            <a:ext cx="1554744" cy="140542"/>
          </a:xfrm>
          <a:prstGeom prst="rect">
            <a:avLst/>
          </a:prstGeom>
          <a:noFill/>
          <a:ln/>
        </p:spPr>
        <p:txBody>
          <a:bodyPr wrap="square" lIns="0" tIns="0" rIns="0" bIns="0" rtlCol="0" anchor="ctr"/>
          <a:lstStyle/>
          <a:p>
            <a:pPr algn="ctr">
              <a:lnSpc>
                <a:spcPct val="110000"/>
              </a:lnSpc>
            </a:pPr>
            <a:r>
              <a:rPr lang="en-US" sz="830" dirty="0">
                <a:solidFill>
                  <a:srgbClr val="F1FAEE"/>
                </a:solidFill>
                <a:latin typeface="Liter" pitchFamily="34" charset="0"/>
                <a:ea typeface="Liter" pitchFamily="34" charset="-122"/>
                <a:cs typeface="Liter" pitchFamily="34" charset="-120"/>
              </a:rPr>
              <a:t>r</a:t>
            </a:r>
            <a:pPr algn="ctr">
              <a:lnSpc>
                <a:spcPct val="110000"/>
              </a:lnSpc>
            </a:pPr>
            <a:r>
              <a:rPr lang="en-US" sz="622" dirty="0">
                <a:solidFill>
                  <a:srgbClr val="F1FAEE"/>
                </a:solidFill>
                <a:latin typeface="Liter" pitchFamily="34" charset="0"/>
                <a:ea typeface="Liter" pitchFamily="34" charset="-122"/>
                <a:cs typeface="Liter" pitchFamily="34" charset="-120"/>
              </a:rPr>
              <a:t>ℓ1</a:t>
            </a:r>
            <a:pPr algn="ctr">
              <a:lnSpc>
                <a:spcPct val="110000"/>
              </a:lnSpc>
            </a:pPr>
            <a:r>
              <a:rPr lang="en-US" sz="830" dirty="0">
                <a:solidFill>
                  <a:srgbClr val="F1FAEE"/>
                </a:solidFill>
                <a:latin typeface="Liter" pitchFamily="34" charset="0"/>
                <a:ea typeface="Liter" pitchFamily="34" charset="-122"/>
                <a:cs typeface="Liter" pitchFamily="34" charset="-120"/>
              </a:rPr>
              <a:t> &gt; r</a:t>
            </a:r>
            <a:pPr algn="ctr">
              <a:lnSpc>
                <a:spcPct val="110000"/>
              </a:lnSpc>
            </a:pPr>
            <a:r>
              <a:rPr lang="en-US" sz="622" dirty="0">
                <a:solidFill>
                  <a:srgbClr val="F1FAEE"/>
                </a:solidFill>
                <a:latin typeface="Liter" pitchFamily="34" charset="0"/>
                <a:ea typeface="Liter" pitchFamily="34" charset="-122"/>
                <a:cs typeface="Liter" pitchFamily="34" charset="-120"/>
              </a:rPr>
              <a:t>ℓ2</a:t>
            </a:r>
            <a:pPr algn="ctr">
              <a:lnSpc>
                <a:spcPct val="110000"/>
              </a:lnSpc>
            </a:pPr>
            <a:r>
              <a:rPr lang="en-US" sz="830" dirty="0">
                <a:solidFill>
                  <a:srgbClr val="F1FAEE"/>
                </a:solidFill>
                <a:latin typeface="Liter" pitchFamily="34" charset="0"/>
                <a:ea typeface="Liter" pitchFamily="34" charset="-122"/>
                <a:cs typeface="Liter" pitchFamily="34" charset="-120"/>
              </a:rPr>
              <a:t> → w</a:t>
            </a:r>
            <a:pPr algn="ctr">
              <a:lnSpc>
                <a:spcPct val="110000"/>
              </a:lnSpc>
            </a:pPr>
            <a:r>
              <a:rPr lang="en-US" sz="622" dirty="0">
                <a:solidFill>
                  <a:srgbClr val="F1FAEE"/>
                </a:solidFill>
                <a:latin typeface="Liter" pitchFamily="34" charset="0"/>
                <a:ea typeface="Liter" pitchFamily="34" charset="-122"/>
                <a:cs typeface="Liter" pitchFamily="34" charset="-120"/>
              </a:rPr>
              <a:t>ℓ1</a:t>
            </a:r>
            <a:pPr algn="ctr">
              <a:lnSpc>
                <a:spcPct val="110000"/>
              </a:lnSpc>
            </a:pPr>
            <a:r>
              <a:rPr lang="en-US" sz="830" dirty="0">
                <a:solidFill>
                  <a:srgbClr val="F1FAEE"/>
                </a:solidFill>
                <a:latin typeface="Liter" pitchFamily="34" charset="0"/>
                <a:ea typeface="Liter" pitchFamily="34" charset="-122"/>
                <a:cs typeface="Liter" pitchFamily="34" charset="-120"/>
              </a:rPr>
              <a:t> &gt; w</a:t>
            </a:r>
            <a:pPr algn="ctr">
              <a:lnSpc>
                <a:spcPct val="110000"/>
              </a:lnSpc>
            </a:pPr>
            <a:r>
              <a:rPr lang="en-US" sz="622" dirty="0">
                <a:solidFill>
                  <a:srgbClr val="F1FAEE"/>
                </a:solidFill>
                <a:latin typeface="Liter" pitchFamily="34" charset="0"/>
                <a:ea typeface="Liter" pitchFamily="34" charset="-122"/>
                <a:cs typeface="Liter" pitchFamily="34" charset="-120"/>
              </a:rPr>
              <a:t>ℓ2</a:t>
            </a:r>
            <a:endParaRPr lang="en-US" sz="1600" dirty="0"/>
          </a:p>
        </p:txBody>
      </p:sp>
      <p:sp>
        <p:nvSpPr>
          <p:cNvPr id="28" name="Shape 26"/>
          <p:cNvSpPr/>
          <p:nvPr/>
        </p:nvSpPr>
        <p:spPr>
          <a:xfrm>
            <a:off x="354868" y="5340370"/>
            <a:ext cx="5637482" cy="1517851"/>
          </a:xfrm>
          <a:prstGeom prst="roundRect">
            <a:avLst>
              <a:gd name="adj" fmla="val 4630"/>
            </a:avLst>
          </a:prstGeom>
          <a:solidFill>
            <a:srgbClr val="112240"/>
          </a:solidFill>
          <a:ln w="10160">
            <a:solidFill>
              <a:srgbClr val="00B4D8"/>
            </a:solidFill>
            <a:prstDash val="solid"/>
          </a:ln>
        </p:spPr>
      </p:sp>
      <p:sp>
        <p:nvSpPr>
          <p:cNvPr id="29" name="Text 27"/>
          <p:cNvSpPr/>
          <p:nvPr/>
        </p:nvSpPr>
        <p:spPr>
          <a:xfrm>
            <a:off x="498923" y="5484424"/>
            <a:ext cx="5428427" cy="245948"/>
          </a:xfrm>
          <a:prstGeom prst="rect">
            <a:avLst/>
          </a:prstGeom>
          <a:noFill/>
          <a:ln/>
        </p:spPr>
        <p:txBody>
          <a:bodyPr wrap="square" lIns="0" tIns="0" rIns="0" bIns="0" rtlCol="0" anchor="ctr"/>
          <a:lstStyle/>
          <a:p>
            <a:pPr>
              <a:lnSpc>
                <a:spcPct val="130000"/>
              </a:lnSpc>
            </a:pPr>
            <a:r>
              <a:rPr lang="en-US" sz="1245" b="1" dirty="0">
                <a:solidFill>
                  <a:srgbClr val="00B4D8"/>
                </a:solidFill>
                <a:latin typeface="Liter" pitchFamily="34" charset="0"/>
                <a:ea typeface="Liter" pitchFamily="34" charset="-122"/>
                <a:cs typeface="Liter" pitchFamily="34" charset="-120"/>
              </a:rPr>
              <a:t>Example: Adaptive Weights</a:t>
            </a:r>
            <a:endParaRPr lang="en-US" sz="1600" dirty="0"/>
          </a:p>
        </p:txBody>
      </p:sp>
      <p:sp>
        <p:nvSpPr>
          <p:cNvPr id="30" name="Text 28"/>
          <p:cNvSpPr/>
          <p:nvPr/>
        </p:nvSpPr>
        <p:spPr>
          <a:xfrm>
            <a:off x="498923" y="5835778"/>
            <a:ext cx="948657" cy="175677"/>
          </a:xfrm>
          <a:prstGeom prst="rect">
            <a:avLst/>
          </a:prstGeom>
          <a:noFill/>
          <a:ln/>
        </p:spPr>
        <p:txBody>
          <a:bodyPr wrap="square" lIns="0" tIns="0" rIns="0" bIns="0" rtlCol="0" anchor="ctr"/>
          <a:lstStyle/>
          <a:p>
            <a:pPr>
              <a:lnSpc>
                <a:spcPct val="120000"/>
              </a:lnSpc>
            </a:pPr>
            <a:r>
              <a:rPr lang="en-US" sz="968" dirty="0">
                <a:solidFill>
                  <a:srgbClr val="F1FAEE"/>
                </a:solidFill>
                <a:latin typeface="Liter" pitchFamily="34" charset="0"/>
                <a:ea typeface="Liter" pitchFamily="34" charset="-122"/>
                <a:cs typeface="Liter" pitchFamily="34" charset="-120"/>
              </a:rPr>
              <a:t>Layer 2 (r=0.60)</a:t>
            </a:r>
            <a:endParaRPr lang="en-US" sz="1600" dirty="0"/>
          </a:p>
        </p:txBody>
      </p:sp>
      <p:sp>
        <p:nvSpPr>
          <p:cNvPr id="31" name="Shape 29"/>
          <p:cNvSpPr/>
          <p:nvPr/>
        </p:nvSpPr>
        <p:spPr>
          <a:xfrm>
            <a:off x="4306728" y="5888481"/>
            <a:ext cx="1124334" cy="70271"/>
          </a:xfrm>
          <a:prstGeom prst="roundRect">
            <a:avLst>
              <a:gd name="adj" fmla="val 50000"/>
            </a:avLst>
          </a:prstGeom>
          <a:solidFill>
            <a:srgbClr val="5C677D"/>
          </a:solidFill>
          <a:ln/>
        </p:spPr>
      </p:sp>
      <p:sp>
        <p:nvSpPr>
          <p:cNvPr id="32" name="Shape 30"/>
          <p:cNvSpPr/>
          <p:nvPr/>
        </p:nvSpPr>
        <p:spPr>
          <a:xfrm>
            <a:off x="4306728" y="5888481"/>
            <a:ext cx="377706" cy="70271"/>
          </a:xfrm>
          <a:prstGeom prst="roundRect">
            <a:avLst>
              <a:gd name="adj" fmla="val 50000"/>
            </a:avLst>
          </a:prstGeom>
          <a:solidFill>
            <a:srgbClr val="3A86FF"/>
          </a:solidFill>
          <a:ln/>
        </p:spPr>
      </p:sp>
      <p:sp>
        <p:nvSpPr>
          <p:cNvPr id="33" name="Text 31"/>
          <p:cNvSpPr/>
          <p:nvPr/>
        </p:nvSpPr>
        <p:spPr>
          <a:xfrm>
            <a:off x="5501332" y="5835778"/>
            <a:ext cx="404058" cy="175677"/>
          </a:xfrm>
          <a:prstGeom prst="rect">
            <a:avLst/>
          </a:prstGeom>
          <a:noFill/>
          <a:ln/>
        </p:spPr>
        <p:txBody>
          <a:bodyPr wrap="square" lIns="0" tIns="0" rIns="0" bIns="0" rtlCol="0" anchor="ctr"/>
          <a:lstStyle/>
          <a:p>
            <a:pPr>
              <a:lnSpc>
                <a:spcPct val="120000"/>
              </a:lnSpc>
            </a:pPr>
            <a:r>
              <a:rPr lang="en-US" sz="968" b="1" dirty="0">
                <a:solidFill>
                  <a:srgbClr val="3A86FF"/>
                </a:solidFill>
                <a:latin typeface="Liter" pitchFamily="34" charset="0"/>
                <a:ea typeface="Liter" pitchFamily="34" charset="-122"/>
                <a:cs typeface="Liter" pitchFamily="34" charset="-120"/>
              </a:rPr>
              <a:t>33.3%</a:t>
            </a:r>
            <a:endParaRPr lang="en-US" sz="1600" dirty="0"/>
          </a:p>
        </p:txBody>
      </p:sp>
      <p:sp>
        <p:nvSpPr>
          <p:cNvPr id="34" name="Text 32"/>
          <p:cNvSpPr/>
          <p:nvPr/>
        </p:nvSpPr>
        <p:spPr>
          <a:xfrm>
            <a:off x="498923" y="6081726"/>
            <a:ext cx="948657" cy="175677"/>
          </a:xfrm>
          <a:prstGeom prst="rect">
            <a:avLst/>
          </a:prstGeom>
          <a:noFill/>
          <a:ln/>
        </p:spPr>
        <p:txBody>
          <a:bodyPr wrap="square" lIns="0" tIns="0" rIns="0" bIns="0" rtlCol="0" anchor="ctr"/>
          <a:lstStyle/>
          <a:p>
            <a:pPr>
              <a:lnSpc>
                <a:spcPct val="120000"/>
              </a:lnSpc>
            </a:pPr>
            <a:r>
              <a:rPr lang="en-US" sz="968" dirty="0">
                <a:solidFill>
                  <a:srgbClr val="F1FAEE"/>
                </a:solidFill>
                <a:latin typeface="Liter" pitchFamily="34" charset="0"/>
                <a:ea typeface="Liter" pitchFamily="34" charset="-122"/>
                <a:cs typeface="Liter" pitchFamily="34" charset="-120"/>
              </a:rPr>
              <a:t>Layer 3 (r=0.80)</a:t>
            </a:r>
            <a:endParaRPr lang="en-US" sz="1600" dirty="0"/>
          </a:p>
        </p:txBody>
      </p:sp>
      <p:sp>
        <p:nvSpPr>
          <p:cNvPr id="35" name="Shape 33"/>
          <p:cNvSpPr/>
          <p:nvPr/>
        </p:nvSpPr>
        <p:spPr>
          <a:xfrm>
            <a:off x="4307167" y="6134429"/>
            <a:ext cx="1124334" cy="70271"/>
          </a:xfrm>
          <a:prstGeom prst="roundRect">
            <a:avLst>
              <a:gd name="adj" fmla="val 50000"/>
            </a:avLst>
          </a:prstGeom>
          <a:solidFill>
            <a:srgbClr val="5C677D"/>
          </a:solidFill>
          <a:ln/>
        </p:spPr>
      </p:sp>
      <p:sp>
        <p:nvSpPr>
          <p:cNvPr id="36" name="Shape 34"/>
          <p:cNvSpPr/>
          <p:nvPr/>
        </p:nvSpPr>
        <p:spPr>
          <a:xfrm>
            <a:off x="4307167" y="6134429"/>
            <a:ext cx="500680" cy="70271"/>
          </a:xfrm>
          <a:prstGeom prst="roundRect">
            <a:avLst>
              <a:gd name="adj" fmla="val 50000"/>
            </a:avLst>
          </a:prstGeom>
          <a:solidFill>
            <a:srgbClr val="00B4D8"/>
          </a:solidFill>
          <a:ln/>
        </p:spPr>
      </p:sp>
      <p:sp>
        <p:nvSpPr>
          <p:cNvPr id="37" name="Text 35"/>
          <p:cNvSpPr/>
          <p:nvPr/>
        </p:nvSpPr>
        <p:spPr>
          <a:xfrm>
            <a:off x="5501772" y="6081726"/>
            <a:ext cx="404058" cy="175677"/>
          </a:xfrm>
          <a:prstGeom prst="rect">
            <a:avLst/>
          </a:prstGeom>
          <a:noFill/>
          <a:ln/>
        </p:spPr>
        <p:txBody>
          <a:bodyPr wrap="square" lIns="0" tIns="0" rIns="0" bIns="0" rtlCol="0" anchor="ctr"/>
          <a:lstStyle/>
          <a:p>
            <a:pPr>
              <a:lnSpc>
                <a:spcPct val="120000"/>
              </a:lnSpc>
            </a:pPr>
            <a:r>
              <a:rPr lang="en-US" sz="968" b="1" dirty="0">
                <a:solidFill>
                  <a:srgbClr val="00B4D8"/>
                </a:solidFill>
                <a:latin typeface="Liter" pitchFamily="34" charset="0"/>
                <a:ea typeface="Liter" pitchFamily="34" charset="-122"/>
                <a:cs typeface="Liter" pitchFamily="34" charset="-120"/>
              </a:rPr>
              <a:t>44.4%</a:t>
            </a:r>
            <a:endParaRPr lang="en-US" sz="1600" dirty="0"/>
          </a:p>
        </p:txBody>
      </p:sp>
      <p:sp>
        <p:nvSpPr>
          <p:cNvPr id="38" name="Text 36"/>
          <p:cNvSpPr/>
          <p:nvPr/>
        </p:nvSpPr>
        <p:spPr>
          <a:xfrm>
            <a:off x="498923" y="6327674"/>
            <a:ext cx="948657" cy="175677"/>
          </a:xfrm>
          <a:prstGeom prst="rect">
            <a:avLst/>
          </a:prstGeom>
          <a:noFill/>
          <a:ln/>
        </p:spPr>
        <p:txBody>
          <a:bodyPr wrap="square" lIns="0" tIns="0" rIns="0" bIns="0" rtlCol="0" anchor="ctr"/>
          <a:lstStyle/>
          <a:p>
            <a:pPr>
              <a:lnSpc>
                <a:spcPct val="120000"/>
              </a:lnSpc>
            </a:pPr>
            <a:r>
              <a:rPr lang="en-US" sz="968" dirty="0">
                <a:solidFill>
                  <a:srgbClr val="F1FAEE"/>
                </a:solidFill>
                <a:latin typeface="Liter" pitchFamily="34" charset="0"/>
                <a:ea typeface="Liter" pitchFamily="34" charset="-122"/>
                <a:cs typeface="Liter" pitchFamily="34" charset="-120"/>
              </a:rPr>
              <a:t>Layer 4 (r=0.40)</a:t>
            </a:r>
            <a:endParaRPr lang="en-US" sz="1600" dirty="0"/>
          </a:p>
        </p:txBody>
      </p:sp>
      <p:sp>
        <p:nvSpPr>
          <p:cNvPr id="39" name="Shape 37"/>
          <p:cNvSpPr/>
          <p:nvPr/>
        </p:nvSpPr>
        <p:spPr>
          <a:xfrm>
            <a:off x="4310131" y="6380378"/>
            <a:ext cx="1124334" cy="70271"/>
          </a:xfrm>
          <a:prstGeom prst="roundRect">
            <a:avLst>
              <a:gd name="adj" fmla="val 50000"/>
            </a:avLst>
          </a:prstGeom>
          <a:solidFill>
            <a:srgbClr val="5C677D"/>
          </a:solidFill>
          <a:ln/>
        </p:spPr>
      </p:sp>
      <p:sp>
        <p:nvSpPr>
          <p:cNvPr id="40" name="Shape 38"/>
          <p:cNvSpPr/>
          <p:nvPr/>
        </p:nvSpPr>
        <p:spPr>
          <a:xfrm>
            <a:off x="4310131" y="6380378"/>
            <a:ext cx="245948" cy="70271"/>
          </a:xfrm>
          <a:prstGeom prst="roundRect">
            <a:avLst>
              <a:gd name="adj" fmla="val 50000"/>
            </a:avLst>
          </a:prstGeom>
          <a:solidFill>
            <a:srgbClr val="5C677D"/>
          </a:solidFill>
          <a:ln/>
        </p:spPr>
      </p:sp>
      <p:sp>
        <p:nvSpPr>
          <p:cNvPr id="41" name="Text 39"/>
          <p:cNvSpPr/>
          <p:nvPr/>
        </p:nvSpPr>
        <p:spPr>
          <a:xfrm>
            <a:off x="5504736" y="6327674"/>
            <a:ext cx="404058" cy="175677"/>
          </a:xfrm>
          <a:prstGeom prst="rect">
            <a:avLst/>
          </a:prstGeom>
          <a:noFill/>
          <a:ln/>
        </p:spPr>
        <p:txBody>
          <a:bodyPr wrap="square" lIns="0" tIns="0" rIns="0" bIns="0" rtlCol="0" anchor="ctr"/>
          <a:lstStyle/>
          <a:p>
            <a:pPr>
              <a:lnSpc>
                <a:spcPct val="120000"/>
              </a:lnSpc>
            </a:pPr>
            <a:r>
              <a:rPr lang="en-US" sz="968" b="1" dirty="0">
                <a:solidFill>
                  <a:srgbClr val="5C677D"/>
                </a:solidFill>
                <a:latin typeface="Liter" pitchFamily="34" charset="0"/>
                <a:ea typeface="Liter" pitchFamily="34" charset="-122"/>
                <a:cs typeface="Liter" pitchFamily="34" charset="-120"/>
              </a:rPr>
              <a:t>22.2%</a:t>
            </a:r>
            <a:endParaRPr lang="en-US" sz="1600" dirty="0"/>
          </a:p>
        </p:txBody>
      </p:sp>
      <p:sp>
        <p:nvSpPr>
          <p:cNvPr id="42" name="Text 40"/>
          <p:cNvSpPr/>
          <p:nvPr/>
        </p:nvSpPr>
        <p:spPr>
          <a:xfrm>
            <a:off x="498923" y="6573622"/>
            <a:ext cx="5402075" cy="140542"/>
          </a:xfrm>
          <a:prstGeom prst="rect">
            <a:avLst/>
          </a:prstGeom>
          <a:noFill/>
          <a:ln/>
        </p:spPr>
        <p:txBody>
          <a:bodyPr wrap="square" lIns="0" tIns="0" rIns="0" bIns="0" rtlCol="0" anchor="ctr"/>
          <a:lstStyle/>
          <a:p>
            <a:pPr>
              <a:lnSpc>
                <a:spcPct val="110000"/>
              </a:lnSpc>
            </a:pPr>
            <a:r>
              <a:rPr lang="en-US" sz="830" dirty="0">
                <a:solidFill>
                  <a:srgbClr val="5C677D"/>
                </a:solidFill>
                <a:latin typeface="Liter" pitchFamily="34" charset="0"/>
                <a:ea typeface="Liter" pitchFamily="34" charset="-122"/>
                <a:cs typeface="Liter" pitchFamily="34" charset="-120"/>
              </a:rPr>
              <a:t>Layer 3 dominates - mid-level patterns are most diagnostic for this scan</a:t>
            </a:r>
            <a:endParaRPr lang="en-US" sz="1600" dirty="0"/>
          </a:p>
        </p:txBody>
      </p:sp>
      <p:sp>
        <p:nvSpPr>
          <p:cNvPr id="43" name="Shape 41"/>
          <p:cNvSpPr/>
          <p:nvPr/>
        </p:nvSpPr>
        <p:spPr>
          <a:xfrm>
            <a:off x="6210300" y="1271903"/>
            <a:ext cx="5626942" cy="3905305"/>
          </a:xfrm>
          <a:prstGeom prst="roundRect">
            <a:avLst>
              <a:gd name="adj" fmla="val 1799"/>
            </a:avLst>
          </a:prstGeom>
          <a:solidFill>
            <a:srgbClr val="000000">
              <a:alpha val="0"/>
            </a:srgbClr>
          </a:solidFill>
          <a:ln w="20320">
            <a:solidFill>
              <a:srgbClr val="00B4D8"/>
            </a:solidFill>
            <a:prstDash val="solid"/>
          </a:ln>
        </p:spPr>
      </p:sp>
      <p:sp>
        <p:nvSpPr>
          <p:cNvPr id="44" name="Shape 42"/>
          <p:cNvSpPr/>
          <p:nvPr/>
        </p:nvSpPr>
        <p:spPr>
          <a:xfrm>
            <a:off x="6217327" y="1278935"/>
            <a:ext cx="5612888" cy="421625"/>
          </a:xfrm>
          <a:prstGeom prst="roundRect">
            <a:avLst>
              <a:gd name="adj" fmla="val 0"/>
            </a:avLst>
          </a:prstGeom>
          <a:solidFill>
            <a:srgbClr val="00B4D8"/>
          </a:solidFill>
          <a:ln/>
        </p:spPr>
      </p:sp>
      <p:sp>
        <p:nvSpPr>
          <p:cNvPr id="45" name="Text 43"/>
          <p:cNvSpPr/>
          <p:nvPr/>
        </p:nvSpPr>
        <p:spPr>
          <a:xfrm>
            <a:off x="6322733" y="1384342"/>
            <a:ext cx="5472346" cy="210813"/>
          </a:xfrm>
          <a:prstGeom prst="rect">
            <a:avLst/>
          </a:prstGeom>
          <a:noFill/>
          <a:ln/>
        </p:spPr>
        <p:txBody>
          <a:bodyPr wrap="square" lIns="0" tIns="0" rIns="0" bIns="0" rtlCol="0" anchor="ctr"/>
          <a:lstStyle/>
          <a:p>
            <a:pPr>
              <a:lnSpc>
                <a:spcPct val="130000"/>
              </a:lnSpc>
            </a:pPr>
            <a:r>
              <a:rPr lang="en-US" sz="1107" b="1" dirty="0">
                <a:solidFill>
                  <a:srgbClr val="F1FAEE"/>
                </a:solidFill>
                <a:latin typeface="Liter" pitchFamily="34" charset="0"/>
                <a:ea typeface="Liter" pitchFamily="34" charset="-122"/>
                <a:cs typeface="Liter" pitchFamily="34" charset="-120"/>
              </a:rPr>
              <a:t>Fusion Heatmap Visualization</a:t>
            </a:r>
            <a:endParaRPr lang="en-US" sz="1600" dirty="0"/>
          </a:p>
        </p:txBody>
      </p:sp>
      <p:sp>
        <p:nvSpPr>
          <p:cNvPr id="46" name="Shape 44"/>
          <p:cNvSpPr/>
          <p:nvPr/>
        </p:nvSpPr>
        <p:spPr>
          <a:xfrm>
            <a:off x="6217327" y="1700561"/>
            <a:ext cx="5612888" cy="3241245"/>
          </a:xfrm>
          <a:prstGeom prst="roundRect">
            <a:avLst>
              <a:gd name="adj" fmla="val 0"/>
            </a:avLst>
          </a:prstGeom>
          <a:solidFill>
            <a:srgbClr val="112240"/>
          </a:solidFill>
          <a:ln/>
        </p:spPr>
      </p:sp>
      <p:sp>
        <p:nvSpPr>
          <p:cNvPr id="47" name="Shape 45"/>
          <p:cNvSpPr/>
          <p:nvPr/>
        </p:nvSpPr>
        <p:spPr>
          <a:xfrm>
            <a:off x="6357869" y="1841103"/>
            <a:ext cx="421625" cy="421625"/>
          </a:xfrm>
          <a:prstGeom prst="roundRect">
            <a:avLst>
              <a:gd name="adj" fmla="val 16667"/>
            </a:avLst>
          </a:prstGeom>
          <a:solidFill>
            <a:srgbClr val="3A86FF"/>
          </a:solidFill>
          <a:ln/>
        </p:spPr>
      </p:sp>
      <p:sp>
        <p:nvSpPr>
          <p:cNvPr id="48" name="Text 46"/>
          <p:cNvSpPr/>
          <p:nvPr/>
        </p:nvSpPr>
        <p:spPr>
          <a:xfrm>
            <a:off x="6478867" y="1928941"/>
            <a:ext cx="254732" cy="245948"/>
          </a:xfrm>
          <a:prstGeom prst="rect">
            <a:avLst/>
          </a:prstGeom>
          <a:noFill/>
          <a:ln/>
        </p:spPr>
        <p:txBody>
          <a:bodyPr wrap="square" lIns="0" tIns="0" rIns="0" bIns="0" rtlCol="0" anchor="ctr"/>
          <a:lstStyle/>
          <a:p>
            <a:pPr>
              <a:lnSpc>
                <a:spcPct val="130000"/>
              </a:lnSpc>
            </a:pPr>
            <a:r>
              <a:rPr lang="en-US" sz="1245" b="1" dirty="0">
                <a:solidFill>
                  <a:srgbClr val="F1FAEE"/>
                </a:solidFill>
                <a:latin typeface="Liter" pitchFamily="34" charset="0"/>
                <a:ea typeface="Liter" pitchFamily="34" charset="-122"/>
                <a:cs typeface="Liter" pitchFamily="34" charset="-120"/>
              </a:rPr>
              <a:t>L2</a:t>
            </a:r>
            <a:endParaRPr lang="en-US" sz="1600" dirty="0"/>
          </a:p>
        </p:txBody>
      </p:sp>
      <p:sp>
        <p:nvSpPr>
          <p:cNvPr id="49" name="Shape 47"/>
          <p:cNvSpPr/>
          <p:nvPr/>
        </p:nvSpPr>
        <p:spPr>
          <a:xfrm>
            <a:off x="6884901" y="2016780"/>
            <a:ext cx="4356795" cy="70271"/>
          </a:xfrm>
          <a:prstGeom prst="roundRect">
            <a:avLst>
              <a:gd name="adj" fmla="val 50000"/>
            </a:avLst>
          </a:prstGeom>
          <a:solidFill>
            <a:srgbClr val="5C677D"/>
          </a:solidFill>
          <a:ln/>
        </p:spPr>
      </p:sp>
      <p:sp>
        <p:nvSpPr>
          <p:cNvPr id="50" name="Shape 48"/>
          <p:cNvSpPr/>
          <p:nvPr/>
        </p:nvSpPr>
        <p:spPr>
          <a:xfrm>
            <a:off x="6884901" y="2016780"/>
            <a:ext cx="1449337" cy="70271"/>
          </a:xfrm>
          <a:prstGeom prst="roundRect">
            <a:avLst>
              <a:gd name="adj" fmla="val 50000"/>
            </a:avLst>
          </a:prstGeom>
          <a:solidFill>
            <a:srgbClr val="3A86FF"/>
          </a:solidFill>
          <a:ln/>
        </p:spPr>
      </p:sp>
      <p:sp>
        <p:nvSpPr>
          <p:cNvPr id="51" name="Text 49"/>
          <p:cNvSpPr/>
          <p:nvPr/>
        </p:nvSpPr>
        <p:spPr>
          <a:xfrm>
            <a:off x="11346334" y="1964077"/>
            <a:ext cx="404058" cy="175677"/>
          </a:xfrm>
          <a:prstGeom prst="rect">
            <a:avLst/>
          </a:prstGeom>
          <a:noFill/>
          <a:ln/>
        </p:spPr>
        <p:txBody>
          <a:bodyPr wrap="square" lIns="0" tIns="0" rIns="0" bIns="0" rtlCol="0" anchor="ctr"/>
          <a:lstStyle/>
          <a:p>
            <a:pPr>
              <a:lnSpc>
                <a:spcPct val="120000"/>
              </a:lnSpc>
            </a:pPr>
            <a:r>
              <a:rPr lang="en-US" sz="968" b="1" dirty="0">
                <a:solidFill>
                  <a:srgbClr val="3A86FF"/>
                </a:solidFill>
                <a:latin typeface="Liter" pitchFamily="34" charset="0"/>
                <a:ea typeface="Liter" pitchFamily="34" charset="-122"/>
                <a:cs typeface="Liter" pitchFamily="34" charset="-120"/>
              </a:rPr>
              <a:t>33.3%</a:t>
            </a:r>
            <a:endParaRPr lang="en-US" sz="1600" dirty="0"/>
          </a:p>
        </p:txBody>
      </p:sp>
      <p:sp>
        <p:nvSpPr>
          <p:cNvPr id="52" name="Shape 50"/>
          <p:cNvSpPr/>
          <p:nvPr/>
        </p:nvSpPr>
        <p:spPr>
          <a:xfrm>
            <a:off x="6357869" y="2368134"/>
            <a:ext cx="421625" cy="421625"/>
          </a:xfrm>
          <a:prstGeom prst="roundRect">
            <a:avLst>
              <a:gd name="adj" fmla="val 16667"/>
            </a:avLst>
          </a:prstGeom>
          <a:solidFill>
            <a:srgbClr val="00B4D8"/>
          </a:solidFill>
          <a:ln/>
        </p:spPr>
      </p:sp>
      <p:sp>
        <p:nvSpPr>
          <p:cNvPr id="53" name="Text 51"/>
          <p:cNvSpPr/>
          <p:nvPr/>
        </p:nvSpPr>
        <p:spPr>
          <a:xfrm>
            <a:off x="6478208" y="2455973"/>
            <a:ext cx="263516" cy="245948"/>
          </a:xfrm>
          <a:prstGeom prst="rect">
            <a:avLst/>
          </a:prstGeom>
          <a:noFill/>
          <a:ln/>
        </p:spPr>
        <p:txBody>
          <a:bodyPr wrap="square" lIns="0" tIns="0" rIns="0" bIns="0" rtlCol="0" anchor="ctr"/>
          <a:lstStyle/>
          <a:p>
            <a:pPr>
              <a:lnSpc>
                <a:spcPct val="130000"/>
              </a:lnSpc>
            </a:pPr>
            <a:r>
              <a:rPr lang="en-US" sz="1245" b="1" dirty="0">
                <a:solidFill>
                  <a:srgbClr val="F1FAEE"/>
                </a:solidFill>
                <a:latin typeface="Liter" pitchFamily="34" charset="0"/>
                <a:ea typeface="Liter" pitchFamily="34" charset="-122"/>
                <a:cs typeface="Liter" pitchFamily="34" charset="-120"/>
              </a:rPr>
              <a:t>L3</a:t>
            </a:r>
            <a:endParaRPr lang="en-US" sz="1600" dirty="0"/>
          </a:p>
        </p:txBody>
      </p:sp>
      <p:sp>
        <p:nvSpPr>
          <p:cNvPr id="54" name="Shape 52"/>
          <p:cNvSpPr/>
          <p:nvPr/>
        </p:nvSpPr>
        <p:spPr>
          <a:xfrm>
            <a:off x="6884901" y="2543811"/>
            <a:ext cx="4356795" cy="70271"/>
          </a:xfrm>
          <a:prstGeom prst="roundRect">
            <a:avLst>
              <a:gd name="adj" fmla="val 50000"/>
            </a:avLst>
          </a:prstGeom>
          <a:solidFill>
            <a:srgbClr val="5C677D"/>
          </a:solidFill>
          <a:ln/>
        </p:spPr>
      </p:sp>
      <p:sp>
        <p:nvSpPr>
          <p:cNvPr id="55" name="Shape 53"/>
          <p:cNvSpPr/>
          <p:nvPr/>
        </p:nvSpPr>
        <p:spPr>
          <a:xfrm>
            <a:off x="6884901" y="2543811"/>
            <a:ext cx="1932450" cy="70271"/>
          </a:xfrm>
          <a:prstGeom prst="roundRect">
            <a:avLst>
              <a:gd name="adj" fmla="val 50000"/>
            </a:avLst>
          </a:prstGeom>
          <a:solidFill>
            <a:srgbClr val="00B4D8"/>
          </a:solidFill>
          <a:ln/>
        </p:spPr>
      </p:sp>
      <p:sp>
        <p:nvSpPr>
          <p:cNvPr id="56" name="Text 54"/>
          <p:cNvSpPr/>
          <p:nvPr/>
        </p:nvSpPr>
        <p:spPr>
          <a:xfrm>
            <a:off x="11346773" y="2491108"/>
            <a:ext cx="404058" cy="175677"/>
          </a:xfrm>
          <a:prstGeom prst="rect">
            <a:avLst/>
          </a:prstGeom>
          <a:noFill/>
          <a:ln/>
        </p:spPr>
        <p:txBody>
          <a:bodyPr wrap="square" lIns="0" tIns="0" rIns="0" bIns="0" rtlCol="0" anchor="ctr"/>
          <a:lstStyle/>
          <a:p>
            <a:pPr>
              <a:lnSpc>
                <a:spcPct val="120000"/>
              </a:lnSpc>
            </a:pPr>
            <a:r>
              <a:rPr lang="en-US" sz="968" b="1" dirty="0">
                <a:solidFill>
                  <a:srgbClr val="00B4D8"/>
                </a:solidFill>
                <a:latin typeface="Liter" pitchFamily="34" charset="0"/>
                <a:ea typeface="Liter" pitchFamily="34" charset="-122"/>
                <a:cs typeface="Liter" pitchFamily="34" charset="-120"/>
              </a:rPr>
              <a:t>44.4%</a:t>
            </a:r>
            <a:endParaRPr lang="en-US" sz="1600" dirty="0"/>
          </a:p>
        </p:txBody>
      </p:sp>
      <p:sp>
        <p:nvSpPr>
          <p:cNvPr id="57" name="Shape 55"/>
          <p:cNvSpPr/>
          <p:nvPr/>
        </p:nvSpPr>
        <p:spPr>
          <a:xfrm>
            <a:off x="6357869" y="2895166"/>
            <a:ext cx="421625" cy="421625"/>
          </a:xfrm>
          <a:prstGeom prst="roundRect">
            <a:avLst>
              <a:gd name="adj" fmla="val 16667"/>
            </a:avLst>
          </a:prstGeom>
          <a:solidFill>
            <a:srgbClr val="5C677D"/>
          </a:solidFill>
          <a:ln/>
        </p:spPr>
      </p:sp>
      <p:sp>
        <p:nvSpPr>
          <p:cNvPr id="58" name="Text 56"/>
          <p:cNvSpPr/>
          <p:nvPr/>
        </p:nvSpPr>
        <p:spPr>
          <a:xfrm>
            <a:off x="6478318" y="2983005"/>
            <a:ext cx="263516" cy="245948"/>
          </a:xfrm>
          <a:prstGeom prst="rect">
            <a:avLst/>
          </a:prstGeom>
          <a:noFill/>
          <a:ln/>
        </p:spPr>
        <p:txBody>
          <a:bodyPr wrap="square" lIns="0" tIns="0" rIns="0" bIns="0" rtlCol="0" anchor="ctr"/>
          <a:lstStyle/>
          <a:p>
            <a:pPr>
              <a:lnSpc>
                <a:spcPct val="130000"/>
              </a:lnSpc>
            </a:pPr>
            <a:r>
              <a:rPr lang="en-US" sz="1245" b="1" dirty="0">
                <a:solidFill>
                  <a:srgbClr val="F1FAEE"/>
                </a:solidFill>
                <a:latin typeface="Liter" pitchFamily="34" charset="0"/>
                <a:ea typeface="Liter" pitchFamily="34" charset="-122"/>
                <a:cs typeface="Liter" pitchFamily="34" charset="-120"/>
              </a:rPr>
              <a:t>L4</a:t>
            </a:r>
            <a:endParaRPr lang="en-US" sz="1600" dirty="0"/>
          </a:p>
        </p:txBody>
      </p:sp>
      <p:sp>
        <p:nvSpPr>
          <p:cNvPr id="59" name="Shape 57"/>
          <p:cNvSpPr/>
          <p:nvPr/>
        </p:nvSpPr>
        <p:spPr>
          <a:xfrm>
            <a:off x="6884901" y="3070843"/>
            <a:ext cx="4356795" cy="70271"/>
          </a:xfrm>
          <a:prstGeom prst="roundRect">
            <a:avLst>
              <a:gd name="adj" fmla="val 50000"/>
            </a:avLst>
          </a:prstGeom>
          <a:solidFill>
            <a:srgbClr val="5C677D"/>
          </a:solidFill>
          <a:ln/>
        </p:spPr>
      </p:sp>
      <p:sp>
        <p:nvSpPr>
          <p:cNvPr id="60" name="Shape 58"/>
          <p:cNvSpPr/>
          <p:nvPr/>
        </p:nvSpPr>
        <p:spPr>
          <a:xfrm>
            <a:off x="6884901" y="3070843"/>
            <a:ext cx="966225" cy="70271"/>
          </a:xfrm>
          <a:prstGeom prst="roundRect">
            <a:avLst>
              <a:gd name="adj" fmla="val 50000"/>
            </a:avLst>
          </a:prstGeom>
          <a:solidFill>
            <a:srgbClr val="5C677D"/>
          </a:solidFill>
          <a:ln/>
        </p:spPr>
      </p:sp>
      <p:sp>
        <p:nvSpPr>
          <p:cNvPr id="61" name="Text 59"/>
          <p:cNvSpPr/>
          <p:nvPr/>
        </p:nvSpPr>
        <p:spPr>
          <a:xfrm>
            <a:off x="11349738" y="3018140"/>
            <a:ext cx="404058" cy="175677"/>
          </a:xfrm>
          <a:prstGeom prst="rect">
            <a:avLst/>
          </a:prstGeom>
          <a:noFill/>
          <a:ln/>
        </p:spPr>
        <p:txBody>
          <a:bodyPr wrap="square" lIns="0" tIns="0" rIns="0" bIns="0" rtlCol="0" anchor="ctr"/>
          <a:lstStyle/>
          <a:p>
            <a:pPr>
              <a:lnSpc>
                <a:spcPct val="120000"/>
              </a:lnSpc>
            </a:pPr>
            <a:r>
              <a:rPr lang="en-US" sz="968" b="1" dirty="0">
                <a:solidFill>
                  <a:srgbClr val="5C677D"/>
                </a:solidFill>
                <a:latin typeface="Liter" pitchFamily="34" charset="0"/>
                <a:ea typeface="Liter" pitchFamily="34" charset="-122"/>
                <a:cs typeface="Liter" pitchFamily="34" charset="-120"/>
              </a:rPr>
              <a:t>22.2%</a:t>
            </a:r>
            <a:endParaRPr lang="en-US" sz="1600" dirty="0"/>
          </a:p>
        </p:txBody>
      </p:sp>
      <p:sp>
        <p:nvSpPr>
          <p:cNvPr id="62" name="Shape 60"/>
          <p:cNvSpPr/>
          <p:nvPr/>
        </p:nvSpPr>
        <p:spPr>
          <a:xfrm>
            <a:off x="8947022" y="3492469"/>
            <a:ext cx="153718" cy="175677"/>
          </a:xfrm>
          <a:custGeom>
            <a:avLst/>
            <a:gdLst/>
            <a:ahLst/>
            <a:cxnLst/>
            <a:rect l="l" t="t" r="r" b="b"/>
            <a:pathLst>
              <a:path w="153718" h="175677">
                <a:moveTo>
                  <a:pt x="87839" y="21960"/>
                </a:moveTo>
                <a:cubicBezTo>
                  <a:pt x="87839" y="15886"/>
                  <a:pt x="82932" y="10980"/>
                  <a:pt x="76859" y="10980"/>
                </a:cubicBezTo>
                <a:cubicBezTo>
                  <a:pt x="70786" y="10980"/>
                  <a:pt x="65879" y="15886"/>
                  <a:pt x="65879" y="21960"/>
                </a:cubicBezTo>
                <a:lnTo>
                  <a:pt x="65879" y="76859"/>
                </a:lnTo>
                <a:lnTo>
                  <a:pt x="10980" y="76859"/>
                </a:lnTo>
                <a:cubicBezTo>
                  <a:pt x="4907" y="76859"/>
                  <a:pt x="0" y="81765"/>
                  <a:pt x="0" y="87839"/>
                </a:cubicBezTo>
                <a:cubicBezTo>
                  <a:pt x="0" y="93912"/>
                  <a:pt x="4907" y="98818"/>
                  <a:pt x="10980" y="98818"/>
                </a:cubicBezTo>
                <a:lnTo>
                  <a:pt x="65879" y="98818"/>
                </a:lnTo>
                <a:lnTo>
                  <a:pt x="65879" y="153718"/>
                </a:lnTo>
                <a:cubicBezTo>
                  <a:pt x="65879" y="159791"/>
                  <a:pt x="70786" y="164697"/>
                  <a:pt x="76859" y="164697"/>
                </a:cubicBezTo>
                <a:cubicBezTo>
                  <a:pt x="82932" y="164697"/>
                  <a:pt x="87839" y="159791"/>
                  <a:pt x="87839" y="153718"/>
                </a:cubicBezTo>
                <a:lnTo>
                  <a:pt x="87839" y="98818"/>
                </a:lnTo>
                <a:lnTo>
                  <a:pt x="142738" y="98818"/>
                </a:lnTo>
                <a:cubicBezTo>
                  <a:pt x="148811" y="98818"/>
                  <a:pt x="153718" y="93912"/>
                  <a:pt x="153718" y="87839"/>
                </a:cubicBezTo>
                <a:cubicBezTo>
                  <a:pt x="153718" y="81765"/>
                  <a:pt x="148811" y="76859"/>
                  <a:pt x="142738" y="76859"/>
                </a:cubicBezTo>
                <a:lnTo>
                  <a:pt x="87839" y="76859"/>
                </a:lnTo>
                <a:lnTo>
                  <a:pt x="87839" y="21960"/>
                </a:lnTo>
                <a:close/>
              </a:path>
            </a:pathLst>
          </a:custGeom>
          <a:solidFill>
            <a:srgbClr val="5C677D"/>
          </a:solidFill>
          <a:ln/>
        </p:spPr>
      </p:sp>
      <p:sp>
        <p:nvSpPr>
          <p:cNvPr id="63" name="Shape 61"/>
          <p:cNvSpPr/>
          <p:nvPr/>
        </p:nvSpPr>
        <p:spPr>
          <a:xfrm>
            <a:off x="6364896" y="3850850"/>
            <a:ext cx="5319507" cy="945144"/>
          </a:xfrm>
          <a:prstGeom prst="roundRect">
            <a:avLst>
              <a:gd name="adj" fmla="val 7435"/>
            </a:avLst>
          </a:prstGeom>
          <a:solidFill>
            <a:srgbClr val="000000">
              <a:alpha val="0"/>
            </a:srgbClr>
          </a:solidFill>
          <a:ln w="20320">
            <a:solidFill>
              <a:srgbClr val="00B4D8"/>
            </a:solidFill>
            <a:prstDash val="dash"/>
          </a:ln>
        </p:spPr>
      </p:sp>
      <p:sp>
        <p:nvSpPr>
          <p:cNvPr id="64" name="Shape 62"/>
          <p:cNvSpPr/>
          <p:nvPr/>
        </p:nvSpPr>
        <p:spPr>
          <a:xfrm>
            <a:off x="8910789" y="3963280"/>
            <a:ext cx="230576" cy="263516"/>
          </a:xfrm>
          <a:custGeom>
            <a:avLst/>
            <a:gdLst/>
            <a:ahLst/>
            <a:cxnLst/>
            <a:rect l="l" t="t" r="r" b="b"/>
            <a:pathLst>
              <a:path w="230576" h="263516">
                <a:moveTo>
                  <a:pt x="82606" y="-13588"/>
                </a:moveTo>
                <a:cubicBezTo>
                  <a:pt x="87393" y="-17602"/>
                  <a:pt x="94444" y="-17448"/>
                  <a:pt x="99024" y="-13124"/>
                </a:cubicBezTo>
                <a:cubicBezTo>
                  <a:pt x="105355" y="-7154"/>
                  <a:pt x="111016" y="-566"/>
                  <a:pt x="116472" y="6125"/>
                </a:cubicBezTo>
                <a:cubicBezTo>
                  <a:pt x="123420" y="14617"/>
                  <a:pt x="131758" y="25837"/>
                  <a:pt x="139787" y="39167"/>
                </a:cubicBezTo>
                <a:cubicBezTo>
                  <a:pt x="142463" y="35667"/>
                  <a:pt x="144934" y="32579"/>
                  <a:pt x="147095" y="29954"/>
                </a:cubicBezTo>
                <a:cubicBezTo>
                  <a:pt x="147662" y="29285"/>
                  <a:pt x="148228" y="28565"/>
                  <a:pt x="148794" y="27844"/>
                </a:cubicBezTo>
                <a:cubicBezTo>
                  <a:pt x="152860" y="22800"/>
                  <a:pt x="157904" y="16470"/>
                  <a:pt x="164646" y="16470"/>
                </a:cubicBezTo>
                <a:cubicBezTo>
                  <a:pt x="171543" y="16470"/>
                  <a:pt x="176381" y="22594"/>
                  <a:pt x="180498" y="27844"/>
                </a:cubicBezTo>
                <a:cubicBezTo>
                  <a:pt x="181167" y="28719"/>
                  <a:pt x="181836" y="29543"/>
                  <a:pt x="182505" y="30315"/>
                </a:cubicBezTo>
                <a:cubicBezTo>
                  <a:pt x="187807" y="36697"/>
                  <a:pt x="194858" y="45909"/>
                  <a:pt x="201909" y="57284"/>
                </a:cubicBezTo>
                <a:cubicBezTo>
                  <a:pt x="215908" y="79878"/>
                  <a:pt x="230525" y="112046"/>
                  <a:pt x="230525" y="148176"/>
                </a:cubicBezTo>
                <a:cubicBezTo>
                  <a:pt x="230525" y="211842"/>
                  <a:pt x="178903" y="263464"/>
                  <a:pt x="115237" y="263464"/>
                </a:cubicBezTo>
                <a:cubicBezTo>
                  <a:pt x="51571" y="263464"/>
                  <a:pt x="0" y="211894"/>
                  <a:pt x="0" y="148228"/>
                </a:cubicBezTo>
                <a:cubicBezTo>
                  <a:pt x="0" y="101340"/>
                  <a:pt x="21153" y="60732"/>
                  <a:pt x="41432" y="32425"/>
                </a:cubicBezTo>
                <a:cubicBezTo>
                  <a:pt x="51674" y="18168"/>
                  <a:pt x="61864" y="6742"/>
                  <a:pt x="69533" y="-1081"/>
                </a:cubicBezTo>
                <a:cubicBezTo>
                  <a:pt x="73754" y="-5404"/>
                  <a:pt x="78025" y="-9676"/>
                  <a:pt x="82658" y="-13536"/>
                </a:cubicBezTo>
                <a:close/>
                <a:moveTo>
                  <a:pt x="116163" y="214107"/>
                </a:moveTo>
                <a:cubicBezTo>
                  <a:pt x="129185" y="214107"/>
                  <a:pt x="140713" y="210504"/>
                  <a:pt x="151573" y="203298"/>
                </a:cubicBezTo>
                <a:cubicBezTo>
                  <a:pt x="173241" y="188167"/>
                  <a:pt x="179057" y="157904"/>
                  <a:pt x="166036" y="134125"/>
                </a:cubicBezTo>
                <a:cubicBezTo>
                  <a:pt x="163720" y="129493"/>
                  <a:pt x="157801" y="129185"/>
                  <a:pt x="154455" y="133096"/>
                </a:cubicBezTo>
                <a:lnTo>
                  <a:pt x="141485" y="148176"/>
                </a:lnTo>
                <a:cubicBezTo>
                  <a:pt x="138088" y="152088"/>
                  <a:pt x="131964" y="151985"/>
                  <a:pt x="128773" y="147919"/>
                </a:cubicBezTo>
                <a:cubicBezTo>
                  <a:pt x="119869" y="136544"/>
                  <a:pt x="103502" y="115803"/>
                  <a:pt x="95164" y="105200"/>
                </a:cubicBezTo>
                <a:cubicBezTo>
                  <a:pt x="92385" y="101649"/>
                  <a:pt x="87341" y="101083"/>
                  <a:pt x="84099" y="104223"/>
                </a:cubicBezTo>
                <a:cubicBezTo>
                  <a:pt x="74680" y="113384"/>
                  <a:pt x="57593" y="133456"/>
                  <a:pt x="57593" y="157904"/>
                </a:cubicBezTo>
                <a:cubicBezTo>
                  <a:pt x="57593" y="193211"/>
                  <a:pt x="83635" y="214107"/>
                  <a:pt x="116112" y="214107"/>
                </a:cubicBezTo>
                <a:close/>
              </a:path>
            </a:pathLst>
          </a:custGeom>
          <a:solidFill>
            <a:srgbClr val="00B4D8"/>
          </a:solidFill>
          <a:ln/>
        </p:spPr>
      </p:sp>
      <p:sp>
        <p:nvSpPr>
          <p:cNvPr id="65" name="Text 63"/>
          <p:cNvSpPr/>
          <p:nvPr/>
        </p:nvSpPr>
        <p:spPr>
          <a:xfrm>
            <a:off x="6442194" y="4297067"/>
            <a:ext cx="5164911" cy="210813"/>
          </a:xfrm>
          <a:prstGeom prst="rect">
            <a:avLst/>
          </a:prstGeom>
          <a:noFill/>
          <a:ln/>
        </p:spPr>
        <p:txBody>
          <a:bodyPr wrap="square" lIns="0" tIns="0" rIns="0" bIns="0" rtlCol="0" anchor="ctr"/>
          <a:lstStyle/>
          <a:p>
            <a:pPr algn="ctr">
              <a:lnSpc>
                <a:spcPct val="130000"/>
              </a:lnSpc>
            </a:pPr>
            <a:r>
              <a:rPr lang="en-US" sz="1107" b="1" dirty="0">
                <a:solidFill>
                  <a:srgbClr val="F1FAEE"/>
                </a:solidFill>
                <a:latin typeface="Liter" pitchFamily="34" charset="0"/>
                <a:ea typeface="Liter" pitchFamily="34" charset="-122"/>
                <a:cs typeface="Liter" pitchFamily="34" charset="-120"/>
              </a:rPr>
              <a:t>Fused Heatmap</a:t>
            </a:r>
            <a:endParaRPr lang="en-US" sz="1600" dirty="0"/>
          </a:p>
        </p:txBody>
      </p:sp>
      <p:sp>
        <p:nvSpPr>
          <p:cNvPr id="66" name="Text 64"/>
          <p:cNvSpPr/>
          <p:nvPr/>
        </p:nvSpPr>
        <p:spPr>
          <a:xfrm>
            <a:off x="6446586" y="4507880"/>
            <a:ext cx="5156127" cy="175677"/>
          </a:xfrm>
          <a:prstGeom prst="rect">
            <a:avLst/>
          </a:prstGeom>
          <a:noFill/>
          <a:ln/>
        </p:spPr>
        <p:txBody>
          <a:bodyPr wrap="square" lIns="0" tIns="0" rIns="0" bIns="0" rtlCol="0" anchor="ctr"/>
          <a:lstStyle/>
          <a:p>
            <a:pPr algn="ctr">
              <a:lnSpc>
                <a:spcPct val="120000"/>
              </a:lnSpc>
            </a:pPr>
            <a:r>
              <a:rPr lang="en-US" sz="968" dirty="0">
                <a:solidFill>
                  <a:srgbClr val="5C677D"/>
                </a:solidFill>
                <a:latin typeface="Liter" pitchFamily="34" charset="0"/>
                <a:ea typeface="Liter" pitchFamily="34" charset="-122"/>
                <a:cs typeface="Liter" pitchFamily="34" charset="-120"/>
              </a:rPr>
              <a:t>Spatial precision + semantic understanding</a:t>
            </a:r>
            <a:endParaRPr lang="en-US" sz="1600" dirty="0"/>
          </a:p>
        </p:txBody>
      </p:sp>
      <p:sp>
        <p:nvSpPr>
          <p:cNvPr id="67" name="Shape 65"/>
          <p:cNvSpPr/>
          <p:nvPr/>
        </p:nvSpPr>
        <p:spPr>
          <a:xfrm>
            <a:off x="6206787" y="5326319"/>
            <a:ext cx="5637482" cy="744871"/>
          </a:xfrm>
          <a:prstGeom prst="roundRect">
            <a:avLst>
              <a:gd name="adj" fmla="val 9434"/>
            </a:avLst>
          </a:prstGeom>
          <a:solidFill>
            <a:srgbClr val="112240"/>
          </a:solidFill>
          <a:ln w="10160">
            <a:solidFill>
              <a:srgbClr val="3A86FF"/>
            </a:solidFill>
            <a:prstDash val="solid"/>
          </a:ln>
        </p:spPr>
      </p:sp>
      <p:sp>
        <p:nvSpPr>
          <p:cNvPr id="68" name="Text 66"/>
          <p:cNvSpPr/>
          <p:nvPr/>
        </p:nvSpPr>
        <p:spPr>
          <a:xfrm>
            <a:off x="6350842" y="5470373"/>
            <a:ext cx="5419643" cy="210813"/>
          </a:xfrm>
          <a:prstGeom prst="rect">
            <a:avLst/>
          </a:prstGeom>
          <a:noFill/>
          <a:ln/>
        </p:spPr>
        <p:txBody>
          <a:bodyPr wrap="square" lIns="0" tIns="0" rIns="0" bIns="0" rtlCol="0" anchor="ctr"/>
          <a:lstStyle/>
          <a:p>
            <a:pPr>
              <a:lnSpc>
                <a:spcPct val="130000"/>
              </a:lnSpc>
            </a:pPr>
            <a:r>
              <a:rPr lang="en-US" sz="1107" b="1" dirty="0">
                <a:solidFill>
                  <a:srgbClr val="3A86FF"/>
                </a:solidFill>
                <a:latin typeface="Liter" pitchFamily="34" charset="0"/>
                <a:ea typeface="Liter" pitchFamily="34" charset="-122"/>
                <a:cs typeface="Liter" pitchFamily="34" charset="-120"/>
              </a:rPr>
              <a:t>Fusion Equation</a:t>
            </a:r>
            <a:endParaRPr lang="en-US" sz="1600" dirty="0"/>
          </a:p>
        </p:txBody>
      </p:sp>
      <p:sp>
        <p:nvSpPr>
          <p:cNvPr id="69" name="Text 67"/>
          <p:cNvSpPr/>
          <p:nvPr/>
        </p:nvSpPr>
        <p:spPr>
          <a:xfrm>
            <a:off x="6350842" y="5751456"/>
            <a:ext cx="5410859" cy="175677"/>
          </a:xfrm>
          <a:prstGeom prst="rect">
            <a:avLst/>
          </a:prstGeom>
          <a:noFill/>
          <a:ln/>
        </p:spPr>
        <p:txBody>
          <a:bodyPr wrap="square" lIns="0" tIns="0" rIns="0" bIns="0" rtlCol="0" anchor="ctr"/>
          <a:lstStyle/>
          <a:p>
            <a:pPr>
              <a:lnSpc>
                <a:spcPct val="120000"/>
              </a:lnSpc>
            </a:pPr>
            <a:r>
              <a:rPr lang="en-US" sz="968" dirty="0">
                <a:solidFill>
                  <a:srgbClr val="F1FAEE"/>
                </a:solidFill>
                <a:latin typeface="MiSans" pitchFamily="34" charset="0"/>
                <a:ea typeface="MiSans" pitchFamily="34" charset="-122"/>
                <a:cs typeface="MiSans" pitchFamily="34" charset="-120"/>
              </a:rPr>
              <a:t>L</a:t>
            </a:r>
            <a:pPr>
              <a:lnSpc>
                <a:spcPct val="120000"/>
              </a:lnSpc>
            </a:pPr>
            <a:r>
              <a:rPr lang="en-US" sz="726" dirty="0">
                <a:solidFill>
                  <a:srgbClr val="F1FAEE"/>
                </a:solidFill>
                <a:latin typeface="MiSans" pitchFamily="34" charset="0"/>
                <a:ea typeface="MiSans" pitchFamily="34" charset="-122"/>
                <a:cs typeface="MiSans" pitchFamily="34" charset="-120"/>
              </a:rPr>
              <a:t>fused</a:t>
            </a:r>
            <a:pPr>
              <a:lnSpc>
                <a:spcPct val="120000"/>
              </a:lnSpc>
            </a:pPr>
            <a:r>
              <a:rPr lang="en-US" sz="968" dirty="0">
                <a:solidFill>
                  <a:srgbClr val="F1FAEE"/>
                </a:solidFill>
                <a:latin typeface="MiSans" pitchFamily="34" charset="0"/>
                <a:ea typeface="MiSans" pitchFamily="34" charset="-122"/>
                <a:cs typeface="MiSans" pitchFamily="34" charset="-120"/>
              </a:rPr>
              <a:t> = w</a:t>
            </a:r>
            <a:pPr>
              <a:lnSpc>
                <a:spcPct val="120000"/>
              </a:lnSpc>
            </a:pPr>
            <a:r>
              <a:rPr lang="en-US" sz="726" dirty="0">
                <a:solidFill>
                  <a:srgbClr val="F1FAEE"/>
                </a:solidFill>
                <a:latin typeface="MiSans" pitchFamily="34" charset="0"/>
                <a:ea typeface="MiSans" pitchFamily="34" charset="-122"/>
                <a:cs typeface="MiSans" pitchFamily="34" charset="-120"/>
              </a:rPr>
              <a:t>2</a:t>
            </a:r>
            <a:pPr>
              <a:lnSpc>
                <a:spcPct val="120000"/>
              </a:lnSpc>
            </a:pPr>
            <a:r>
              <a:rPr lang="en-US" sz="968" dirty="0">
                <a:solidFill>
                  <a:srgbClr val="F1FAEE"/>
                </a:solidFill>
                <a:latin typeface="MiSans" pitchFamily="34" charset="0"/>
                <a:ea typeface="MiSans" pitchFamily="34" charset="-122"/>
                <a:cs typeface="MiSans" pitchFamily="34" charset="-120"/>
              </a:rPr>
              <a:t>·L</a:t>
            </a:r>
            <a:pPr>
              <a:lnSpc>
                <a:spcPct val="120000"/>
              </a:lnSpc>
            </a:pPr>
            <a:r>
              <a:rPr lang="en-US" sz="726" dirty="0">
                <a:solidFill>
                  <a:srgbClr val="F1FAEE"/>
                </a:solidFill>
                <a:latin typeface="MiSans" pitchFamily="34" charset="0"/>
                <a:ea typeface="MiSans" pitchFamily="34" charset="-122"/>
                <a:cs typeface="MiSans" pitchFamily="34" charset="-120"/>
              </a:rPr>
              <a:t>2</a:t>
            </a:r>
            <a:pPr>
              <a:lnSpc>
                <a:spcPct val="120000"/>
              </a:lnSpc>
            </a:pPr>
            <a:r>
              <a:rPr lang="en-US" sz="968" dirty="0">
                <a:solidFill>
                  <a:srgbClr val="F1FAEE"/>
                </a:solidFill>
                <a:latin typeface="MiSans" pitchFamily="34" charset="0"/>
                <a:ea typeface="MiSans" pitchFamily="34" charset="-122"/>
                <a:cs typeface="MiSans" pitchFamily="34" charset="-120"/>
              </a:rPr>
              <a:t> + w</a:t>
            </a:r>
            <a:pPr>
              <a:lnSpc>
                <a:spcPct val="120000"/>
              </a:lnSpc>
            </a:pPr>
            <a:r>
              <a:rPr lang="en-US" sz="726" dirty="0">
                <a:solidFill>
                  <a:srgbClr val="F1FAEE"/>
                </a:solidFill>
                <a:latin typeface="MiSans" pitchFamily="34" charset="0"/>
                <a:ea typeface="MiSans" pitchFamily="34" charset="-122"/>
                <a:cs typeface="MiSans" pitchFamily="34" charset="-120"/>
              </a:rPr>
              <a:t>3</a:t>
            </a:r>
            <a:pPr>
              <a:lnSpc>
                <a:spcPct val="120000"/>
              </a:lnSpc>
            </a:pPr>
            <a:r>
              <a:rPr lang="en-US" sz="968" dirty="0">
                <a:solidFill>
                  <a:srgbClr val="F1FAEE"/>
                </a:solidFill>
                <a:latin typeface="MiSans" pitchFamily="34" charset="0"/>
                <a:ea typeface="MiSans" pitchFamily="34" charset="-122"/>
                <a:cs typeface="MiSans" pitchFamily="34" charset="-120"/>
              </a:rPr>
              <a:t>·L</a:t>
            </a:r>
            <a:pPr>
              <a:lnSpc>
                <a:spcPct val="120000"/>
              </a:lnSpc>
            </a:pPr>
            <a:r>
              <a:rPr lang="en-US" sz="726" dirty="0">
                <a:solidFill>
                  <a:srgbClr val="F1FAEE"/>
                </a:solidFill>
                <a:latin typeface="MiSans" pitchFamily="34" charset="0"/>
                <a:ea typeface="MiSans" pitchFamily="34" charset="-122"/>
                <a:cs typeface="MiSans" pitchFamily="34" charset="-120"/>
              </a:rPr>
              <a:t>3</a:t>
            </a:r>
            <a:pPr>
              <a:lnSpc>
                <a:spcPct val="120000"/>
              </a:lnSpc>
            </a:pPr>
            <a:r>
              <a:rPr lang="en-US" sz="968" dirty="0">
                <a:solidFill>
                  <a:srgbClr val="F1FAEE"/>
                </a:solidFill>
                <a:latin typeface="MiSans" pitchFamily="34" charset="0"/>
                <a:ea typeface="MiSans" pitchFamily="34" charset="-122"/>
                <a:cs typeface="MiSans" pitchFamily="34" charset="-120"/>
              </a:rPr>
              <a:t> + w</a:t>
            </a:r>
            <a:pPr>
              <a:lnSpc>
                <a:spcPct val="120000"/>
              </a:lnSpc>
            </a:pPr>
            <a:r>
              <a:rPr lang="en-US" sz="726" dirty="0">
                <a:solidFill>
                  <a:srgbClr val="F1FAEE"/>
                </a:solidFill>
                <a:latin typeface="MiSans" pitchFamily="34" charset="0"/>
                <a:ea typeface="MiSans" pitchFamily="34" charset="-122"/>
                <a:cs typeface="MiSans" pitchFamily="34" charset="-120"/>
              </a:rPr>
              <a:t>4</a:t>
            </a:r>
            <a:pPr>
              <a:lnSpc>
                <a:spcPct val="120000"/>
              </a:lnSpc>
            </a:pPr>
            <a:r>
              <a:rPr lang="en-US" sz="968" dirty="0">
                <a:solidFill>
                  <a:srgbClr val="F1FAEE"/>
                </a:solidFill>
                <a:latin typeface="MiSans" pitchFamily="34" charset="0"/>
                <a:ea typeface="MiSans" pitchFamily="34" charset="-122"/>
                <a:cs typeface="MiSans" pitchFamily="34" charset="-120"/>
              </a:rPr>
              <a:t>·L</a:t>
            </a:r>
            <a:pPr>
              <a:lnSpc>
                <a:spcPct val="120000"/>
              </a:lnSpc>
            </a:pPr>
            <a:r>
              <a:rPr lang="en-US" sz="726" dirty="0">
                <a:solidFill>
                  <a:srgbClr val="F1FAEE"/>
                </a:solidFill>
                <a:latin typeface="MiSans" pitchFamily="34" charset="0"/>
                <a:ea typeface="MiSans" pitchFamily="34" charset="-122"/>
                <a:cs typeface="MiSans" pitchFamily="34" charset="-120"/>
              </a:rPr>
              <a:t>4</a:t>
            </a:r>
            <a:endParaRPr lang="en-US" sz="1600" dirty="0"/>
          </a:p>
        </p:txBody>
      </p:sp>
      <p:sp>
        <p:nvSpPr>
          <p:cNvPr id="70" name="Shape 68"/>
          <p:cNvSpPr/>
          <p:nvPr/>
        </p:nvSpPr>
        <p:spPr>
          <a:xfrm>
            <a:off x="6206787" y="6218756"/>
            <a:ext cx="5637482" cy="639465"/>
          </a:xfrm>
          <a:prstGeom prst="roundRect">
            <a:avLst>
              <a:gd name="adj" fmla="val 10989"/>
            </a:avLst>
          </a:prstGeom>
          <a:solidFill>
            <a:srgbClr val="112240"/>
          </a:solidFill>
          <a:ln w="10160">
            <a:solidFill>
              <a:srgbClr val="00B4D8"/>
            </a:solidFill>
            <a:prstDash val="solid"/>
          </a:ln>
        </p:spPr>
      </p:sp>
      <p:sp>
        <p:nvSpPr>
          <p:cNvPr id="71" name="Text 69"/>
          <p:cNvSpPr/>
          <p:nvPr/>
        </p:nvSpPr>
        <p:spPr>
          <a:xfrm>
            <a:off x="6350842" y="6362810"/>
            <a:ext cx="5410859" cy="175677"/>
          </a:xfrm>
          <a:prstGeom prst="rect">
            <a:avLst/>
          </a:prstGeom>
          <a:noFill/>
          <a:ln/>
        </p:spPr>
        <p:txBody>
          <a:bodyPr wrap="square" lIns="0" tIns="0" rIns="0" bIns="0" rtlCol="0" anchor="ctr"/>
          <a:lstStyle/>
          <a:p>
            <a:pPr>
              <a:lnSpc>
                <a:spcPct val="120000"/>
              </a:lnSpc>
            </a:pPr>
            <a:r>
              <a:rPr lang="en-US" sz="968" b="1" dirty="0">
                <a:solidFill>
                  <a:srgbClr val="00B4D8"/>
                </a:solidFill>
                <a:latin typeface="Liter" pitchFamily="34" charset="0"/>
                <a:ea typeface="Liter" pitchFamily="34" charset="-122"/>
                <a:cs typeface="Liter" pitchFamily="34" charset="-120"/>
              </a:rPr>
              <a:t>Adaptive Weighting Benefit</a:t>
            </a:r>
            <a:endParaRPr lang="en-US" sz="1600" dirty="0"/>
          </a:p>
        </p:txBody>
      </p:sp>
      <p:sp>
        <p:nvSpPr>
          <p:cNvPr id="72" name="Text 70"/>
          <p:cNvSpPr/>
          <p:nvPr/>
        </p:nvSpPr>
        <p:spPr>
          <a:xfrm>
            <a:off x="6350842" y="6573622"/>
            <a:ext cx="5402075" cy="140542"/>
          </a:xfrm>
          <a:prstGeom prst="rect">
            <a:avLst/>
          </a:prstGeom>
          <a:noFill/>
          <a:ln/>
        </p:spPr>
        <p:txBody>
          <a:bodyPr wrap="square" lIns="0" tIns="0" rIns="0" bIns="0" rtlCol="0" anchor="ctr"/>
          <a:lstStyle/>
          <a:p>
            <a:pPr>
              <a:lnSpc>
                <a:spcPct val="110000"/>
              </a:lnSpc>
            </a:pPr>
            <a:r>
              <a:rPr lang="en-US" sz="830" dirty="0">
                <a:solidFill>
                  <a:srgbClr val="F1FAEE"/>
                </a:solidFill>
                <a:latin typeface="Liter" pitchFamily="34" charset="0"/>
                <a:ea typeface="Liter" pitchFamily="34" charset="-122"/>
                <a:cs typeface="Liter" pitchFamily="34" charset="-120"/>
              </a:rPr>
              <a:t>Automatically identifies which feature scale matters most for each individual scan</a:t>
            </a:r>
            <a:endParaRPr lang="en-US" sz="1600" dirty="0"/>
          </a:p>
        </p:txBody>
      </p:sp>
      <p:sp>
        <p:nvSpPr>
          <p:cNvPr id="73" name="Text 71"/>
          <p:cNvSpPr/>
          <p:nvPr/>
        </p:nvSpPr>
        <p:spPr>
          <a:xfrm>
            <a:off x="351354" y="6579224"/>
            <a:ext cx="2441914" cy="140542"/>
          </a:xfrm>
          <a:prstGeom prst="rect">
            <a:avLst/>
          </a:prstGeom>
          <a:noFill/>
          <a:ln/>
        </p:spPr>
        <p:txBody>
          <a:bodyPr wrap="square" lIns="0" tIns="0" rIns="0" bIns="0" rtlCol="0" anchor="ctr"/>
          <a:lstStyle/>
          <a:p>
            <a:pPr>
              <a:lnSpc>
                <a:spcPct val="110000"/>
              </a:lnSpc>
            </a:pPr>
            <a:r>
              <a:rPr lang="en-US" sz="83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74" name="Text 72"/>
          <p:cNvSpPr/>
          <p:nvPr/>
        </p:nvSpPr>
        <p:spPr>
          <a:xfrm>
            <a:off x="11487424" y="6579224"/>
            <a:ext cx="412841" cy="140542"/>
          </a:xfrm>
          <a:prstGeom prst="rect">
            <a:avLst/>
          </a:prstGeom>
          <a:noFill/>
          <a:ln/>
        </p:spPr>
        <p:txBody>
          <a:bodyPr wrap="square" lIns="0" tIns="0" rIns="0" bIns="0" rtlCol="0" anchor="ctr"/>
          <a:lstStyle/>
          <a:p>
            <a:pPr>
              <a:lnSpc>
                <a:spcPct val="110000"/>
              </a:lnSpc>
            </a:pPr>
            <a:r>
              <a:rPr lang="en-US" sz="830" dirty="0">
                <a:solidFill>
                  <a:srgbClr val="5C677D"/>
                </a:solidFill>
                <a:latin typeface="Liter" pitchFamily="34" charset="0"/>
                <a:ea typeface="Liter" pitchFamily="34" charset="-122"/>
                <a:cs typeface="Liter" pitchFamily="34" charset="-120"/>
              </a:rPr>
              <a:t>Slide 14</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60" kern="0" dirty="0">
                <a:solidFill>
                  <a:srgbClr val="00B4D8"/>
                </a:solidFill>
                <a:latin typeface="Liter" pitchFamily="34" charset="0"/>
                <a:ea typeface="Liter" pitchFamily="34" charset="-122"/>
                <a:cs typeface="Liter" pitchFamily="34" charset="-120"/>
              </a:rPr>
              <a:t>Comparative Analysis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F1FAEE"/>
                </a:solidFill>
                <a:latin typeface="Oranienbaum" pitchFamily="34" charset="0"/>
                <a:ea typeface="Oranienbaum" pitchFamily="34" charset="-122"/>
                <a:cs typeface="Oranienbaum" pitchFamily="34" charset="-120"/>
              </a:rPr>
              <a:t>Advantages of Proposed Method</a:t>
            </a:r>
            <a:endParaRPr lang="en-US" sz="1600" dirty="0"/>
          </a:p>
        </p:txBody>
      </p:sp>
      <p:sp>
        <p:nvSpPr>
          <p:cNvPr id="4" name="Shape 2"/>
          <p:cNvSpPr/>
          <p:nvPr/>
        </p:nvSpPr>
        <p:spPr>
          <a:xfrm>
            <a:off x="381000" y="1181100"/>
            <a:ext cx="914400" cy="38100"/>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84810" y="1299210"/>
            <a:ext cx="11418570" cy="3665220"/>
          </a:xfrm>
          <a:prstGeom prst="roundRect">
            <a:avLst>
              <a:gd name="adj" fmla="val 2079"/>
            </a:avLst>
          </a:prstGeom>
          <a:solidFill>
            <a:srgbClr val="112240"/>
          </a:solidFill>
          <a:ln w="10160">
            <a:solidFill>
              <a:srgbClr val="3A86FF"/>
            </a:solidFill>
            <a:prstDash val="solid"/>
          </a:ln>
        </p:spPr>
      </p:sp>
      <p:sp>
        <p:nvSpPr>
          <p:cNvPr id="6" name="Shape 4"/>
          <p:cNvSpPr/>
          <p:nvPr/>
        </p:nvSpPr>
        <p:spPr>
          <a:xfrm>
            <a:off x="543401" y="1503043"/>
            <a:ext cx="214313" cy="171450"/>
          </a:xfrm>
          <a:custGeom>
            <a:avLst/>
            <a:gdLst/>
            <a:ahLst/>
            <a:cxnLst/>
            <a:rect l="l" t="t" r="r" b="b"/>
            <a:pathLst>
              <a:path w="214313" h="171450">
                <a:moveTo>
                  <a:pt x="128588" y="10716"/>
                </a:moveTo>
                <a:lnTo>
                  <a:pt x="171450" y="10716"/>
                </a:lnTo>
                <a:cubicBezTo>
                  <a:pt x="177377" y="10716"/>
                  <a:pt x="182166" y="15504"/>
                  <a:pt x="182166" y="21431"/>
                </a:cubicBezTo>
                <a:cubicBezTo>
                  <a:pt x="182166" y="27358"/>
                  <a:pt x="177377" y="32147"/>
                  <a:pt x="171450" y="32147"/>
                </a:cubicBezTo>
                <a:lnTo>
                  <a:pt x="133410" y="32147"/>
                </a:lnTo>
                <a:cubicBezTo>
                  <a:pt x="131668" y="40786"/>
                  <a:pt x="125741" y="47919"/>
                  <a:pt x="117872" y="51335"/>
                </a:cubicBezTo>
                <a:lnTo>
                  <a:pt x="117872" y="150019"/>
                </a:lnTo>
                <a:lnTo>
                  <a:pt x="171450" y="150019"/>
                </a:lnTo>
                <a:cubicBezTo>
                  <a:pt x="177377" y="150019"/>
                  <a:pt x="182166" y="154807"/>
                  <a:pt x="182166" y="160734"/>
                </a:cubicBezTo>
                <a:cubicBezTo>
                  <a:pt x="182166" y="166661"/>
                  <a:pt x="177377" y="171450"/>
                  <a:pt x="171450" y="171450"/>
                </a:cubicBezTo>
                <a:lnTo>
                  <a:pt x="42863" y="171450"/>
                </a:lnTo>
                <a:cubicBezTo>
                  <a:pt x="36935" y="171450"/>
                  <a:pt x="32147" y="166661"/>
                  <a:pt x="32147" y="160734"/>
                </a:cubicBezTo>
                <a:cubicBezTo>
                  <a:pt x="32147" y="154807"/>
                  <a:pt x="36935" y="150019"/>
                  <a:pt x="42863" y="150019"/>
                </a:cubicBezTo>
                <a:lnTo>
                  <a:pt x="96441" y="150019"/>
                </a:lnTo>
                <a:lnTo>
                  <a:pt x="96441" y="51335"/>
                </a:lnTo>
                <a:cubicBezTo>
                  <a:pt x="88571" y="47885"/>
                  <a:pt x="82644" y="40753"/>
                  <a:pt x="80903" y="32147"/>
                </a:cubicBezTo>
                <a:lnTo>
                  <a:pt x="42863" y="32147"/>
                </a:lnTo>
                <a:cubicBezTo>
                  <a:pt x="36935" y="32147"/>
                  <a:pt x="32147" y="27358"/>
                  <a:pt x="32147" y="21431"/>
                </a:cubicBezTo>
                <a:cubicBezTo>
                  <a:pt x="32147" y="15504"/>
                  <a:pt x="36935" y="10716"/>
                  <a:pt x="42863" y="10716"/>
                </a:cubicBezTo>
                <a:lnTo>
                  <a:pt x="85725" y="10716"/>
                </a:lnTo>
                <a:cubicBezTo>
                  <a:pt x="90614" y="4219"/>
                  <a:pt x="98383" y="0"/>
                  <a:pt x="107156" y="0"/>
                </a:cubicBezTo>
                <a:cubicBezTo>
                  <a:pt x="115930" y="0"/>
                  <a:pt x="123698" y="4219"/>
                  <a:pt x="128588" y="10716"/>
                </a:cubicBezTo>
                <a:close/>
                <a:moveTo>
                  <a:pt x="147206" y="107156"/>
                </a:moveTo>
                <a:lnTo>
                  <a:pt x="195694" y="107156"/>
                </a:lnTo>
                <a:lnTo>
                  <a:pt x="171450" y="65566"/>
                </a:lnTo>
                <a:lnTo>
                  <a:pt x="147206" y="107156"/>
                </a:lnTo>
                <a:close/>
                <a:moveTo>
                  <a:pt x="171450" y="139303"/>
                </a:moveTo>
                <a:cubicBezTo>
                  <a:pt x="150387" y="139303"/>
                  <a:pt x="132874" y="127918"/>
                  <a:pt x="129257" y="112882"/>
                </a:cubicBezTo>
                <a:cubicBezTo>
                  <a:pt x="128387" y="109199"/>
                  <a:pt x="129592" y="105415"/>
                  <a:pt x="131501" y="102133"/>
                </a:cubicBezTo>
                <a:lnTo>
                  <a:pt x="163380" y="47484"/>
                </a:lnTo>
                <a:cubicBezTo>
                  <a:pt x="165054" y="44604"/>
                  <a:pt x="168135" y="42863"/>
                  <a:pt x="171450" y="42863"/>
                </a:cubicBezTo>
                <a:cubicBezTo>
                  <a:pt x="174765" y="42863"/>
                  <a:pt x="177846" y="44637"/>
                  <a:pt x="179520" y="47484"/>
                </a:cubicBezTo>
                <a:lnTo>
                  <a:pt x="211399" y="102133"/>
                </a:lnTo>
                <a:cubicBezTo>
                  <a:pt x="213308" y="105415"/>
                  <a:pt x="214513" y="109199"/>
                  <a:pt x="213643" y="112882"/>
                </a:cubicBezTo>
                <a:cubicBezTo>
                  <a:pt x="210026" y="127884"/>
                  <a:pt x="192513" y="139303"/>
                  <a:pt x="171450" y="139303"/>
                </a:cubicBezTo>
                <a:close/>
                <a:moveTo>
                  <a:pt x="42461" y="65566"/>
                </a:moveTo>
                <a:lnTo>
                  <a:pt x="18217" y="107156"/>
                </a:lnTo>
                <a:lnTo>
                  <a:pt x="66738" y="107156"/>
                </a:lnTo>
                <a:lnTo>
                  <a:pt x="42461" y="65566"/>
                </a:lnTo>
                <a:close/>
                <a:moveTo>
                  <a:pt x="301" y="112882"/>
                </a:moveTo>
                <a:cubicBezTo>
                  <a:pt x="-569" y="109199"/>
                  <a:pt x="636" y="105415"/>
                  <a:pt x="2545" y="102133"/>
                </a:cubicBezTo>
                <a:lnTo>
                  <a:pt x="34424" y="47484"/>
                </a:lnTo>
                <a:cubicBezTo>
                  <a:pt x="36098" y="44604"/>
                  <a:pt x="39179" y="42863"/>
                  <a:pt x="42494" y="42863"/>
                </a:cubicBezTo>
                <a:cubicBezTo>
                  <a:pt x="45809" y="42863"/>
                  <a:pt x="48890" y="44637"/>
                  <a:pt x="50564" y="47484"/>
                </a:cubicBezTo>
                <a:lnTo>
                  <a:pt x="82443" y="102133"/>
                </a:lnTo>
                <a:cubicBezTo>
                  <a:pt x="84352" y="105415"/>
                  <a:pt x="85558" y="109199"/>
                  <a:pt x="84687" y="112882"/>
                </a:cubicBezTo>
                <a:cubicBezTo>
                  <a:pt x="81070" y="127884"/>
                  <a:pt x="63557" y="139303"/>
                  <a:pt x="42494" y="139303"/>
                </a:cubicBezTo>
                <a:cubicBezTo>
                  <a:pt x="21431" y="139303"/>
                  <a:pt x="3918" y="127918"/>
                  <a:pt x="301" y="112882"/>
                </a:cubicBezTo>
                <a:close/>
              </a:path>
            </a:pathLst>
          </a:custGeom>
          <a:solidFill>
            <a:srgbClr val="3A86FF"/>
          </a:solidFill>
          <a:ln/>
        </p:spPr>
      </p:sp>
      <p:sp>
        <p:nvSpPr>
          <p:cNvPr id="7" name="Text 5"/>
          <p:cNvSpPr/>
          <p:nvPr/>
        </p:nvSpPr>
        <p:spPr>
          <a:xfrm>
            <a:off x="760095" y="1455418"/>
            <a:ext cx="10972800" cy="266700"/>
          </a:xfrm>
          <a:prstGeom prst="rect">
            <a:avLst/>
          </a:prstGeom>
          <a:noFill/>
          <a:ln/>
        </p:spPr>
        <p:txBody>
          <a:bodyPr wrap="square" lIns="0" tIns="0" rIns="0" bIns="0" rtlCol="0" anchor="ctr"/>
          <a:lstStyle/>
          <a:p>
            <a:pPr>
              <a:lnSpc>
                <a:spcPct val="130000"/>
              </a:lnSpc>
            </a:pPr>
            <a:r>
              <a:rPr lang="en-US" sz="1350" b="1" dirty="0">
                <a:solidFill>
                  <a:srgbClr val="3A86FF"/>
                </a:solidFill>
                <a:latin typeface="Liter" pitchFamily="34" charset="0"/>
                <a:ea typeface="Liter" pitchFamily="34" charset="-122"/>
                <a:cs typeface="Liter" pitchFamily="34" charset="-120"/>
              </a:rPr>
              <a:t>Standard Grad-CAM vs Adaptive Fused Grad-CAM</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1020" y="1836418"/>
          <a:ext cx="11106150" cy="2971800"/>
        </p:xfrm>
        <a:graphic>
          <a:graphicData uri="http://schemas.openxmlformats.org/drawingml/2006/table">
            <a:tbl>
              <a:tblPr/>
              <a:tblGrid>
                <a:gridCol w="3619500"/>
                <a:gridCol w="3305175"/>
                <a:gridCol w="4181475"/>
              </a:tblGrid>
              <a:tr h="417317">
                <a:tc>
                  <a:txBody>
                    <a:bodyPr/>
                    <a:lstStyle/>
                    <a:p>
                      <a:pPr algn="l"/>
                      <a:r>
                        <a:rPr lang="en-US" sz="1000" b="1" u="none" dirty="0">
                          <a:solidFill>
                            <a:srgbClr val="F1FAEE"/>
                          </a:solidFill>
                          <a:latin typeface="微软雅黑" pitchFamily="34" charset="0"/>
                          <a:ea typeface="微软雅黑" pitchFamily="34" charset="-122"/>
                          <a:cs typeface="微软雅黑" pitchFamily="34" charset="-120"/>
                        </a:rPr>
                        <a:t>Dimension</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0" cap="flat" cmpd="sng" algn="ctr">
                      <a:noFill/>
                    </a:lnB>
                    <a:solidFill>
                      <a:srgbClr val="3A86FF"/>
                    </a:solidFill>
                  </a:tcPr>
                </a:tc>
                <a:tc>
                  <a:txBody>
                    <a:bodyPr/>
                    <a:lstStyle/>
                    <a:p>
                      <a:pPr algn="l"/>
                      <a:r>
                        <a:rPr lang="en-US" sz="1000" b="1" u="none" dirty="0">
                          <a:solidFill>
                            <a:srgbClr val="F1FAEE"/>
                          </a:solidFill>
                          <a:latin typeface="微软雅黑" pitchFamily="34" charset="0"/>
                          <a:ea typeface="微软雅黑" pitchFamily="34" charset="-122"/>
                          <a:cs typeface="微软雅黑" pitchFamily="34" charset="-120"/>
                        </a:rPr>
                        <a:t>Standard Grad-CAM</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0" cap="flat" cmpd="sng" algn="ctr">
                      <a:noFill/>
                    </a:lnB>
                    <a:solidFill>
                      <a:srgbClr val="3A86FF"/>
                    </a:solidFill>
                  </a:tcPr>
                </a:tc>
                <a:tc>
                  <a:txBody>
                    <a:bodyPr/>
                    <a:lstStyle/>
                    <a:p>
                      <a:pPr algn="l"/>
                      <a:r>
                        <a:rPr lang="en-US" sz="1000" b="1" u="none" dirty="0">
                          <a:solidFill>
                            <a:srgbClr val="F1FAEE"/>
                          </a:solidFill>
                          <a:latin typeface="微软雅黑" pitchFamily="34" charset="0"/>
                          <a:ea typeface="微软雅黑" pitchFamily="34" charset="-122"/>
                          <a:cs typeface="微软雅黑" pitchFamily="34" charset="-120"/>
                        </a:rPr>
                        <a:t>Adaptive Fused Grad-CAM</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0" cap="flat" cmpd="sng" algn="ctr">
                      <a:noFill/>
                    </a:lnB>
                    <a:solidFill>
                      <a:srgbClr val="3A86FF"/>
                    </a:solidFill>
                  </a:tcPr>
                </a:tc>
              </a:tr>
              <a:tr h="417317">
                <a:tc>
                  <a:txBody>
                    <a:bodyPr/>
                    <a:lstStyle/>
                    <a:p>
                      <a:r>
                        <a:rPr lang="en-US" sz="1000" b="1" u="none" dirty="0">
                          <a:solidFill>
                            <a:srgbClr val="3A86FF"/>
                          </a:solidFill>
                          <a:latin typeface="微软雅黑" pitchFamily="34" charset="0"/>
                          <a:ea typeface="微软雅黑" pitchFamily="34" charset="-122"/>
                          <a:cs typeface="微软雅黑" pitchFamily="34" charset="-120"/>
                        </a:rPr>
                        <a:t>Spatial Precision</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32× interpolation</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Mixed 8×, 16×, 32×</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429963">
                <a:tc>
                  <a:txBody>
                    <a:bodyPr/>
                    <a:lstStyle/>
                    <a:p>
                      <a:r>
                        <a:rPr lang="en-US" sz="1000" b="1" u="none" dirty="0">
                          <a:solidFill>
                            <a:srgbClr val="3A86FF"/>
                          </a:solidFill>
                          <a:latin typeface="微软雅黑" pitchFamily="34" charset="0"/>
                          <a:ea typeface="微软雅黑" pitchFamily="34" charset="-122"/>
                          <a:cs typeface="微软雅黑" pitchFamily="34" charset="-120"/>
                        </a:rPr>
                        <a:t>Boundary Localization</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Smooth blurry</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Sharp precise</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r>
              <a:tr h="429963">
                <a:tc>
                  <a:txBody>
                    <a:bodyPr/>
                    <a:lstStyle/>
                    <a:p>
                      <a:r>
                        <a:rPr lang="en-US" sz="1000" b="1" u="none" dirty="0">
                          <a:solidFill>
                            <a:srgbClr val="3A86FF"/>
                          </a:solidFill>
                          <a:latin typeface="微软雅黑" pitchFamily="34" charset="0"/>
                          <a:ea typeface="微软雅黑" pitchFamily="34" charset="-122"/>
                          <a:cs typeface="微软雅黑" pitchFamily="34" charset="-120"/>
                        </a:rPr>
                        <a:t>Noise Reduction</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No validation</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Artifact elimination</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429963">
                <a:tc>
                  <a:txBody>
                    <a:bodyPr/>
                    <a:lstStyle/>
                    <a:p>
                      <a:r>
                        <a:rPr lang="en-US" sz="1000" b="1" u="none" dirty="0">
                          <a:solidFill>
                            <a:srgbClr val="3A86FF"/>
                          </a:solidFill>
                          <a:latin typeface="微软雅黑" pitchFamily="34" charset="0"/>
                          <a:ea typeface="微软雅黑" pitchFamily="34" charset="-122"/>
                          <a:cs typeface="微软雅黑" pitchFamily="34" charset="-120"/>
                        </a:rPr>
                        <a:t>Quantitative Validation</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None</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Confidence-retention loop</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112240"/>
                    </a:solidFill>
                  </a:tcPr>
                </a:tc>
              </a:tr>
              <a:tr h="429963">
                <a:tc>
                  <a:txBody>
                    <a:bodyPr/>
                    <a:lstStyle/>
                    <a:p>
                      <a:r>
                        <a:rPr lang="en-US" sz="1000" b="1" u="none" dirty="0">
                          <a:solidFill>
                            <a:srgbClr val="3A86FF"/>
                          </a:solidFill>
                          <a:latin typeface="微软雅黑" pitchFamily="34" charset="0"/>
                          <a:ea typeface="微软雅黑" pitchFamily="34" charset="-122"/>
                          <a:cs typeface="微软雅黑" pitchFamily="34" charset="-120"/>
                        </a:rPr>
                        <a:t>Clinical Trust</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Visualization only</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Verified explanations</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10160" cap="flat" cmpd="sng" algn="ctr">
                      <a:solidFill>
                        <a:srgbClr val="5C677D"/>
                      </a:solidFill>
                      <a:prstDash val="solid"/>
                      <a:round/>
                      <a:headEnd type="none" w="med" len="med"/>
                      <a:tailEnd type="none" w="med" len="med"/>
                    </a:lnB>
                    <a:solidFill>
                      <a:srgbClr val="FFFFFF">
                        <a:alpha val="0"/>
                      </a:srgbClr>
                    </a:solidFill>
                  </a:tcPr>
                </a:tc>
              </a:tr>
              <a:tr h="417317">
                <a:tc>
                  <a:txBody>
                    <a:bodyPr/>
                    <a:lstStyle/>
                    <a:p>
                      <a:r>
                        <a:rPr lang="en-US" sz="1000" b="1" u="none" dirty="0">
                          <a:solidFill>
                            <a:srgbClr val="3A86FF"/>
                          </a:solidFill>
                          <a:latin typeface="微软雅黑" pitchFamily="34" charset="0"/>
                          <a:ea typeface="微软雅黑" pitchFamily="34" charset="-122"/>
                          <a:cs typeface="微软雅黑" pitchFamily="34" charset="-120"/>
                        </a:rPr>
                        <a:t>Adaptive Explainability</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0" cap="flat" cmpd="sng" algn="ctr">
                      <a:noFill/>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Fixed weights</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0" cap="flat" cmpd="sng" algn="ctr">
                      <a:noFill/>
                    </a:lnB>
                    <a:solidFill>
                      <a:srgbClr val="112240"/>
                    </a:solidFill>
                  </a:tcPr>
                </a:tc>
                <a:tc>
                  <a:txBody>
                    <a:bodyPr/>
                    <a:lstStyle/>
                    <a:p>
                      <a:r>
                        <a:rPr lang="en-US" sz="1000" u="none" dirty="0">
                          <a:solidFill>
                            <a:srgbClr val="F1FAEE"/>
                          </a:solidFill>
                          <a:latin typeface="微软雅黑" pitchFamily="34" charset="0"/>
                          <a:ea typeface="微软雅黑" pitchFamily="34" charset="-122"/>
                          <a:cs typeface="微软雅黑" pitchFamily="34" charset="-120"/>
                        </a:rPr>
                        <a:t>Per-scan dynamic</a:t>
                      </a:r>
                      <a:endParaRPr lang="en-US" sz="1000" dirty="0">
                        <a:latin typeface="微软雅黑" charset="0"/>
                        <a:ea typeface="微软雅黑" charset="0"/>
                        <a:cs typeface="微软雅黑" charset="0"/>
                      </a:endParaRPr>
                    </a:p>
                  </a:txBody>
                  <a:tcPr marL="114300" marR="114300" marT="114300" marB="114300" anchor="ctr">
                    <a:lnL w="0" cap="flat" cmpd="sng" algn="ctr">
                      <a:noFill/>
                    </a:lnL>
                    <a:lnR w="0" cap="flat" cmpd="sng" algn="ctr">
                      <a:noFill/>
                    </a:lnR>
                    <a:lnT w="0" cap="flat" cmpd="sng" algn="ctr">
                      <a:noFill/>
                    </a:lnT>
                    <a:lnB w="0" cap="flat" cmpd="sng" algn="ctr">
                      <a:noFill/>
                    </a:lnB>
                    <a:solidFill>
                      <a:srgbClr val="112240"/>
                    </a:solidFill>
                  </a:tcPr>
                </a:tc>
              </a:tr>
            </a:tbl>
          </a:graphicData>
        </a:graphic>
      </p:graphicFrame>
      <p:sp>
        <p:nvSpPr>
          <p:cNvPr id="9" name="Shape 6"/>
          <p:cNvSpPr/>
          <p:nvPr/>
        </p:nvSpPr>
        <p:spPr>
          <a:xfrm>
            <a:off x="400050" y="5120646"/>
            <a:ext cx="3686175" cy="1524000"/>
          </a:xfrm>
          <a:custGeom>
            <a:avLst/>
            <a:gdLst/>
            <a:ahLst/>
            <a:cxnLst/>
            <a:rect l="l" t="t" r="r" b="b"/>
            <a:pathLst>
              <a:path w="3686175" h="1524000">
                <a:moveTo>
                  <a:pt x="38100" y="0"/>
                </a:moveTo>
                <a:lnTo>
                  <a:pt x="3609975" y="0"/>
                </a:lnTo>
                <a:cubicBezTo>
                  <a:pt x="3652031" y="0"/>
                  <a:pt x="3686175" y="34144"/>
                  <a:pt x="3686175" y="76200"/>
                </a:cubicBezTo>
                <a:lnTo>
                  <a:pt x="3686175" y="1447800"/>
                </a:lnTo>
                <a:cubicBezTo>
                  <a:pt x="3686175" y="1489856"/>
                  <a:pt x="3652031" y="1524000"/>
                  <a:pt x="3609975" y="1524000"/>
                </a:cubicBezTo>
                <a:lnTo>
                  <a:pt x="38100" y="1524000"/>
                </a:lnTo>
                <a:cubicBezTo>
                  <a:pt x="17072" y="1524000"/>
                  <a:pt x="0" y="1506928"/>
                  <a:pt x="0" y="1485900"/>
                </a:cubicBezTo>
                <a:lnTo>
                  <a:pt x="0" y="38100"/>
                </a:lnTo>
                <a:cubicBezTo>
                  <a:pt x="0" y="17072"/>
                  <a:pt x="17072" y="0"/>
                  <a:pt x="38100" y="0"/>
                </a:cubicBezTo>
                <a:close/>
              </a:path>
            </a:pathLst>
          </a:custGeom>
          <a:solidFill>
            <a:srgbClr val="112240"/>
          </a:solidFill>
          <a:ln/>
        </p:spPr>
      </p:sp>
      <p:sp>
        <p:nvSpPr>
          <p:cNvPr id="10" name="Shape 7"/>
          <p:cNvSpPr/>
          <p:nvPr/>
        </p:nvSpPr>
        <p:spPr>
          <a:xfrm>
            <a:off x="400050" y="5120646"/>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10B981"/>
          </a:solidFill>
          <a:ln/>
        </p:spPr>
      </p:sp>
      <p:sp>
        <p:nvSpPr>
          <p:cNvPr id="11" name="Shape 8"/>
          <p:cNvSpPr/>
          <p:nvPr/>
        </p:nvSpPr>
        <p:spPr>
          <a:xfrm>
            <a:off x="571500" y="5273046"/>
            <a:ext cx="457200" cy="457200"/>
          </a:xfrm>
          <a:prstGeom prst="roundRect">
            <a:avLst>
              <a:gd name="adj" fmla="val 50000"/>
            </a:avLst>
          </a:prstGeom>
          <a:solidFill>
            <a:srgbClr val="10B981"/>
          </a:solidFill>
          <a:ln/>
        </p:spPr>
      </p:sp>
      <p:sp>
        <p:nvSpPr>
          <p:cNvPr id="12" name="Shape 9"/>
          <p:cNvSpPr/>
          <p:nvPr/>
        </p:nvSpPr>
        <p:spPr>
          <a:xfrm>
            <a:off x="692944" y="5406396"/>
            <a:ext cx="214313" cy="190500"/>
          </a:xfrm>
          <a:custGeom>
            <a:avLst/>
            <a:gdLst/>
            <a:ahLst/>
            <a:cxnLst/>
            <a:rect l="l" t="t" r="r" b="b"/>
            <a:pathLst>
              <a:path w="214313" h="190500">
                <a:moveTo>
                  <a:pt x="107156" y="-5953"/>
                </a:moveTo>
                <a:cubicBezTo>
                  <a:pt x="113742" y="-5953"/>
                  <a:pt x="119063" y="-633"/>
                  <a:pt x="119063" y="5953"/>
                </a:cubicBezTo>
                <a:lnTo>
                  <a:pt x="119063" y="12762"/>
                </a:lnTo>
                <a:cubicBezTo>
                  <a:pt x="155563" y="17971"/>
                  <a:pt x="184435" y="46844"/>
                  <a:pt x="189644" y="83344"/>
                </a:cubicBezTo>
                <a:lnTo>
                  <a:pt x="196453" y="83344"/>
                </a:lnTo>
                <a:cubicBezTo>
                  <a:pt x="203039" y="83344"/>
                  <a:pt x="208359" y="88664"/>
                  <a:pt x="208359" y="95250"/>
                </a:cubicBezTo>
                <a:cubicBezTo>
                  <a:pt x="208359" y="101836"/>
                  <a:pt x="203039" y="107156"/>
                  <a:pt x="196453" y="107156"/>
                </a:cubicBezTo>
                <a:lnTo>
                  <a:pt x="189644" y="107156"/>
                </a:lnTo>
                <a:cubicBezTo>
                  <a:pt x="184435" y="143656"/>
                  <a:pt x="155563" y="172529"/>
                  <a:pt x="119063" y="177738"/>
                </a:cubicBezTo>
                <a:lnTo>
                  <a:pt x="119063" y="184547"/>
                </a:lnTo>
                <a:cubicBezTo>
                  <a:pt x="119063" y="191133"/>
                  <a:pt x="113742" y="196453"/>
                  <a:pt x="107156" y="196453"/>
                </a:cubicBezTo>
                <a:cubicBezTo>
                  <a:pt x="100571" y="196453"/>
                  <a:pt x="95250" y="191133"/>
                  <a:pt x="95250" y="184547"/>
                </a:cubicBezTo>
                <a:lnTo>
                  <a:pt x="95250" y="177738"/>
                </a:lnTo>
                <a:cubicBezTo>
                  <a:pt x="58750" y="172529"/>
                  <a:pt x="29877" y="143656"/>
                  <a:pt x="24668" y="107156"/>
                </a:cubicBezTo>
                <a:lnTo>
                  <a:pt x="17859" y="107156"/>
                </a:lnTo>
                <a:cubicBezTo>
                  <a:pt x="11274" y="107156"/>
                  <a:pt x="5953" y="101836"/>
                  <a:pt x="5953" y="95250"/>
                </a:cubicBezTo>
                <a:cubicBezTo>
                  <a:pt x="5953" y="88664"/>
                  <a:pt x="11274" y="83344"/>
                  <a:pt x="17859" y="83344"/>
                </a:cubicBezTo>
                <a:lnTo>
                  <a:pt x="24668" y="83344"/>
                </a:lnTo>
                <a:cubicBezTo>
                  <a:pt x="29877" y="46844"/>
                  <a:pt x="58750" y="17971"/>
                  <a:pt x="95250" y="12762"/>
                </a:cubicBezTo>
                <a:lnTo>
                  <a:pt x="95250" y="5953"/>
                </a:lnTo>
                <a:cubicBezTo>
                  <a:pt x="95250" y="-633"/>
                  <a:pt x="100571" y="-5953"/>
                  <a:pt x="107156" y="-5953"/>
                </a:cubicBezTo>
                <a:close/>
                <a:moveTo>
                  <a:pt x="48816" y="107156"/>
                </a:moveTo>
                <a:cubicBezTo>
                  <a:pt x="53541" y="130485"/>
                  <a:pt x="71921" y="148865"/>
                  <a:pt x="95250" y="153591"/>
                </a:cubicBezTo>
                <a:lnTo>
                  <a:pt x="95250" y="148828"/>
                </a:lnTo>
                <a:cubicBezTo>
                  <a:pt x="95250" y="142242"/>
                  <a:pt x="100571" y="136922"/>
                  <a:pt x="107156" y="136922"/>
                </a:cubicBezTo>
                <a:cubicBezTo>
                  <a:pt x="113742" y="136922"/>
                  <a:pt x="119063" y="142242"/>
                  <a:pt x="119063" y="148828"/>
                </a:cubicBezTo>
                <a:lnTo>
                  <a:pt x="119063" y="153591"/>
                </a:lnTo>
                <a:cubicBezTo>
                  <a:pt x="142391" y="148865"/>
                  <a:pt x="160772" y="130485"/>
                  <a:pt x="165497" y="107156"/>
                </a:cubicBezTo>
                <a:lnTo>
                  <a:pt x="160734" y="107156"/>
                </a:lnTo>
                <a:cubicBezTo>
                  <a:pt x="154149" y="107156"/>
                  <a:pt x="148828" y="101836"/>
                  <a:pt x="148828" y="95250"/>
                </a:cubicBezTo>
                <a:cubicBezTo>
                  <a:pt x="148828" y="88664"/>
                  <a:pt x="154149" y="83344"/>
                  <a:pt x="160734" y="83344"/>
                </a:cubicBezTo>
                <a:lnTo>
                  <a:pt x="165497" y="83344"/>
                </a:lnTo>
                <a:cubicBezTo>
                  <a:pt x="160772" y="60015"/>
                  <a:pt x="142391" y="41635"/>
                  <a:pt x="119063" y="36909"/>
                </a:cubicBezTo>
                <a:lnTo>
                  <a:pt x="119063" y="41672"/>
                </a:lnTo>
                <a:cubicBezTo>
                  <a:pt x="119063" y="48258"/>
                  <a:pt x="113742" y="53578"/>
                  <a:pt x="107156" y="53578"/>
                </a:cubicBezTo>
                <a:cubicBezTo>
                  <a:pt x="100571" y="53578"/>
                  <a:pt x="95250" y="48258"/>
                  <a:pt x="95250" y="41672"/>
                </a:cubicBezTo>
                <a:lnTo>
                  <a:pt x="95250" y="36909"/>
                </a:lnTo>
                <a:cubicBezTo>
                  <a:pt x="71921" y="41635"/>
                  <a:pt x="53541" y="60015"/>
                  <a:pt x="48816" y="83344"/>
                </a:cubicBezTo>
                <a:lnTo>
                  <a:pt x="53578" y="83344"/>
                </a:lnTo>
                <a:cubicBezTo>
                  <a:pt x="60164" y="83344"/>
                  <a:pt x="65484" y="88664"/>
                  <a:pt x="65484" y="95250"/>
                </a:cubicBezTo>
                <a:cubicBezTo>
                  <a:pt x="65484" y="101836"/>
                  <a:pt x="60164" y="107156"/>
                  <a:pt x="53578" y="107156"/>
                </a:cubicBezTo>
                <a:lnTo>
                  <a:pt x="48816" y="107156"/>
                </a:lnTo>
                <a:close/>
                <a:moveTo>
                  <a:pt x="107156" y="77391"/>
                </a:moveTo>
                <a:cubicBezTo>
                  <a:pt x="117013" y="77391"/>
                  <a:pt x="125016" y="85393"/>
                  <a:pt x="125016" y="95250"/>
                </a:cubicBezTo>
                <a:cubicBezTo>
                  <a:pt x="125016" y="105107"/>
                  <a:pt x="117013" y="113109"/>
                  <a:pt x="107156" y="113109"/>
                </a:cubicBezTo>
                <a:cubicBezTo>
                  <a:pt x="97299" y="113109"/>
                  <a:pt x="89297" y="105107"/>
                  <a:pt x="89297" y="95250"/>
                </a:cubicBezTo>
                <a:cubicBezTo>
                  <a:pt x="89297" y="85393"/>
                  <a:pt x="97299" y="77391"/>
                  <a:pt x="107156" y="77391"/>
                </a:cubicBezTo>
                <a:close/>
              </a:path>
            </a:pathLst>
          </a:custGeom>
          <a:solidFill>
            <a:srgbClr val="F1FAEE"/>
          </a:solidFill>
          <a:ln/>
        </p:spPr>
      </p:sp>
      <p:sp>
        <p:nvSpPr>
          <p:cNvPr id="13" name="Text 10"/>
          <p:cNvSpPr/>
          <p:nvPr/>
        </p:nvSpPr>
        <p:spPr>
          <a:xfrm>
            <a:off x="1143000" y="5368296"/>
            <a:ext cx="161925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Sharper Localization</a:t>
            </a:r>
            <a:endParaRPr lang="en-US" sz="1600" dirty="0"/>
          </a:p>
        </p:txBody>
      </p:sp>
      <p:sp>
        <p:nvSpPr>
          <p:cNvPr id="14" name="Text 11"/>
          <p:cNvSpPr/>
          <p:nvPr/>
        </p:nvSpPr>
        <p:spPr>
          <a:xfrm>
            <a:off x="571500" y="5844546"/>
            <a:ext cx="3429000" cy="438150"/>
          </a:xfrm>
          <a:prstGeom prst="rect">
            <a:avLst/>
          </a:prstGeom>
          <a:noFill/>
          <a:ln/>
        </p:spPr>
        <p:txBody>
          <a:bodyPr wrap="square" lIns="0" tIns="0" rIns="0" bIns="0" rtlCol="0" anchor="ctr"/>
          <a:lstStyle/>
          <a:p>
            <a:pPr>
              <a:lnSpc>
                <a:spcPct val="140000"/>
              </a:lnSpc>
            </a:pPr>
            <a:r>
              <a:rPr lang="en-US" sz="1050" dirty="0">
                <a:solidFill>
                  <a:srgbClr val="F1FAEE"/>
                </a:solidFill>
                <a:latin typeface="Liter" pitchFamily="34" charset="0"/>
                <a:ea typeface="Liter" pitchFamily="34" charset="-122"/>
                <a:cs typeface="Liter" pitchFamily="34" charset="-120"/>
              </a:rPr>
              <a:t>Improved from </a:t>
            </a:r>
            <a:pPr>
              <a:lnSpc>
                <a:spcPct val="140000"/>
              </a:lnSpc>
            </a:pPr>
            <a:r>
              <a:rPr lang="en-US" sz="1050" b="1" dirty="0">
                <a:solidFill>
                  <a:srgbClr val="FF6B6B"/>
                </a:solidFill>
                <a:latin typeface="Liter" pitchFamily="34" charset="0"/>
                <a:ea typeface="Liter" pitchFamily="34" charset="-122"/>
                <a:cs typeface="Liter" pitchFamily="34" charset="-120"/>
              </a:rPr>
              <a:t>±40 pixels</a:t>
            </a:r>
            <a:pPr>
              <a:lnSpc>
                <a:spcPct val="140000"/>
              </a:lnSpc>
            </a:pPr>
            <a:r>
              <a:rPr lang="en-US" sz="1050" dirty="0">
                <a:solidFill>
                  <a:srgbClr val="F1FAEE"/>
                </a:solidFill>
                <a:latin typeface="Liter" pitchFamily="34" charset="0"/>
                <a:ea typeface="Liter" pitchFamily="34" charset="-122"/>
                <a:cs typeface="Liter" pitchFamily="34" charset="-120"/>
              </a:rPr>
              <a:t> to </a:t>
            </a:r>
            <a:pPr>
              <a:lnSpc>
                <a:spcPct val="140000"/>
              </a:lnSpc>
            </a:pPr>
            <a:r>
              <a:rPr lang="en-US" sz="1050" b="1" dirty="0">
                <a:solidFill>
                  <a:srgbClr val="10B981"/>
                </a:solidFill>
                <a:latin typeface="Liter" pitchFamily="34" charset="0"/>
                <a:ea typeface="Liter" pitchFamily="34" charset="-122"/>
                <a:cs typeface="Liter" pitchFamily="34" charset="-120"/>
              </a:rPr>
              <a:t>±15 pixels</a:t>
            </a:r>
            <a:pPr>
              <a:lnSpc>
                <a:spcPct val="140000"/>
              </a:lnSpc>
            </a:pPr>
            <a:r>
              <a:rPr lang="en-US" sz="1050" dirty="0">
                <a:solidFill>
                  <a:srgbClr val="F1FAEE"/>
                </a:solidFill>
                <a:latin typeface="Liter" pitchFamily="34" charset="0"/>
                <a:ea typeface="Liter" pitchFamily="34" charset="-122"/>
                <a:cs typeface="Liter" pitchFamily="34" charset="-120"/>
              </a:rPr>
              <a:t> precision through multi-resolution feature extraction</a:t>
            </a:r>
            <a:endParaRPr lang="en-US" sz="1600" dirty="0"/>
          </a:p>
        </p:txBody>
      </p:sp>
      <p:sp>
        <p:nvSpPr>
          <p:cNvPr id="15" name="Shape 12"/>
          <p:cNvSpPr/>
          <p:nvPr/>
        </p:nvSpPr>
        <p:spPr>
          <a:xfrm>
            <a:off x="4260771" y="5120646"/>
            <a:ext cx="3686175" cy="1524000"/>
          </a:xfrm>
          <a:custGeom>
            <a:avLst/>
            <a:gdLst/>
            <a:ahLst/>
            <a:cxnLst/>
            <a:rect l="l" t="t" r="r" b="b"/>
            <a:pathLst>
              <a:path w="3686175" h="1524000">
                <a:moveTo>
                  <a:pt x="38100" y="0"/>
                </a:moveTo>
                <a:lnTo>
                  <a:pt x="3609975" y="0"/>
                </a:lnTo>
                <a:cubicBezTo>
                  <a:pt x="3652031" y="0"/>
                  <a:pt x="3686175" y="34144"/>
                  <a:pt x="3686175" y="76200"/>
                </a:cubicBezTo>
                <a:lnTo>
                  <a:pt x="3686175" y="1447800"/>
                </a:lnTo>
                <a:cubicBezTo>
                  <a:pt x="3686175" y="1489856"/>
                  <a:pt x="3652031" y="1524000"/>
                  <a:pt x="3609975" y="1524000"/>
                </a:cubicBezTo>
                <a:lnTo>
                  <a:pt x="38100" y="1524000"/>
                </a:lnTo>
                <a:cubicBezTo>
                  <a:pt x="17072" y="1524000"/>
                  <a:pt x="0" y="1506928"/>
                  <a:pt x="0" y="1485900"/>
                </a:cubicBezTo>
                <a:lnTo>
                  <a:pt x="0" y="38100"/>
                </a:lnTo>
                <a:cubicBezTo>
                  <a:pt x="0" y="17072"/>
                  <a:pt x="17072" y="0"/>
                  <a:pt x="38100" y="0"/>
                </a:cubicBezTo>
                <a:close/>
              </a:path>
            </a:pathLst>
          </a:custGeom>
          <a:solidFill>
            <a:srgbClr val="112240"/>
          </a:solidFill>
          <a:ln/>
        </p:spPr>
      </p:sp>
      <p:sp>
        <p:nvSpPr>
          <p:cNvPr id="16" name="Shape 13"/>
          <p:cNvSpPr/>
          <p:nvPr/>
        </p:nvSpPr>
        <p:spPr>
          <a:xfrm>
            <a:off x="4260771" y="5120646"/>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10B981"/>
          </a:solidFill>
          <a:ln/>
        </p:spPr>
      </p:sp>
      <p:sp>
        <p:nvSpPr>
          <p:cNvPr id="17" name="Shape 14"/>
          <p:cNvSpPr/>
          <p:nvPr/>
        </p:nvSpPr>
        <p:spPr>
          <a:xfrm>
            <a:off x="4432221" y="5273046"/>
            <a:ext cx="457200" cy="457200"/>
          </a:xfrm>
          <a:prstGeom prst="roundRect">
            <a:avLst>
              <a:gd name="adj" fmla="val 50000"/>
            </a:avLst>
          </a:prstGeom>
          <a:solidFill>
            <a:srgbClr val="10B981"/>
          </a:solidFill>
          <a:ln/>
        </p:spPr>
      </p:sp>
      <p:sp>
        <p:nvSpPr>
          <p:cNvPr id="18" name="Shape 15"/>
          <p:cNvSpPr/>
          <p:nvPr/>
        </p:nvSpPr>
        <p:spPr>
          <a:xfrm>
            <a:off x="4565571" y="5406396"/>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F1FAEE"/>
          </a:solidFill>
          <a:ln/>
        </p:spPr>
      </p:sp>
      <p:sp>
        <p:nvSpPr>
          <p:cNvPr id="19" name="Text 16"/>
          <p:cNvSpPr/>
          <p:nvPr/>
        </p:nvSpPr>
        <p:spPr>
          <a:xfrm>
            <a:off x="5003721" y="5368296"/>
            <a:ext cx="1695450"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Better Interpretability</a:t>
            </a:r>
            <a:endParaRPr lang="en-US" sz="1600" dirty="0"/>
          </a:p>
        </p:txBody>
      </p:sp>
      <p:sp>
        <p:nvSpPr>
          <p:cNvPr id="20" name="Text 17"/>
          <p:cNvSpPr/>
          <p:nvPr/>
        </p:nvSpPr>
        <p:spPr>
          <a:xfrm>
            <a:off x="4432221" y="5844546"/>
            <a:ext cx="3429000" cy="647700"/>
          </a:xfrm>
          <a:prstGeom prst="rect">
            <a:avLst/>
          </a:prstGeom>
          <a:noFill/>
          <a:ln/>
        </p:spPr>
        <p:txBody>
          <a:bodyPr wrap="square" lIns="0" tIns="0" rIns="0" bIns="0" rtlCol="0" anchor="ctr"/>
          <a:lstStyle/>
          <a:p>
            <a:pPr>
              <a:lnSpc>
                <a:spcPct val="140000"/>
              </a:lnSpc>
            </a:pPr>
            <a:r>
              <a:rPr lang="en-US" sz="1050" dirty="0">
                <a:solidFill>
                  <a:srgbClr val="F1FAEE"/>
                </a:solidFill>
                <a:latin typeface="Liter" pitchFamily="34" charset="0"/>
                <a:ea typeface="Liter" pitchFamily="34" charset="-122"/>
                <a:cs typeface="Liter" pitchFamily="34" charset="-120"/>
              </a:rPr>
              <a:t>Clinicians receive </a:t>
            </a:r>
            <a:pPr>
              <a:lnSpc>
                <a:spcPct val="140000"/>
              </a:lnSpc>
            </a:pPr>
            <a:r>
              <a:rPr lang="en-US" sz="1050" b="1" dirty="0">
                <a:solidFill>
                  <a:srgbClr val="F1FAEE"/>
                </a:solidFill>
                <a:latin typeface="Liter" pitchFamily="34" charset="0"/>
                <a:ea typeface="Liter" pitchFamily="34" charset="-122"/>
                <a:cs typeface="Liter" pitchFamily="34" charset="-120"/>
              </a:rPr>
              <a:t>explicit evidence</a:t>
            </a:r>
            <a:pPr>
              <a:lnSpc>
                <a:spcPct val="140000"/>
              </a:lnSpc>
            </a:pPr>
            <a:r>
              <a:rPr lang="en-US" sz="1050" dirty="0">
                <a:solidFill>
                  <a:srgbClr val="F1FAEE"/>
                </a:solidFill>
                <a:latin typeface="Liter" pitchFamily="34" charset="0"/>
                <a:ea typeface="Liter" pitchFamily="34" charset="-122"/>
                <a:cs typeface="Liter" pitchFamily="34" charset="-120"/>
              </a:rPr>
              <a:t> that highlighted regions are diagnostically relevant with confidence scores</a:t>
            </a:r>
            <a:endParaRPr lang="en-US" sz="1600" dirty="0"/>
          </a:p>
        </p:txBody>
      </p:sp>
      <p:sp>
        <p:nvSpPr>
          <p:cNvPr id="21" name="Shape 18"/>
          <p:cNvSpPr/>
          <p:nvPr/>
        </p:nvSpPr>
        <p:spPr>
          <a:xfrm>
            <a:off x="8121611" y="5120646"/>
            <a:ext cx="3686175" cy="1524000"/>
          </a:xfrm>
          <a:custGeom>
            <a:avLst/>
            <a:gdLst/>
            <a:ahLst/>
            <a:cxnLst/>
            <a:rect l="l" t="t" r="r" b="b"/>
            <a:pathLst>
              <a:path w="3686175" h="1524000">
                <a:moveTo>
                  <a:pt x="38100" y="0"/>
                </a:moveTo>
                <a:lnTo>
                  <a:pt x="3609975" y="0"/>
                </a:lnTo>
                <a:cubicBezTo>
                  <a:pt x="3652031" y="0"/>
                  <a:pt x="3686175" y="34144"/>
                  <a:pt x="3686175" y="76200"/>
                </a:cubicBezTo>
                <a:lnTo>
                  <a:pt x="3686175" y="1447800"/>
                </a:lnTo>
                <a:cubicBezTo>
                  <a:pt x="3686175" y="1489856"/>
                  <a:pt x="3652031" y="1524000"/>
                  <a:pt x="3609975" y="1524000"/>
                </a:cubicBezTo>
                <a:lnTo>
                  <a:pt x="38100" y="1524000"/>
                </a:lnTo>
                <a:cubicBezTo>
                  <a:pt x="17072" y="1524000"/>
                  <a:pt x="0" y="1506928"/>
                  <a:pt x="0" y="1485900"/>
                </a:cubicBezTo>
                <a:lnTo>
                  <a:pt x="0" y="38100"/>
                </a:lnTo>
                <a:cubicBezTo>
                  <a:pt x="0" y="17072"/>
                  <a:pt x="17072" y="0"/>
                  <a:pt x="38100" y="0"/>
                </a:cubicBezTo>
                <a:close/>
              </a:path>
            </a:pathLst>
          </a:custGeom>
          <a:solidFill>
            <a:srgbClr val="112240"/>
          </a:solidFill>
          <a:ln/>
        </p:spPr>
      </p:sp>
      <p:sp>
        <p:nvSpPr>
          <p:cNvPr id="22" name="Shape 19"/>
          <p:cNvSpPr/>
          <p:nvPr/>
        </p:nvSpPr>
        <p:spPr>
          <a:xfrm>
            <a:off x="8121611" y="5120646"/>
            <a:ext cx="38100" cy="1524000"/>
          </a:xfrm>
          <a:custGeom>
            <a:avLst/>
            <a:gdLst/>
            <a:ahLst/>
            <a:cxnLst/>
            <a:rect l="l" t="t" r="r" b="b"/>
            <a:pathLst>
              <a:path w="38100" h="1524000">
                <a:moveTo>
                  <a:pt x="38100" y="0"/>
                </a:moveTo>
                <a:lnTo>
                  <a:pt x="38100" y="0"/>
                </a:lnTo>
                <a:lnTo>
                  <a:pt x="38100" y="1524000"/>
                </a:lnTo>
                <a:lnTo>
                  <a:pt x="38100" y="1524000"/>
                </a:lnTo>
                <a:cubicBezTo>
                  <a:pt x="17072" y="1524000"/>
                  <a:pt x="0" y="1506928"/>
                  <a:pt x="0" y="1485900"/>
                </a:cubicBezTo>
                <a:lnTo>
                  <a:pt x="0" y="38100"/>
                </a:lnTo>
                <a:cubicBezTo>
                  <a:pt x="0" y="17072"/>
                  <a:pt x="17072" y="0"/>
                  <a:pt x="38100" y="0"/>
                </a:cubicBezTo>
                <a:close/>
              </a:path>
            </a:pathLst>
          </a:custGeom>
          <a:solidFill>
            <a:srgbClr val="10B981"/>
          </a:solidFill>
          <a:ln/>
        </p:spPr>
      </p:sp>
      <p:sp>
        <p:nvSpPr>
          <p:cNvPr id="23" name="Shape 20"/>
          <p:cNvSpPr/>
          <p:nvPr/>
        </p:nvSpPr>
        <p:spPr>
          <a:xfrm>
            <a:off x="8293061" y="5273046"/>
            <a:ext cx="457200" cy="457200"/>
          </a:xfrm>
          <a:prstGeom prst="roundRect">
            <a:avLst>
              <a:gd name="adj" fmla="val 50000"/>
            </a:avLst>
          </a:prstGeom>
          <a:solidFill>
            <a:srgbClr val="10B981"/>
          </a:solidFill>
          <a:ln/>
        </p:spPr>
      </p:sp>
      <p:sp>
        <p:nvSpPr>
          <p:cNvPr id="24" name="Shape 21"/>
          <p:cNvSpPr/>
          <p:nvPr/>
        </p:nvSpPr>
        <p:spPr>
          <a:xfrm>
            <a:off x="8426411" y="5406396"/>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F1FAEE"/>
          </a:solidFill>
          <a:ln/>
        </p:spPr>
      </p:sp>
      <p:sp>
        <p:nvSpPr>
          <p:cNvPr id="25" name="Text 22"/>
          <p:cNvSpPr/>
          <p:nvPr/>
        </p:nvSpPr>
        <p:spPr>
          <a:xfrm>
            <a:off x="8864561" y="5368296"/>
            <a:ext cx="1266825" cy="266700"/>
          </a:xfrm>
          <a:prstGeom prst="rect">
            <a:avLst/>
          </a:prstGeom>
          <a:noFill/>
          <a:ln/>
        </p:spPr>
        <p:txBody>
          <a:bodyPr wrap="square" lIns="0" tIns="0" rIns="0" bIns="0" rtlCol="0" anchor="ctr"/>
          <a:lstStyle/>
          <a:p>
            <a:pPr>
              <a:lnSpc>
                <a:spcPct val="130000"/>
              </a:lnSpc>
            </a:pPr>
            <a:r>
              <a:rPr lang="en-US" sz="1350" b="1" dirty="0">
                <a:solidFill>
                  <a:srgbClr val="F1FAEE"/>
                </a:solidFill>
                <a:latin typeface="Liter" pitchFamily="34" charset="0"/>
                <a:ea typeface="Liter" pitchFamily="34" charset="-122"/>
                <a:cs typeface="Liter" pitchFamily="34" charset="-120"/>
              </a:rPr>
              <a:t>Enhanced Trust</a:t>
            </a:r>
            <a:endParaRPr lang="en-US" sz="1600" dirty="0"/>
          </a:p>
        </p:txBody>
      </p:sp>
      <p:sp>
        <p:nvSpPr>
          <p:cNvPr id="26" name="Text 23"/>
          <p:cNvSpPr/>
          <p:nvPr/>
        </p:nvSpPr>
        <p:spPr>
          <a:xfrm>
            <a:off x="8293061" y="5844546"/>
            <a:ext cx="3429000" cy="438150"/>
          </a:xfrm>
          <a:prstGeom prst="rect">
            <a:avLst/>
          </a:prstGeom>
          <a:noFill/>
          <a:ln/>
        </p:spPr>
        <p:txBody>
          <a:bodyPr wrap="square" lIns="0" tIns="0" rIns="0" bIns="0" rtlCol="0" anchor="ctr"/>
          <a:lstStyle/>
          <a:p>
            <a:pPr>
              <a:lnSpc>
                <a:spcPct val="140000"/>
              </a:lnSpc>
            </a:pPr>
            <a:r>
              <a:rPr lang="en-US" sz="1050" dirty="0">
                <a:solidFill>
                  <a:srgbClr val="F1FAEE"/>
                </a:solidFill>
                <a:latin typeface="Liter" pitchFamily="34" charset="0"/>
                <a:ea typeface="Liter" pitchFamily="34" charset="-122"/>
                <a:cs typeface="Liter" pitchFamily="34" charset="-120"/>
              </a:rPr>
              <a:t>Adaptive weighting ensures </a:t>
            </a:r>
            <a:pPr>
              <a:lnSpc>
                <a:spcPct val="140000"/>
              </a:lnSpc>
            </a:pPr>
            <a:r>
              <a:rPr lang="en-US" sz="1050" b="1" dirty="0">
                <a:solidFill>
                  <a:srgbClr val="F1FAEE"/>
                </a:solidFill>
                <a:latin typeface="Liter" pitchFamily="34" charset="0"/>
                <a:ea typeface="Liter" pitchFamily="34" charset="-122"/>
                <a:cs typeface="Liter" pitchFamily="34" charset="-120"/>
              </a:rPr>
              <a:t>most diagnostic layers</a:t>
            </a:r>
            <a:pPr>
              <a:lnSpc>
                <a:spcPct val="140000"/>
              </a:lnSpc>
            </a:pPr>
            <a:r>
              <a:rPr lang="en-US" sz="1050" dirty="0">
                <a:solidFill>
                  <a:srgbClr val="F1FAEE"/>
                </a:solidFill>
                <a:latin typeface="Liter" pitchFamily="34" charset="0"/>
                <a:ea typeface="Liter" pitchFamily="34" charset="-122"/>
                <a:cs typeface="Liter" pitchFamily="34" charset="-120"/>
              </a:rPr>
              <a:t> dominate, reducing noise and improving clinical reliability</a:t>
            </a:r>
            <a:endParaRPr lang="en-US" sz="1600" dirty="0"/>
          </a:p>
        </p:txBody>
      </p:sp>
      <p:sp>
        <p:nvSpPr>
          <p:cNvPr id="27" name="Text 24"/>
          <p:cNvSpPr/>
          <p:nvPr/>
        </p:nvSpPr>
        <p:spPr>
          <a:xfrm>
            <a:off x="381000" y="6553321"/>
            <a:ext cx="26479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28" name="Text 25"/>
          <p:cNvSpPr/>
          <p:nvPr/>
        </p:nvSpPr>
        <p:spPr>
          <a:xfrm>
            <a:off x="11425238" y="6553321"/>
            <a:ext cx="447675"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Slide 15</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71142" y="371142"/>
            <a:ext cx="11523945" cy="222685"/>
          </a:xfrm>
          <a:prstGeom prst="rect">
            <a:avLst/>
          </a:prstGeom>
          <a:noFill/>
          <a:ln/>
        </p:spPr>
        <p:txBody>
          <a:bodyPr wrap="square" lIns="0" tIns="0" rIns="0" bIns="0" rtlCol="0" anchor="ctr"/>
          <a:lstStyle/>
          <a:p>
            <a:pPr>
              <a:lnSpc>
                <a:spcPct val="130000"/>
              </a:lnSpc>
            </a:pPr>
            <a:r>
              <a:rPr lang="en-US" sz="1169" b="1" spc="58" kern="0" dirty="0">
                <a:solidFill>
                  <a:srgbClr val="00B4D8"/>
                </a:solidFill>
                <a:latin typeface="Liter" pitchFamily="34" charset="0"/>
                <a:ea typeface="Liter" pitchFamily="34" charset="-122"/>
                <a:cs typeface="Liter" pitchFamily="34" charset="-120"/>
              </a:rPr>
              <a:t>Summary</a:t>
            </a:r>
            <a:endParaRPr lang="en-US" sz="1600" dirty="0"/>
          </a:p>
        </p:txBody>
      </p:sp>
      <p:sp>
        <p:nvSpPr>
          <p:cNvPr id="3" name="Text 1"/>
          <p:cNvSpPr/>
          <p:nvPr/>
        </p:nvSpPr>
        <p:spPr>
          <a:xfrm>
            <a:off x="371142" y="668055"/>
            <a:ext cx="11616731" cy="371142"/>
          </a:xfrm>
          <a:prstGeom prst="rect">
            <a:avLst/>
          </a:prstGeom>
          <a:noFill/>
          <a:ln/>
        </p:spPr>
        <p:txBody>
          <a:bodyPr wrap="square" lIns="0" tIns="0" rIns="0" bIns="0" rtlCol="0" anchor="ctr"/>
          <a:lstStyle/>
          <a:p>
            <a:pPr>
              <a:lnSpc>
                <a:spcPct val="90000"/>
              </a:lnSpc>
            </a:pPr>
            <a:r>
              <a:rPr lang="en-US" sz="2630" b="1" dirty="0">
                <a:solidFill>
                  <a:srgbClr val="F1FAEE"/>
                </a:solidFill>
                <a:latin typeface="Oranienbaum" pitchFamily="34" charset="0"/>
                <a:ea typeface="Oranienbaum" pitchFamily="34" charset="-122"/>
                <a:cs typeface="Oranienbaum" pitchFamily="34" charset="-120"/>
              </a:rPr>
              <a:t>Conclusion</a:t>
            </a:r>
            <a:endParaRPr lang="en-US" sz="1600" dirty="0"/>
          </a:p>
        </p:txBody>
      </p:sp>
      <p:sp>
        <p:nvSpPr>
          <p:cNvPr id="4" name="Shape 2"/>
          <p:cNvSpPr/>
          <p:nvPr/>
        </p:nvSpPr>
        <p:spPr>
          <a:xfrm>
            <a:off x="371142" y="1150539"/>
            <a:ext cx="890740" cy="37114"/>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89699" y="1373224"/>
            <a:ext cx="5594959" cy="1280438"/>
          </a:xfrm>
          <a:custGeom>
            <a:avLst/>
            <a:gdLst/>
            <a:ahLst/>
            <a:cxnLst/>
            <a:rect l="l" t="t" r="r" b="b"/>
            <a:pathLst>
              <a:path w="5594959" h="1280438">
                <a:moveTo>
                  <a:pt x="37084" y="0"/>
                </a:moveTo>
                <a:lnTo>
                  <a:pt x="5520690" y="0"/>
                </a:lnTo>
                <a:cubicBezTo>
                  <a:pt x="5540383" y="-34"/>
                  <a:pt x="5559280" y="7765"/>
                  <a:pt x="5573217" y="21678"/>
                </a:cubicBezTo>
                <a:cubicBezTo>
                  <a:pt x="5587153" y="35591"/>
                  <a:pt x="5594985" y="54475"/>
                  <a:pt x="5594985" y="74168"/>
                </a:cubicBezTo>
                <a:lnTo>
                  <a:pt x="5594985" y="1206246"/>
                </a:lnTo>
                <a:cubicBezTo>
                  <a:pt x="5594985" y="1225939"/>
                  <a:pt x="5587153" y="1244823"/>
                  <a:pt x="5573217" y="1258736"/>
                </a:cubicBezTo>
                <a:cubicBezTo>
                  <a:pt x="5559280" y="1272649"/>
                  <a:pt x="5540383" y="1280448"/>
                  <a:pt x="5520690" y="1280414"/>
                </a:cubicBezTo>
                <a:lnTo>
                  <a:pt x="37084" y="1280414"/>
                </a:lnTo>
                <a:cubicBezTo>
                  <a:pt x="16603" y="1280414"/>
                  <a:pt x="0" y="1263811"/>
                  <a:pt x="0" y="1243330"/>
                </a:cubicBezTo>
                <a:lnTo>
                  <a:pt x="0" y="37084"/>
                </a:lnTo>
                <a:cubicBezTo>
                  <a:pt x="0" y="16617"/>
                  <a:pt x="16617" y="0"/>
                  <a:pt x="37084" y="0"/>
                </a:cubicBezTo>
                <a:close/>
              </a:path>
            </a:pathLst>
          </a:custGeom>
          <a:solidFill>
            <a:srgbClr val="112240"/>
          </a:solidFill>
          <a:ln/>
        </p:spPr>
      </p:sp>
      <p:sp>
        <p:nvSpPr>
          <p:cNvPr id="6" name="Shape 4"/>
          <p:cNvSpPr/>
          <p:nvPr/>
        </p:nvSpPr>
        <p:spPr>
          <a:xfrm>
            <a:off x="389699" y="1373224"/>
            <a:ext cx="37114" cy="1280438"/>
          </a:xfrm>
          <a:custGeom>
            <a:avLst/>
            <a:gdLst/>
            <a:ahLst/>
            <a:cxnLst/>
            <a:rect l="l" t="t" r="r" b="b"/>
            <a:pathLst>
              <a:path w="37114" h="1280438">
                <a:moveTo>
                  <a:pt x="37084" y="0"/>
                </a:moveTo>
                <a:lnTo>
                  <a:pt x="37084" y="0"/>
                </a:lnTo>
                <a:lnTo>
                  <a:pt x="37084" y="1280414"/>
                </a:lnTo>
                <a:lnTo>
                  <a:pt x="37084" y="1280414"/>
                </a:lnTo>
                <a:cubicBezTo>
                  <a:pt x="16603" y="1280414"/>
                  <a:pt x="0" y="1263811"/>
                  <a:pt x="0" y="1243330"/>
                </a:cubicBezTo>
                <a:lnTo>
                  <a:pt x="0" y="37084"/>
                </a:lnTo>
                <a:cubicBezTo>
                  <a:pt x="0" y="16617"/>
                  <a:pt x="16617" y="0"/>
                  <a:pt x="37084" y="0"/>
                </a:cubicBezTo>
                <a:close/>
              </a:path>
            </a:pathLst>
          </a:custGeom>
          <a:solidFill>
            <a:srgbClr val="3A86FF"/>
          </a:solidFill>
          <a:ln/>
        </p:spPr>
      </p:sp>
      <p:sp>
        <p:nvSpPr>
          <p:cNvPr id="7" name="Shape 5"/>
          <p:cNvSpPr/>
          <p:nvPr/>
        </p:nvSpPr>
        <p:spPr>
          <a:xfrm>
            <a:off x="593826" y="1558795"/>
            <a:ext cx="371142" cy="371142"/>
          </a:xfrm>
          <a:prstGeom prst="roundRect">
            <a:avLst>
              <a:gd name="adj" fmla="val 50000"/>
            </a:avLst>
          </a:prstGeom>
          <a:solidFill>
            <a:srgbClr val="3A86FF"/>
          </a:solidFill>
          <a:ln/>
        </p:spPr>
      </p:sp>
      <p:sp>
        <p:nvSpPr>
          <p:cNvPr id="8" name="Text 6"/>
          <p:cNvSpPr/>
          <p:nvPr/>
        </p:nvSpPr>
        <p:spPr>
          <a:xfrm>
            <a:off x="745995" y="1614466"/>
            <a:ext cx="148457"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1</a:t>
            </a:r>
            <a:endParaRPr lang="en-US" sz="1600" dirty="0"/>
          </a:p>
        </p:txBody>
      </p:sp>
      <p:sp>
        <p:nvSpPr>
          <p:cNvPr id="9" name="Text 7"/>
          <p:cNvSpPr/>
          <p:nvPr/>
        </p:nvSpPr>
        <p:spPr>
          <a:xfrm>
            <a:off x="1076311" y="1614466"/>
            <a:ext cx="1447452"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OCT + CNN Power</a:t>
            </a:r>
            <a:endParaRPr lang="en-US" sz="1600" dirty="0"/>
          </a:p>
        </p:txBody>
      </p:sp>
      <p:sp>
        <p:nvSpPr>
          <p:cNvPr id="10" name="Text 8"/>
          <p:cNvSpPr/>
          <p:nvPr/>
        </p:nvSpPr>
        <p:spPr>
          <a:xfrm>
            <a:off x="593826" y="2041279"/>
            <a:ext cx="5270210" cy="426813"/>
          </a:xfrm>
          <a:prstGeom prst="rect">
            <a:avLst/>
          </a:prstGeom>
          <a:noFill/>
          <a:ln/>
        </p:spPr>
        <p:txBody>
          <a:bodyPr wrap="square" lIns="0" tIns="0" rIns="0" bIns="0" rtlCol="0" anchor="ctr"/>
          <a:lstStyle/>
          <a:p>
            <a:pPr>
              <a:lnSpc>
                <a:spcPct val="140000"/>
              </a:lnSpc>
            </a:pPr>
            <a:r>
              <a:rPr lang="en-US" sz="1023" dirty="0">
                <a:solidFill>
                  <a:srgbClr val="F1FAEE"/>
                </a:solidFill>
                <a:latin typeface="Liter" pitchFamily="34" charset="0"/>
                <a:ea typeface="Liter" pitchFamily="34" charset="-122"/>
                <a:cs typeface="Liter" pitchFamily="34" charset="-120"/>
              </a:rPr>
              <a:t>OCT + CNN enables </a:t>
            </a:r>
            <a:pPr>
              <a:lnSpc>
                <a:spcPct val="140000"/>
              </a:lnSpc>
            </a:pPr>
            <a:r>
              <a:rPr lang="en-US" sz="1023" b="1" dirty="0">
                <a:solidFill>
                  <a:srgbClr val="F1FAEE"/>
                </a:solidFill>
                <a:latin typeface="Liter" pitchFamily="34" charset="0"/>
                <a:ea typeface="Liter" pitchFamily="34" charset="-122"/>
                <a:cs typeface="Liter" pitchFamily="34" charset="-120"/>
              </a:rPr>
              <a:t>powerful retinal disease classification</a:t>
            </a:r>
            <a:pPr>
              <a:lnSpc>
                <a:spcPct val="140000"/>
              </a:lnSpc>
            </a:pPr>
            <a:r>
              <a:rPr lang="en-US" sz="1023" dirty="0">
                <a:solidFill>
                  <a:srgbClr val="F1FAEE"/>
                </a:solidFill>
                <a:latin typeface="Liter" pitchFamily="34" charset="0"/>
                <a:ea typeface="Liter" pitchFamily="34" charset="-122"/>
                <a:cs typeface="Liter" pitchFamily="34" charset="-120"/>
              </a:rPr>
              <a:t> achieving 95-99% accuracy on standard benchmarks</a:t>
            </a:r>
            <a:endParaRPr lang="en-US" sz="1600" dirty="0"/>
          </a:p>
        </p:txBody>
      </p:sp>
      <p:sp>
        <p:nvSpPr>
          <p:cNvPr id="11" name="Shape 9"/>
          <p:cNvSpPr/>
          <p:nvPr/>
        </p:nvSpPr>
        <p:spPr>
          <a:xfrm>
            <a:off x="6224856" y="1373224"/>
            <a:ext cx="5594959" cy="1280438"/>
          </a:xfrm>
          <a:custGeom>
            <a:avLst/>
            <a:gdLst/>
            <a:ahLst/>
            <a:cxnLst/>
            <a:rect l="l" t="t" r="r" b="b"/>
            <a:pathLst>
              <a:path w="5594959" h="1280438">
                <a:moveTo>
                  <a:pt x="37084" y="0"/>
                </a:moveTo>
                <a:lnTo>
                  <a:pt x="5520690" y="0"/>
                </a:lnTo>
                <a:cubicBezTo>
                  <a:pt x="5540383" y="-34"/>
                  <a:pt x="5559280" y="7765"/>
                  <a:pt x="5573217" y="21678"/>
                </a:cubicBezTo>
                <a:cubicBezTo>
                  <a:pt x="5587153" y="35591"/>
                  <a:pt x="5594985" y="54475"/>
                  <a:pt x="5594985" y="74168"/>
                </a:cubicBezTo>
                <a:lnTo>
                  <a:pt x="5594985" y="1206246"/>
                </a:lnTo>
                <a:cubicBezTo>
                  <a:pt x="5594985" y="1225939"/>
                  <a:pt x="5587153" y="1244823"/>
                  <a:pt x="5573217" y="1258736"/>
                </a:cubicBezTo>
                <a:cubicBezTo>
                  <a:pt x="5559280" y="1272649"/>
                  <a:pt x="5540383" y="1280448"/>
                  <a:pt x="5520690" y="1280414"/>
                </a:cubicBezTo>
                <a:lnTo>
                  <a:pt x="37084" y="1280414"/>
                </a:lnTo>
                <a:cubicBezTo>
                  <a:pt x="16603" y="1280414"/>
                  <a:pt x="0" y="1263811"/>
                  <a:pt x="0" y="1243330"/>
                </a:cubicBezTo>
                <a:lnTo>
                  <a:pt x="0" y="37084"/>
                </a:lnTo>
                <a:cubicBezTo>
                  <a:pt x="0" y="16617"/>
                  <a:pt x="16617" y="0"/>
                  <a:pt x="37084" y="0"/>
                </a:cubicBezTo>
                <a:close/>
              </a:path>
            </a:pathLst>
          </a:custGeom>
          <a:solidFill>
            <a:srgbClr val="112240"/>
          </a:solidFill>
          <a:ln/>
        </p:spPr>
      </p:sp>
      <p:sp>
        <p:nvSpPr>
          <p:cNvPr id="12" name="Shape 10"/>
          <p:cNvSpPr/>
          <p:nvPr/>
        </p:nvSpPr>
        <p:spPr>
          <a:xfrm>
            <a:off x="6224856" y="1373224"/>
            <a:ext cx="37114" cy="1280438"/>
          </a:xfrm>
          <a:custGeom>
            <a:avLst/>
            <a:gdLst/>
            <a:ahLst/>
            <a:cxnLst/>
            <a:rect l="l" t="t" r="r" b="b"/>
            <a:pathLst>
              <a:path w="37114" h="1280438">
                <a:moveTo>
                  <a:pt x="37084" y="0"/>
                </a:moveTo>
                <a:lnTo>
                  <a:pt x="37084" y="0"/>
                </a:lnTo>
                <a:lnTo>
                  <a:pt x="37084" y="1280414"/>
                </a:lnTo>
                <a:lnTo>
                  <a:pt x="37084" y="1280414"/>
                </a:lnTo>
                <a:cubicBezTo>
                  <a:pt x="16603" y="1280414"/>
                  <a:pt x="0" y="1263811"/>
                  <a:pt x="0" y="1243330"/>
                </a:cubicBezTo>
                <a:lnTo>
                  <a:pt x="0" y="37084"/>
                </a:lnTo>
                <a:cubicBezTo>
                  <a:pt x="0" y="16617"/>
                  <a:pt x="16617" y="0"/>
                  <a:pt x="37084" y="0"/>
                </a:cubicBezTo>
                <a:close/>
              </a:path>
            </a:pathLst>
          </a:custGeom>
          <a:solidFill>
            <a:srgbClr val="FF6B6B"/>
          </a:solidFill>
          <a:ln/>
        </p:spPr>
      </p:sp>
      <p:sp>
        <p:nvSpPr>
          <p:cNvPr id="13" name="Shape 11"/>
          <p:cNvSpPr/>
          <p:nvPr/>
        </p:nvSpPr>
        <p:spPr>
          <a:xfrm>
            <a:off x="6428984" y="1558795"/>
            <a:ext cx="371142" cy="371142"/>
          </a:xfrm>
          <a:prstGeom prst="roundRect">
            <a:avLst>
              <a:gd name="adj" fmla="val 50000"/>
            </a:avLst>
          </a:prstGeom>
          <a:solidFill>
            <a:srgbClr val="FF6B6B"/>
          </a:solidFill>
          <a:ln/>
        </p:spPr>
      </p:sp>
      <p:sp>
        <p:nvSpPr>
          <p:cNvPr id="14" name="Text 12"/>
          <p:cNvSpPr/>
          <p:nvPr/>
        </p:nvSpPr>
        <p:spPr>
          <a:xfrm>
            <a:off x="6565958" y="1614466"/>
            <a:ext cx="176292"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2</a:t>
            </a:r>
            <a:endParaRPr lang="en-US" sz="1600" dirty="0"/>
          </a:p>
        </p:txBody>
      </p:sp>
      <p:sp>
        <p:nvSpPr>
          <p:cNvPr id="15" name="Text 13"/>
          <p:cNvSpPr/>
          <p:nvPr/>
        </p:nvSpPr>
        <p:spPr>
          <a:xfrm>
            <a:off x="6911468" y="1614466"/>
            <a:ext cx="1735087"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Grad-CAM Limitations</a:t>
            </a:r>
            <a:endParaRPr lang="en-US" sz="1600" dirty="0"/>
          </a:p>
        </p:txBody>
      </p:sp>
      <p:sp>
        <p:nvSpPr>
          <p:cNvPr id="16" name="Text 14"/>
          <p:cNvSpPr/>
          <p:nvPr/>
        </p:nvSpPr>
        <p:spPr>
          <a:xfrm>
            <a:off x="6428984" y="2041279"/>
            <a:ext cx="5270210" cy="426813"/>
          </a:xfrm>
          <a:prstGeom prst="rect">
            <a:avLst/>
          </a:prstGeom>
          <a:noFill/>
          <a:ln/>
        </p:spPr>
        <p:txBody>
          <a:bodyPr wrap="square" lIns="0" tIns="0" rIns="0" bIns="0" rtlCol="0" anchor="ctr"/>
          <a:lstStyle/>
          <a:p>
            <a:pPr>
              <a:lnSpc>
                <a:spcPct val="140000"/>
              </a:lnSpc>
            </a:pPr>
            <a:r>
              <a:rPr lang="en-US" sz="1023" dirty="0">
                <a:solidFill>
                  <a:srgbClr val="F1FAEE"/>
                </a:solidFill>
                <a:latin typeface="Liter" pitchFamily="34" charset="0"/>
                <a:ea typeface="Liter" pitchFamily="34" charset="-122"/>
                <a:cs typeface="Liter" pitchFamily="34" charset="-120"/>
              </a:rPr>
              <a:t>Standard Grad-CAM has </a:t>
            </a:r>
            <a:pPr>
              <a:lnSpc>
                <a:spcPct val="140000"/>
              </a:lnSpc>
            </a:pPr>
            <a:r>
              <a:rPr lang="en-US" sz="1023" b="1" dirty="0">
                <a:solidFill>
                  <a:srgbClr val="F1FAEE"/>
                </a:solidFill>
                <a:latin typeface="Liter" pitchFamily="34" charset="0"/>
                <a:ea typeface="Liter" pitchFamily="34" charset="-122"/>
                <a:cs typeface="Liter" pitchFamily="34" charset="-120"/>
              </a:rPr>
              <a:t>major clinical limitations</a:t>
            </a:r>
            <a:pPr>
              <a:lnSpc>
                <a:spcPct val="140000"/>
              </a:lnSpc>
            </a:pPr>
            <a:r>
              <a:rPr lang="en-US" sz="1023" dirty="0">
                <a:solidFill>
                  <a:srgbClr val="F1FAEE"/>
                </a:solidFill>
                <a:latin typeface="Liter" pitchFamily="34" charset="0"/>
                <a:ea typeface="Liter" pitchFamily="34" charset="-122"/>
                <a:cs typeface="Liter" pitchFamily="34" charset="-120"/>
              </a:rPr>
              <a:t>: coarse resolution, poor boundaries, noise, and lack of validation</a:t>
            </a:r>
            <a:endParaRPr lang="en-US" sz="1600" dirty="0"/>
          </a:p>
        </p:txBody>
      </p:sp>
      <p:sp>
        <p:nvSpPr>
          <p:cNvPr id="17" name="Shape 15"/>
          <p:cNvSpPr/>
          <p:nvPr/>
        </p:nvSpPr>
        <p:spPr>
          <a:xfrm>
            <a:off x="389699" y="2871708"/>
            <a:ext cx="5594959" cy="1280438"/>
          </a:xfrm>
          <a:custGeom>
            <a:avLst/>
            <a:gdLst/>
            <a:ahLst/>
            <a:cxnLst/>
            <a:rect l="l" t="t" r="r" b="b"/>
            <a:pathLst>
              <a:path w="5594959" h="1280438">
                <a:moveTo>
                  <a:pt x="37084" y="0"/>
                </a:moveTo>
                <a:lnTo>
                  <a:pt x="5520690" y="0"/>
                </a:lnTo>
                <a:cubicBezTo>
                  <a:pt x="5540383" y="-34"/>
                  <a:pt x="5559280" y="7765"/>
                  <a:pt x="5573217" y="21678"/>
                </a:cubicBezTo>
                <a:cubicBezTo>
                  <a:pt x="5587153" y="35591"/>
                  <a:pt x="5594985" y="54475"/>
                  <a:pt x="5594985" y="74168"/>
                </a:cubicBezTo>
                <a:lnTo>
                  <a:pt x="5594985" y="1206246"/>
                </a:lnTo>
                <a:cubicBezTo>
                  <a:pt x="5594985" y="1225939"/>
                  <a:pt x="5587153" y="1244823"/>
                  <a:pt x="5573217" y="1258736"/>
                </a:cubicBezTo>
                <a:cubicBezTo>
                  <a:pt x="5559280" y="1272649"/>
                  <a:pt x="5540383" y="1280448"/>
                  <a:pt x="5520690" y="1280414"/>
                </a:cubicBezTo>
                <a:lnTo>
                  <a:pt x="37084" y="1280414"/>
                </a:lnTo>
                <a:cubicBezTo>
                  <a:pt x="16603" y="1280414"/>
                  <a:pt x="0" y="1263811"/>
                  <a:pt x="0" y="1243330"/>
                </a:cubicBezTo>
                <a:lnTo>
                  <a:pt x="0" y="37084"/>
                </a:lnTo>
                <a:cubicBezTo>
                  <a:pt x="0" y="16617"/>
                  <a:pt x="16617" y="0"/>
                  <a:pt x="37084" y="0"/>
                </a:cubicBezTo>
                <a:close/>
              </a:path>
            </a:pathLst>
          </a:custGeom>
          <a:solidFill>
            <a:srgbClr val="112240"/>
          </a:solidFill>
          <a:ln/>
        </p:spPr>
      </p:sp>
      <p:sp>
        <p:nvSpPr>
          <p:cNvPr id="18" name="Shape 16"/>
          <p:cNvSpPr/>
          <p:nvPr/>
        </p:nvSpPr>
        <p:spPr>
          <a:xfrm>
            <a:off x="389699" y="2871708"/>
            <a:ext cx="37114" cy="1280438"/>
          </a:xfrm>
          <a:custGeom>
            <a:avLst/>
            <a:gdLst/>
            <a:ahLst/>
            <a:cxnLst/>
            <a:rect l="l" t="t" r="r" b="b"/>
            <a:pathLst>
              <a:path w="37114" h="1280438">
                <a:moveTo>
                  <a:pt x="37084" y="0"/>
                </a:moveTo>
                <a:lnTo>
                  <a:pt x="37084" y="0"/>
                </a:lnTo>
                <a:lnTo>
                  <a:pt x="37084" y="1280414"/>
                </a:lnTo>
                <a:lnTo>
                  <a:pt x="37084" y="1280414"/>
                </a:lnTo>
                <a:cubicBezTo>
                  <a:pt x="16603" y="1280414"/>
                  <a:pt x="0" y="1263811"/>
                  <a:pt x="0" y="1243330"/>
                </a:cubicBezTo>
                <a:lnTo>
                  <a:pt x="0" y="37084"/>
                </a:lnTo>
                <a:cubicBezTo>
                  <a:pt x="0" y="16617"/>
                  <a:pt x="16617" y="0"/>
                  <a:pt x="37084" y="0"/>
                </a:cubicBezTo>
                <a:close/>
              </a:path>
            </a:pathLst>
          </a:custGeom>
          <a:solidFill>
            <a:srgbClr val="00B4D8"/>
          </a:solidFill>
          <a:ln/>
        </p:spPr>
      </p:sp>
      <p:sp>
        <p:nvSpPr>
          <p:cNvPr id="19" name="Shape 17"/>
          <p:cNvSpPr/>
          <p:nvPr/>
        </p:nvSpPr>
        <p:spPr>
          <a:xfrm>
            <a:off x="593826" y="3057279"/>
            <a:ext cx="371142" cy="371142"/>
          </a:xfrm>
          <a:prstGeom prst="roundRect">
            <a:avLst>
              <a:gd name="adj" fmla="val 50000"/>
            </a:avLst>
          </a:prstGeom>
          <a:solidFill>
            <a:srgbClr val="00B4D8"/>
          </a:solidFill>
          <a:ln/>
        </p:spPr>
      </p:sp>
      <p:sp>
        <p:nvSpPr>
          <p:cNvPr id="20" name="Text 18"/>
          <p:cNvSpPr/>
          <p:nvPr/>
        </p:nvSpPr>
        <p:spPr>
          <a:xfrm>
            <a:off x="730105" y="3112950"/>
            <a:ext cx="185571"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3</a:t>
            </a:r>
            <a:endParaRPr lang="en-US" sz="1600" dirty="0"/>
          </a:p>
        </p:txBody>
      </p:sp>
      <p:sp>
        <p:nvSpPr>
          <p:cNvPr id="21" name="Text 19"/>
          <p:cNvSpPr/>
          <p:nvPr/>
        </p:nvSpPr>
        <p:spPr>
          <a:xfrm>
            <a:off x="1076311" y="3112950"/>
            <a:ext cx="1428895"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Proposed Solution</a:t>
            </a:r>
            <a:endParaRPr lang="en-US" sz="1600" dirty="0"/>
          </a:p>
        </p:txBody>
      </p:sp>
      <p:sp>
        <p:nvSpPr>
          <p:cNvPr id="22" name="Text 20"/>
          <p:cNvSpPr/>
          <p:nvPr/>
        </p:nvSpPr>
        <p:spPr>
          <a:xfrm>
            <a:off x="593826" y="3539763"/>
            <a:ext cx="5270210" cy="426813"/>
          </a:xfrm>
          <a:prstGeom prst="rect">
            <a:avLst/>
          </a:prstGeom>
          <a:noFill/>
          <a:ln/>
        </p:spPr>
        <p:txBody>
          <a:bodyPr wrap="square" lIns="0" tIns="0" rIns="0" bIns="0" rtlCol="0" anchor="ctr"/>
          <a:lstStyle/>
          <a:p>
            <a:pPr>
              <a:lnSpc>
                <a:spcPct val="140000"/>
              </a:lnSpc>
            </a:pPr>
            <a:r>
              <a:rPr lang="en-US" sz="1023" dirty="0">
                <a:solidFill>
                  <a:srgbClr val="F1FAEE"/>
                </a:solidFill>
                <a:latin typeface="Liter" pitchFamily="34" charset="0"/>
                <a:ea typeface="Liter" pitchFamily="34" charset="-122"/>
                <a:cs typeface="Liter" pitchFamily="34" charset="-120"/>
              </a:rPr>
              <a:t>Adaptive Multi-Layer Fused Grad-CAM </a:t>
            </a:r>
            <a:pPr>
              <a:lnSpc>
                <a:spcPct val="140000"/>
              </a:lnSpc>
            </a:pPr>
            <a:r>
              <a:rPr lang="en-US" sz="1023" b="1" dirty="0">
                <a:solidFill>
                  <a:srgbClr val="F1FAEE"/>
                </a:solidFill>
                <a:latin typeface="Liter" pitchFamily="34" charset="0"/>
                <a:ea typeface="Liter" pitchFamily="34" charset="-122"/>
                <a:cs typeface="Liter" pitchFamily="34" charset="-120"/>
              </a:rPr>
              <a:t>improves explainability</a:t>
            </a:r>
            <a:pPr>
              <a:lnSpc>
                <a:spcPct val="140000"/>
              </a:lnSpc>
            </a:pPr>
            <a:r>
              <a:rPr lang="en-US" sz="1023" dirty="0">
                <a:solidFill>
                  <a:srgbClr val="F1FAEE"/>
                </a:solidFill>
                <a:latin typeface="Liter" pitchFamily="34" charset="0"/>
                <a:ea typeface="Liter" pitchFamily="34" charset="-122"/>
                <a:cs typeface="Liter" pitchFamily="34" charset="-120"/>
              </a:rPr>
              <a:t> through multi-resolution feature extraction and dynamic fusion</a:t>
            </a:r>
            <a:endParaRPr lang="en-US" sz="1600" dirty="0"/>
          </a:p>
        </p:txBody>
      </p:sp>
      <p:sp>
        <p:nvSpPr>
          <p:cNvPr id="23" name="Shape 21"/>
          <p:cNvSpPr/>
          <p:nvPr/>
        </p:nvSpPr>
        <p:spPr>
          <a:xfrm>
            <a:off x="6224856" y="2871708"/>
            <a:ext cx="5594959" cy="1280438"/>
          </a:xfrm>
          <a:custGeom>
            <a:avLst/>
            <a:gdLst/>
            <a:ahLst/>
            <a:cxnLst/>
            <a:rect l="l" t="t" r="r" b="b"/>
            <a:pathLst>
              <a:path w="5594959" h="1280438">
                <a:moveTo>
                  <a:pt x="37084" y="0"/>
                </a:moveTo>
                <a:lnTo>
                  <a:pt x="5520690" y="0"/>
                </a:lnTo>
                <a:cubicBezTo>
                  <a:pt x="5540383" y="-34"/>
                  <a:pt x="5559280" y="7765"/>
                  <a:pt x="5573217" y="21678"/>
                </a:cubicBezTo>
                <a:cubicBezTo>
                  <a:pt x="5587153" y="35591"/>
                  <a:pt x="5594985" y="54475"/>
                  <a:pt x="5594985" y="74168"/>
                </a:cubicBezTo>
                <a:lnTo>
                  <a:pt x="5594985" y="1206246"/>
                </a:lnTo>
                <a:cubicBezTo>
                  <a:pt x="5594985" y="1225939"/>
                  <a:pt x="5587153" y="1244823"/>
                  <a:pt x="5573217" y="1258736"/>
                </a:cubicBezTo>
                <a:cubicBezTo>
                  <a:pt x="5559280" y="1272649"/>
                  <a:pt x="5540383" y="1280448"/>
                  <a:pt x="5520690" y="1280414"/>
                </a:cubicBezTo>
                <a:lnTo>
                  <a:pt x="37084" y="1280414"/>
                </a:lnTo>
                <a:cubicBezTo>
                  <a:pt x="16603" y="1280414"/>
                  <a:pt x="0" y="1263811"/>
                  <a:pt x="0" y="1243330"/>
                </a:cubicBezTo>
                <a:lnTo>
                  <a:pt x="0" y="37084"/>
                </a:lnTo>
                <a:cubicBezTo>
                  <a:pt x="0" y="16617"/>
                  <a:pt x="16617" y="0"/>
                  <a:pt x="37084" y="0"/>
                </a:cubicBezTo>
                <a:close/>
              </a:path>
            </a:pathLst>
          </a:custGeom>
          <a:solidFill>
            <a:srgbClr val="112240"/>
          </a:solidFill>
          <a:ln/>
        </p:spPr>
      </p:sp>
      <p:sp>
        <p:nvSpPr>
          <p:cNvPr id="24" name="Shape 22"/>
          <p:cNvSpPr/>
          <p:nvPr/>
        </p:nvSpPr>
        <p:spPr>
          <a:xfrm>
            <a:off x="6224856" y="2871708"/>
            <a:ext cx="37114" cy="1280438"/>
          </a:xfrm>
          <a:custGeom>
            <a:avLst/>
            <a:gdLst/>
            <a:ahLst/>
            <a:cxnLst/>
            <a:rect l="l" t="t" r="r" b="b"/>
            <a:pathLst>
              <a:path w="37114" h="1280438">
                <a:moveTo>
                  <a:pt x="37084" y="0"/>
                </a:moveTo>
                <a:lnTo>
                  <a:pt x="37084" y="0"/>
                </a:lnTo>
                <a:lnTo>
                  <a:pt x="37084" y="1280414"/>
                </a:lnTo>
                <a:lnTo>
                  <a:pt x="37084" y="1280414"/>
                </a:lnTo>
                <a:cubicBezTo>
                  <a:pt x="16603" y="1280414"/>
                  <a:pt x="0" y="1263811"/>
                  <a:pt x="0" y="1243330"/>
                </a:cubicBezTo>
                <a:lnTo>
                  <a:pt x="0" y="37084"/>
                </a:lnTo>
                <a:cubicBezTo>
                  <a:pt x="0" y="16617"/>
                  <a:pt x="16617" y="0"/>
                  <a:pt x="37084" y="0"/>
                </a:cubicBezTo>
                <a:close/>
              </a:path>
            </a:pathLst>
          </a:custGeom>
          <a:solidFill>
            <a:srgbClr val="10B981"/>
          </a:solidFill>
          <a:ln/>
        </p:spPr>
      </p:sp>
      <p:sp>
        <p:nvSpPr>
          <p:cNvPr id="25" name="Shape 23"/>
          <p:cNvSpPr/>
          <p:nvPr/>
        </p:nvSpPr>
        <p:spPr>
          <a:xfrm>
            <a:off x="6428984" y="3057279"/>
            <a:ext cx="371142" cy="371142"/>
          </a:xfrm>
          <a:prstGeom prst="roundRect">
            <a:avLst>
              <a:gd name="adj" fmla="val 50000"/>
            </a:avLst>
          </a:prstGeom>
          <a:solidFill>
            <a:srgbClr val="10B981"/>
          </a:solidFill>
          <a:ln/>
        </p:spPr>
      </p:sp>
      <p:sp>
        <p:nvSpPr>
          <p:cNvPr id="26" name="Text 24"/>
          <p:cNvSpPr/>
          <p:nvPr/>
        </p:nvSpPr>
        <p:spPr>
          <a:xfrm>
            <a:off x="6565262" y="3112950"/>
            <a:ext cx="185571"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4</a:t>
            </a:r>
            <a:endParaRPr lang="en-US" sz="1600" dirty="0"/>
          </a:p>
        </p:txBody>
      </p:sp>
      <p:sp>
        <p:nvSpPr>
          <p:cNvPr id="27" name="Text 25"/>
          <p:cNvSpPr/>
          <p:nvPr/>
        </p:nvSpPr>
        <p:spPr>
          <a:xfrm>
            <a:off x="6911468" y="3112950"/>
            <a:ext cx="1363945"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Validation Impact</a:t>
            </a:r>
            <a:endParaRPr lang="en-US" sz="1600" dirty="0"/>
          </a:p>
        </p:txBody>
      </p:sp>
      <p:sp>
        <p:nvSpPr>
          <p:cNvPr id="28" name="Text 26"/>
          <p:cNvSpPr/>
          <p:nvPr/>
        </p:nvSpPr>
        <p:spPr>
          <a:xfrm>
            <a:off x="6428984" y="3539763"/>
            <a:ext cx="5270210" cy="426813"/>
          </a:xfrm>
          <a:prstGeom prst="rect">
            <a:avLst/>
          </a:prstGeom>
          <a:noFill/>
          <a:ln/>
        </p:spPr>
        <p:txBody>
          <a:bodyPr wrap="square" lIns="0" tIns="0" rIns="0" bIns="0" rtlCol="0" anchor="ctr"/>
          <a:lstStyle/>
          <a:p>
            <a:pPr>
              <a:lnSpc>
                <a:spcPct val="140000"/>
              </a:lnSpc>
            </a:pPr>
            <a:r>
              <a:rPr lang="en-US" sz="1023" dirty="0">
                <a:solidFill>
                  <a:srgbClr val="F1FAEE"/>
                </a:solidFill>
                <a:latin typeface="Liter" pitchFamily="34" charset="0"/>
                <a:ea typeface="Liter" pitchFamily="34" charset="-122"/>
                <a:cs typeface="Liter" pitchFamily="34" charset="-120"/>
              </a:rPr>
              <a:t>Confidence-retention validation </a:t>
            </a:r>
            <a:pPr>
              <a:lnSpc>
                <a:spcPct val="140000"/>
              </a:lnSpc>
            </a:pPr>
            <a:r>
              <a:rPr lang="en-US" sz="1023" b="1" dirty="0">
                <a:solidFill>
                  <a:srgbClr val="F1FAEE"/>
                </a:solidFill>
                <a:latin typeface="Liter" pitchFamily="34" charset="0"/>
                <a:ea typeface="Liter" pitchFamily="34" charset="-122"/>
                <a:cs typeface="Liter" pitchFamily="34" charset="-120"/>
              </a:rPr>
              <a:t>improves reliability</a:t>
            </a:r>
            <a:pPr>
              <a:lnSpc>
                <a:spcPct val="140000"/>
              </a:lnSpc>
            </a:pPr>
            <a:r>
              <a:rPr lang="en-US" sz="1023" dirty="0">
                <a:solidFill>
                  <a:srgbClr val="F1FAEE"/>
                </a:solidFill>
                <a:latin typeface="Liter" pitchFamily="34" charset="0"/>
                <a:ea typeface="Liter" pitchFamily="34" charset="-122"/>
                <a:cs typeface="Liter" pitchFamily="34" charset="-120"/>
              </a:rPr>
              <a:t> by proving highlighted regions contain diagnostic evidence</a:t>
            </a:r>
            <a:endParaRPr lang="en-US" sz="1600" dirty="0"/>
          </a:p>
        </p:txBody>
      </p:sp>
      <p:sp>
        <p:nvSpPr>
          <p:cNvPr id="29" name="Shape 27"/>
          <p:cNvSpPr/>
          <p:nvPr/>
        </p:nvSpPr>
        <p:spPr>
          <a:xfrm>
            <a:off x="389699" y="4333078"/>
            <a:ext cx="11431160" cy="1094868"/>
          </a:xfrm>
          <a:custGeom>
            <a:avLst/>
            <a:gdLst/>
            <a:ahLst/>
            <a:cxnLst/>
            <a:rect l="l" t="t" r="r" b="b"/>
            <a:pathLst>
              <a:path w="11431160" h="1094868">
                <a:moveTo>
                  <a:pt x="37084" y="0"/>
                </a:moveTo>
                <a:lnTo>
                  <a:pt x="11356975" y="0"/>
                </a:lnTo>
                <a:cubicBezTo>
                  <a:pt x="11397957" y="70"/>
                  <a:pt x="11431143" y="33313"/>
                  <a:pt x="11431143" y="74295"/>
                </a:cubicBezTo>
                <a:lnTo>
                  <a:pt x="11431143" y="1020699"/>
                </a:lnTo>
                <a:cubicBezTo>
                  <a:pt x="11431073" y="1061632"/>
                  <a:pt x="11397908" y="1094797"/>
                  <a:pt x="11356975" y="1094867"/>
                </a:cubicBezTo>
                <a:lnTo>
                  <a:pt x="37084" y="1094867"/>
                </a:lnTo>
                <a:cubicBezTo>
                  <a:pt x="16603" y="1094867"/>
                  <a:pt x="0" y="1078264"/>
                  <a:pt x="0" y="1057783"/>
                </a:cubicBezTo>
                <a:lnTo>
                  <a:pt x="0" y="37084"/>
                </a:lnTo>
                <a:cubicBezTo>
                  <a:pt x="0" y="16617"/>
                  <a:pt x="16617" y="0"/>
                  <a:pt x="37084" y="0"/>
                </a:cubicBezTo>
                <a:close/>
              </a:path>
            </a:pathLst>
          </a:custGeom>
          <a:solidFill>
            <a:srgbClr val="112240"/>
          </a:solidFill>
          <a:ln/>
        </p:spPr>
      </p:sp>
      <p:sp>
        <p:nvSpPr>
          <p:cNvPr id="30" name="Shape 28"/>
          <p:cNvSpPr/>
          <p:nvPr/>
        </p:nvSpPr>
        <p:spPr>
          <a:xfrm>
            <a:off x="389699" y="4333078"/>
            <a:ext cx="37114" cy="1094868"/>
          </a:xfrm>
          <a:custGeom>
            <a:avLst/>
            <a:gdLst/>
            <a:ahLst/>
            <a:cxnLst/>
            <a:rect l="l" t="t" r="r" b="b"/>
            <a:pathLst>
              <a:path w="37114" h="1094868">
                <a:moveTo>
                  <a:pt x="37084" y="0"/>
                </a:moveTo>
                <a:lnTo>
                  <a:pt x="37084" y="0"/>
                </a:lnTo>
                <a:lnTo>
                  <a:pt x="37084" y="1094867"/>
                </a:lnTo>
                <a:lnTo>
                  <a:pt x="37084" y="1094867"/>
                </a:lnTo>
                <a:cubicBezTo>
                  <a:pt x="16603" y="1094867"/>
                  <a:pt x="0" y="1078264"/>
                  <a:pt x="0" y="1057783"/>
                </a:cubicBezTo>
                <a:lnTo>
                  <a:pt x="0" y="37084"/>
                </a:lnTo>
                <a:cubicBezTo>
                  <a:pt x="0" y="16617"/>
                  <a:pt x="16617" y="0"/>
                  <a:pt x="37084" y="0"/>
                </a:cubicBezTo>
                <a:close/>
              </a:path>
            </a:pathLst>
          </a:custGeom>
          <a:solidFill>
            <a:srgbClr val="00B4D8"/>
          </a:solidFill>
          <a:ln/>
        </p:spPr>
      </p:sp>
      <p:sp>
        <p:nvSpPr>
          <p:cNvPr id="31" name="Shape 29"/>
          <p:cNvSpPr/>
          <p:nvPr/>
        </p:nvSpPr>
        <p:spPr>
          <a:xfrm>
            <a:off x="593826" y="4518648"/>
            <a:ext cx="371142" cy="371142"/>
          </a:xfrm>
          <a:prstGeom prst="roundRect">
            <a:avLst>
              <a:gd name="adj" fmla="val 50000"/>
            </a:avLst>
          </a:prstGeom>
          <a:solidFill>
            <a:srgbClr val="00B4D8"/>
          </a:solidFill>
          <a:ln/>
        </p:spPr>
      </p:sp>
      <p:sp>
        <p:nvSpPr>
          <p:cNvPr id="32" name="Text 30"/>
          <p:cNvSpPr/>
          <p:nvPr/>
        </p:nvSpPr>
        <p:spPr>
          <a:xfrm>
            <a:off x="731265" y="4574320"/>
            <a:ext cx="176292"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5</a:t>
            </a:r>
            <a:endParaRPr lang="en-US" sz="1600" dirty="0"/>
          </a:p>
        </p:txBody>
      </p:sp>
      <p:sp>
        <p:nvSpPr>
          <p:cNvPr id="33" name="Text 31"/>
          <p:cNvSpPr/>
          <p:nvPr/>
        </p:nvSpPr>
        <p:spPr>
          <a:xfrm>
            <a:off x="1076311" y="4574320"/>
            <a:ext cx="1568073" cy="259799"/>
          </a:xfrm>
          <a:prstGeom prst="rect">
            <a:avLst/>
          </a:prstGeom>
          <a:noFill/>
          <a:ln/>
        </p:spPr>
        <p:txBody>
          <a:bodyPr wrap="square" lIns="0" tIns="0" rIns="0" bIns="0" rtlCol="0" anchor="ctr"/>
          <a:lstStyle/>
          <a:p>
            <a:pPr>
              <a:lnSpc>
                <a:spcPct val="130000"/>
              </a:lnSpc>
            </a:pPr>
            <a:r>
              <a:rPr lang="en-US" sz="1315" b="1" dirty="0">
                <a:solidFill>
                  <a:srgbClr val="F1FAEE"/>
                </a:solidFill>
                <a:latin typeface="Liter" pitchFamily="34" charset="0"/>
                <a:ea typeface="Liter" pitchFamily="34" charset="-122"/>
                <a:cs typeface="Liter" pitchFamily="34" charset="-120"/>
              </a:rPr>
              <a:t>Clinical Significance</a:t>
            </a:r>
            <a:endParaRPr lang="en-US" sz="1600" dirty="0"/>
          </a:p>
        </p:txBody>
      </p:sp>
      <p:sp>
        <p:nvSpPr>
          <p:cNvPr id="34" name="Text 32"/>
          <p:cNvSpPr/>
          <p:nvPr/>
        </p:nvSpPr>
        <p:spPr>
          <a:xfrm>
            <a:off x="593826" y="5001132"/>
            <a:ext cx="11115689" cy="241242"/>
          </a:xfrm>
          <a:prstGeom prst="rect">
            <a:avLst/>
          </a:prstGeom>
          <a:noFill/>
          <a:ln/>
        </p:spPr>
        <p:txBody>
          <a:bodyPr wrap="square" lIns="0" tIns="0" rIns="0" bIns="0" rtlCol="0" anchor="ctr"/>
          <a:lstStyle/>
          <a:p>
            <a:pPr>
              <a:lnSpc>
                <a:spcPct val="140000"/>
              </a:lnSpc>
            </a:pPr>
            <a:r>
              <a:rPr lang="en-US" sz="1169" dirty="0">
                <a:solidFill>
                  <a:srgbClr val="F1FAEE"/>
                </a:solidFill>
                <a:latin typeface="Liter" pitchFamily="34" charset="0"/>
                <a:ea typeface="Liter" pitchFamily="34" charset="-122"/>
                <a:cs typeface="Liter" pitchFamily="34" charset="-120"/>
              </a:rPr>
              <a:t>Adaptive fusion </a:t>
            </a:r>
            <a:pPr>
              <a:lnSpc>
                <a:spcPct val="140000"/>
              </a:lnSpc>
            </a:pPr>
            <a:r>
              <a:rPr lang="en-US" sz="1169" b="1" dirty="0">
                <a:solidFill>
                  <a:srgbClr val="F1FAEE"/>
                </a:solidFill>
                <a:latin typeface="Liter" pitchFamily="34" charset="0"/>
                <a:ea typeface="Liter" pitchFamily="34" charset="-122"/>
                <a:cs typeface="Liter" pitchFamily="34" charset="-120"/>
              </a:rPr>
              <a:t>improves diagnostic trustworthiness</a:t>
            </a:r>
            <a:pPr>
              <a:lnSpc>
                <a:spcPct val="140000"/>
              </a:lnSpc>
            </a:pPr>
            <a:r>
              <a:rPr lang="en-US" sz="1169" dirty="0">
                <a:solidFill>
                  <a:srgbClr val="F1FAEE"/>
                </a:solidFill>
                <a:latin typeface="Liter" pitchFamily="34" charset="0"/>
                <a:ea typeface="Liter" pitchFamily="34" charset="-122"/>
                <a:cs typeface="Liter" pitchFamily="34" charset="-120"/>
              </a:rPr>
              <a:t> by dynamically weighting layers per scan, ensuring clinicians receive verified, precise explanations</a:t>
            </a:r>
            <a:endParaRPr lang="en-US" sz="1600" dirty="0"/>
          </a:p>
        </p:txBody>
      </p:sp>
      <p:sp>
        <p:nvSpPr>
          <p:cNvPr id="35" name="Shape 33"/>
          <p:cNvSpPr/>
          <p:nvPr/>
        </p:nvSpPr>
        <p:spPr>
          <a:xfrm>
            <a:off x="374853" y="5617227"/>
            <a:ext cx="11438583" cy="564135"/>
          </a:xfrm>
          <a:prstGeom prst="roundRect">
            <a:avLst>
              <a:gd name="adj" fmla="val 13158"/>
            </a:avLst>
          </a:prstGeom>
          <a:solidFill>
            <a:srgbClr val="00B4D8"/>
          </a:solidFill>
          <a:ln w="10160">
            <a:solidFill>
              <a:srgbClr val="00B4D8"/>
            </a:solidFill>
            <a:prstDash val="solid"/>
          </a:ln>
        </p:spPr>
      </p:sp>
      <p:sp>
        <p:nvSpPr>
          <p:cNvPr id="36" name="Shape 34"/>
          <p:cNvSpPr/>
          <p:nvPr/>
        </p:nvSpPr>
        <p:spPr>
          <a:xfrm>
            <a:off x="2023069" y="5813938"/>
            <a:ext cx="146137" cy="167014"/>
          </a:xfrm>
          <a:custGeom>
            <a:avLst/>
            <a:gdLst/>
            <a:ahLst/>
            <a:cxnLst/>
            <a:rect l="l" t="t" r="r" b="b"/>
            <a:pathLst>
              <a:path w="146137" h="167014">
                <a:moveTo>
                  <a:pt x="0" y="70459"/>
                </a:moveTo>
                <a:cubicBezTo>
                  <a:pt x="0" y="48832"/>
                  <a:pt x="17517" y="31315"/>
                  <a:pt x="39144" y="31315"/>
                </a:cubicBezTo>
                <a:lnTo>
                  <a:pt x="41753" y="31315"/>
                </a:lnTo>
                <a:cubicBezTo>
                  <a:pt x="47527" y="31315"/>
                  <a:pt x="52192" y="35980"/>
                  <a:pt x="52192" y="41753"/>
                </a:cubicBezTo>
                <a:cubicBezTo>
                  <a:pt x="52192" y="47527"/>
                  <a:pt x="47527" y="52192"/>
                  <a:pt x="41753" y="52192"/>
                </a:cubicBezTo>
                <a:lnTo>
                  <a:pt x="39144" y="52192"/>
                </a:lnTo>
                <a:cubicBezTo>
                  <a:pt x="29064" y="52192"/>
                  <a:pt x="20877" y="60379"/>
                  <a:pt x="20877" y="70459"/>
                </a:cubicBezTo>
                <a:lnTo>
                  <a:pt x="20877" y="73068"/>
                </a:lnTo>
                <a:lnTo>
                  <a:pt x="41753" y="73068"/>
                </a:lnTo>
                <a:cubicBezTo>
                  <a:pt x="53268" y="73068"/>
                  <a:pt x="62630" y="82430"/>
                  <a:pt x="62630" y="93945"/>
                </a:cubicBezTo>
                <a:lnTo>
                  <a:pt x="62630" y="114822"/>
                </a:lnTo>
                <a:cubicBezTo>
                  <a:pt x="62630" y="126337"/>
                  <a:pt x="53268" y="135699"/>
                  <a:pt x="41753" y="135699"/>
                </a:cubicBezTo>
                <a:lnTo>
                  <a:pt x="20877" y="135699"/>
                </a:lnTo>
                <a:cubicBezTo>
                  <a:pt x="9362" y="135699"/>
                  <a:pt x="0" y="126337"/>
                  <a:pt x="0" y="114822"/>
                </a:cubicBezTo>
                <a:lnTo>
                  <a:pt x="0" y="70459"/>
                </a:lnTo>
                <a:close/>
                <a:moveTo>
                  <a:pt x="83507" y="70459"/>
                </a:moveTo>
                <a:cubicBezTo>
                  <a:pt x="83507" y="48832"/>
                  <a:pt x="101024" y="31315"/>
                  <a:pt x="122651" y="31315"/>
                </a:cubicBezTo>
                <a:lnTo>
                  <a:pt x="125260" y="31315"/>
                </a:lnTo>
                <a:cubicBezTo>
                  <a:pt x="131034" y="31315"/>
                  <a:pt x="135699" y="35980"/>
                  <a:pt x="135699" y="41753"/>
                </a:cubicBezTo>
                <a:cubicBezTo>
                  <a:pt x="135699" y="47527"/>
                  <a:pt x="131034" y="52192"/>
                  <a:pt x="125260" y="52192"/>
                </a:cubicBezTo>
                <a:lnTo>
                  <a:pt x="122651" y="52192"/>
                </a:lnTo>
                <a:cubicBezTo>
                  <a:pt x="112571" y="52192"/>
                  <a:pt x="104384" y="60379"/>
                  <a:pt x="104384" y="70459"/>
                </a:cubicBezTo>
                <a:lnTo>
                  <a:pt x="104384" y="73068"/>
                </a:lnTo>
                <a:lnTo>
                  <a:pt x="125260" y="73068"/>
                </a:lnTo>
                <a:cubicBezTo>
                  <a:pt x="136775" y="73068"/>
                  <a:pt x="146137" y="82430"/>
                  <a:pt x="146137" y="93945"/>
                </a:cubicBezTo>
                <a:lnTo>
                  <a:pt x="146137" y="114822"/>
                </a:lnTo>
                <a:cubicBezTo>
                  <a:pt x="146137" y="126337"/>
                  <a:pt x="136775" y="135699"/>
                  <a:pt x="125260" y="135699"/>
                </a:cubicBezTo>
                <a:lnTo>
                  <a:pt x="104384" y="135699"/>
                </a:lnTo>
                <a:cubicBezTo>
                  <a:pt x="92869" y="135699"/>
                  <a:pt x="83507" y="126337"/>
                  <a:pt x="83507" y="114822"/>
                </a:cubicBezTo>
                <a:lnTo>
                  <a:pt x="83507" y="70459"/>
                </a:lnTo>
                <a:close/>
              </a:path>
            </a:pathLst>
          </a:custGeom>
          <a:solidFill>
            <a:srgbClr val="F1FAEE"/>
          </a:solidFill>
          <a:ln/>
        </p:spPr>
      </p:sp>
      <p:sp>
        <p:nvSpPr>
          <p:cNvPr id="37" name="Text 35"/>
          <p:cNvSpPr/>
          <p:nvPr/>
        </p:nvSpPr>
        <p:spPr>
          <a:xfrm>
            <a:off x="752905" y="5769394"/>
            <a:ext cx="10950116" cy="259799"/>
          </a:xfrm>
          <a:prstGeom prst="rect">
            <a:avLst/>
          </a:prstGeom>
          <a:noFill/>
          <a:ln/>
        </p:spPr>
        <p:txBody>
          <a:bodyPr wrap="square" lIns="0" tIns="0" rIns="0" bIns="0" rtlCol="0" anchor="ctr"/>
          <a:lstStyle/>
          <a:p>
            <a:pPr algn="ctr">
              <a:lnSpc>
                <a:spcPct val="130000"/>
              </a:lnSpc>
            </a:pPr>
            <a:r>
              <a:rPr lang="en-US" sz="1315" b="1" dirty="0">
                <a:solidFill>
                  <a:srgbClr val="F1FAEE"/>
                </a:solidFill>
                <a:latin typeface="Liter" pitchFamily="34" charset="0"/>
                <a:ea typeface="Liter" pitchFamily="34" charset="-122"/>
                <a:cs typeface="Liter" pitchFamily="34" charset="-120"/>
              </a:rPr>
              <a:t>This framework aims to bridge the gap between high-performance AI and clinically reliable explainability</a:t>
            </a:r>
            <a:endParaRPr lang="en-US" sz="1600" dirty="0"/>
          </a:p>
        </p:txBody>
      </p:sp>
      <p:sp>
        <p:nvSpPr>
          <p:cNvPr id="38" name="Shape 36"/>
          <p:cNvSpPr/>
          <p:nvPr/>
        </p:nvSpPr>
        <p:spPr>
          <a:xfrm>
            <a:off x="389699" y="6333536"/>
            <a:ext cx="11431160" cy="519598"/>
          </a:xfrm>
          <a:custGeom>
            <a:avLst/>
            <a:gdLst/>
            <a:ahLst/>
            <a:cxnLst/>
            <a:rect l="l" t="t" r="r" b="b"/>
            <a:pathLst>
              <a:path w="11431160" h="519598">
                <a:moveTo>
                  <a:pt x="37084" y="0"/>
                </a:moveTo>
                <a:lnTo>
                  <a:pt x="11356975" y="0"/>
                </a:lnTo>
                <a:cubicBezTo>
                  <a:pt x="11397937" y="0"/>
                  <a:pt x="11431143" y="33206"/>
                  <a:pt x="11431143" y="74168"/>
                </a:cubicBezTo>
                <a:lnTo>
                  <a:pt x="11431143" y="445389"/>
                </a:lnTo>
                <a:cubicBezTo>
                  <a:pt x="11431143" y="486351"/>
                  <a:pt x="11397937" y="519557"/>
                  <a:pt x="11356975" y="519557"/>
                </a:cubicBezTo>
                <a:lnTo>
                  <a:pt x="37084" y="519557"/>
                </a:lnTo>
                <a:cubicBezTo>
                  <a:pt x="16603" y="519557"/>
                  <a:pt x="0" y="502954"/>
                  <a:pt x="0" y="482473"/>
                </a:cubicBezTo>
                <a:lnTo>
                  <a:pt x="0" y="37084"/>
                </a:lnTo>
                <a:cubicBezTo>
                  <a:pt x="0" y="16617"/>
                  <a:pt x="16617" y="0"/>
                  <a:pt x="37084" y="0"/>
                </a:cubicBezTo>
                <a:close/>
              </a:path>
            </a:pathLst>
          </a:custGeom>
          <a:solidFill>
            <a:srgbClr val="00B4D8">
              <a:alpha val="10196"/>
            </a:srgbClr>
          </a:solidFill>
          <a:ln/>
        </p:spPr>
      </p:sp>
      <p:sp>
        <p:nvSpPr>
          <p:cNvPr id="39" name="Shape 37"/>
          <p:cNvSpPr/>
          <p:nvPr/>
        </p:nvSpPr>
        <p:spPr>
          <a:xfrm>
            <a:off x="389699" y="6333536"/>
            <a:ext cx="37114" cy="519598"/>
          </a:xfrm>
          <a:custGeom>
            <a:avLst/>
            <a:gdLst/>
            <a:ahLst/>
            <a:cxnLst/>
            <a:rect l="l" t="t" r="r" b="b"/>
            <a:pathLst>
              <a:path w="37114" h="519598">
                <a:moveTo>
                  <a:pt x="37084" y="0"/>
                </a:moveTo>
                <a:lnTo>
                  <a:pt x="37084" y="0"/>
                </a:lnTo>
                <a:lnTo>
                  <a:pt x="37084" y="519557"/>
                </a:lnTo>
                <a:lnTo>
                  <a:pt x="37084" y="519557"/>
                </a:lnTo>
                <a:cubicBezTo>
                  <a:pt x="16603" y="519557"/>
                  <a:pt x="0" y="502954"/>
                  <a:pt x="0" y="482473"/>
                </a:cubicBezTo>
                <a:lnTo>
                  <a:pt x="0" y="37084"/>
                </a:lnTo>
                <a:cubicBezTo>
                  <a:pt x="0" y="16617"/>
                  <a:pt x="16617" y="0"/>
                  <a:pt x="37084" y="0"/>
                </a:cubicBezTo>
                <a:close/>
              </a:path>
            </a:pathLst>
          </a:custGeom>
          <a:solidFill>
            <a:srgbClr val="00B4D8"/>
          </a:solidFill>
          <a:ln/>
        </p:spPr>
      </p:sp>
      <p:sp>
        <p:nvSpPr>
          <p:cNvPr id="40" name="Shape 38"/>
          <p:cNvSpPr/>
          <p:nvPr/>
        </p:nvSpPr>
        <p:spPr>
          <a:xfrm>
            <a:off x="575269" y="6511677"/>
            <a:ext cx="148457" cy="148457"/>
          </a:xfrm>
          <a:custGeom>
            <a:avLst/>
            <a:gdLst/>
            <a:ahLst/>
            <a:cxnLst/>
            <a:rect l="l" t="t" r="r" b="b"/>
            <a:pathLst>
              <a:path w="148457" h="148457">
                <a:moveTo>
                  <a:pt x="74228" y="148457"/>
                </a:moveTo>
                <a:cubicBezTo>
                  <a:pt x="115196" y="148457"/>
                  <a:pt x="148457" y="115196"/>
                  <a:pt x="148457" y="74228"/>
                </a:cubicBezTo>
                <a:cubicBezTo>
                  <a:pt x="148457" y="33261"/>
                  <a:pt x="115196" y="0"/>
                  <a:pt x="74228" y="0"/>
                </a:cubicBezTo>
                <a:cubicBezTo>
                  <a:pt x="33261" y="0"/>
                  <a:pt x="0" y="33261"/>
                  <a:pt x="0" y="74228"/>
                </a:cubicBezTo>
                <a:cubicBezTo>
                  <a:pt x="0" y="115196"/>
                  <a:pt x="33261" y="148457"/>
                  <a:pt x="74228" y="148457"/>
                </a:cubicBezTo>
                <a:close/>
                <a:moveTo>
                  <a:pt x="74228" y="51032"/>
                </a:moveTo>
                <a:cubicBezTo>
                  <a:pt x="69096" y="51032"/>
                  <a:pt x="64950" y="55178"/>
                  <a:pt x="64950" y="60311"/>
                </a:cubicBezTo>
                <a:cubicBezTo>
                  <a:pt x="64950" y="64167"/>
                  <a:pt x="61847" y="67269"/>
                  <a:pt x="57991" y="67269"/>
                </a:cubicBezTo>
                <a:cubicBezTo>
                  <a:pt x="54134" y="67269"/>
                  <a:pt x="51032" y="64167"/>
                  <a:pt x="51032" y="60311"/>
                </a:cubicBezTo>
                <a:cubicBezTo>
                  <a:pt x="51032" y="47495"/>
                  <a:pt x="61412" y="37114"/>
                  <a:pt x="74228" y="37114"/>
                </a:cubicBezTo>
                <a:cubicBezTo>
                  <a:pt x="87044" y="37114"/>
                  <a:pt x="97425" y="47495"/>
                  <a:pt x="97425" y="60311"/>
                </a:cubicBezTo>
                <a:cubicBezTo>
                  <a:pt x="97425" y="73996"/>
                  <a:pt x="86986" y="79795"/>
                  <a:pt x="81187" y="81912"/>
                </a:cubicBezTo>
                <a:lnTo>
                  <a:pt x="81187" y="83014"/>
                </a:lnTo>
                <a:cubicBezTo>
                  <a:pt x="81187" y="86870"/>
                  <a:pt x="78085" y="89973"/>
                  <a:pt x="74228" y="89973"/>
                </a:cubicBezTo>
                <a:cubicBezTo>
                  <a:pt x="70372" y="89973"/>
                  <a:pt x="67269" y="86870"/>
                  <a:pt x="67269" y="83014"/>
                </a:cubicBezTo>
                <a:lnTo>
                  <a:pt x="67269" y="80665"/>
                </a:lnTo>
                <a:cubicBezTo>
                  <a:pt x="67269" y="74721"/>
                  <a:pt x="71561" y="70459"/>
                  <a:pt x="75997" y="69009"/>
                </a:cubicBezTo>
                <a:cubicBezTo>
                  <a:pt x="77853" y="68400"/>
                  <a:pt x="79824" y="67414"/>
                  <a:pt x="81274" y="66023"/>
                </a:cubicBezTo>
                <a:cubicBezTo>
                  <a:pt x="82521" y="64805"/>
                  <a:pt x="83507" y="63123"/>
                  <a:pt x="83507" y="60339"/>
                </a:cubicBezTo>
                <a:cubicBezTo>
                  <a:pt x="83507" y="55207"/>
                  <a:pt x="79361" y="51061"/>
                  <a:pt x="74228" y="51061"/>
                </a:cubicBezTo>
                <a:close/>
                <a:moveTo>
                  <a:pt x="64950" y="106703"/>
                </a:moveTo>
                <a:cubicBezTo>
                  <a:pt x="64950" y="101582"/>
                  <a:pt x="69107" y="97425"/>
                  <a:pt x="74228" y="97425"/>
                </a:cubicBezTo>
                <a:cubicBezTo>
                  <a:pt x="79349" y="97425"/>
                  <a:pt x="83507" y="101582"/>
                  <a:pt x="83507" y="106703"/>
                </a:cubicBezTo>
                <a:cubicBezTo>
                  <a:pt x="83507" y="111824"/>
                  <a:pt x="79349" y="115982"/>
                  <a:pt x="74228" y="115982"/>
                </a:cubicBezTo>
                <a:cubicBezTo>
                  <a:pt x="69107" y="115982"/>
                  <a:pt x="64950" y="111824"/>
                  <a:pt x="64950" y="106703"/>
                </a:cubicBezTo>
                <a:close/>
              </a:path>
            </a:pathLst>
          </a:custGeom>
          <a:solidFill>
            <a:srgbClr val="00B4D8"/>
          </a:solidFill>
          <a:ln/>
        </p:spPr>
      </p:sp>
      <p:sp>
        <p:nvSpPr>
          <p:cNvPr id="41" name="Text 39"/>
          <p:cNvSpPr/>
          <p:nvPr/>
        </p:nvSpPr>
        <p:spPr>
          <a:xfrm>
            <a:off x="796514" y="6481993"/>
            <a:ext cx="10950116" cy="222685"/>
          </a:xfrm>
          <a:prstGeom prst="rect">
            <a:avLst/>
          </a:prstGeom>
          <a:noFill/>
          <a:ln/>
        </p:spPr>
        <p:txBody>
          <a:bodyPr wrap="square" lIns="0" tIns="0" rIns="0" bIns="0" rtlCol="0" anchor="ctr"/>
          <a:lstStyle/>
          <a:p>
            <a:pPr>
              <a:lnSpc>
                <a:spcPct val="130000"/>
              </a:lnSpc>
            </a:pPr>
            <a:r>
              <a:rPr lang="en-US" sz="1169" b="1" dirty="0">
                <a:solidFill>
                  <a:srgbClr val="00B4D8"/>
                </a:solidFill>
                <a:latin typeface="Liter" pitchFamily="34" charset="0"/>
                <a:ea typeface="Liter" pitchFamily="34" charset="-122"/>
                <a:cs typeface="Liter" pitchFamily="34" charset="-120"/>
              </a:rPr>
              <a:t>Final Question: Can explainable AI become the future standard for trustworthy medical diagnosis?</a:t>
            </a:r>
            <a:endParaRPr lang="en-US" sz="1600" dirty="0"/>
          </a:p>
        </p:txBody>
      </p:sp>
      <p:sp>
        <p:nvSpPr>
          <p:cNvPr id="42" name="Text 40"/>
          <p:cNvSpPr/>
          <p:nvPr/>
        </p:nvSpPr>
        <p:spPr>
          <a:xfrm>
            <a:off x="371142" y="6560045"/>
            <a:ext cx="2579434" cy="148457"/>
          </a:xfrm>
          <a:prstGeom prst="rect">
            <a:avLst/>
          </a:prstGeom>
          <a:noFill/>
          <a:ln/>
        </p:spPr>
        <p:txBody>
          <a:bodyPr wrap="square" lIns="0" tIns="0" rIns="0" bIns="0" rtlCol="0" anchor="ctr"/>
          <a:lstStyle/>
          <a:p>
            <a:pPr>
              <a:lnSpc>
                <a:spcPct val="110000"/>
              </a:lnSpc>
            </a:pPr>
            <a:r>
              <a:rPr lang="en-US" sz="877"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43" name="Text 41"/>
          <p:cNvSpPr/>
          <p:nvPr/>
        </p:nvSpPr>
        <p:spPr>
          <a:xfrm>
            <a:off x="11440555" y="6560045"/>
            <a:ext cx="436091" cy="148457"/>
          </a:xfrm>
          <a:prstGeom prst="rect">
            <a:avLst/>
          </a:prstGeom>
          <a:noFill/>
          <a:ln/>
        </p:spPr>
        <p:txBody>
          <a:bodyPr wrap="square" lIns="0" tIns="0" rIns="0" bIns="0" rtlCol="0" anchor="ctr"/>
          <a:lstStyle/>
          <a:p>
            <a:pPr>
              <a:lnSpc>
                <a:spcPct val="110000"/>
              </a:lnSpc>
            </a:pPr>
            <a:r>
              <a:rPr lang="en-US" sz="877" dirty="0">
                <a:solidFill>
                  <a:srgbClr val="5C677D"/>
                </a:solidFill>
                <a:latin typeface="Liter" pitchFamily="34" charset="0"/>
                <a:ea typeface="Liter" pitchFamily="34" charset="-122"/>
                <a:cs typeface="Liter" pitchFamily="34" charset="-120"/>
              </a:rPr>
              <a:t>Slide 16</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378928" y="378928"/>
            <a:ext cx="11509930" cy="227357"/>
          </a:xfrm>
          <a:prstGeom prst="rect">
            <a:avLst/>
          </a:prstGeom>
          <a:noFill/>
          <a:ln/>
        </p:spPr>
        <p:txBody>
          <a:bodyPr wrap="square" lIns="0" tIns="0" rIns="0" bIns="0" rtlCol="0" anchor="ctr"/>
          <a:lstStyle/>
          <a:p>
            <a:pPr>
              <a:lnSpc>
                <a:spcPct val="130000"/>
              </a:lnSpc>
            </a:pPr>
            <a:r>
              <a:rPr lang="en-US" sz="1193" b="1" spc="60" kern="0" dirty="0">
                <a:solidFill>
                  <a:srgbClr val="00B4D8"/>
                </a:solidFill>
                <a:latin typeface="Liter" pitchFamily="34" charset="0"/>
                <a:ea typeface="Liter" pitchFamily="34" charset="-122"/>
                <a:cs typeface="Liter" pitchFamily="34" charset="-120"/>
              </a:rPr>
              <a:t>Bibliography</a:t>
            </a:r>
            <a:endParaRPr lang="en-US" sz="1600" dirty="0"/>
          </a:p>
        </p:txBody>
      </p:sp>
      <p:sp>
        <p:nvSpPr>
          <p:cNvPr id="3" name="Text 1"/>
          <p:cNvSpPr/>
          <p:nvPr/>
        </p:nvSpPr>
        <p:spPr>
          <a:xfrm>
            <a:off x="378928" y="682070"/>
            <a:ext cx="11604662" cy="378928"/>
          </a:xfrm>
          <a:prstGeom prst="rect">
            <a:avLst/>
          </a:prstGeom>
          <a:noFill/>
          <a:ln/>
        </p:spPr>
        <p:txBody>
          <a:bodyPr wrap="square" lIns="0" tIns="0" rIns="0" bIns="0" rtlCol="0" anchor="ctr"/>
          <a:lstStyle/>
          <a:p>
            <a:pPr>
              <a:lnSpc>
                <a:spcPct val="90000"/>
              </a:lnSpc>
            </a:pPr>
            <a:r>
              <a:rPr lang="en-US" sz="2685" b="1" dirty="0">
                <a:solidFill>
                  <a:srgbClr val="F1FAEE"/>
                </a:solidFill>
                <a:latin typeface="Oranienbaum" pitchFamily="34" charset="0"/>
                <a:ea typeface="Oranienbaum" pitchFamily="34" charset="-122"/>
                <a:cs typeface="Oranienbaum" pitchFamily="34" charset="-120"/>
              </a:rPr>
              <a:t>References</a:t>
            </a:r>
            <a:endParaRPr lang="en-US" sz="1600" dirty="0"/>
          </a:p>
        </p:txBody>
      </p:sp>
      <p:sp>
        <p:nvSpPr>
          <p:cNvPr id="4" name="Shape 2"/>
          <p:cNvSpPr/>
          <p:nvPr/>
        </p:nvSpPr>
        <p:spPr>
          <a:xfrm>
            <a:off x="378928" y="1174676"/>
            <a:ext cx="909427" cy="37893"/>
          </a:xfrm>
          <a:prstGeom prst="roundRect">
            <a:avLst>
              <a:gd name="adj" fmla="val 0"/>
            </a:avLst>
          </a:prstGeom>
          <a:gradFill rotWithShape="1" flip="none">
            <a:gsLst>
              <a:gs pos="0">
                <a:srgbClr val="3A86FF"/>
              </a:gs>
              <a:gs pos="100000">
                <a:srgbClr val="00B4D8"/>
              </a:gs>
            </a:gsLst>
            <a:lin ang="0" scaled="1"/>
          </a:gradFill>
          <a:ln/>
        </p:spPr>
      </p:sp>
      <p:sp>
        <p:nvSpPr>
          <p:cNvPr id="5" name="Shape 3"/>
          <p:cNvSpPr/>
          <p:nvPr/>
        </p:nvSpPr>
        <p:spPr>
          <a:xfrm>
            <a:off x="386506" y="1364140"/>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6" name="Shape 4"/>
          <p:cNvSpPr/>
          <p:nvPr/>
        </p:nvSpPr>
        <p:spPr>
          <a:xfrm>
            <a:off x="386506" y="1364140"/>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7" name="Text 5"/>
          <p:cNvSpPr/>
          <p:nvPr/>
        </p:nvSpPr>
        <p:spPr>
          <a:xfrm>
            <a:off x="469870" y="1439925"/>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a:t>
            </a:r>
            <a:pPr>
              <a:lnSpc>
                <a:spcPct val="140000"/>
              </a:lnSpc>
            </a:pPr>
            <a:r>
              <a:rPr lang="en-US" sz="895" dirty="0">
                <a:solidFill>
                  <a:srgbClr val="F1FAEE"/>
                </a:solidFill>
                <a:latin typeface="Liter" pitchFamily="34" charset="0"/>
                <a:ea typeface="Liter" pitchFamily="34" charset="-122"/>
                <a:cs typeface="Liter" pitchFamily="34" charset="-120"/>
              </a:rPr>
              <a:t> M.M. Ajmal et al., "Deep learning based eye disease classification using OCT images," Experimental Eye Research, 2026.</a:t>
            </a:r>
            <a:endParaRPr lang="en-US" sz="1600" dirty="0"/>
          </a:p>
        </p:txBody>
      </p:sp>
      <p:sp>
        <p:nvSpPr>
          <p:cNvPr id="8" name="Shape 6"/>
          <p:cNvSpPr/>
          <p:nvPr/>
        </p:nvSpPr>
        <p:spPr>
          <a:xfrm>
            <a:off x="386506" y="1967233"/>
            <a:ext cx="5558870" cy="341035"/>
          </a:xfrm>
          <a:custGeom>
            <a:avLst/>
            <a:gdLst/>
            <a:ahLst/>
            <a:cxnLst/>
            <a:rect l="l" t="t" r="r" b="b"/>
            <a:pathLst>
              <a:path w="5558870" h="341035">
                <a:moveTo>
                  <a:pt x="15113" y="0"/>
                </a:moveTo>
                <a:lnTo>
                  <a:pt x="5483098" y="0"/>
                </a:lnTo>
                <a:cubicBezTo>
                  <a:pt x="5524972" y="0"/>
                  <a:pt x="5558917" y="33945"/>
                  <a:pt x="5558917" y="75819"/>
                </a:cubicBezTo>
                <a:lnTo>
                  <a:pt x="5558917" y="265303"/>
                </a:lnTo>
                <a:cubicBezTo>
                  <a:pt x="5558847" y="307127"/>
                  <a:pt x="5524922" y="340995"/>
                  <a:pt x="5483098" y="340995"/>
                </a:cubicBezTo>
                <a:lnTo>
                  <a:pt x="15113" y="340995"/>
                </a:lnTo>
                <a:cubicBezTo>
                  <a:pt x="6766" y="340995"/>
                  <a:pt x="0" y="334229"/>
                  <a:pt x="0" y="325882"/>
                </a:cubicBezTo>
                <a:lnTo>
                  <a:pt x="0" y="15113"/>
                </a:lnTo>
                <a:cubicBezTo>
                  <a:pt x="0" y="6772"/>
                  <a:pt x="6772" y="0"/>
                  <a:pt x="15113" y="0"/>
                </a:cubicBezTo>
                <a:close/>
              </a:path>
            </a:pathLst>
          </a:custGeom>
          <a:solidFill>
            <a:srgbClr val="112240"/>
          </a:solidFill>
          <a:ln/>
        </p:spPr>
      </p:sp>
      <p:sp>
        <p:nvSpPr>
          <p:cNvPr id="9" name="Shape 7"/>
          <p:cNvSpPr/>
          <p:nvPr/>
        </p:nvSpPr>
        <p:spPr>
          <a:xfrm>
            <a:off x="386506" y="1967233"/>
            <a:ext cx="15157" cy="341035"/>
          </a:xfrm>
          <a:custGeom>
            <a:avLst/>
            <a:gdLst/>
            <a:ahLst/>
            <a:cxnLst/>
            <a:rect l="l" t="t" r="r" b="b"/>
            <a:pathLst>
              <a:path w="15157" h="341035">
                <a:moveTo>
                  <a:pt x="15113" y="0"/>
                </a:moveTo>
                <a:lnTo>
                  <a:pt x="15113" y="0"/>
                </a:lnTo>
                <a:lnTo>
                  <a:pt x="15113" y="340995"/>
                </a:lnTo>
                <a:lnTo>
                  <a:pt x="15113" y="340995"/>
                </a:lnTo>
                <a:cubicBezTo>
                  <a:pt x="6766" y="340995"/>
                  <a:pt x="0" y="334229"/>
                  <a:pt x="0" y="325882"/>
                </a:cubicBezTo>
                <a:lnTo>
                  <a:pt x="0" y="15113"/>
                </a:lnTo>
                <a:cubicBezTo>
                  <a:pt x="0" y="6772"/>
                  <a:pt x="6772" y="0"/>
                  <a:pt x="15113" y="0"/>
                </a:cubicBezTo>
                <a:close/>
              </a:path>
            </a:pathLst>
          </a:custGeom>
          <a:solidFill>
            <a:srgbClr val="3A86FF"/>
          </a:solidFill>
          <a:ln/>
        </p:spPr>
      </p:sp>
      <p:sp>
        <p:nvSpPr>
          <p:cNvPr id="10" name="Text 8"/>
          <p:cNvSpPr/>
          <p:nvPr/>
        </p:nvSpPr>
        <p:spPr>
          <a:xfrm>
            <a:off x="469870" y="2043018"/>
            <a:ext cx="5456559" cy="189464"/>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[2]</a:t>
            </a:r>
            <a:pPr>
              <a:lnSpc>
                <a:spcPct val="140000"/>
              </a:lnSpc>
            </a:pPr>
            <a:r>
              <a:rPr lang="en-US" sz="895" dirty="0">
                <a:solidFill>
                  <a:srgbClr val="F1FAEE"/>
                </a:solidFill>
                <a:latin typeface="Liter" pitchFamily="34" charset="0"/>
                <a:ea typeface="Liter" pitchFamily="34" charset="-122"/>
                <a:cs typeface="Liter" pitchFamily="34" charset="-120"/>
              </a:rPr>
              <a:t> S.A. El-Ghany et al., "Automated eye disease diagnosis using 2D CNN with Grad-CAM," Symmetry, 2025.</a:t>
            </a:r>
            <a:endParaRPr lang="en-US" sz="1600" dirty="0"/>
          </a:p>
        </p:txBody>
      </p:sp>
      <p:sp>
        <p:nvSpPr>
          <p:cNvPr id="11" name="Shape 9"/>
          <p:cNvSpPr/>
          <p:nvPr/>
        </p:nvSpPr>
        <p:spPr>
          <a:xfrm>
            <a:off x="386506" y="2385709"/>
            <a:ext cx="5558870" cy="341035"/>
          </a:xfrm>
          <a:custGeom>
            <a:avLst/>
            <a:gdLst/>
            <a:ahLst/>
            <a:cxnLst/>
            <a:rect l="l" t="t" r="r" b="b"/>
            <a:pathLst>
              <a:path w="5558870" h="341035">
                <a:moveTo>
                  <a:pt x="15113" y="0"/>
                </a:moveTo>
                <a:lnTo>
                  <a:pt x="5483098" y="0"/>
                </a:lnTo>
                <a:cubicBezTo>
                  <a:pt x="5524972" y="0"/>
                  <a:pt x="5558917" y="33945"/>
                  <a:pt x="5558917" y="75819"/>
                </a:cubicBezTo>
                <a:lnTo>
                  <a:pt x="5558917" y="265303"/>
                </a:lnTo>
                <a:cubicBezTo>
                  <a:pt x="5558847" y="307127"/>
                  <a:pt x="5524922" y="340995"/>
                  <a:pt x="5483098" y="340995"/>
                </a:cubicBezTo>
                <a:lnTo>
                  <a:pt x="15113" y="340995"/>
                </a:lnTo>
                <a:cubicBezTo>
                  <a:pt x="6766" y="340995"/>
                  <a:pt x="0" y="334229"/>
                  <a:pt x="0" y="325882"/>
                </a:cubicBezTo>
                <a:lnTo>
                  <a:pt x="0" y="15113"/>
                </a:lnTo>
                <a:cubicBezTo>
                  <a:pt x="0" y="6772"/>
                  <a:pt x="6772" y="0"/>
                  <a:pt x="15113" y="0"/>
                </a:cubicBezTo>
                <a:close/>
              </a:path>
            </a:pathLst>
          </a:custGeom>
          <a:solidFill>
            <a:srgbClr val="112240"/>
          </a:solidFill>
          <a:ln/>
        </p:spPr>
      </p:sp>
      <p:sp>
        <p:nvSpPr>
          <p:cNvPr id="12" name="Shape 10"/>
          <p:cNvSpPr/>
          <p:nvPr/>
        </p:nvSpPr>
        <p:spPr>
          <a:xfrm>
            <a:off x="386506" y="2385709"/>
            <a:ext cx="15157" cy="341035"/>
          </a:xfrm>
          <a:custGeom>
            <a:avLst/>
            <a:gdLst/>
            <a:ahLst/>
            <a:cxnLst/>
            <a:rect l="l" t="t" r="r" b="b"/>
            <a:pathLst>
              <a:path w="15157" h="341035">
                <a:moveTo>
                  <a:pt x="15113" y="0"/>
                </a:moveTo>
                <a:lnTo>
                  <a:pt x="15113" y="0"/>
                </a:lnTo>
                <a:lnTo>
                  <a:pt x="15113" y="340995"/>
                </a:lnTo>
                <a:lnTo>
                  <a:pt x="15113" y="340995"/>
                </a:lnTo>
                <a:cubicBezTo>
                  <a:pt x="6766" y="340995"/>
                  <a:pt x="0" y="334229"/>
                  <a:pt x="0" y="325882"/>
                </a:cubicBezTo>
                <a:lnTo>
                  <a:pt x="0" y="15113"/>
                </a:lnTo>
                <a:cubicBezTo>
                  <a:pt x="0" y="6772"/>
                  <a:pt x="6772" y="0"/>
                  <a:pt x="15113" y="0"/>
                </a:cubicBezTo>
                <a:close/>
              </a:path>
            </a:pathLst>
          </a:custGeom>
          <a:solidFill>
            <a:srgbClr val="3A86FF"/>
          </a:solidFill>
          <a:ln/>
        </p:spPr>
      </p:sp>
      <p:sp>
        <p:nvSpPr>
          <p:cNvPr id="13" name="Text 11"/>
          <p:cNvSpPr/>
          <p:nvPr/>
        </p:nvSpPr>
        <p:spPr>
          <a:xfrm>
            <a:off x="469870" y="2461495"/>
            <a:ext cx="5456559" cy="189464"/>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[3]</a:t>
            </a:r>
            <a:pPr>
              <a:lnSpc>
                <a:spcPct val="140000"/>
              </a:lnSpc>
            </a:pPr>
            <a:r>
              <a:rPr lang="en-US" sz="895" dirty="0">
                <a:solidFill>
                  <a:srgbClr val="F1FAEE"/>
                </a:solidFill>
                <a:latin typeface="Liter" pitchFamily="34" charset="0"/>
                <a:ea typeface="Liter" pitchFamily="34" charset="-122"/>
                <a:cs typeface="Liter" pitchFamily="34" charset="-120"/>
              </a:rPr>
              <a:t> D. Oncel et al., "Drusen morphometrics on OCT in eyes with AMD," Graefe's Archive, 2023.</a:t>
            </a:r>
            <a:endParaRPr lang="en-US" sz="1600" dirty="0"/>
          </a:p>
        </p:txBody>
      </p:sp>
      <p:sp>
        <p:nvSpPr>
          <p:cNvPr id="14" name="Shape 12"/>
          <p:cNvSpPr/>
          <p:nvPr/>
        </p:nvSpPr>
        <p:spPr>
          <a:xfrm>
            <a:off x="386506" y="2804065"/>
            <a:ext cx="5558870" cy="341035"/>
          </a:xfrm>
          <a:custGeom>
            <a:avLst/>
            <a:gdLst/>
            <a:ahLst/>
            <a:cxnLst/>
            <a:rect l="l" t="t" r="r" b="b"/>
            <a:pathLst>
              <a:path w="5558870" h="341035">
                <a:moveTo>
                  <a:pt x="15113" y="0"/>
                </a:moveTo>
                <a:lnTo>
                  <a:pt x="5483098" y="0"/>
                </a:lnTo>
                <a:cubicBezTo>
                  <a:pt x="5524972" y="0"/>
                  <a:pt x="5558917" y="33945"/>
                  <a:pt x="5558917" y="75819"/>
                </a:cubicBezTo>
                <a:lnTo>
                  <a:pt x="5558917" y="265303"/>
                </a:lnTo>
                <a:cubicBezTo>
                  <a:pt x="5558847" y="307127"/>
                  <a:pt x="5524922" y="340995"/>
                  <a:pt x="5483098" y="340995"/>
                </a:cubicBezTo>
                <a:lnTo>
                  <a:pt x="15113" y="340995"/>
                </a:lnTo>
                <a:cubicBezTo>
                  <a:pt x="6766" y="340995"/>
                  <a:pt x="0" y="334229"/>
                  <a:pt x="0" y="325882"/>
                </a:cubicBezTo>
                <a:lnTo>
                  <a:pt x="0" y="15113"/>
                </a:lnTo>
                <a:cubicBezTo>
                  <a:pt x="0" y="6772"/>
                  <a:pt x="6772" y="0"/>
                  <a:pt x="15113" y="0"/>
                </a:cubicBezTo>
                <a:close/>
              </a:path>
            </a:pathLst>
          </a:custGeom>
          <a:solidFill>
            <a:srgbClr val="112240"/>
          </a:solidFill>
          <a:ln/>
        </p:spPr>
      </p:sp>
      <p:sp>
        <p:nvSpPr>
          <p:cNvPr id="15" name="Shape 13"/>
          <p:cNvSpPr/>
          <p:nvPr/>
        </p:nvSpPr>
        <p:spPr>
          <a:xfrm>
            <a:off x="386506" y="2804065"/>
            <a:ext cx="15157" cy="341035"/>
          </a:xfrm>
          <a:custGeom>
            <a:avLst/>
            <a:gdLst/>
            <a:ahLst/>
            <a:cxnLst/>
            <a:rect l="l" t="t" r="r" b="b"/>
            <a:pathLst>
              <a:path w="15157" h="341035">
                <a:moveTo>
                  <a:pt x="15113" y="0"/>
                </a:moveTo>
                <a:lnTo>
                  <a:pt x="15113" y="0"/>
                </a:lnTo>
                <a:lnTo>
                  <a:pt x="15113" y="340995"/>
                </a:lnTo>
                <a:lnTo>
                  <a:pt x="15113" y="340995"/>
                </a:lnTo>
                <a:cubicBezTo>
                  <a:pt x="6766" y="340995"/>
                  <a:pt x="0" y="334229"/>
                  <a:pt x="0" y="325882"/>
                </a:cubicBezTo>
                <a:lnTo>
                  <a:pt x="0" y="15113"/>
                </a:lnTo>
                <a:cubicBezTo>
                  <a:pt x="0" y="6772"/>
                  <a:pt x="6772" y="0"/>
                  <a:pt x="15113" y="0"/>
                </a:cubicBezTo>
                <a:close/>
              </a:path>
            </a:pathLst>
          </a:custGeom>
          <a:solidFill>
            <a:srgbClr val="3A86FF"/>
          </a:solidFill>
          <a:ln/>
        </p:spPr>
      </p:sp>
      <p:sp>
        <p:nvSpPr>
          <p:cNvPr id="16" name="Text 14"/>
          <p:cNvSpPr/>
          <p:nvPr/>
        </p:nvSpPr>
        <p:spPr>
          <a:xfrm>
            <a:off x="469870" y="2879851"/>
            <a:ext cx="5456559" cy="189464"/>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[4]</a:t>
            </a:r>
            <a:pPr>
              <a:lnSpc>
                <a:spcPct val="140000"/>
              </a:lnSpc>
            </a:pPr>
            <a:r>
              <a:rPr lang="en-US" sz="895" dirty="0">
                <a:solidFill>
                  <a:srgbClr val="F1FAEE"/>
                </a:solidFill>
                <a:latin typeface="Liter" pitchFamily="34" charset="0"/>
                <a:ea typeface="Liter" pitchFamily="34" charset="-122"/>
                <a:cs typeface="Liter" pitchFamily="34" charset="-120"/>
              </a:rPr>
              <a:t> M. Zeppieri et al., "OCT: A brief look at uses and technological evolution," Medicina, 2023.</a:t>
            </a:r>
            <a:endParaRPr lang="en-US" sz="1600" dirty="0"/>
          </a:p>
        </p:txBody>
      </p:sp>
      <p:sp>
        <p:nvSpPr>
          <p:cNvPr id="17" name="Shape 15"/>
          <p:cNvSpPr/>
          <p:nvPr/>
        </p:nvSpPr>
        <p:spPr>
          <a:xfrm>
            <a:off x="386506" y="3222431"/>
            <a:ext cx="5558870" cy="341035"/>
          </a:xfrm>
          <a:custGeom>
            <a:avLst/>
            <a:gdLst/>
            <a:ahLst/>
            <a:cxnLst/>
            <a:rect l="l" t="t" r="r" b="b"/>
            <a:pathLst>
              <a:path w="5558870" h="341035">
                <a:moveTo>
                  <a:pt x="15113" y="0"/>
                </a:moveTo>
                <a:lnTo>
                  <a:pt x="5483098" y="0"/>
                </a:lnTo>
                <a:cubicBezTo>
                  <a:pt x="5524972" y="0"/>
                  <a:pt x="5558917" y="33945"/>
                  <a:pt x="5558917" y="75819"/>
                </a:cubicBezTo>
                <a:lnTo>
                  <a:pt x="5558917" y="265303"/>
                </a:lnTo>
                <a:cubicBezTo>
                  <a:pt x="5558847" y="307127"/>
                  <a:pt x="5524922" y="340995"/>
                  <a:pt x="5483098" y="340995"/>
                </a:cubicBezTo>
                <a:lnTo>
                  <a:pt x="15113" y="340995"/>
                </a:lnTo>
                <a:cubicBezTo>
                  <a:pt x="6766" y="340995"/>
                  <a:pt x="0" y="334229"/>
                  <a:pt x="0" y="325882"/>
                </a:cubicBezTo>
                <a:lnTo>
                  <a:pt x="0" y="15113"/>
                </a:lnTo>
                <a:cubicBezTo>
                  <a:pt x="0" y="6772"/>
                  <a:pt x="6772" y="0"/>
                  <a:pt x="15113" y="0"/>
                </a:cubicBezTo>
                <a:close/>
              </a:path>
            </a:pathLst>
          </a:custGeom>
          <a:solidFill>
            <a:srgbClr val="112240"/>
          </a:solidFill>
          <a:ln/>
        </p:spPr>
      </p:sp>
      <p:sp>
        <p:nvSpPr>
          <p:cNvPr id="18" name="Shape 16"/>
          <p:cNvSpPr/>
          <p:nvPr/>
        </p:nvSpPr>
        <p:spPr>
          <a:xfrm>
            <a:off x="386506" y="3222431"/>
            <a:ext cx="15157" cy="341035"/>
          </a:xfrm>
          <a:custGeom>
            <a:avLst/>
            <a:gdLst/>
            <a:ahLst/>
            <a:cxnLst/>
            <a:rect l="l" t="t" r="r" b="b"/>
            <a:pathLst>
              <a:path w="15157" h="341035">
                <a:moveTo>
                  <a:pt x="15113" y="0"/>
                </a:moveTo>
                <a:lnTo>
                  <a:pt x="15113" y="0"/>
                </a:lnTo>
                <a:lnTo>
                  <a:pt x="15113" y="340995"/>
                </a:lnTo>
                <a:lnTo>
                  <a:pt x="15113" y="340995"/>
                </a:lnTo>
                <a:cubicBezTo>
                  <a:pt x="6766" y="340995"/>
                  <a:pt x="0" y="334229"/>
                  <a:pt x="0" y="325882"/>
                </a:cubicBezTo>
                <a:lnTo>
                  <a:pt x="0" y="15113"/>
                </a:lnTo>
                <a:cubicBezTo>
                  <a:pt x="0" y="6772"/>
                  <a:pt x="6772" y="0"/>
                  <a:pt x="15113" y="0"/>
                </a:cubicBezTo>
                <a:close/>
              </a:path>
            </a:pathLst>
          </a:custGeom>
          <a:solidFill>
            <a:srgbClr val="3A86FF"/>
          </a:solidFill>
          <a:ln/>
        </p:spPr>
      </p:sp>
      <p:sp>
        <p:nvSpPr>
          <p:cNvPr id="19" name="Text 17"/>
          <p:cNvSpPr/>
          <p:nvPr/>
        </p:nvSpPr>
        <p:spPr>
          <a:xfrm>
            <a:off x="469870" y="3298216"/>
            <a:ext cx="5456559" cy="189464"/>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[5]</a:t>
            </a:r>
            <a:pPr>
              <a:lnSpc>
                <a:spcPct val="140000"/>
              </a:lnSpc>
            </a:pPr>
            <a:r>
              <a:rPr lang="en-US" sz="895" dirty="0">
                <a:solidFill>
                  <a:srgbClr val="F1FAEE"/>
                </a:solidFill>
                <a:latin typeface="Liter" pitchFamily="34" charset="0"/>
                <a:ea typeface="Liter" pitchFamily="34" charset="-122"/>
                <a:cs typeface="Liter" pitchFamily="34" charset="-120"/>
              </a:rPr>
              <a:t> A. Mokhtari et al., "A survey on OCT technology and application," Bioengineering, 2025.</a:t>
            </a:r>
            <a:endParaRPr lang="en-US" sz="1600" dirty="0"/>
          </a:p>
        </p:txBody>
      </p:sp>
      <p:sp>
        <p:nvSpPr>
          <p:cNvPr id="20" name="Shape 18"/>
          <p:cNvSpPr/>
          <p:nvPr/>
        </p:nvSpPr>
        <p:spPr>
          <a:xfrm>
            <a:off x="386506" y="3640907"/>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21" name="Shape 19"/>
          <p:cNvSpPr/>
          <p:nvPr/>
        </p:nvSpPr>
        <p:spPr>
          <a:xfrm>
            <a:off x="386506" y="3640907"/>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22" name="Text 20"/>
          <p:cNvSpPr/>
          <p:nvPr/>
        </p:nvSpPr>
        <p:spPr>
          <a:xfrm>
            <a:off x="469870" y="3716693"/>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[6]</a:t>
            </a:r>
            <a:pPr>
              <a:lnSpc>
                <a:spcPct val="140000"/>
              </a:lnSpc>
            </a:pPr>
            <a:r>
              <a:rPr lang="en-US" sz="895" dirty="0">
                <a:solidFill>
                  <a:srgbClr val="F1FAEE"/>
                </a:solidFill>
                <a:latin typeface="Liter" pitchFamily="34" charset="0"/>
                <a:ea typeface="Liter" pitchFamily="34" charset="-122"/>
                <a:cs typeface="Liter" pitchFamily="34" charset="-120"/>
              </a:rPr>
              <a:t> S. Baba et al., "Retinal disease classification using custom CNN from OCT images," Procedia Computer Science, 2024.</a:t>
            </a:r>
            <a:endParaRPr lang="en-US" sz="1600" dirty="0"/>
          </a:p>
        </p:txBody>
      </p:sp>
      <p:sp>
        <p:nvSpPr>
          <p:cNvPr id="23" name="Shape 21"/>
          <p:cNvSpPr/>
          <p:nvPr/>
        </p:nvSpPr>
        <p:spPr>
          <a:xfrm>
            <a:off x="386506" y="4243991"/>
            <a:ext cx="5558870" cy="341035"/>
          </a:xfrm>
          <a:custGeom>
            <a:avLst/>
            <a:gdLst/>
            <a:ahLst/>
            <a:cxnLst/>
            <a:rect l="l" t="t" r="r" b="b"/>
            <a:pathLst>
              <a:path w="5558870" h="341035">
                <a:moveTo>
                  <a:pt x="15113" y="0"/>
                </a:moveTo>
                <a:lnTo>
                  <a:pt x="5483098" y="0"/>
                </a:lnTo>
                <a:cubicBezTo>
                  <a:pt x="5524972" y="0"/>
                  <a:pt x="5558917" y="33945"/>
                  <a:pt x="5558917" y="75819"/>
                </a:cubicBezTo>
                <a:lnTo>
                  <a:pt x="5558917" y="265303"/>
                </a:lnTo>
                <a:cubicBezTo>
                  <a:pt x="5558847" y="307127"/>
                  <a:pt x="5524922" y="340995"/>
                  <a:pt x="5483098" y="340995"/>
                </a:cubicBezTo>
                <a:lnTo>
                  <a:pt x="15113" y="340995"/>
                </a:lnTo>
                <a:cubicBezTo>
                  <a:pt x="6766" y="340995"/>
                  <a:pt x="0" y="334229"/>
                  <a:pt x="0" y="325882"/>
                </a:cubicBezTo>
                <a:lnTo>
                  <a:pt x="0" y="15113"/>
                </a:lnTo>
                <a:cubicBezTo>
                  <a:pt x="0" y="6772"/>
                  <a:pt x="6772" y="0"/>
                  <a:pt x="15113" y="0"/>
                </a:cubicBezTo>
                <a:close/>
              </a:path>
            </a:pathLst>
          </a:custGeom>
          <a:solidFill>
            <a:srgbClr val="112240"/>
          </a:solidFill>
          <a:ln/>
        </p:spPr>
      </p:sp>
      <p:sp>
        <p:nvSpPr>
          <p:cNvPr id="24" name="Shape 22"/>
          <p:cNvSpPr/>
          <p:nvPr/>
        </p:nvSpPr>
        <p:spPr>
          <a:xfrm>
            <a:off x="386506" y="4243991"/>
            <a:ext cx="15157" cy="341035"/>
          </a:xfrm>
          <a:custGeom>
            <a:avLst/>
            <a:gdLst/>
            <a:ahLst/>
            <a:cxnLst/>
            <a:rect l="l" t="t" r="r" b="b"/>
            <a:pathLst>
              <a:path w="15157" h="341035">
                <a:moveTo>
                  <a:pt x="15113" y="0"/>
                </a:moveTo>
                <a:lnTo>
                  <a:pt x="15113" y="0"/>
                </a:lnTo>
                <a:lnTo>
                  <a:pt x="15113" y="340995"/>
                </a:lnTo>
                <a:lnTo>
                  <a:pt x="15113" y="340995"/>
                </a:lnTo>
                <a:cubicBezTo>
                  <a:pt x="6766" y="340995"/>
                  <a:pt x="0" y="334229"/>
                  <a:pt x="0" y="325882"/>
                </a:cubicBezTo>
                <a:lnTo>
                  <a:pt x="0" y="15113"/>
                </a:lnTo>
                <a:cubicBezTo>
                  <a:pt x="0" y="6772"/>
                  <a:pt x="6772" y="0"/>
                  <a:pt x="15113" y="0"/>
                </a:cubicBezTo>
                <a:close/>
              </a:path>
            </a:pathLst>
          </a:custGeom>
          <a:solidFill>
            <a:srgbClr val="3A86FF"/>
          </a:solidFill>
          <a:ln/>
        </p:spPr>
      </p:sp>
      <p:sp>
        <p:nvSpPr>
          <p:cNvPr id="25" name="Text 23"/>
          <p:cNvSpPr/>
          <p:nvPr/>
        </p:nvSpPr>
        <p:spPr>
          <a:xfrm>
            <a:off x="469870" y="4319776"/>
            <a:ext cx="5456559" cy="189464"/>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[7]</a:t>
            </a:r>
            <a:pPr>
              <a:lnSpc>
                <a:spcPct val="140000"/>
              </a:lnSpc>
            </a:pPr>
            <a:r>
              <a:rPr lang="en-US" sz="895" dirty="0">
                <a:solidFill>
                  <a:srgbClr val="F1FAEE"/>
                </a:solidFill>
                <a:latin typeface="Liter" pitchFamily="34" charset="0"/>
                <a:ea typeface="Liter" pitchFamily="34" charset="-122"/>
                <a:cs typeface="Liter" pitchFamily="34" charset="-120"/>
              </a:rPr>
              <a:t> C. Photiou et al., "Extracting morphological features from OCT images," Photonics, 2023.</a:t>
            </a:r>
            <a:endParaRPr lang="en-US" sz="1600" dirty="0"/>
          </a:p>
        </p:txBody>
      </p:sp>
      <p:sp>
        <p:nvSpPr>
          <p:cNvPr id="26" name="Shape 24"/>
          <p:cNvSpPr/>
          <p:nvPr/>
        </p:nvSpPr>
        <p:spPr>
          <a:xfrm>
            <a:off x="386506" y="4662356"/>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27" name="Shape 25"/>
          <p:cNvSpPr/>
          <p:nvPr/>
        </p:nvSpPr>
        <p:spPr>
          <a:xfrm>
            <a:off x="386506" y="4662356"/>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28" name="Text 26"/>
          <p:cNvSpPr/>
          <p:nvPr/>
        </p:nvSpPr>
        <p:spPr>
          <a:xfrm>
            <a:off x="469870" y="4738142"/>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[8]</a:t>
            </a:r>
            <a:pPr>
              <a:lnSpc>
                <a:spcPct val="140000"/>
              </a:lnSpc>
            </a:pPr>
            <a:r>
              <a:rPr lang="en-US" sz="895" dirty="0">
                <a:solidFill>
                  <a:srgbClr val="F1FAEE"/>
                </a:solidFill>
                <a:latin typeface="Liter" pitchFamily="34" charset="0"/>
                <a:ea typeface="Liter" pitchFamily="34" charset="-122"/>
                <a:cs typeface="Liter" pitchFamily="34" charset="-120"/>
              </a:rPr>
              <a:t> H. Pan et al., "A lightweight model for retinal disease classification," Biomedical Signal Processing and Control, 2025.</a:t>
            </a:r>
            <a:endParaRPr lang="en-US" sz="1600" dirty="0"/>
          </a:p>
        </p:txBody>
      </p:sp>
      <p:sp>
        <p:nvSpPr>
          <p:cNvPr id="29" name="Shape 27"/>
          <p:cNvSpPr/>
          <p:nvPr/>
        </p:nvSpPr>
        <p:spPr>
          <a:xfrm>
            <a:off x="386506" y="5265560"/>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30" name="Shape 28"/>
          <p:cNvSpPr/>
          <p:nvPr/>
        </p:nvSpPr>
        <p:spPr>
          <a:xfrm>
            <a:off x="386506" y="5265560"/>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31" name="Text 29"/>
          <p:cNvSpPr/>
          <p:nvPr/>
        </p:nvSpPr>
        <p:spPr>
          <a:xfrm>
            <a:off x="469870" y="5341345"/>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[9]</a:t>
            </a:r>
            <a:pPr>
              <a:lnSpc>
                <a:spcPct val="140000"/>
              </a:lnSpc>
            </a:pPr>
            <a:r>
              <a:rPr lang="en-US" sz="895" dirty="0">
                <a:solidFill>
                  <a:srgbClr val="F1FAEE"/>
                </a:solidFill>
                <a:latin typeface="Liter" pitchFamily="34" charset="0"/>
                <a:ea typeface="Liter" pitchFamily="34" charset="-122"/>
                <a:cs typeface="Liter" pitchFamily="34" charset="-120"/>
              </a:rPr>
              <a:t> M.D. Giammarco et al., "Explainable retinal disease classification through CNN," Image and Vision Computing, 2025.</a:t>
            </a:r>
            <a:endParaRPr lang="en-US" sz="1600" dirty="0"/>
          </a:p>
        </p:txBody>
      </p:sp>
      <p:sp>
        <p:nvSpPr>
          <p:cNvPr id="32" name="Shape 30"/>
          <p:cNvSpPr/>
          <p:nvPr/>
        </p:nvSpPr>
        <p:spPr>
          <a:xfrm>
            <a:off x="386506" y="5868643"/>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33" name="Shape 31"/>
          <p:cNvSpPr/>
          <p:nvPr/>
        </p:nvSpPr>
        <p:spPr>
          <a:xfrm>
            <a:off x="386506" y="5868643"/>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34" name="Text 32"/>
          <p:cNvSpPr/>
          <p:nvPr/>
        </p:nvSpPr>
        <p:spPr>
          <a:xfrm>
            <a:off x="469870" y="5944429"/>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[10]</a:t>
            </a:r>
            <a:pPr>
              <a:lnSpc>
                <a:spcPct val="140000"/>
              </a:lnSpc>
            </a:pPr>
            <a:r>
              <a:rPr lang="en-US" sz="895" dirty="0">
                <a:solidFill>
                  <a:srgbClr val="F1FAEE"/>
                </a:solidFill>
                <a:latin typeface="Liter" pitchFamily="34" charset="0"/>
                <a:ea typeface="Liter" pitchFamily="34" charset="-122"/>
                <a:cs typeface="Liter" pitchFamily="34" charset="-120"/>
              </a:rPr>
              <a:t> A.G. Persada et al., "A review of CAM-based visual explanation on diabetic retinopathy," IEEE Access, 2026.</a:t>
            </a:r>
            <a:endParaRPr lang="en-US" sz="1600" dirty="0"/>
          </a:p>
        </p:txBody>
      </p:sp>
      <p:sp>
        <p:nvSpPr>
          <p:cNvPr id="35" name="Shape 33"/>
          <p:cNvSpPr/>
          <p:nvPr/>
        </p:nvSpPr>
        <p:spPr>
          <a:xfrm>
            <a:off x="6255623" y="1364140"/>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36" name="Shape 34"/>
          <p:cNvSpPr/>
          <p:nvPr/>
        </p:nvSpPr>
        <p:spPr>
          <a:xfrm>
            <a:off x="6255623" y="1364140"/>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37" name="Text 35"/>
          <p:cNvSpPr/>
          <p:nvPr/>
        </p:nvSpPr>
        <p:spPr>
          <a:xfrm>
            <a:off x="6338988" y="1439925"/>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[11]</a:t>
            </a:r>
            <a:pPr>
              <a:lnSpc>
                <a:spcPct val="140000"/>
              </a:lnSpc>
            </a:pPr>
            <a:r>
              <a:rPr lang="en-US" sz="895" dirty="0">
                <a:solidFill>
                  <a:srgbClr val="F1FAEE"/>
                </a:solidFill>
                <a:latin typeface="Liter" pitchFamily="34" charset="0"/>
                <a:ea typeface="Liter" pitchFamily="34" charset="-122"/>
                <a:cs typeface="Liter" pitchFamily="34" charset="-120"/>
              </a:rPr>
              <a:t> P. Mani et al., "Comprehensive dual framework for lesion segmentation and classification," Neural Computing and Applications, 2025.</a:t>
            </a:r>
            <a:endParaRPr lang="en-US" sz="1600" dirty="0"/>
          </a:p>
        </p:txBody>
      </p:sp>
      <p:sp>
        <p:nvSpPr>
          <p:cNvPr id="38" name="Shape 36"/>
          <p:cNvSpPr/>
          <p:nvPr/>
        </p:nvSpPr>
        <p:spPr>
          <a:xfrm>
            <a:off x="6255623" y="1885166"/>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39" name="Shape 37"/>
          <p:cNvSpPr/>
          <p:nvPr/>
        </p:nvSpPr>
        <p:spPr>
          <a:xfrm>
            <a:off x="6255623" y="1885166"/>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40" name="Text 38"/>
          <p:cNvSpPr/>
          <p:nvPr/>
        </p:nvSpPr>
        <p:spPr>
          <a:xfrm>
            <a:off x="6338988" y="1960951"/>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[12]</a:t>
            </a:r>
            <a:pPr>
              <a:lnSpc>
                <a:spcPct val="140000"/>
              </a:lnSpc>
            </a:pPr>
            <a:r>
              <a:rPr lang="en-US" sz="895" dirty="0">
                <a:solidFill>
                  <a:srgbClr val="F1FAEE"/>
                </a:solidFill>
                <a:latin typeface="Liter" pitchFamily="34" charset="0"/>
                <a:ea typeface="Liter" pitchFamily="34" charset="-122"/>
                <a:cs typeface="Liter" pitchFamily="34" charset="-120"/>
              </a:rPr>
              <a:t> B. Vandersmissen and J. Oramas, "On the coherency of quantitative evaluation of visual explanations," Computer Vision and Image Understanding, 2024.</a:t>
            </a:r>
            <a:endParaRPr lang="en-US" sz="1600" dirty="0"/>
          </a:p>
        </p:txBody>
      </p:sp>
      <p:sp>
        <p:nvSpPr>
          <p:cNvPr id="41" name="Shape 39"/>
          <p:cNvSpPr/>
          <p:nvPr/>
        </p:nvSpPr>
        <p:spPr>
          <a:xfrm>
            <a:off x="6255623" y="2406191"/>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42" name="Shape 40"/>
          <p:cNvSpPr/>
          <p:nvPr/>
        </p:nvSpPr>
        <p:spPr>
          <a:xfrm>
            <a:off x="6255623" y="2406191"/>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43" name="Text 41"/>
          <p:cNvSpPr/>
          <p:nvPr/>
        </p:nvSpPr>
        <p:spPr>
          <a:xfrm>
            <a:off x="6338988" y="2481977"/>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[13]</a:t>
            </a:r>
            <a:pPr>
              <a:lnSpc>
                <a:spcPct val="140000"/>
              </a:lnSpc>
            </a:pPr>
            <a:r>
              <a:rPr lang="en-US" sz="895" dirty="0">
                <a:solidFill>
                  <a:srgbClr val="F1FAEE"/>
                </a:solidFill>
                <a:latin typeface="Liter" pitchFamily="34" charset="0"/>
                <a:ea typeface="Liter" pitchFamily="34" charset="-122"/>
                <a:cs typeface="Liter" pitchFamily="34" charset="-120"/>
              </a:rPr>
              <a:t> A. Beuse et al., "Automated detection of central retinal artery occlusion using OCT imaging via explainable deep learning," 2024.</a:t>
            </a:r>
            <a:endParaRPr lang="en-US" sz="1600" dirty="0"/>
          </a:p>
        </p:txBody>
      </p:sp>
      <p:sp>
        <p:nvSpPr>
          <p:cNvPr id="44" name="Shape 42"/>
          <p:cNvSpPr/>
          <p:nvPr/>
        </p:nvSpPr>
        <p:spPr>
          <a:xfrm>
            <a:off x="6255623" y="2927217"/>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45" name="Shape 43"/>
          <p:cNvSpPr/>
          <p:nvPr/>
        </p:nvSpPr>
        <p:spPr>
          <a:xfrm>
            <a:off x="6255623" y="2927217"/>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46" name="Text 44"/>
          <p:cNvSpPr/>
          <p:nvPr/>
        </p:nvSpPr>
        <p:spPr>
          <a:xfrm>
            <a:off x="6338988" y="3003002"/>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[14]</a:t>
            </a:r>
            <a:pPr>
              <a:lnSpc>
                <a:spcPct val="140000"/>
              </a:lnSpc>
            </a:pPr>
            <a:r>
              <a:rPr lang="en-US" sz="895" dirty="0">
                <a:solidFill>
                  <a:srgbClr val="F1FAEE"/>
                </a:solidFill>
                <a:latin typeface="Liter" pitchFamily="34" charset="0"/>
                <a:ea typeface="Liter" pitchFamily="34" charset="-122"/>
                <a:cs typeface="Liter" pitchFamily="34" charset="-120"/>
              </a:rPr>
              <a:t> W. Al-Dolat et al., "Enhancing fundus image analysis for diabetic retinopathy using CheXNet with CBAM and Grad-CAM," 2024.</a:t>
            </a:r>
            <a:endParaRPr lang="en-US" sz="1600" dirty="0"/>
          </a:p>
        </p:txBody>
      </p:sp>
      <p:sp>
        <p:nvSpPr>
          <p:cNvPr id="47" name="Shape 45"/>
          <p:cNvSpPr/>
          <p:nvPr/>
        </p:nvSpPr>
        <p:spPr>
          <a:xfrm>
            <a:off x="6255623" y="3448242"/>
            <a:ext cx="5558870" cy="341035"/>
          </a:xfrm>
          <a:custGeom>
            <a:avLst/>
            <a:gdLst/>
            <a:ahLst/>
            <a:cxnLst/>
            <a:rect l="l" t="t" r="r" b="b"/>
            <a:pathLst>
              <a:path w="5558870" h="341035">
                <a:moveTo>
                  <a:pt x="15113" y="0"/>
                </a:moveTo>
                <a:lnTo>
                  <a:pt x="5483098" y="0"/>
                </a:lnTo>
                <a:cubicBezTo>
                  <a:pt x="5524972" y="0"/>
                  <a:pt x="5558917" y="33945"/>
                  <a:pt x="5558917" y="75819"/>
                </a:cubicBezTo>
                <a:lnTo>
                  <a:pt x="5558917" y="265303"/>
                </a:lnTo>
                <a:cubicBezTo>
                  <a:pt x="5558847" y="307127"/>
                  <a:pt x="5524922" y="340995"/>
                  <a:pt x="5483098" y="340995"/>
                </a:cubicBezTo>
                <a:lnTo>
                  <a:pt x="15113" y="340995"/>
                </a:lnTo>
                <a:cubicBezTo>
                  <a:pt x="6766" y="340995"/>
                  <a:pt x="0" y="334229"/>
                  <a:pt x="0" y="325882"/>
                </a:cubicBezTo>
                <a:lnTo>
                  <a:pt x="0" y="15113"/>
                </a:lnTo>
                <a:cubicBezTo>
                  <a:pt x="0" y="6772"/>
                  <a:pt x="6772" y="0"/>
                  <a:pt x="15113" y="0"/>
                </a:cubicBezTo>
                <a:close/>
              </a:path>
            </a:pathLst>
          </a:custGeom>
          <a:solidFill>
            <a:srgbClr val="112240"/>
          </a:solidFill>
          <a:ln/>
        </p:spPr>
      </p:sp>
      <p:sp>
        <p:nvSpPr>
          <p:cNvPr id="48" name="Shape 46"/>
          <p:cNvSpPr/>
          <p:nvPr/>
        </p:nvSpPr>
        <p:spPr>
          <a:xfrm>
            <a:off x="6255623" y="3448242"/>
            <a:ext cx="15157" cy="341035"/>
          </a:xfrm>
          <a:custGeom>
            <a:avLst/>
            <a:gdLst/>
            <a:ahLst/>
            <a:cxnLst/>
            <a:rect l="l" t="t" r="r" b="b"/>
            <a:pathLst>
              <a:path w="15157" h="341035">
                <a:moveTo>
                  <a:pt x="15113" y="0"/>
                </a:moveTo>
                <a:lnTo>
                  <a:pt x="15113" y="0"/>
                </a:lnTo>
                <a:lnTo>
                  <a:pt x="15113" y="340995"/>
                </a:lnTo>
                <a:lnTo>
                  <a:pt x="15113" y="340995"/>
                </a:lnTo>
                <a:cubicBezTo>
                  <a:pt x="6766" y="340995"/>
                  <a:pt x="0" y="334229"/>
                  <a:pt x="0" y="325882"/>
                </a:cubicBezTo>
                <a:lnTo>
                  <a:pt x="0" y="15113"/>
                </a:lnTo>
                <a:cubicBezTo>
                  <a:pt x="0" y="6772"/>
                  <a:pt x="6772" y="0"/>
                  <a:pt x="15113" y="0"/>
                </a:cubicBezTo>
                <a:close/>
              </a:path>
            </a:pathLst>
          </a:custGeom>
          <a:solidFill>
            <a:srgbClr val="3A86FF"/>
          </a:solidFill>
          <a:ln/>
        </p:spPr>
      </p:sp>
      <p:sp>
        <p:nvSpPr>
          <p:cNvPr id="49" name="Text 47"/>
          <p:cNvSpPr/>
          <p:nvPr/>
        </p:nvSpPr>
        <p:spPr>
          <a:xfrm>
            <a:off x="6338988" y="3524028"/>
            <a:ext cx="5456559" cy="189464"/>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[15]</a:t>
            </a:r>
            <a:pPr>
              <a:lnSpc>
                <a:spcPct val="140000"/>
              </a:lnSpc>
            </a:pPr>
            <a:r>
              <a:rPr lang="en-US" sz="895" dirty="0">
                <a:solidFill>
                  <a:srgbClr val="F1FAEE"/>
                </a:solidFill>
                <a:latin typeface="Liter" pitchFamily="34" charset="0"/>
                <a:ea typeface="Liter" pitchFamily="34" charset="-122"/>
                <a:cs typeface="Liter" pitchFamily="34" charset="-120"/>
              </a:rPr>
              <a:t> A. Yavari et al., "Applicability study of AI attribution methods for ophthalmic image classification," 2024.</a:t>
            </a:r>
            <a:endParaRPr lang="en-US" sz="1600" dirty="0"/>
          </a:p>
        </p:txBody>
      </p:sp>
      <p:sp>
        <p:nvSpPr>
          <p:cNvPr id="50" name="Shape 48"/>
          <p:cNvSpPr/>
          <p:nvPr/>
        </p:nvSpPr>
        <p:spPr>
          <a:xfrm>
            <a:off x="6255623" y="3784541"/>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51" name="Shape 49"/>
          <p:cNvSpPr/>
          <p:nvPr/>
        </p:nvSpPr>
        <p:spPr>
          <a:xfrm>
            <a:off x="6255623" y="3784541"/>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52" name="Text 50"/>
          <p:cNvSpPr/>
          <p:nvPr/>
        </p:nvSpPr>
        <p:spPr>
          <a:xfrm>
            <a:off x="6338988" y="3860326"/>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[16]</a:t>
            </a:r>
            <a:pPr>
              <a:lnSpc>
                <a:spcPct val="140000"/>
              </a:lnSpc>
            </a:pPr>
            <a:r>
              <a:rPr lang="en-US" sz="895" dirty="0">
                <a:solidFill>
                  <a:srgbClr val="F1FAEE"/>
                </a:solidFill>
                <a:latin typeface="Liter" pitchFamily="34" charset="0"/>
                <a:ea typeface="Liter" pitchFamily="34" charset="-122"/>
                <a:cs typeface="Liter" pitchFamily="34" charset="-120"/>
              </a:rPr>
              <a:t> M.A. Farhad et al., "Enhanced lesion localization and classification in ocular tumor detection using Grad-CAM," IEEE Access, 2025.</a:t>
            </a:r>
            <a:endParaRPr lang="en-US" sz="1600" dirty="0"/>
          </a:p>
        </p:txBody>
      </p:sp>
      <p:sp>
        <p:nvSpPr>
          <p:cNvPr id="53" name="Shape 51"/>
          <p:cNvSpPr/>
          <p:nvPr/>
        </p:nvSpPr>
        <p:spPr>
          <a:xfrm>
            <a:off x="6255623" y="4305566"/>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54" name="Shape 52"/>
          <p:cNvSpPr/>
          <p:nvPr/>
        </p:nvSpPr>
        <p:spPr>
          <a:xfrm>
            <a:off x="6255623" y="4305566"/>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55" name="Text 53"/>
          <p:cNvSpPr/>
          <p:nvPr/>
        </p:nvSpPr>
        <p:spPr>
          <a:xfrm>
            <a:off x="6338988" y="4381352"/>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[17]</a:t>
            </a:r>
            <a:pPr>
              <a:lnSpc>
                <a:spcPct val="140000"/>
              </a:lnSpc>
            </a:pPr>
            <a:r>
              <a:rPr lang="en-US" sz="895" dirty="0">
                <a:solidFill>
                  <a:srgbClr val="F1FAEE"/>
                </a:solidFill>
                <a:latin typeface="Liter" pitchFamily="34" charset="0"/>
                <a:ea typeface="Liter" pitchFamily="34" charset="-122"/>
                <a:cs typeface="Liter" pitchFamily="34" charset="-120"/>
              </a:rPr>
              <a:t> N. Sengar et al., "EyeDeep-Net: a multi-class diagnosis of retinal diseases using deep neural network," Neural Computing and Applications, 2023.</a:t>
            </a:r>
            <a:endParaRPr lang="en-US" sz="1600" dirty="0"/>
          </a:p>
        </p:txBody>
      </p:sp>
      <p:sp>
        <p:nvSpPr>
          <p:cNvPr id="56" name="Shape 54"/>
          <p:cNvSpPr/>
          <p:nvPr/>
        </p:nvSpPr>
        <p:spPr>
          <a:xfrm>
            <a:off x="6255623" y="4826592"/>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57" name="Shape 55"/>
          <p:cNvSpPr/>
          <p:nvPr/>
        </p:nvSpPr>
        <p:spPr>
          <a:xfrm>
            <a:off x="6255623" y="4826592"/>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58" name="Text 56"/>
          <p:cNvSpPr/>
          <p:nvPr/>
        </p:nvSpPr>
        <p:spPr>
          <a:xfrm>
            <a:off x="6338988" y="4902378"/>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[18]</a:t>
            </a:r>
            <a:pPr>
              <a:lnSpc>
                <a:spcPct val="140000"/>
              </a:lnSpc>
            </a:pPr>
            <a:r>
              <a:rPr lang="en-US" sz="895" dirty="0">
                <a:solidFill>
                  <a:srgbClr val="F1FAEE"/>
                </a:solidFill>
                <a:latin typeface="Liter" pitchFamily="34" charset="0"/>
                <a:ea typeface="Liter" pitchFamily="34" charset="-122"/>
                <a:cs typeface="Liter" pitchFamily="34" charset="-120"/>
              </a:rPr>
              <a:t> Q. Jiang et al., "HyFormer: a hybrid transformer-CNN architecture for retinal OCT image segmentation," Biomedical Optics Express, 2024.</a:t>
            </a:r>
            <a:endParaRPr lang="en-US" sz="1600" dirty="0"/>
          </a:p>
        </p:txBody>
      </p:sp>
      <p:sp>
        <p:nvSpPr>
          <p:cNvPr id="59" name="Shape 57"/>
          <p:cNvSpPr/>
          <p:nvPr/>
        </p:nvSpPr>
        <p:spPr>
          <a:xfrm>
            <a:off x="6255623" y="5347618"/>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60" name="Shape 58"/>
          <p:cNvSpPr/>
          <p:nvPr/>
        </p:nvSpPr>
        <p:spPr>
          <a:xfrm>
            <a:off x="6255623" y="5347618"/>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61" name="Text 59"/>
          <p:cNvSpPr/>
          <p:nvPr/>
        </p:nvSpPr>
        <p:spPr>
          <a:xfrm>
            <a:off x="6338988" y="5423403"/>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[19]</a:t>
            </a:r>
            <a:pPr>
              <a:lnSpc>
                <a:spcPct val="140000"/>
              </a:lnSpc>
            </a:pPr>
            <a:r>
              <a:rPr lang="en-US" sz="895" dirty="0">
                <a:solidFill>
                  <a:srgbClr val="F1FAEE"/>
                </a:solidFill>
                <a:latin typeface="Liter" pitchFamily="34" charset="0"/>
                <a:ea typeface="Liter" pitchFamily="34" charset="-122"/>
                <a:cs typeface="Liter" pitchFamily="34" charset="-120"/>
              </a:rPr>
              <a:t> Z. Said et al., "Towards interpretable diabetic retinopathy detection: Combining multi-CNN models with Grad-CAM," IJACSA, 2024.</a:t>
            </a:r>
            <a:endParaRPr lang="en-US" sz="1600" dirty="0"/>
          </a:p>
        </p:txBody>
      </p:sp>
      <p:sp>
        <p:nvSpPr>
          <p:cNvPr id="62" name="Shape 60"/>
          <p:cNvSpPr/>
          <p:nvPr/>
        </p:nvSpPr>
        <p:spPr>
          <a:xfrm>
            <a:off x="6255623" y="5868643"/>
            <a:ext cx="5558870" cy="521026"/>
          </a:xfrm>
          <a:custGeom>
            <a:avLst/>
            <a:gdLst/>
            <a:ahLst/>
            <a:cxnLst/>
            <a:rect l="l" t="t" r="r" b="b"/>
            <a:pathLst>
              <a:path w="5558870" h="521026">
                <a:moveTo>
                  <a:pt x="15113" y="0"/>
                </a:moveTo>
                <a:lnTo>
                  <a:pt x="5483098" y="0"/>
                </a:lnTo>
                <a:cubicBezTo>
                  <a:pt x="5524972" y="0"/>
                  <a:pt x="5558917" y="33945"/>
                  <a:pt x="5558917" y="75819"/>
                </a:cubicBezTo>
                <a:lnTo>
                  <a:pt x="5558917" y="445262"/>
                </a:lnTo>
                <a:cubicBezTo>
                  <a:pt x="5558917" y="487136"/>
                  <a:pt x="5524972" y="521081"/>
                  <a:pt x="5483098" y="521081"/>
                </a:cubicBez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112240"/>
          </a:solidFill>
          <a:ln/>
        </p:spPr>
      </p:sp>
      <p:sp>
        <p:nvSpPr>
          <p:cNvPr id="63" name="Shape 61"/>
          <p:cNvSpPr/>
          <p:nvPr/>
        </p:nvSpPr>
        <p:spPr>
          <a:xfrm>
            <a:off x="6255623" y="5868643"/>
            <a:ext cx="15157" cy="521026"/>
          </a:xfrm>
          <a:custGeom>
            <a:avLst/>
            <a:gdLst/>
            <a:ahLst/>
            <a:cxnLst/>
            <a:rect l="l" t="t" r="r" b="b"/>
            <a:pathLst>
              <a:path w="15157" h="521026">
                <a:moveTo>
                  <a:pt x="15113" y="0"/>
                </a:moveTo>
                <a:lnTo>
                  <a:pt x="15113" y="0"/>
                </a:lnTo>
                <a:lnTo>
                  <a:pt x="15113" y="521081"/>
                </a:lnTo>
                <a:lnTo>
                  <a:pt x="15113" y="521081"/>
                </a:lnTo>
                <a:cubicBezTo>
                  <a:pt x="11083" y="521081"/>
                  <a:pt x="7219" y="519471"/>
                  <a:pt x="4381" y="516610"/>
                </a:cubicBezTo>
                <a:cubicBezTo>
                  <a:pt x="1543" y="513748"/>
                  <a:pt x="-34" y="509871"/>
                  <a:pt x="0" y="505841"/>
                </a:cubicBezTo>
                <a:lnTo>
                  <a:pt x="0" y="15113"/>
                </a:lnTo>
                <a:cubicBezTo>
                  <a:pt x="0" y="6772"/>
                  <a:pt x="6772" y="0"/>
                  <a:pt x="15113" y="0"/>
                </a:cubicBezTo>
                <a:close/>
              </a:path>
            </a:pathLst>
          </a:custGeom>
          <a:solidFill>
            <a:srgbClr val="3A86FF"/>
          </a:solidFill>
          <a:ln/>
        </p:spPr>
      </p:sp>
      <p:sp>
        <p:nvSpPr>
          <p:cNvPr id="64" name="Text 62"/>
          <p:cNvSpPr/>
          <p:nvPr/>
        </p:nvSpPr>
        <p:spPr>
          <a:xfrm>
            <a:off x="6338988" y="5944429"/>
            <a:ext cx="5456559" cy="369455"/>
          </a:xfrm>
          <a:prstGeom prst="rect">
            <a:avLst/>
          </a:prstGeom>
          <a:noFill/>
          <a:ln/>
        </p:spPr>
        <p:txBody>
          <a:bodyPr wrap="square" lIns="0" tIns="0" rIns="0" bIns="0" rtlCol="0" anchor="ctr"/>
          <a:lstStyle/>
          <a:p>
            <a:pPr>
              <a:lnSpc>
                <a:spcPct val="140000"/>
              </a:lnSpc>
            </a:pPr>
            <a:r>
              <a:rPr lang="en-US" sz="895" b="1" dirty="0">
                <a:solidFill>
                  <a:srgbClr val="3A86FF"/>
                </a:solidFill>
                <a:latin typeface="Liter" pitchFamily="34" charset="0"/>
                <a:ea typeface="Liter" pitchFamily="34" charset="-122"/>
                <a:cs typeface="Liter" pitchFamily="34" charset="-120"/>
              </a:rPr>
              <a:t>[20]</a:t>
            </a:r>
            <a:pPr>
              <a:lnSpc>
                <a:spcPct val="140000"/>
              </a:lnSpc>
            </a:pPr>
            <a:r>
              <a:rPr lang="en-US" sz="895" dirty="0">
                <a:solidFill>
                  <a:srgbClr val="F1FAEE"/>
                </a:solidFill>
                <a:latin typeface="Liter" pitchFamily="34" charset="0"/>
                <a:ea typeface="Liter" pitchFamily="34" charset="-122"/>
                <a:cs typeface="Liter" pitchFamily="34" charset="-120"/>
              </a:rPr>
              <a:t> M. Saito et al., "Grad-CAM-based investigation into acute-stage fluorescein angiography images," Journal of Clinical Medicine, 2024.</a:t>
            </a:r>
            <a:endParaRPr lang="en-US" sz="1600" dirty="0"/>
          </a:p>
        </p:txBody>
      </p:sp>
      <p:sp>
        <p:nvSpPr>
          <p:cNvPr id="65" name="Shape 63"/>
          <p:cNvSpPr/>
          <p:nvPr/>
        </p:nvSpPr>
        <p:spPr>
          <a:xfrm>
            <a:off x="382717" y="6469244"/>
            <a:ext cx="11432250" cy="386506"/>
          </a:xfrm>
          <a:prstGeom prst="roundRect">
            <a:avLst>
              <a:gd name="adj" fmla="val 19608"/>
            </a:avLst>
          </a:prstGeom>
          <a:solidFill>
            <a:srgbClr val="112240"/>
          </a:solidFill>
          <a:ln w="10160">
            <a:solidFill>
              <a:srgbClr val="3A86FF"/>
            </a:solidFill>
            <a:prstDash val="solid"/>
          </a:ln>
        </p:spPr>
      </p:sp>
      <p:sp>
        <p:nvSpPr>
          <p:cNvPr id="66" name="Text 64"/>
          <p:cNvSpPr/>
          <p:nvPr/>
        </p:nvSpPr>
        <p:spPr>
          <a:xfrm>
            <a:off x="471765" y="6586710"/>
            <a:ext cx="11254154" cy="151571"/>
          </a:xfrm>
          <a:prstGeom prst="rect">
            <a:avLst/>
          </a:prstGeom>
          <a:noFill/>
          <a:ln/>
        </p:spPr>
        <p:txBody>
          <a:bodyPr wrap="square" lIns="0" tIns="0" rIns="0" bIns="0" rtlCol="0" anchor="ctr"/>
          <a:lstStyle/>
          <a:p>
            <a:pPr algn="ctr">
              <a:lnSpc>
                <a:spcPct val="110000"/>
              </a:lnSpc>
            </a:pPr>
            <a:r>
              <a:rPr lang="en-US" sz="895" dirty="0">
                <a:solidFill>
                  <a:srgbClr val="5C677D"/>
                </a:solidFill>
                <a:latin typeface="Liter" pitchFamily="34" charset="0"/>
                <a:ea typeface="Liter" pitchFamily="34" charset="-122"/>
                <a:cs typeface="Liter" pitchFamily="34" charset="-120"/>
              </a:rPr>
              <a:t>All references follow IEEE citation format. Full bibliography available in dissertation document.</a:t>
            </a:r>
            <a:endParaRPr lang="en-US" sz="1600" dirty="0"/>
          </a:p>
        </p:txBody>
      </p:sp>
      <p:sp>
        <p:nvSpPr>
          <p:cNvPr id="67" name="Text 65"/>
          <p:cNvSpPr/>
          <p:nvPr/>
        </p:nvSpPr>
        <p:spPr>
          <a:xfrm>
            <a:off x="378928" y="6555570"/>
            <a:ext cx="2633548" cy="151571"/>
          </a:xfrm>
          <a:prstGeom prst="rect">
            <a:avLst/>
          </a:prstGeom>
          <a:noFill/>
          <a:ln/>
        </p:spPr>
        <p:txBody>
          <a:bodyPr wrap="square" lIns="0" tIns="0" rIns="0" bIns="0" rtlCol="0" anchor="ctr"/>
          <a:lstStyle/>
          <a:p>
            <a:pPr>
              <a:lnSpc>
                <a:spcPct val="110000"/>
              </a:lnSpc>
            </a:pPr>
            <a:r>
              <a:rPr lang="en-US" sz="895"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68" name="Text 66"/>
          <p:cNvSpPr/>
          <p:nvPr/>
        </p:nvSpPr>
        <p:spPr>
          <a:xfrm>
            <a:off x="11437697" y="6555570"/>
            <a:ext cx="435767" cy="151571"/>
          </a:xfrm>
          <a:prstGeom prst="rect">
            <a:avLst/>
          </a:prstGeom>
          <a:noFill/>
          <a:ln/>
        </p:spPr>
        <p:txBody>
          <a:bodyPr wrap="square" lIns="0" tIns="0" rIns="0" bIns="0" rtlCol="0" anchor="ctr"/>
          <a:lstStyle/>
          <a:p>
            <a:pPr>
              <a:lnSpc>
                <a:spcPct val="110000"/>
              </a:lnSpc>
            </a:pPr>
            <a:r>
              <a:rPr lang="en-US" sz="895" dirty="0">
                <a:solidFill>
                  <a:srgbClr val="5C677D"/>
                </a:solidFill>
                <a:latin typeface="Liter" pitchFamily="34" charset="0"/>
                <a:ea typeface="Liter" pitchFamily="34" charset="-122"/>
                <a:cs typeface="Liter" pitchFamily="34" charset="-120"/>
              </a:rPr>
              <a:t>Slide 17</a:t>
            </a:r>
            <a:endParaRPr lang="en-US" sz="16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92F"/>
        </a:solidFill>
      </p:bgPr>
    </p:bg>
    <p:spTree>
      <p:nvGrpSpPr>
        <p:cNvPr id="1" name=""/>
        <p:cNvGrpSpPr/>
        <p:nvPr/>
      </p:nvGrpSpPr>
      <p:grpSpPr>
        <a:xfrm>
          <a:off x="0" y="0"/>
          <a:ext cx="0" cy="0"/>
          <a:chOff x="0" y="0"/>
          <a:chExt cx="0" cy="0"/>
        </a:xfrm>
      </p:grpSpPr>
      <p:pic>
        <p:nvPicPr>
          <p:cNvPr id="2" name="Image 0" descr="https://kimi-web-img.moonshot.cn/img/www.opsweb.org/7c995dfb7211767c766be56192df3b57de3f839f.jpg">    </p:cNvPr>
          <p:cNvPicPr>
            <a:picLocks noChangeAspect="1"/>
          </p:cNvPicPr>
          <p:nvPr/>
        </p:nvPicPr>
        <p:blipFill>
          <a:blip r:embed="rId1">
            <a:alphaModFix amt="20000"/>
          </a:blip>
          <a:srcRect l="0" r="0" t="824" b="824"/>
          <a:stretch/>
        </p:blipFill>
        <p:spPr>
          <a:xfrm>
            <a:off x="0" y="0"/>
            <a:ext cx="12192000" cy="6858000"/>
          </a:xfrm>
          <a:prstGeom prst="roundRect">
            <a:avLst>
              <a:gd name="adj" fmla="val 0"/>
            </a:avLst>
          </a:prstGeom>
        </p:spPr>
      </p:pic>
      <p:sp>
        <p:nvSpPr>
          <p:cNvPr id="3" name="Shape 0"/>
          <p:cNvSpPr/>
          <p:nvPr/>
        </p:nvSpPr>
        <p:spPr>
          <a:xfrm>
            <a:off x="0" y="0"/>
            <a:ext cx="12192000" cy="6858000"/>
          </a:xfrm>
          <a:prstGeom prst="roundRect">
            <a:avLst>
              <a:gd name="adj" fmla="val 0"/>
            </a:avLst>
          </a:prstGeom>
          <a:gradFill rotWithShape="1" flip="none">
            <a:gsLst>
              <a:gs pos="0">
                <a:srgbClr val="0A192F">
                  <a:alpha val="95000"/>
                </a:srgbClr>
              </a:gs>
              <a:gs pos="50000">
                <a:srgbClr val="0A192F">
                  <a:alpha val="90000"/>
                </a:srgbClr>
              </a:gs>
              <a:gs pos="100000">
                <a:srgbClr val="3A86FF">
                  <a:alpha val="30000"/>
                </a:srgbClr>
              </a:gs>
            </a:gsLst>
            <a:lin ang="2700000" scaled="1"/>
          </a:gradFill>
          <a:ln/>
        </p:spPr>
      </p:sp>
      <p:sp>
        <p:nvSpPr>
          <p:cNvPr id="4" name="Text 1"/>
          <p:cNvSpPr/>
          <p:nvPr/>
        </p:nvSpPr>
        <p:spPr>
          <a:xfrm>
            <a:off x="381000" y="6553321"/>
            <a:ext cx="2647950"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Adaptive Fused Grad-CAM for Retinal OCT Analysis</a:t>
            </a:r>
            <a:endParaRPr lang="en-US" sz="1600" dirty="0"/>
          </a:p>
        </p:txBody>
      </p:sp>
      <p:sp>
        <p:nvSpPr>
          <p:cNvPr id="5" name="Text 2"/>
          <p:cNvSpPr/>
          <p:nvPr/>
        </p:nvSpPr>
        <p:spPr>
          <a:xfrm>
            <a:off x="11420952" y="6553321"/>
            <a:ext cx="447675" cy="152400"/>
          </a:xfrm>
          <a:prstGeom prst="rect">
            <a:avLst/>
          </a:prstGeom>
          <a:noFill/>
          <a:ln/>
        </p:spPr>
        <p:txBody>
          <a:bodyPr wrap="square" lIns="0" tIns="0" rIns="0" bIns="0" rtlCol="0" anchor="ctr"/>
          <a:lstStyle/>
          <a:p>
            <a:pPr>
              <a:lnSpc>
                <a:spcPct val="110000"/>
              </a:lnSpc>
            </a:pPr>
            <a:r>
              <a:rPr lang="en-US" sz="900" dirty="0">
                <a:solidFill>
                  <a:srgbClr val="5C677D"/>
                </a:solidFill>
                <a:latin typeface="Liter" pitchFamily="34" charset="0"/>
                <a:ea typeface="Liter" pitchFamily="34" charset="-122"/>
                <a:cs typeface="Liter" pitchFamily="34" charset="-120"/>
              </a:rPr>
              <a:t>Slide 18</a:t>
            </a:r>
            <a:endParaRPr lang="en-US" sz="1600" dirty="0"/>
          </a:p>
        </p:txBody>
      </p:sp>
      <p:sp>
        <p:nvSpPr>
          <p:cNvPr id="6" name="Shape 3"/>
          <p:cNvSpPr/>
          <p:nvPr/>
        </p:nvSpPr>
        <p:spPr>
          <a:xfrm>
            <a:off x="5505450" y="384814"/>
            <a:ext cx="1181100" cy="1181100"/>
          </a:xfrm>
          <a:prstGeom prst="roundRect">
            <a:avLst>
              <a:gd name="adj" fmla="val 50000"/>
            </a:avLst>
          </a:prstGeom>
          <a:solidFill>
            <a:srgbClr val="000000">
              <a:alpha val="0"/>
            </a:srgbClr>
          </a:solidFill>
          <a:ln w="50800">
            <a:solidFill>
              <a:srgbClr val="00B4D8"/>
            </a:solidFill>
            <a:prstDash val="solid"/>
          </a:ln>
        </p:spPr>
      </p:sp>
      <p:sp>
        <p:nvSpPr>
          <p:cNvPr id="7" name="Shape 4"/>
          <p:cNvSpPr/>
          <p:nvPr/>
        </p:nvSpPr>
        <p:spPr>
          <a:xfrm>
            <a:off x="5810250" y="689614"/>
            <a:ext cx="571500" cy="571500"/>
          </a:xfrm>
          <a:custGeom>
            <a:avLst/>
            <a:gdLst/>
            <a:ahLst/>
            <a:cxnLst/>
            <a:rect l="l" t="t" r="r" b="b"/>
            <a:pathLst>
              <a:path w="571500" h="571500">
                <a:moveTo>
                  <a:pt x="285750" y="571500"/>
                </a:moveTo>
                <a:cubicBezTo>
                  <a:pt x="443460" y="571500"/>
                  <a:pt x="571500" y="443460"/>
                  <a:pt x="571500" y="285750"/>
                </a:cubicBezTo>
                <a:cubicBezTo>
                  <a:pt x="571500" y="128040"/>
                  <a:pt x="443460" y="0"/>
                  <a:pt x="285750" y="0"/>
                </a:cubicBezTo>
                <a:cubicBezTo>
                  <a:pt x="128040" y="0"/>
                  <a:pt x="0" y="128040"/>
                  <a:pt x="0" y="285750"/>
                </a:cubicBezTo>
                <a:cubicBezTo>
                  <a:pt x="0" y="443460"/>
                  <a:pt x="128040" y="571500"/>
                  <a:pt x="285750" y="571500"/>
                </a:cubicBezTo>
                <a:close/>
                <a:moveTo>
                  <a:pt x="379958" y="237418"/>
                </a:moveTo>
                <a:lnTo>
                  <a:pt x="290661" y="380293"/>
                </a:lnTo>
                <a:cubicBezTo>
                  <a:pt x="285973" y="387772"/>
                  <a:pt x="277937" y="392460"/>
                  <a:pt x="269118" y="392906"/>
                </a:cubicBezTo>
                <a:cubicBezTo>
                  <a:pt x="260300" y="393353"/>
                  <a:pt x="251817" y="389334"/>
                  <a:pt x="246571" y="382191"/>
                </a:cubicBezTo>
                <a:lnTo>
                  <a:pt x="192993" y="310753"/>
                </a:lnTo>
                <a:cubicBezTo>
                  <a:pt x="184063" y="298921"/>
                  <a:pt x="186519" y="282178"/>
                  <a:pt x="198351" y="273248"/>
                </a:cubicBezTo>
                <a:cubicBezTo>
                  <a:pt x="210183" y="264319"/>
                  <a:pt x="226926" y="266774"/>
                  <a:pt x="235855" y="278606"/>
                </a:cubicBezTo>
                <a:lnTo>
                  <a:pt x="265993" y="318790"/>
                </a:lnTo>
                <a:lnTo>
                  <a:pt x="334528" y="209066"/>
                </a:lnTo>
                <a:cubicBezTo>
                  <a:pt x="342342" y="196565"/>
                  <a:pt x="358862" y="192658"/>
                  <a:pt x="371475" y="200583"/>
                </a:cubicBezTo>
                <a:cubicBezTo>
                  <a:pt x="384088" y="208508"/>
                  <a:pt x="387883" y="224917"/>
                  <a:pt x="379958" y="237530"/>
                </a:cubicBezTo>
                <a:close/>
              </a:path>
            </a:pathLst>
          </a:custGeom>
          <a:solidFill>
            <a:srgbClr val="00B4D8"/>
          </a:solidFill>
          <a:ln/>
        </p:spPr>
      </p:sp>
      <p:sp>
        <p:nvSpPr>
          <p:cNvPr id="8" name="Text 5"/>
          <p:cNvSpPr/>
          <p:nvPr/>
        </p:nvSpPr>
        <p:spPr>
          <a:xfrm>
            <a:off x="4432935" y="1813564"/>
            <a:ext cx="3324225" cy="685800"/>
          </a:xfrm>
          <a:prstGeom prst="rect">
            <a:avLst/>
          </a:prstGeom>
          <a:noFill/>
          <a:ln/>
        </p:spPr>
        <p:txBody>
          <a:bodyPr wrap="square" lIns="0" tIns="0" rIns="0" bIns="0" rtlCol="0" anchor="ctr"/>
          <a:lstStyle/>
          <a:p>
            <a:pPr algn="ctr">
              <a:lnSpc>
                <a:spcPct val="80000"/>
              </a:lnSpc>
            </a:pPr>
            <a:r>
              <a:rPr lang="en-US" sz="5400" b="1" dirty="0">
                <a:solidFill>
                  <a:srgbClr val="F1FAEE"/>
                </a:solidFill>
                <a:latin typeface="Oranienbaum" pitchFamily="34" charset="0"/>
                <a:ea typeface="Oranienbaum" pitchFamily="34" charset="-122"/>
                <a:cs typeface="Oranienbaum" pitchFamily="34" charset="-120"/>
              </a:rPr>
              <a:t>Thank You</a:t>
            </a:r>
            <a:endParaRPr lang="en-US" sz="1600" dirty="0"/>
          </a:p>
        </p:txBody>
      </p:sp>
      <p:sp>
        <p:nvSpPr>
          <p:cNvPr id="9" name="Shape 6"/>
          <p:cNvSpPr/>
          <p:nvPr/>
        </p:nvSpPr>
        <p:spPr>
          <a:xfrm>
            <a:off x="5181600" y="2651764"/>
            <a:ext cx="1828800" cy="38100"/>
          </a:xfrm>
          <a:prstGeom prst="roundRect">
            <a:avLst>
              <a:gd name="adj" fmla="val 0"/>
            </a:avLst>
          </a:prstGeom>
          <a:gradFill rotWithShape="1" flip="none">
            <a:gsLst>
              <a:gs pos="0">
                <a:srgbClr val="3A86FF"/>
              </a:gs>
              <a:gs pos="100000">
                <a:srgbClr val="00B4D8"/>
              </a:gs>
            </a:gsLst>
            <a:lin ang="0" scaled="1"/>
          </a:gradFill>
          <a:ln/>
        </p:spPr>
      </p:sp>
      <p:sp>
        <p:nvSpPr>
          <p:cNvPr id="10" name="Text 7"/>
          <p:cNvSpPr/>
          <p:nvPr/>
        </p:nvSpPr>
        <p:spPr>
          <a:xfrm>
            <a:off x="4532947" y="2918464"/>
            <a:ext cx="3124200" cy="342900"/>
          </a:xfrm>
          <a:prstGeom prst="rect">
            <a:avLst/>
          </a:prstGeom>
          <a:noFill/>
          <a:ln/>
        </p:spPr>
        <p:txBody>
          <a:bodyPr wrap="square" lIns="0" tIns="0" rIns="0" bIns="0" rtlCol="0" anchor="ctr"/>
          <a:lstStyle/>
          <a:p>
            <a:pPr algn="ctr">
              <a:lnSpc>
                <a:spcPct val="100000"/>
              </a:lnSpc>
            </a:pPr>
            <a:r>
              <a:rPr lang="en-US" sz="2250" dirty="0">
                <a:solidFill>
                  <a:srgbClr val="F1FAEE"/>
                </a:solidFill>
                <a:latin typeface="Liter" pitchFamily="34" charset="0"/>
                <a:ea typeface="Liter" pitchFamily="34" charset="-122"/>
                <a:cs typeface="Liter" pitchFamily="34" charset="-120"/>
              </a:rPr>
              <a:t>Questions &amp; Discussion</a:t>
            </a:r>
            <a:endParaRPr lang="en-US" sz="1600" dirty="0"/>
          </a:p>
        </p:txBody>
      </p:sp>
      <p:sp>
        <p:nvSpPr>
          <p:cNvPr id="11" name="Shape 8"/>
          <p:cNvSpPr/>
          <p:nvPr/>
        </p:nvSpPr>
        <p:spPr>
          <a:xfrm>
            <a:off x="3811667" y="3874774"/>
            <a:ext cx="2131695" cy="1722120"/>
          </a:xfrm>
          <a:prstGeom prst="roundRect">
            <a:avLst>
              <a:gd name="adj" fmla="val 4425"/>
            </a:avLst>
          </a:prstGeom>
          <a:solidFill>
            <a:srgbClr val="112240"/>
          </a:solidFill>
          <a:ln w="10160">
            <a:solidFill>
              <a:srgbClr val="3A86FF"/>
            </a:solidFill>
            <a:prstDash val="solid"/>
          </a:ln>
        </p:spPr>
      </p:sp>
      <p:sp>
        <p:nvSpPr>
          <p:cNvPr id="12" name="Shape 9"/>
          <p:cNvSpPr/>
          <p:nvPr/>
        </p:nvSpPr>
        <p:spPr>
          <a:xfrm>
            <a:off x="4704279" y="4107182"/>
            <a:ext cx="342900" cy="342900"/>
          </a:xfrm>
          <a:custGeom>
            <a:avLst/>
            <a:gdLst/>
            <a:ahLst/>
            <a:cxnLst/>
            <a:rect l="l" t="t" r="r" b="b"/>
            <a:pathLst>
              <a:path w="342900" h="342900">
                <a:moveTo>
                  <a:pt x="32147" y="42863"/>
                </a:moveTo>
                <a:cubicBezTo>
                  <a:pt x="14399" y="42863"/>
                  <a:pt x="0" y="57262"/>
                  <a:pt x="0" y="75009"/>
                </a:cubicBezTo>
                <a:cubicBezTo>
                  <a:pt x="0" y="85122"/>
                  <a:pt x="4755" y="94632"/>
                  <a:pt x="12859" y="100727"/>
                </a:cubicBezTo>
                <a:lnTo>
                  <a:pt x="152162" y="205204"/>
                </a:lnTo>
                <a:cubicBezTo>
                  <a:pt x="163614" y="213777"/>
                  <a:pt x="179286" y="213777"/>
                  <a:pt x="190738" y="205204"/>
                </a:cubicBezTo>
                <a:lnTo>
                  <a:pt x="330041" y="100727"/>
                </a:lnTo>
                <a:cubicBezTo>
                  <a:pt x="338145" y="94632"/>
                  <a:pt x="342900" y="85122"/>
                  <a:pt x="342900" y="75009"/>
                </a:cubicBezTo>
                <a:cubicBezTo>
                  <a:pt x="342900" y="57262"/>
                  <a:pt x="328501" y="42862"/>
                  <a:pt x="310753" y="42862"/>
                </a:cubicBezTo>
                <a:lnTo>
                  <a:pt x="32147" y="42863"/>
                </a:lnTo>
                <a:close/>
                <a:moveTo>
                  <a:pt x="0" y="131266"/>
                </a:moveTo>
                <a:lnTo>
                  <a:pt x="0" y="257175"/>
                </a:lnTo>
                <a:cubicBezTo>
                  <a:pt x="0" y="280816"/>
                  <a:pt x="19221" y="300038"/>
                  <a:pt x="42863" y="300038"/>
                </a:cubicBezTo>
                <a:lnTo>
                  <a:pt x="300038" y="300038"/>
                </a:lnTo>
                <a:cubicBezTo>
                  <a:pt x="323679" y="300038"/>
                  <a:pt x="342900" y="280816"/>
                  <a:pt x="342900" y="257175"/>
                </a:cubicBezTo>
                <a:lnTo>
                  <a:pt x="342900" y="131266"/>
                </a:lnTo>
                <a:lnTo>
                  <a:pt x="210026" y="230922"/>
                </a:lnTo>
                <a:cubicBezTo>
                  <a:pt x="187189" y="248067"/>
                  <a:pt x="155711" y="248067"/>
                  <a:pt x="132874" y="230922"/>
                </a:cubicBezTo>
                <a:lnTo>
                  <a:pt x="0" y="131266"/>
                </a:lnTo>
                <a:close/>
              </a:path>
            </a:pathLst>
          </a:custGeom>
          <a:solidFill>
            <a:srgbClr val="3A86FF"/>
          </a:solidFill>
          <a:ln/>
        </p:spPr>
      </p:sp>
      <p:sp>
        <p:nvSpPr>
          <p:cNvPr id="13" name="Text 10"/>
          <p:cNvSpPr/>
          <p:nvPr/>
        </p:nvSpPr>
        <p:spPr>
          <a:xfrm>
            <a:off x="4001214" y="4564382"/>
            <a:ext cx="1752600" cy="266700"/>
          </a:xfrm>
          <a:prstGeom prst="rect">
            <a:avLst/>
          </a:prstGeom>
          <a:noFill/>
          <a:ln/>
        </p:spPr>
        <p:txBody>
          <a:bodyPr wrap="square" lIns="0" tIns="0" rIns="0" bIns="0" rtlCol="0" anchor="ctr"/>
          <a:lstStyle/>
          <a:p>
            <a:pPr algn="ctr">
              <a:lnSpc>
                <a:spcPct val="130000"/>
              </a:lnSpc>
            </a:pPr>
            <a:r>
              <a:rPr lang="en-US" sz="1350" b="1" dirty="0">
                <a:solidFill>
                  <a:srgbClr val="F1FAEE"/>
                </a:solidFill>
                <a:latin typeface="Liter" pitchFamily="34" charset="0"/>
                <a:ea typeface="Liter" pitchFamily="34" charset="-122"/>
                <a:cs typeface="Liter" pitchFamily="34" charset="-120"/>
              </a:rPr>
              <a:t>Contact Information</a:t>
            </a:r>
            <a:endParaRPr lang="en-US" sz="1600" dirty="0"/>
          </a:p>
        </p:txBody>
      </p:sp>
      <p:sp>
        <p:nvSpPr>
          <p:cNvPr id="14" name="Text 11"/>
          <p:cNvSpPr/>
          <p:nvPr/>
        </p:nvSpPr>
        <p:spPr>
          <a:xfrm>
            <a:off x="4005977" y="4907282"/>
            <a:ext cx="1743075" cy="228600"/>
          </a:xfrm>
          <a:prstGeom prst="rect">
            <a:avLst/>
          </a:prstGeom>
          <a:noFill/>
          <a:ln/>
        </p:spPr>
        <p:txBody>
          <a:bodyPr wrap="square" lIns="0" tIns="0" rIns="0" bIns="0" rtlCol="0" anchor="ctr"/>
          <a:lstStyle/>
          <a:p>
            <a:pPr algn="ctr">
              <a:lnSpc>
                <a:spcPct val="130000"/>
              </a:lnSpc>
            </a:pPr>
            <a:r>
              <a:rPr lang="en-US" sz="1200" dirty="0">
                <a:solidFill>
                  <a:srgbClr val="5C677D"/>
                </a:solidFill>
                <a:latin typeface="Liter" pitchFamily="34" charset="0"/>
                <a:ea typeface="Liter" pitchFamily="34" charset="-122"/>
                <a:cs typeface="Liter" pitchFamily="34" charset="-120"/>
              </a:rPr>
              <a:t>[Email Address]</a:t>
            </a:r>
            <a:endParaRPr lang="en-US" sz="1600" dirty="0"/>
          </a:p>
        </p:txBody>
      </p:sp>
      <p:sp>
        <p:nvSpPr>
          <p:cNvPr id="15" name="Text 12"/>
          <p:cNvSpPr/>
          <p:nvPr/>
        </p:nvSpPr>
        <p:spPr>
          <a:xfrm>
            <a:off x="4005977" y="5135882"/>
            <a:ext cx="1743075" cy="228600"/>
          </a:xfrm>
          <a:prstGeom prst="rect">
            <a:avLst/>
          </a:prstGeom>
          <a:noFill/>
          <a:ln/>
        </p:spPr>
        <p:txBody>
          <a:bodyPr wrap="square" lIns="0" tIns="0" rIns="0" bIns="0" rtlCol="0" anchor="ctr"/>
          <a:lstStyle/>
          <a:p>
            <a:pPr algn="ctr">
              <a:lnSpc>
                <a:spcPct val="130000"/>
              </a:lnSpc>
            </a:pPr>
            <a:r>
              <a:rPr lang="en-US" sz="1200" dirty="0">
                <a:solidFill>
                  <a:srgbClr val="5C677D"/>
                </a:solidFill>
                <a:latin typeface="Liter" pitchFamily="34" charset="0"/>
                <a:ea typeface="Liter" pitchFamily="34" charset="-122"/>
                <a:cs typeface="Liter" pitchFamily="34" charset="-120"/>
              </a:rPr>
              <a:t>[Department, University]</a:t>
            </a:r>
            <a:endParaRPr lang="en-US" sz="1600" dirty="0"/>
          </a:p>
        </p:txBody>
      </p:sp>
      <p:sp>
        <p:nvSpPr>
          <p:cNvPr id="16" name="Shape 13"/>
          <p:cNvSpPr/>
          <p:nvPr/>
        </p:nvSpPr>
        <p:spPr>
          <a:xfrm>
            <a:off x="6252210" y="3874774"/>
            <a:ext cx="2131695" cy="1722120"/>
          </a:xfrm>
          <a:prstGeom prst="roundRect">
            <a:avLst>
              <a:gd name="adj" fmla="val 4425"/>
            </a:avLst>
          </a:prstGeom>
          <a:solidFill>
            <a:srgbClr val="112240"/>
          </a:solidFill>
          <a:ln w="10160">
            <a:solidFill>
              <a:srgbClr val="00B4D8"/>
            </a:solidFill>
            <a:prstDash val="solid"/>
          </a:ln>
        </p:spPr>
      </p:sp>
      <p:sp>
        <p:nvSpPr>
          <p:cNvPr id="17" name="Shape 14"/>
          <p:cNvSpPr/>
          <p:nvPr/>
        </p:nvSpPr>
        <p:spPr>
          <a:xfrm>
            <a:off x="7187684" y="4107182"/>
            <a:ext cx="257175" cy="342900"/>
          </a:xfrm>
          <a:custGeom>
            <a:avLst/>
            <a:gdLst/>
            <a:ahLst/>
            <a:cxnLst/>
            <a:rect l="l" t="t" r="r" b="b"/>
            <a:pathLst>
              <a:path w="257175" h="342900">
                <a:moveTo>
                  <a:pt x="0" y="42863"/>
                </a:moveTo>
                <a:cubicBezTo>
                  <a:pt x="0" y="19221"/>
                  <a:pt x="19221" y="0"/>
                  <a:pt x="42863" y="0"/>
                </a:cubicBezTo>
                <a:lnTo>
                  <a:pt x="142987" y="0"/>
                </a:lnTo>
                <a:cubicBezTo>
                  <a:pt x="154372" y="0"/>
                  <a:pt x="165289" y="4487"/>
                  <a:pt x="173325" y="12524"/>
                </a:cubicBezTo>
                <a:lnTo>
                  <a:pt x="244651" y="83917"/>
                </a:lnTo>
                <a:cubicBezTo>
                  <a:pt x="252688" y="91953"/>
                  <a:pt x="257175" y="102870"/>
                  <a:pt x="257175" y="114255"/>
                </a:cubicBezTo>
                <a:lnTo>
                  <a:pt x="257175" y="300038"/>
                </a:lnTo>
                <a:cubicBezTo>
                  <a:pt x="257175" y="323679"/>
                  <a:pt x="237954" y="342900"/>
                  <a:pt x="214313" y="342900"/>
                </a:cubicBezTo>
                <a:lnTo>
                  <a:pt x="42863" y="342900"/>
                </a:lnTo>
                <a:cubicBezTo>
                  <a:pt x="19221" y="342900"/>
                  <a:pt x="0" y="323679"/>
                  <a:pt x="0" y="300038"/>
                </a:cubicBezTo>
                <a:lnTo>
                  <a:pt x="0" y="42863"/>
                </a:lnTo>
                <a:close/>
                <a:moveTo>
                  <a:pt x="139303" y="39179"/>
                </a:moveTo>
                <a:lnTo>
                  <a:pt x="139303" y="101798"/>
                </a:lnTo>
                <a:cubicBezTo>
                  <a:pt x="139303" y="110706"/>
                  <a:pt x="146469" y="117872"/>
                  <a:pt x="155377" y="117872"/>
                </a:cubicBezTo>
                <a:lnTo>
                  <a:pt x="217996" y="117872"/>
                </a:lnTo>
                <a:lnTo>
                  <a:pt x="139303" y="39179"/>
                </a:lnTo>
                <a:close/>
                <a:moveTo>
                  <a:pt x="80367" y="171450"/>
                </a:moveTo>
                <a:cubicBezTo>
                  <a:pt x="71460" y="171450"/>
                  <a:pt x="64294" y="178616"/>
                  <a:pt x="64294" y="187523"/>
                </a:cubicBezTo>
                <a:cubicBezTo>
                  <a:pt x="64294" y="196431"/>
                  <a:pt x="71460" y="203597"/>
                  <a:pt x="80367" y="203597"/>
                </a:cubicBezTo>
                <a:lnTo>
                  <a:pt x="176808" y="203597"/>
                </a:lnTo>
                <a:cubicBezTo>
                  <a:pt x="185715" y="203597"/>
                  <a:pt x="192881" y="196431"/>
                  <a:pt x="192881" y="187523"/>
                </a:cubicBezTo>
                <a:cubicBezTo>
                  <a:pt x="192881" y="178616"/>
                  <a:pt x="185715" y="171450"/>
                  <a:pt x="176808" y="171450"/>
                </a:cubicBezTo>
                <a:lnTo>
                  <a:pt x="80367" y="171450"/>
                </a:lnTo>
                <a:close/>
                <a:moveTo>
                  <a:pt x="80367" y="235744"/>
                </a:moveTo>
                <a:cubicBezTo>
                  <a:pt x="71460" y="235744"/>
                  <a:pt x="64294" y="242910"/>
                  <a:pt x="64294" y="251817"/>
                </a:cubicBezTo>
                <a:cubicBezTo>
                  <a:pt x="64294" y="260725"/>
                  <a:pt x="71460" y="267891"/>
                  <a:pt x="80367" y="267891"/>
                </a:cubicBezTo>
                <a:lnTo>
                  <a:pt x="176808" y="267891"/>
                </a:lnTo>
                <a:cubicBezTo>
                  <a:pt x="185715" y="267891"/>
                  <a:pt x="192881" y="260725"/>
                  <a:pt x="192881" y="251817"/>
                </a:cubicBezTo>
                <a:cubicBezTo>
                  <a:pt x="192881" y="242910"/>
                  <a:pt x="185715" y="235744"/>
                  <a:pt x="176808" y="235744"/>
                </a:cubicBezTo>
                <a:lnTo>
                  <a:pt x="80367" y="235744"/>
                </a:lnTo>
                <a:close/>
              </a:path>
            </a:pathLst>
          </a:custGeom>
          <a:solidFill>
            <a:srgbClr val="00B4D8"/>
          </a:solidFill>
          <a:ln/>
        </p:spPr>
      </p:sp>
      <p:sp>
        <p:nvSpPr>
          <p:cNvPr id="18" name="Text 15"/>
          <p:cNvSpPr/>
          <p:nvPr/>
        </p:nvSpPr>
        <p:spPr>
          <a:xfrm>
            <a:off x="6441757" y="4564382"/>
            <a:ext cx="1752600" cy="266700"/>
          </a:xfrm>
          <a:prstGeom prst="rect">
            <a:avLst/>
          </a:prstGeom>
          <a:noFill/>
          <a:ln/>
        </p:spPr>
        <p:txBody>
          <a:bodyPr wrap="square" lIns="0" tIns="0" rIns="0" bIns="0" rtlCol="0" anchor="ctr"/>
          <a:lstStyle/>
          <a:p>
            <a:pPr algn="ctr">
              <a:lnSpc>
                <a:spcPct val="130000"/>
              </a:lnSpc>
            </a:pPr>
            <a:r>
              <a:rPr lang="en-US" sz="1350" b="1" dirty="0">
                <a:solidFill>
                  <a:srgbClr val="F1FAEE"/>
                </a:solidFill>
                <a:latin typeface="Liter" pitchFamily="34" charset="0"/>
                <a:ea typeface="Liter" pitchFamily="34" charset="-122"/>
                <a:cs typeface="Liter" pitchFamily="34" charset="-120"/>
              </a:rPr>
              <a:t>Full Dissertation</a:t>
            </a:r>
            <a:endParaRPr lang="en-US" sz="1600" dirty="0"/>
          </a:p>
        </p:txBody>
      </p:sp>
      <p:sp>
        <p:nvSpPr>
          <p:cNvPr id="19" name="Text 16"/>
          <p:cNvSpPr/>
          <p:nvPr/>
        </p:nvSpPr>
        <p:spPr>
          <a:xfrm>
            <a:off x="6446520" y="4907282"/>
            <a:ext cx="1743075" cy="228600"/>
          </a:xfrm>
          <a:prstGeom prst="rect">
            <a:avLst/>
          </a:prstGeom>
          <a:noFill/>
          <a:ln/>
        </p:spPr>
        <p:txBody>
          <a:bodyPr wrap="square" lIns="0" tIns="0" rIns="0" bIns="0" rtlCol="0" anchor="ctr"/>
          <a:lstStyle/>
          <a:p>
            <a:pPr algn="ctr">
              <a:lnSpc>
                <a:spcPct val="130000"/>
              </a:lnSpc>
            </a:pPr>
            <a:r>
              <a:rPr lang="en-US" sz="1200" dirty="0">
                <a:solidFill>
                  <a:srgbClr val="5C677D"/>
                </a:solidFill>
                <a:latin typeface="Liter" pitchFamily="34" charset="0"/>
                <a:ea typeface="Liter" pitchFamily="34" charset="-122"/>
                <a:cs typeface="Liter" pitchFamily="34" charset="-120"/>
              </a:rPr>
              <a:t>Available upon request</a:t>
            </a:r>
            <a:endParaRPr lang="en-US" sz="1600" dirty="0"/>
          </a:p>
        </p:txBody>
      </p:sp>
      <p:sp>
        <p:nvSpPr>
          <p:cNvPr id="20" name="Text 17"/>
          <p:cNvSpPr/>
          <p:nvPr/>
        </p:nvSpPr>
        <p:spPr>
          <a:xfrm>
            <a:off x="6446520" y="5135882"/>
            <a:ext cx="1743075" cy="228600"/>
          </a:xfrm>
          <a:prstGeom prst="rect">
            <a:avLst/>
          </a:prstGeom>
          <a:noFill/>
          <a:ln/>
        </p:spPr>
        <p:txBody>
          <a:bodyPr wrap="square" lIns="0" tIns="0" rIns="0" bIns="0" rtlCol="0" anchor="ctr"/>
          <a:lstStyle/>
          <a:p>
            <a:pPr algn="ctr">
              <a:lnSpc>
                <a:spcPct val="130000"/>
              </a:lnSpc>
            </a:pPr>
            <a:r>
              <a:rPr lang="en-US" sz="1200" dirty="0">
                <a:solidFill>
                  <a:srgbClr val="5C677D"/>
                </a:solidFill>
                <a:latin typeface="Liter" pitchFamily="34" charset="0"/>
                <a:ea typeface="Liter" pitchFamily="34" charset="-122"/>
                <a:cs typeface="Liter" pitchFamily="34" charset="-120"/>
              </a:rPr>
              <a:t>May 2026</a:t>
            </a:r>
            <a:endParaRPr lang="en-US" sz="1600" dirty="0"/>
          </a:p>
        </p:txBody>
      </p:sp>
      <p:sp>
        <p:nvSpPr>
          <p:cNvPr id="21" name="Shape 18"/>
          <p:cNvSpPr/>
          <p:nvPr/>
        </p:nvSpPr>
        <p:spPr>
          <a:xfrm>
            <a:off x="2543770" y="5909310"/>
            <a:ext cx="7103745" cy="579120"/>
          </a:xfrm>
          <a:prstGeom prst="roundRect">
            <a:avLst>
              <a:gd name="adj" fmla="val 13158"/>
            </a:avLst>
          </a:prstGeom>
          <a:solidFill>
            <a:srgbClr val="00B4D8"/>
          </a:solidFill>
          <a:ln w="10160">
            <a:solidFill>
              <a:srgbClr val="00B4D8"/>
            </a:solidFill>
            <a:prstDash val="solid"/>
          </a:ln>
        </p:spPr>
      </p:sp>
      <p:sp>
        <p:nvSpPr>
          <p:cNvPr id="22" name="Shape 19"/>
          <p:cNvSpPr/>
          <p:nvPr/>
        </p:nvSpPr>
        <p:spPr>
          <a:xfrm>
            <a:off x="2734508" y="6111246"/>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F1FAEE"/>
          </a:solidFill>
          <a:ln/>
        </p:spPr>
      </p:sp>
      <p:sp>
        <p:nvSpPr>
          <p:cNvPr id="23" name="Text 20"/>
          <p:cNvSpPr/>
          <p:nvPr/>
        </p:nvSpPr>
        <p:spPr>
          <a:xfrm>
            <a:off x="2933343" y="6065518"/>
            <a:ext cx="6600825" cy="266700"/>
          </a:xfrm>
          <a:prstGeom prst="rect">
            <a:avLst/>
          </a:prstGeom>
          <a:noFill/>
          <a:ln/>
        </p:spPr>
        <p:txBody>
          <a:bodyPr wrap="square" lIns="0" tIns="0" rIns="0" bIns="0" rtlCol="0" anchor="ctr"/>
          <a:lstStyle/>
          <a:p>
            <a:pPr algn="ctr">
              <a:lnSpc>
                <a:spcPct val="130000"/>
              </a:lnSpc>
            </a:pPr>
            <a:r>
              <a:rPr lang="en-US" sz="1350" b="1" dirty="0">
                <a:solidFill>
                  <a:srgbClr val="F1FAEE"/>
                </a:solidFill>
                <a:latin typeface="Liter" pitchFamily="34" charset="0"/>
                <a:ea typeface="Liter" pitchFamily="34" charset="-122"/>
                <a:cs typeface="Liter" pitchFamily="34" charset="-120"/>
              </a:rPr>
              <a:t>Bridging the gap between high-performance AI and clinically reliable explainability</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Multi-Layer Fused Grad-CAM for Retinal OCT Analysis</dc:title>
  <dc:subject>Adaptive Multi-Layer Fused Grad-CAM for Retinal OCT Analysis</dc:subject>
  <dc:creator>Kimi</dc:creator>
  <cp:lastModifiedBy>Kimi</cp:lastModifiedBy>
  <cp:revision>1</cp:revision>
  <dcterms:created xsi:type="dcterms:W3CDTF">2026-05-14T09:12:28Z</dcterms:created>
  <dcterms:modified xsi:type="dcterms:W3CDTF">2026-05-14T09:12:28Z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{"Label":"Adaptive Multi-Layer Fused Grad-CAM for Retinal OCT Analysis","ContentProducer":"001191110108MACG2KBH8F10000","ProduceID":"19e25b43-ad22-8865-8000-0000b69189ba","ReservedCode1":"","ContentPropagator":"001191110108MACG2KBH8F20000","PropagateID":"19e25b43-ad22-8865-8000-0000b69189ba","ReservedCode2":""}</vt:lpwstr>
  </property>
</Properties>
</file>